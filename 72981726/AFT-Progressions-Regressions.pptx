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omments/modernComment_1EB_70C8438A.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DA_476DABFC.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DB_B02D3500.xml" ContentType="application/vnd.ms-powerpoint.comment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comments/modernComment_1DD_6D294EF0.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DE_E3E80B86.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heme/themeOverride1.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heme/themeOverride2.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heme/themeOverride3.xml" ContentType="application/vnd.openxmlformats-officedocument.themeOverr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heme/themeOverride4.xml" ContentType="application/vnd.openxmlformats-officedocument.themeOverr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heme/themeOverride5.xml" ContentType="application/vnd.openxmlformats-officedocument.themeOverr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heme/themeOverride6.xml" ContentType="application/vnd.openxmlformats-officedocument.themeOverr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2"/>
  </p:notesMasterIdLst>
  <p:handoutMasterIdLst>
    <p:handoutMasterId r:id="rId63"/>
  </p:handoutMasterIdLst>
  <p:sldIdLst>
    <p:sldId id="490" r:id="rId5"/>
    <p:sldId id="491" r:id="rId6"/>
    <p:sldId id="492" r:id="rId7"/>
    <p:sldId id="462" r:id="rId8"/>
    <p:sldId id="473" r:id="rId9"/>
    <p:sldId id="494" r:id="rId10"/>
    <p:sldId id="474" r:id="rId11"/>
    <p:sldId id="514" r:id="rId12"/>
    <p:sldId id="515" r:id="rId13"/>
    <p:sldId id="516" r:id="rId14"/>
    <p:sldId id="472" r:id="rId15"/>
    <p:sldId id="540" r:id="rId16"/>
    <p:sldId id="475" r:id="rId17"/>
    <p:sldId id="477" r:id="rId18"/>
    <p:sldId id="547" r:id="rId19"/>
    <p:sldId id="535" r:id="rId20"/>
    <p:sldId id="536" r:id="rId21"/>
    <p:sldId id="537" r:id="rId22"/>
    <p:sldId id="478" r:id="rId23"/>
    <p:sldId id="525" r:id="rId24"/>
    <p:sldId id="519" r:id="rId25"/>
    <p:sldId id="486" r:id="rId26"/>
    <p:sldId id="493" r:id="rId27"/>
    <p:sldId id="526" r:id="rId28"/>
    <p:sldId id="527" r:id="rId29"/>
    <p:sldId id="528" r:id="rId30"/>
    <p:sldId id="423" r:id="rId31"/>
    <p:sldId id="530" r:id="rId32"/>
    <p:sldId id="531" r:id="rId33"/>
    <p:sldId id="532" r:id="rId34"/>
    <p:sldId id="533" r:id="rId35"/>
    <p:sldId id="334" r:id="rId36"/>
    <p:sldId id="458" r:id="rId37"/>
    <p:sldId id="463" r:id="rId38"/>
    <p:sldId id="510" r:id="rId39"/>
    <p:sldId id="511" r:id="rId40"/>
    <p:sldId id="495" r:id="rId41"/>
    <p:sldId id="496" r:id="rId42"/>
    <p:sldId id="497" r:id="rId43"/>
    <p:sldId id="480" r:id="rId44"/>
    <p:sldId id="498" r:id="rId45"/>
    <p:sldId id="499" r:id="rId46"/>
    <p:sldId id="481" r:id="rId47"/>
    <p:sldId id="500" r:id="rId48"/>
    <p:sldId id="501" r:id="rId49"/>
    <p:sldId id="482" r:id="rId50"/>
    <p:sldId id="502" r:id="rId51"/>
    <p:sldId id="503" r:id="rId52"/>
    <p:sldId id="483" r:id="rId53"/>
    <p:sldId id="504" r:id="rId54"/>
    <p:sldId id="505" r:id="rId55"/>
    <p:sldId id="484" r:id="rId56"/>
    <p:sldId id="506" r:id="rId57"/>
    <p:sldId id="507" r:id="rId58"/>
    <p:sldId id="485" r:id="rId59"/>
    <p:sldId id="508" r:id="rId60"/>
    <p:sldId id="50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ldId id="490"/>
            <p14:sldId id="491"/>
            <p14:sldId id="492"/>
            <p14:sldId id="462"/>
            <p14:sldId id="473"/>
            <p14:sldId id="494"/>
            <p14:sldId id="474"/>
            <p14:sldId id="514"/>
            <p14:sldId id="515"/>
            <p14:sldId id="516"/>
            <p14:sldId id="472"/>
            <p14:sldId id="540"/>
            <p14:sldId id="475"/>
            <p14:sldId id="477"/>
            <p14:sldId id="547"/>
            <p14:sldId id="535"/>
            <p14:sldId id="536"/>
            <p14:sldId id="537"/>
            <p14:sldId id="478"/>
            <p14:sldId id="525"/>
            <p14:sldId id="519"/>
            <p14:sldId id="486"/>
            <p14:sldId id="493"/>
            <p14:sldId id="526"/>
            <p14:sldId id="527"/>
            <p14:sldId id="528"/>
            <p14:sldId id="423"/>
            <p14:sldId id="530"/>
            <p14:sldId id="531"/>
            <p14:sldId id="532"/>
            <p14:sldId id="533"/>
            <p14:sldId id="334"/>
            <p14:sldId id="458"/>
            <p14:sldId id="463"/>
            <p14:sldId id="510"/>
            <p14:sldId id="511"/>
            <p14:sldId id="495"/>
            <p14:sldId id="496"/>
            <p14:sldId id="497"/>
            <p14:sldId id="480"/>
            <p14:sldId id="498"/>
            <p14:sldId id="499"/>
            <p14:sldId id="481"/>
            <p14:sldId id="500"/>
            <p14:sldId id="501"/>
            <p14:sldId id="482"/>
            <p14:sldId id="502"/>
            <p14:sldId id="503"/>
            <p14:sldId id="483"/>
            <p14:sldId id="504"/>
            <p14:sldId id="505"/>
            <p14:sldId id="484"/>
            <p14:sldId id="506"/>
            <p14:sldId id="507"/>
            <p14:sldId id="485"/>
            <p14:sldId id="508"/>
            <p14:sldId id="509"/>
          </p14:sldIdLst>
        </p14:section>
        <p14:section name="Structure" id="{10C81FA4-AB20-4F8C-AA98-C00990760090}">
          <p14:sldIdLst/>
        </p14:section>
        <p14:section name="Content" id="{46E3452E-F3BC-4E25-8859-4B5581757031}">
          <p14:sldIdLst/>
        </p14:section>
        <p14:section name="Media Layouts" id="{0373413B-1246-4DBD-8B8A-27ABC81C69D7}">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CEA94A-36D6-FA27-22E7-56D9F4865D59}" name="Deb Pias" initials="" userId="S::deb.pias@purposebrands.com::6ba37ba6-8e79-406c-b709-676496f36748" providerId="AD"/>
  <p188:author id="{5F597979-2B3D-32E0-7E27-A2E87AA142A8}" name="Aaron Trotter" initials="" userId="S::aaron.trotter@sebrands.com::42b76c24-cb2e-4829-be24-1584428e03b0" providerId="AD"/>
  <p188:author id="{EE046490-CDA6-14A8-03C6-79179498A23A}" name="Martha Tobin" initials="MT" userId="S::martha.tobin@sebrands.com::cf597b79-43df-44bd-8da2-41c21c296ad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5E9E1"/>
    <a:srgbClr val="DAF4F0"/>
    <a:srgbClr val="6135B3"/>
    <a:srgbClr val="440099"/>
    <a:srgbClr val="6E38D5"/>
    <a:srgbClr val="FFFFFF"/>
    <a:srgbClr val="FF7500"/>
    <a:srgbClr val="90DED1"/>
    <a:srgbClr val="46C8B3"/>
    <a:srgbClr val="00C7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D752BF-76A9-E442-AE9D-2EE3ABB117E7}" v="20" dt="2026-03-05T20:03:12.244"/>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5"/>
    <p:restoredTop sz="86023"/>
  </p:normalViewPr>
  <p:slideViewPr>
    <p:cSldViewPr snapToGrid="0">
      <p:cViewPr varScale="1">
        <p:scale>
          <a:sx n="141" d="100"/>
          <a:sy n="141" d="100"/>
        </p:scale>
        <p:origin x="216" y="784"/>
      </p:cViewPr>
      <p:guideLst>
        <p:guide pos="38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handoutMaster" Target="handoutMasters/handoutMaster1.xml"/><Relationship Id="rId68"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omments/modernComment_1DA_476DABFC.xml><?xml version="1.0" encoding="utf-8"?>
<p188:cmLst xmlns:a="http://schemas.openxmlformats.org/drawingml/2006/main" xmlns:r="http://schemas.openxmlformats.org/officeDocument/2006/relationships" xmlns:p188="http://schemas.microsoft.com/office/powerpoint/2018/8/main">
  <p188:cm id="{1A850FC1-515C-4510-AB54-17FB4A0D48F5}" authorId="{EE046490-CDA6-14A8-03C6-79179498A23A}" created="2025-03-27T13:43:07.210">
    <pc:sldMkLst xmlns:pc="http://schemas.microsoft.com/office/powerpoint/2013/main/command">
      <pc:docMk/>
      <pc:sldMk cId="1198369788" sldId="474"/>
    </pc:sldMkLst>
    <p188:txBody>
      <a:bodyPr/>
      <a:lstStyle/>
      <a:p>
        <a:r>
          <a:rPr lang="en-US"/>
          <a:t>Recommend separating out into multiple slides
Avoid putting white text on blue background (really hard to see); use black text instead</a:t>
        </a:r>
      </a:p>
    </p188:txBody>
  </p188:cm>
</p188:cmLst>
</file>

<file path=ppt/comments/modernComment_1DB_B02D3500.xml><?xml version="1.0" encoding="utf-8"?>
<p188:cmLst xmlns:a="http://schemas.openxmlformats.org/drawingml/2006/main" xmlns:r="http://schemas.openxmlformats.org/officeDocument/2006/relationships" xmlns:p188="http://schemas.microsoft.com/office/powerpoint/2018/8/main">
  <p188:cm id="{6684A839-254B-4D34-A749-69EB1140BB87}" authorId="{EE046490-CDA6-14A8-03C6-79179498A23A}" created="2025-03-27T13:41:18.909">
    <pc:sldMkLst xmlns:pc="http://schemas.microsoft.com/office/powerpoint/2013/main/command">
      <pc:docMk/>
      <pc:sldMk cId="2955752704" sldId="475"/>
    </pc:sldMkLst>
    <p188:txBody>
      <a:bodyPr/>
      <a:lstStyle/>
      <a:p>
        <a:r>
          <a:rPr lang="en-US"/>
          <a:t>Need less text on this - Consider breaking out into three slides; consolidate text
Add pictures  - recommend pulling from “how to conduct fc” course: https://360.articulate.com/review/content/97fb519d-c02f-40be-84d0-25f9075584ac/review</a:t>
        </a:r>
      </a:p>
    </p188:txBody>
  </p188:cm>
  <p188:cm id="{70094DA0-0530-4663-8222-93564E3B0637}" authorId="{EE046490-CDA6-14A8-03C6-79179498A23A}" created="2025-03-27T13:42:16.552">
    <ac:deMkLst xmlns:ac="http://schemas.microsoft.com/office/drawing/2013/main/command">
      <pc:docMk xmlns:pc="http://schemas.microsoft.com/office/powerpoint/2013/main/command"/>
      <pc:sldMk xmlns:pc="http://schemas.microsoft.com/office/powerpoint/2013/main/command" cId="2955752704" sldId="475"/>
      <ac:picMk id="4" creationId="{24BE8E25-BA57-F8E7-D8C7-A58509366DF0}"/>
    </ac:deMkLst>
    <p188:txBody>
      <a:bodyPr/>
      <a:lstStyle/>
      <a:p>
        <a:r>
          <a:rPr lang="en-US"/>
          <a:t>Image pulled from FC course, lesson “step 3: conduct high five assessment” </a:t>
        </a:r>
      </a:p>
    </p188:txBody>
  </p188:cm>
</p188:cmLst>
</file>

<file path=ppt/comments/modernComment_1DD_6D294EF0.xml><?xml version="1.0" encoding="utf-8"?>
<p188:cmLst xmlns:a="http://schemas.openxmlformats.org/drawingml/2006/main" xmlns:r="http://schemas.openxmlformats.org/officeDocument/2006/relationships" xmlns:p188="http://schemas.microsoft.com/office/powerpoint/2018/8/main">
  <p188:cm id="{C776975A-F875-4992-A2B7-4A97D448B24B}" authorId="{EE046490-CDA6-14A8-03C6-79179498A23A}" created="2025-03-27T13:43:38.616">
    <pc:sldMkLst xmlns:pc="http://schemas.microsoft.com/office/powerpoint/2013/main/command">
      <pc:docMk/>
      <pc:sldMk cId="1831423728" sldId="477"/>
    </pc:sldMkLst>
    <p188:txBody>
      <a:bodyPr/>
      <a:lstStyle/>
      <a:p>
        <a:r>
          <a:rPr lang="en-US"/>
          <a:t>Break out into 4 different slides with each topic on a slide</a:t>
        </a:r>
      </a:p>
    </p188:txBody>
  </p188:cm>
</p188:cmLst>
</file>

<file path=ppt/comments/modernComment_1DE_E3E80B86.xml><?xml version="1.0" encoding="utf-8"?>
<p188:cmLst xmlns:a="http://schemas.openxmlformats.org/drawingml/2006/main" xmlns:r="http://schemas.openxmlformats.org/officeDocument/2006/relationships" xmlns:p188="http://schemas.microsoft.com/office/powerpoint/2018/8/main">
  <p188:cm id="{E9B4F7B2-C3D3-4EE6-BB6C-344DAD303696}" authorId="{EE046490-CDA6-14A8-03C6-79179498A23A}" created="2025-03-27T13:44:07.688">
    <pc:sldMkLst xmlns:pc="http://schemas.microsoft.com/office/powerpoint/2013/main/command">
      <pc:docMk/>
      <pc:sldMk cId="3823635334" sldId="478"/>
    </pc:sldMkLst>
    <p188:txBody>
      <a:bodyPr/>
      <a:lstStyle/>
      <a:p>
        <a:r>
          <a:rPr lang="en-US"/>
          <a:t>Break out into separate slides OR reduce text on slide and use it as your talking points instead</a:t>
        </a:r>
      </a:p>
    </p188:txBody>
  </p188:cm>
</p188:cmLst>
</file>

<file path=ppt/comments/modernComment_1EB_70C8438A.xml><?xml version="1.0" encoding="utf-8"?>
<p188:cmLst xmlns:a="http://schemas.openxmlformats.org/drawingml/2006/main" xmlns:r="http://schemas.openxmlformats.org/officeDocument/2006/relationships" xmlns:p188="http://schemas.microsoft.com/office/powerpoint/2018/8/main">
  <p188:cm id="{DD2F0F36-269D-42FB-B488-3C2067044EE6}" authorId="{EE046490-CDA6-14A8-03C6-79179498A23A}" status="resolved" created="2025-03-27T13:31:17.963" complete="100000">
    <pc:sldMkLst xmlns:pc="http://schemas.microsoft.com/office/powerpoint/2013/main/command">
      <pc:docMk/>
      <pc:sldMk cId="1892172682" sldId="491"/>
    </pc:sldMkLst>
    <p188:txBody>
      <a:bodyPr/>
      <a:lstStyle/>
      <a:p>
        <a:r>
          <a:rPr lang="en-US"/>
          <a:t>SEE notes section for talking points based on your previous slide</a:t>
        </a:r>
      </a:p>
    </p188:txBody>
  </p188:cm>
</p188:cmLst>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8F6850-4A13-4958-BDD8-2D6B25D6F871}"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21F3723D-F59D-41A4-9F23-7B7E52BCC3D3}">
      <dgm:prSet/>
      <dgm:spPr/>
      <dgm:t>
        <a:bodyPr/>
        <a:lstStyle/>
        <a:p>
          <a:pPr>
            <a:buFont typeface="Arial" panose="020B0604020202020204" pitchFamily="34" charset="0"/>
            <a:buChar char="•"/>
          </a:pPr>
          <a:r>
            <a:rPr lang="en-US"/>
            <a:t>Evaluates thoracic and shoulder mobility along with core control under load. </a:t>
          </a:r>
        </a:p>
        <a:p>
          <a:pPr>
            <a:buFont typeface="Arial" panose="020B0604020202020204" pitchFamily="34" charset="0"/>
            <a:buChar char="•"/>
          </a:pPr>
          <a:endParaRPr lang="en-US"/>
        </a:p>
        <a:p>
          <a:pPr>
            <a:buFont typeface="Arial" panose="020B0604020202020204" pitchFamily="34" charset="0"/>
            <a:buChar char="•"/>
          </a:pPr>
          <a:r>
            <a:rPr lang="en-US"/>
            <a:t>Low Scores indicate difficulty maintaining a neutral spine in hinge-based lifts. </a:t>
          </a:r>
        </a:p>
        <a:p>
          <a:pPr>
            <a:buFont typeface="Arial" panose="020B0604020202020204" pitchFamily="34" charset="0"/>
            <a:buChar char="•"/>
          </a:pPr>
          <a:endParaRPr lang="en-US"/>
        </a:p>
        <a:p>
          <a:pPr>
            <a:buFont typeface="Arial" panose="020B0604020202020204" pitchFamily="34" charset="0"/>
            <a:buChar char="•"/>
          </a:pPr>
          <a:r>
            <a:rPr lang="en-US"/>
            <a:t>Recommended adjustments: </a:t>
          </a:r>
        </a:p>
        <a:p>
          <a:pPr>
            <a:buFont typeface="Arial" panose="020B0604020202020204" pitchFamily="34" charset="0"/>
            <a:buChar char="•"/>
          </a:pPr>
          <a:r>
            <a:rPr lang="en-US"/>
            <a:t>Start with supported or lower-depth variations to reinforce stability before progressing.</a:t>
          </a:r>
        </a:p>
        <a:p>
          <a:pPr>
            <a:buFont typeface="Arial" panose="020B0604020202020204" pitchFamily="34" charset="0"/>
            <a:buChar char="•"/>
          </a:pPr>
          <a:endParaRPr lang="en-US"/>
        </a:p>
      </dgm:t>
    </dgm:pt>
    <dgm:pt modelId="{5A4BAE93-2C16-4A15-B20C-3B3BF783ABD2}" type="parTrans" cxnId="{7B2D7BDD-1FE8-4C7A-9F91-731C9D564AA1}">
      <dgm:prSet/>
      <dgm:spPr/>
      <dgm:t>
        <a:bodyPr/>
        <a:lstStyle/>
        <a:p>
          <a:endParaRPr lang="en-US"/>
        </a:p>
      </dgm:t>
    </dgm:pt>
    <dgm:pt modelId="{3C7162A0-3FF7-433E-B1FC-AB3A8173239F}" type="sibTrans" cxnId="{7B2D7BDD-1FE8-4C7A-9F91-731C9D564AA1}">
      <dgm:prSet phldrT="1" phldr="0"/>
      <dgm:spPr/>
      <dgm:t>
        <a:bodyPr/>
        <a:lstStyle/>
        <a:p>
          <a:endParaRPr lang="en-US"/>
        </a:p>
      </dgm:t>
    </dgm:pt>
    <dgm:pt modelId="{4D54E555-1B3C-1340-A862-C2B147537B2E}" type="pres">
      <dgm:prSet presAssocID="{A18F6850-4A13-4958-BDD8-2D6B25D6F871}" presName="diagram" presStyleCnt="0">
        <dgm:presLayoutVars>
          <dgm:dir/>
          <dgm:resizeHandles val="exact"/>
        </dgm:presLayoutVars>
      </dgm:prSet>
      <dgm:spPr/>
    </dgm:pt>
    <dgm:pt modelId="{1813BA89-44B9-6446-9A5B-29C107BBA2E4}" type="pres">
      <dgm:prSet presAssocID="{21F3723D-F59D-41A4-9F23-7B7E52BCC3D3}" presName="node" presStyleLbl="node1" presStyleIdx="0" presStyleCnt="1" custScaleX="193103" custScaleY="284978">
        <dgm:presLayoutVars>
          <dgm:bulletEnabled val="1"/>
        </dgm:presLayoutVars>
      </dgm:prSet>
      <dgm:spPr/>
    </dgm:pt>
  </dgm:ptLst>
  <dgm:cxnLst>
    <dgm:cxn modelId="{00C3F056-5411-7C4C-85B7-5B5D749250CC}" type="presOf" srcId="{21F3723D-F59D-41A4-9F23-7B7E52BCC3D3}" destId="{1813BA89-44B9-6446-9A5B-29C107BBA2E4}" srcOrd="0" destOrd="0" presId="urn:microsoft.com/office/officeart/2005/8/layout/default"/>
    <dgm:cxn modelId="{4F453859-E293-3B44-BA1D-9D5D359EC9D9}" type="presOf" srcId="{A18F6850-4A13-4958-BDD8-2D6B25D6F871}" destId="{4D54E555-1B3C-1340-A862-C2B147537B2E}" srcOrd="0" destOrd="0" presId="urn:microsoft.com/office/officeart/2005/8/layout/default"/>
    <dgm:cxn modelId="{7B2D7BDD-1FE8-4C7A-9F91-731C9D564AA1}" srcId="{A18F6850-4A13-4958-BDD8-2D6B25D6F871}" destId="{21F3723D-F59D-41A4-9F23-7B7E52BCC3D3}" srcOrd="0" destOrd="0" parTransId="{5A4BAE93-2C16-4A15-B20C-3B3BF783ABD2}" sibTransId="{3C7162A0-3FF7-433E-B1FC-AB3A8173239F}"/>
    <dgm:cxn modelId="{9FF25B93-EF73-0D4C-90DC-E35281E14E0C}" type="presParOf" srcId="{4D54E555-1B3C-1340-A862-C2B147537B2E}" destId="{1813BA89-44B9-6446-9A5B-29C107BBA2E4}" srcOrd="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8F6850-4A13-4958-BDD8-2D6B25D6F871}" type="doc">
      <dgm:prSet loTypeId="urn:microsoft.com/office/officeart/2005/8/layout/default" loCatId="list" qsTypeId="urn:microsoft.com/office/officeart/2005/8/quickstyle/simple1" qsCatId="simple" csTypeId="urn:microsoft.com/office/officeart/2005/8/colors/accent5_2" csCatId="accent5" phldr="1"/>
      <dgm:spPr/>
      <dgm:t>
        <a:bodyPr/>
        <a:lstStyle/>
        <a:p>
          <a:endParaRPr lang="en-US"/>
        </a:p>
      </dgm:t>
    </dgm:pt>
    <dgm:pt modelId="{21F3723D-F59D-41A4-9F23-7B7E52BCC3D3}">
      <dgm:prSet/>
      <dgm:spPr/>
      <dgm:t>
        <a:bodyPr/>
        <a:lstStyle/>
        <a:p>
          <a:pPr>
            <a:buFont typeface="Arial" panose="020B0604020202020204" pitchFamily="34" charset="0"/>
            <a:buChar char="•"/>
          </a:pPr>
          <a:r>
            <a:rPr lang="en-US" b="1"/>
            <a:t>Single-Leg Balance Reach:</a:t>
          </a:r>
          <a:endParaRPr lang="en-US"/>
        </a:p>
        <a:p>
          <a:r>
            <a:rPr lang="en-US"/>
            <a:t>Assesses unilateral stability and proprioception.</a:t>
          </a:r>
        </a:p>
        <a:p>
          <a:r>
            <a:rPr lang="en-US"/>
            <a:t>A score of one or two suggests single-leg RDLs may be too advanced at this stage.</a:t>
          </a:r>
        </a:p>
        <a:p>
          <a:endParaRPr lang="en-US"/>
        </a:p>
        <a:p>
          <a:r>
            <a:rPr lang="en-US"/>
            <a:t>Recommended adjustments: Begin with two-legged variations, partial range of motion, or suspension assistance before advancing. </a:t>
          </a:r>
        </a:p>
        <a:p>
          <a:endParaRPr lang="en-US"/>
        </a:p>
        <a:p>
          <a:r>
            <a:rPr lang="en-US"/>
            <a:t>They may start with two-legged variations and build single-leg capacity over time with partial-range or TRX support.</a:t>
          </a:r>
        </a:p>
      </dgm:t>
    </dgm:pt>
    <dgm:pt modelId="{5A4BAE93-2C16-4A15-B20C-3B3BF783ABD2}" type="parTrans" cxnId="{7B2D7BDD-1FE8-4C7A-9F91-731C9D564AA1}">
      <dgm:prSet/>
      <dgm:spPr/>
      <dgm:t>
        <a:bodyPr/>
        <a:lstStyle/>
        <a:p>
          <a:endParaRPr lang="en-US"/>
        </a:p>
      </dgm:t>
    </dgm:pt>
    <dgm:pt modelId="{3C7162A0-3FF7-433E-B1FC-AB3A8173239F}" type="sibTrans" cxnId="{7B2D7BDD-1FE8-4C7A-9F91-731C9D564AA1}">
      <dgm:prSet phldrT="1" phldr="0"/>
      <dgm:spPr/>
      <dgm:t>
        <a:bodyPr/>
        <a:lstStyle/>
        <a:p>
          <a:endParaRPr lang="en-US"/>
        </a:p>
      </dgm:t>
    </dgm:pt>
    <dgm:pt modelId="{4D54E555-1B3C-1340-A862-C2B147537B2E}" type="pres">
      <dgm:prSet presAssocID="{A18F6850-4A13-4958-BDD8-2D6B25D6F871}" presName="diagram" presStyleCnt="0">
        <dgm:presLayoutVars>
          <dgm:dir/>
          <dgm:resizeHandles val="exact"/>
        </dgm:presLayoutVars>
      </dgm:prSet>
      <dgm:spPr/>
    </dgm:pt>
    <dgm:pt modelId="{1813BA89-44B9-6446-9A5B-29C107BBA2E4}" type="pres">
      <dgm:prSet presAssocID="{21F3723D-F59D-41A4-9F23-7B7E52BCC3D3}" presName="node" presStyleLbl="node1" presStyleIdx="0" presStyleCnt="1" custScaleX="251868" custScaleY="362997">
        <dgm:presLayoutVars>
          <dgm:bulletEnabled val="1"/>
        </dgm:presLayoutVars>
      </dgm:prSet>
      <dgm:spPr/>
    </dgm:pt>
  </dgm:ptLst>
  <dgm:cxnLst>
    <dgm:cxn modelId="{00C3F056-5411-7C4C-85B7-5B5D749250CC}" type="presOf" srcId="{21F3723D-F59D-41A4-9F23-7B7E52BCC3D3}" destId="{1813BA89-44B9-6446-9A5B-29C107BBA2E4}" srcOrd="0" destOrd="0" presId="urn:microsoft.com/office/officeart/2005/8/layout/default"/>
    <dgm:cxn modelId="{4F453859-E293-3B44-BA1D-9D5D359EC9D9}" type="presOf" srcId="{A18F6850-4A13-4958-BDD8-2D6B25D6F871}" destId="{4D54E555-1B3C-1340-A862-C2B147537B2E}" srcOrd="0" destOrd="0" presId="urn:microsoft.com/office/officeart/2005/8/layout/default"/>
    <dgm:cxn modelId="{7B2D7BDD-1FE8-4C7A-9F91-731C9D564AA1}" srcId="{A18F6850-4A13-4958-BDD8-2D6B25D6F871}" destId="{21F3723D-F59D-41A4-9F23-7B7E52BCC3D3}" srcOrd="0" destOrd="0" parTransId="{5A4BAE93-2C16-4A15-B20C-3B3BF783ABD2}" sibTransId="{3C7162A0-3FF7-433E-B1FC-AB3A8173239F}"/>
    <dgm:cxn modelId="{9FF25B93-EF73-0D4C-90DC-E35281E14E0C}" type="presParOf" srcId="{4D54E555-1B3C-1340-A862-C2B147537B2E}" destId="{1813BA89-44B9-6446-9A5B-29C107BBA2E4}"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8F6850-4A13-4958-BDD8-2D6B25D6F871}" type="doc">
      <dgm:prSet loTypeId="urn:microsoft.com/office/officeart/2005/8/layout/default" loCatId="list" qsTypeId="urn:microsoft.com/office/officeart/2005/8/quickstyle/simple1" qsCatId="simple" csTypeId="urn:microsoft.com/office/officeart/2005/8/colors/accent4_2" csCatId="accent4" phldr="1"/>
      <dgm:spPr/>
      <dgm:t>
        <a:bodyPr/>
        <a:lstStyle/>
        <a:p>
          <a:endParaRPr lang="en-US"/>
        </a:p>
      </dgm:t>
    </dgm:pt>
    <dgm:pt modelId="{21F3723D-F59D-41A4-9F23-7B7E52BCC3D3}">
      <dgm:prSet/>
      <dgm:spPr/>
      <dgm:t>
        <a:bodyPr/>
        <a:lstStyle/>
        <a:p>
          <a:pPr>
            <a:buFont typeface="Arial" panose="020B0604020202020204" pitchFamily="34" charset="0"/>
            <a:buChar char="•"/>
          </a:pPr>
          <a:r>
            <a:rPr lang="en-US"/>
            <a:t>Evaluates thoracic and shoulder mobility along with core control under load. </a:t>
          </a:r>
        </a:p>
        <a:p>
          <a:pPr>
            <a:buFont typeface="Arial" panose="020B0604020202020204" pitchFamily="34" charset="0"/>
            <a:buChar char="•"/>
          </a:pPr>
          <a:endParaRPr lang="en-US"/>
        </a:p>
        <a:p>
          <a:pPr>
            <a:buFont typeface="Arial" panose="020B0604020202020204" pitchFamily="34" charset="0"/>
            <a:buChar char="•"/>
          </a:pPr>
          <a:r>
            <a:rPr lang="en-US"/>
            <a:t>Low Scores indicate difficulty maintaining a neutral spine in hinge-based lifts. </a:t>
          </a:r>
        </a:p>
        <a:p>
          <a:pPr>
            <a:buFont typeface="Arial" panose="020B0604020202020204" pitchFamily="34" charset="0"/>
            <a:buChar char="•"/>
          </a:pPr>
          <a:endParaRPr lang="en-US"/>
        </a:p>
        <a:p>
          <a:pPr>
            <a:buFont typeface="Arial" panose="020B0604020202020204" pitchFamily="34" charset="0"/>
            <a:buChar char="•"/>
          </a:pPr>
          <a:r>
            <a:rPr lang="en-US"/>
            <a:t>Recommended adjustments: </a:t>
          </a:r>
        </a:p>
        <a:p>
          <a:pPr>
            <a:buFont typeface="Arial" panose="020B0604020202020204" pitchFamily="34" charset="0"/>
            <a:buChar char="•"/>
          </a:pPr>
          <a:r>
            <a:rPr lang="en-US"/>
            <a:t>Start with supported or lower-depth variations to reinforce stability before progressing.</a:t>
          </a:r>
        </a:p>
      </dgm:t>
    </dgm:pt>
    <dgm:pt modelId="{5A4BAE93-2C16-4A15-B20C-3B3BF783ABD2}" type="parTrans" cxnId="{7B2D7BDD-1FE8-4C7A-9F91-731C9D564AA1}">
      <dgm:prSet/>
      <dgm:spPr/>
      <dgm:t>
        <a:bodyPr/>
        <a:lstStyle/>
        <a:p>
          <a:endParaRPr lang="en-US"/>
        </a:p>
      </dgm:t>
    </dgm:pt>
    <dgm:pt modelId="{3C7162A0-3FF7-433E-B1FC-AB3A8173239F}" type="sibTrans" cxnId="{7B2D7BDD-1FE8-4C7A-9F91-731C9D564AA1}">
      <dgm:prSet phldrT="1" phldr="0"/>
      <dgm:spPr/>
      <dgm:t>
        <a:bodyPr/>
        <a:lstStyle/>
        <a:p>
          <a:endParaRPr lang="en-US"/>
        </a:p>
      </dgm:t>
    </dgm:pt>
    <dgm:pt modelId="{4D54E555-1B3C-1340-A862-C2B147537B2E}" type="pres">
      <dgm:prSet presAssocID="{A18F6850-4A13-4958-BDD8-2D6B25D6F871}" presName="diagram" presStyleCnt="0">
        <dgm:presLayoutVars>
          <dgm:dir/>
          <dgm:resizeHandles val="exact"/>
        </dgm:presLayoutVars>
      </dgm:prSet>
      <dgm:spPr/>
    </dgm:pt>
    <dgm:pt modelId="{1813BA89-44B9-6446-9A5B-29C107BBA2E4}" type="pres">
      <dgm:prSet presAssocID="{21F3723D-F59D-41A4-9F23-7B7E52BCC3D3}" presName="node" presStyleLbl="node1" presStyleIdx="0" presStyleCnt="1" custScaleX="94893" custScaleY="141558" custLinFactNeighborX="0" custLinFactNeighborY="-2553">
        <dgm:presLayoutVars>
          <dgm:bulletEnabled val="1"/>
        </dgm:presLayoutVars>
      </dgm:prSet>
      <dgm:spPr/>
    </dgm:pt>
  </dgm:ptLst>
  <dgm:cxnLst>
    <dgm:cxn modelId="{00C3F056-5411-7C4C-85B7-5B5D749250CC}" type="presOf" srcId="{21F3723D-F59D-41A4-9F23-7B7E52BCC3D3}" destId="{1813BA89-44B9-6446-9A5B-29C107BBA2E4}" srcOrd="0" destOrd="0" presId="urn:microsoft.com/office/officeart/2005/8/layout/default"/>
    <dgm:cxn modelId="{4F453859-E293-3B44-BA1D-9D5D359EC9D9}" type="presOf" srcId="{A18F6850-4A13-4958-BDD8-2D6B25D6F871}" destId="{4D54E555-1B3C-1340-A862-C2B147537B2E}" srcOrd="0" destOrd="0" presId="urn:microsoft.com/office/officeart/2005/8/layout/default"/>
    <dgm:cxn modelId="{7B2D7BDD-1FE8-4C7A-9F91-731C9D564AA1}" srcId="{A18F6850-4A13-4958-BDD8-2D6B25D6F871}" destId="{21F3723D-F59D-41A4-9F23-7B7E52BCC3D3}" srcOrd="0" destOrd="0" parTransId="{5A4BAE93-2C16-4A15-B20C-3B3BF783ABD2}" sibTransId="{3C7162A0-3FF7-433E-B1FC-AB3A8173239F}"/>
    <dgm:cxn modelId="{9FF25B93-EF73-0D4C-90DC-E35281E14E0C}" type="presParOf" srcId="{4D54E555-1B3C-1340-A862-C2B147537B2E}" destId="{1813BA89-44B9-6446-9A5B-29C107BBA2E4}"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8F6850-4A13-4958-BDD8-2D6B25D6F871}" type="doc">
      <dgm:prSet loTypeId="urn:microsoft.com/office/officeart/2005/8/layout/default" loCatId="list" qsTypeId="urn:microsoft.com/office/officeart/2005/8/quickstyle/simple1" qsCatId="simple" csTypeId="urn:microsoft.com/office/officeart/2005/8/colors/accent6_2" csCatId="accent6" phldr="1"/>
      <dgm:spPr/>
      <dgm:t>
        <a:bodyPr/>
        <a:lstStyle/>
        <a:p>
          <a:endParaRPr lang="en-US"/>
        </a:p>
      </dgm:t>
    </dgm:pt>
    <dgm:pt modelId="{21F3723D-F59D-41A4-9F23-7B7E52BCC3D3}">
      <dgm:prSet/>
      <dgm:spPr/>
      <dgm:t>
        <a:bodyPr/>
        <a:lstStyle/>
        <a:p>
          <a:pPr>
            <a:buFont typeface="Arial" panose="020B0604020202020204" pitchFamily="34" charset="0"/>
            <a:buChar char="•"/>
          </a:pPr>
          <a:r>
            <a:rPr lang="en-US"/>
            <a:t>Evaluates thoracic and shoulder mobility along with core control under load. </a:t>
          </a:r>
        </a:p>
        <a:p>
          <a:pPr>
            <a:buFont typeface="Arial" panose="020B0604020202020204" pitchFamily="34" charset="0"/>
            <a:buChar char="•"/>
          </a:pPr>
          <a:endParaRPr lang="en-US"/>
        </a:p>
        <a:p>
          <a:pPr>
            <a:buFont typeface="Arial" panose="020B0604020202020204" pitchFamily="34" charset="0"/>
            <a:buChar char="•"/>
          </a:pPr>
          <a:r>
            <a:rPr lang="en-US"/>
            <a:t>Low Scores indicate difficulty maintaining a neutral spine in hinge-based lifts. </a:t>
          </a:r>
        </a:p>
        <a:p>
          <a:pPr>
            <a:buFont typeface="Arial" panose="020B0604020202020204" pitchFamily="34" charset="0"/>
            <a:buChar char="•"/>
          </a:pPr>
          <a:endParaRPr lang="en-US"/>
        </a:p>
        <a:p>
          <a:pPr>
            <a:buFont typeface="Arial" panose="020B0604020202020204" pitchFamily="34" charset="0"/>
            <a:buChar char="•"/>
          </a:pPr>
          <a:r>
            <a:rPr lang="en-US"/>
            <a:t>Recommended adjustments: </a:t>
          </a:r>
        </a:p>
        <a:p>
          <a:pPr>
            <a:buFont typeface="Arial" panose="020B0604020202020204" pitchFamily="34" charset="0"/>
            <a:buChar char="•"/>
          </a:pPr>
          <a:r>
            <a:rPr lang="en-US"/>
            <a:t>Start with supported or lower-depth variations to reinforce stability before progressing.</a:t>
          </a:r>
        </a:p>
      </dgm:t>
    </dgm:pt>
    <dgm:pt modelId="{5A4BAE93-2C16-4A15-B20C-3B3BF783ABD2}" type="parTrans" cxnId="{7B2D7BDD-1FE8-4C7A-9F91-731C9D564AA1}">
      <dgm:prSet/>
      <dgm:spPr/>
      <dgm:t>
        <a:bodyPr/>
        <a:lstStyle/>
        <a:p>
          <a:endParaRPr lang="en-US"/>
        </a:p>
      </dgm:t>
    </dgm:pt>
    <dgm:pt modelId="{3C7162A0-3FF7-433E-B1FC-AB3A8173239F}" type="sibTrans" cxnId="{7B2D7BDD-1FE8-4C7A-9F91-731C9D564AA1}">
      <dgm:prSet phldrT="1" phldr="0"/>
      <dgm:spPr/>
      <dgm:t>
        <a:bodyPr/>
        <a:lstStyle/>
        <a:p>
          <a:endParaRPr lang="en-US"/>
        </a:p>
      </dgm:t>
    </dgm:pt>
    <dgm:pt modelId="{4D54E555-1B3C-1340-A862-C2B147537B2E}" type="pres">
      <dgm:prSet presAssocID="{A18F6850-4A13-4958-BDD8-2D6B25D6F871}" presName="diagram" presStyleCnt="0">
        <dgm:presLayoutVars>
          <dgm:dir/>
          <dgm:resizeHandles val="exact"/>
        </dgm:presLayoutVars>
      </dgm:prSet>
      <dgm:spPr/>
    </dgm:pt>
    <dgm:pt modelId="{1813BA89-44B9-6446-9A5B-29C107BBA2E4}" type="pres">
      <dgm:prSet presAssocID="{21F3723D-F59D-41A4-9F23-7B7E52BCC3D3}" presName="node" presStyleLbl="node1" presStyleIdx="0" presStyleCnt="1" custScaleX="105782" custScaleY="141558" custLinFactNeighborX="0" custLinFactNeighborY="-2553">
        <dgm:presLayoutVars>
          <dgm:bulletEnabled val="1"/>
        </dgm:presLayoutVars>
      </dgm:prSet>
      <dgm:spPr/>
    </dgm:pt>
  </dgm:ptLst>
  <dgm:cxnLst>
    <dgm:cxn modelId="{00C3F056-5411-7C4C-85B7-5B5D749250CC}" type="presOf" srcId="{21F3723D-F59D-41A4-9F23-7B7E52BCC3D3}" destId="{1813BA89-44B9-6446-9A5B-29C107BBA2E4}" srcOrd="0" destOrd="0" presId="urn:microsoft.com/office/officeart/2005/8/layout/default"/>
    <dgm:cxn modelId="{4F453859-E293-3B44-BA1D-9D5D359EC9D9}" type="presOf" srcId="{A18F6850-4A13-4958-BDD8-2D6B25D6F871}" destId="{4D54E555-1B3C-1340-A862-C2B147537B2E}" srcOrd="0" destOrd="0" presId="urn:microsoft.com/office/officeart/2005/8/layout/default"/>
    <dgm:cxn modelId="{7B2D7BDD-1FE8-4C7A-9F91-731C9D564AA1}" srcId="{A18F6850-4A13-4958-BDD8-2D6B25D6F871}" destId="{21F3723D-F59D-41A4-9F23-7B7E52BCC3D3}" srcOrd="0" destOrd="0" parTransId="{5A4BAE93-2C16-4A15-B20C-3B3BF783ABD2}" sibTransId="{3C7162A0-3FF7-433E-B1FC-AB3A8173239F}"/>
    <dgm:cxn modelId="{9FF25B93-EF73-0D4C-90DC-E35281E14E0C}" type="presParOf" srcId="{4D54E555-1B3C-1340-A862-C2B147537B2E}" destId="{1813BA89-44B9-6446-9A5B-29C107BBA2E4}" srcOrd="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18F6850-4A13-4958-BDD8-2D6B25D6F871}" type="doc">
      <dgm:prSet loTypeId="urn:microsoft.com/office/officeart/2016/7/layout/ChevronBlockProcess" loCatId="process" qsTypeId="urn:microsoft.com/office/officeart/2005/8/quickstyle/simple5" qsCatId="simple" csTypeId="urn:microsoft.com/office/officeart/2005/8/colors/colorful1" csCatId="colorful" phldr="1"/>
      <dgm:spPr/>
      <dgm:t>
        <a:bodyPr/>
        <a:lstStyle/>
        <a:p>
          <a:endParaRPr lang="en-US"/>
        </a:p>
      </dgm:t>
    </dgm:pt>
    <dgm:pt modelId="{21F3723D-F59D-41A4-9F23-7B7E52BCC3D3}">
      <dgm:prSet custT="1"/>
      <dgm:spPr/>
      <dgm:t>
        <a:bodyPr/>
        <a:lstStyle/>
        <a:p>
          <a:pPr>
            <a:defRPr b="1"/>
          </a:pPr>
          <a:r>
            <a:rPr lang="en-US" sz="2000" b="1"/>
            <a:t>Identify Patterns in Scores</a:t>
          </a:r>
        </a:p>
      </dgm:t>
    </dgm:pt>
    <dgm:pt modelId="{5A4BAE93-2C16-4A15-B20C-3B3BF783ABD2}" type="parTrans" cxnId="{7B2D7BDD-1FE8-4C7A-9F91-731C9D564AA1}">
      <dgm:prSet/>
      <dgm:spPr/>
      <dgm:t>
        <a:bodyPr/>
        <a:lstStyle/>
        <a:p>
          <a:endParaRPr lang="en-US"/>
        </a:p>
      </dgm:t>
    </dgm:pt>
    <dgm:pt modelId="{3C7162A0-3FF7-433E-B1FC-AB3A8173239F}" type="sibTrans" cxnId="{7B2D7BDD-1FE8-4C7A-9F91-731C9D564AA1}">
      <dgm:prSet phldrT="1" phldr="0"/>
      <dgm:spPr/>
      <dgm:t>
        <a:bodyPr/>
        <a:lstStyle/>
        <a:p>
          <a:endParaRPr lang="en-US"/>
        </a:p>
      </dgm:t>
    </dgm:pt>
    <dgm:pt modelId="{577CC8DF-7342-4EBB-929F-999C2B3A236B}">
      <dgm:prSet custT="1"/>
      <dgm:spPr/>
      <dgm:t>
        <a:bodyPr/>
        <a:lstStyle/>
        <a:p>
          <a:pPr>
            <a:defRPr b="1"/>
          </a:pPr>
          <a:r>
            <a:rPr lang="en-US" sz="2000" b="1"/>
            <a:t>Actionable Takeaways </a:t>
          </a:r>
          <a:endParaRPr lang="en-US" sz="2000"/>
        </a:p>
      </dgm:t>
    </dgm:pt>
    <dgm:pt modelId="{B773978D-4EF4-40E1-A75D-95F052C3405F}" type="parTrans" cxnId="{72EADA54-3F7F-4BC7-B76D-8A6AB49F7C8B}">
      <dgm:prSet/>
      <dgm:spPr/>
      <dgm:t>
        <a:bodyPr/>
        <a:lstStyle/>
        <a:p>
          <a:endParaRPr lang="en-US"/>
        </a:p>
      </dgm:t>
    </dgm:pt>
    <dgm:pt modelId="{FFD1CC60-92B2-4E4F-8C49-2A1C2C8FE463}" type="sibTrans" cxnId="{72EADA54-3F7F-4BC7-B76D-8A6AB49F7C8B}">
      <dgm:prSet phldrT="2" phldr="0"/>
      <dgm:spPr/>
      <dgm:t>
        <a:bodyPr/>
        <a:lstStyle/>
        <a:p>
          <a:endParaRPr lang="en-US"/>
        </a:p>
      </dgm:t>
    </dgm:pt>
    <dgm:pt modelId="{A06C04B9-E183-4F34-A6A5-D0520333D891}">
      <dgm:prSet/>
      <dgm:spPr/>
      <dgm:t>
        <a:bodyPr/>
        <a:lstStyle/>
        <a:p>
          <a:r>
            <a:rPr lang="en-US" b="1" dirty="0">
              <a:solidFill>
                <a:schemeClr val="tx1"/>
              </a:solidFill>
            </a:rPr>
            <a:t>Unilateral Stability → Prioritize regressions and gradual progressions for lunges.</a:t>
          </a:r>
        </a:p>
        <a:p>
          <a:endParaRPr lang="en-US" b="1" dirty="0">
            <a:solidFill>
              <a:schemeClr val="tx1"/>
            </a:solidFill>
          </a:endParaRPr>
        </a:p>
        <a:p>
          <a:endParaRPr lang="en-US" b="1" dirty="0">
            <a:solidFill>
              <a:schemeClr val="tx1"/>
            </a:solidFill>
          </a:endParaRPr>
        </a:p>
      </dgm:t>
    </dgm:pt>
    <dgm:pt modelId="{7C0DD88B-1BF6-4BA7-A727-CE812CE9AC42}" type="parTrans" cxnId="{1C45B79C-D44C-4FA2-B39C-64C22F8C31DF}">
      <dgm:prSet/>
      <dgm:spPr/>
      <dgm:t>
        <a:bodyPr/>
        <a:lstStyle/>
        <a:p>
          <a:endParaRPr lang="en-US"/>
        </a:p>
      </dgm:t>
    </dgm:pt>
    <dgm:pt modelId="{3CCF97E7-C369-41CA-A6E6-B71D4F4B0CCE}" type="sibTrans" cxnId="{1C45B79C-D44C-4FA2-B39C-64C22F8C31DF}">
      <dgm:prSet/>
      <dgm:spPr/>
      <dgm:t>
        <a:bodyPr/>
        <a:lstStyle/>
        <a:p>
          <a:endParaRPr lang="en-US"/>
        </a:p>
      </dgm:t>
    </dgm:pt>
    <dgm:pt modelId="{BB58E243-C73C-48A7-8191-0D47883E52B2}">
      <dgm:prSet custT="1"/>
      <dgm:spPr/>
      <dgm:t>
        <a:bodyPr/>
        <a:lstStyle/>
        <a:p>
          <a:pPr>
            <a:defRPr b="1"/>
          </a:pPr>
          <a:r>
            <a:rPr lang="en-US" sz="2000" b="1"/>
            <a:t>Adjust Programming </a:t>
          </a:r>
          <a:endParaRPr lang="en-US" sz="2000"/>
        </a:p>
      </dgm:t>
    </dgm:pt>
    <dgm:pt modelId="{28A80C13-D164-46AC-81FB-ABC24FB2A692}" type="parTrans" cxnId="{8D0BA47F-EBB0-4448-B5B5-F99393A73CD5}">
      <dgm:prSet/>
      <dgm:spPr/>
      <dgm:t>
        <a:bodyPr/>
        <a:lstStyle/>
        <a:p>
          <a:endParaRPr lang="en-US"/>
        </a:p>
      </dgm:t>
    </dgm:pt>
    <dgm:pt modelId="{8CF6F6CA-45A5-49D3-BCE4-25CFAB178329}" type="sibTrans" cxnId="{8D0BA47F-EBB0-4448-B5B5-F99393A73CD5}">
      <dgm:prSet phldrT="3" phldr="0"/>
      <dgm:spPr/>
      <dgm:t>
        <a:bodyPr/>
        <a:lstStyle/>
        <a:p>
          <a:endParaRPr lang="en-US"/>
        </a:p>
      </dgm:t>
    </dgm:pt>
    <dgm:pt modelId="{9CC90546-1B7F-4A67-93C6-FC53DF3A22D3}">
      <dgm:prSet/>
      <dgm:spPr/>
      <dgm:t>
        <a:bodyPr/>
        <a:lstStyle/>
        <a:p>
          <a:r>
            <a:rPr lang="en-US" b="1" dirty="0">
              <a:solidFill>
                <a:schemeClr val="tx1"/>
              </a:solidFill>
            </a:rPr>
            <a:t>Unstable Patterns:</a:t>
          </a:r>
        </a:p>
      </dgm:t>
    </dgm:pt>
    <dgm:pt modelId="{982CB071-D2FB-4754-9C05-D6DA3A07F395}" type="parTrans" cxnId="{A331985C-9F3F-41AE-B8D2-C4C698C3EF03}">
      <dgm:prSet/>
      <dgm:spPr/>
      <dgm:t>
        <a:bodyPr/>
        <a:lstStyle/>
        <a:p>
          <a:endParaRPr lang="en-US"/>
        </a:p>
      </dgm:t>
    </dgm:pt>
    <dgm:pt modelId="{2E497B3B-7B96-4675-89EC-B981A7EFD282}" type="sibTrans" cxnId="{A331985C-9F3F-41AE-B8D2-C4C698C3EF03}">
      <dgm:prSet/>
      <dgm:spPr/>
      <dgm:t>
        <a:bodyPr/>
        <a:lstStyle/>
        <a:p>
          <a:endParaRPr lang="en-US"/>
        </a:p>
      </dgm:t>
    </dgm:pt>
    <dgm:pt modelId="{567BDCEF-8BAF-524E-9F40-E4D714FBBC77}">
      <dgm:prSet/>
      <dgm:spPr/>
      <dgm:t>
        <a:bodyPr/>
        <a:lstStyle/>
        <a:p>
          <a:r>
            <a:rPr lang="en-US" b="1" dirty="0">
              <a:solidFill>
                <a:schemeClr val="tx1"/>
              </a:solidFill>
            </a:rPr>
            <a:t>Overhead Squat (3) → Good mobility &amp; posture.</a:t>
          </a:r>
        </a:p>
        <a:p>
          <a:endParaRPr lang="en-US" b="1" dirty="0">
            <a:solidFill>
              <a:schemeClr val="tx1"/>
            </a:solidFill>
          </a:endParaRPr>
        </a:p>
      </dgm:t>
    </dgm:pt>
    <dgm:pt modelId="{31E0698D-5A96-A441-8330-8D11E75CF88E}" type="parTrans" cxnId="{016555BA-0A38-5647-AF10-D5850DBF278A}">
      <dgm:prSet/>
      <dgm:spPr/>
      <dgm:t>
        <a:bodyPr/>
        <a:lstStyle/>
        <a:p>
          <a:endParaRPr lang="en-US"/>
        </a:p>
      </dgm:t>
    </dgm:pt>
    <dgm:pt modelId="{10FDE596-2AA1-8D4A-8959-33BB0BDCAC07}" type="sibTrans" cxnId="{016555BA-0A38-5647-AF10-D5850DBF278A}">
      <dgm:prSet/>
      <dgm:spPr/>
      <dgm:t>
        <a:bodyPr/>
        <a:lstStyle/>
        <a:p>
          <a:endParaRPr lang="en-US"/>
        </a:p>
      </dgm:t>
    </dgm:pt>
    <dgm:pt modelId="{461A29F7-FB4E-AA4E-8792-12D891FA36B6}">
      <dgm:prSet/>
      <dgm:spPr/>
      <dgm:t>
        <a:bodyPr/>
        <a:lstStyle/>
        <a:p>
          <a:pPr>
            <a:buFont typeface="Arial" panose="020B0604020202020204" pitchFamily="34" charset="0"/>
            <a:buChar char="•"/>
          </a:pPr>
          <a:r>
            <a:rPr lang="en-US" b="1" dirty="0">
              <a:solidFill>
                <a:schemeClr val="tx1"/>
              </a:solidFill>
            </a:rPr>
            <a:t>Split Squat (1) → Left knee collapse indicates hip/knee instability.</a:t>
          </a:r>
        </a:p>
        <a:p>
          <a:pPr>
            <a:buFont typeface="Arial" panose="020B0604020202020204" pitchFamily="34" charset="0"/>
            <a:buChar char="•"/>
          </a:pPr>
          <a:endParaRPr lang="en-US" b="1" dirty="0">
            <a:solidFill>
              <a:schemeClr val="tx1"/>
            </a:solidFill>
          </a:endParaRPr>
        </a:p>
      </dgm:t>
    </dgm:pt>
    <dgm:pt modelId="{519FA4C6-68F7-8345-8CF4-CF8D1DBCB390}" type="parTrans" cxnId="{55EBA290-BD5E-4D2E-A4AB-6376593BA7F6}">
      <dgm:prSet/>
      <dgm:spPr/>
      <dgm:t>
        <a:bodyPr/>
        <a:lstStyle/>
        <a:p>
          <a:endParaRPr lang="en-US"/>
        </a:p>
      </dgm:t>
    </dgm:pt>
    <dgm:pt modelId="{E989DF7D-57D8-414F-8DFE-6EC83E64FAE2}" type="sibTrans" cxnId="{55EBA290-BD5E-4D2E-A4AB-6376593BA7F6}">
      <dgm:prSet/>
      <dgm:spPr/>
      <dgm:t>
        <a:bodyPr/>
        <a:lstStyle/>
        <a:p>
          <a:endParaRPr lang="en-US"/>
        </a:p>
      </dgm:t>
    </dgm:pt>
    <dgm:pt modelId="{36E4C989-77AE-6E4D-8E72-8C5097D17D85}">
      <dgm:prSet/>
      <dgm:spPr/>
      <dgm:t>
        <a:bodyPr/>
        <a:lstStyle/>
        <a:p>
          <a:pPr>
            <a:buFont typeface="Arial" panose="020B0604020202020204" pitchFamily="34" charset="0"/>
            <a:buChar char="•"/>
          </a:pPr>
          <a:r>
            <a:rPr lang="en-US" b="1" dirty="0">
              <a:solidFill>
                <a:schemeClr val="tx1"/>
              </a:solidFill>
            </a:rPr>
            <a:t>Single-Leg Reach (1) → Right hip drop under fatigue shows lateral instability.</a:t>
          </a:r>
        </a:p>
        <a:p>
          <a:pPr>
            <a:buFont typeface="Arial" panose="020B0604020202020204" pitchFamily="34" charset="0"/>
            <a:buChar char="•"/>
          </a:pPr>
          <a:endParaRPr lang="en-US" b="1" dirty="0">
            <a:solidFill>
              <a:schemeClr val="tx1"/>
            </a:solidFill>
          </a:endParaRPr>
        </a:p>
      </dgm:t>
    </dgm:pt>
    <dgm:pt modelId="{DF1E73B4-72F3-AD4E-BA68-453A6BCE6D22}" type="parTrans" cxnId="{9FDD84C6-3D2C-4773-9A97-DEB955097526}">
      <dgm:prSet/>
      <dgm:spPr/>
      <dgm:t>
        <a:bodyPr/>
        <a:lstStyle/>
        <a:p>
          <a:endParaRPr lang="en-US"/>
        </a:p>
      </dgm:t>
    </dgm:pt>
    <dgm:pt modelId="{A11607CD-0BC7-4643-BA4A-A38A34C6D334}" type="sibTrans" cxnId="{9FDD84C6-3D2C-4773-9A97-DEB955097526}">
      <dgm:prSet/>
      <dgm:spPr/>
      <dgm:t>
        <a:bodyPr/>
        <a:lstStyle/>
        <a:p>
          <a:endParaRPr lang="en-US"/>
        </a:p>
      </dgm:t>
    </dgm:pt>
    <dgm:pt modelId="{00B4C5E4-9903-C44B-8417-CC05F0F1C329}">
      <dgm:prSet/>
      <dgm:spPr/>
      <dgm:t>
        <a:bodyPr/>
        <a:lstStyle/>
        <a:p>
          <a:pPr>
            <a:buFont typeface="Arial" panose="020B0604020202020204" pitchFamily="34" charset="0"/>
            <a:buChar char="•"/>
          </a:pPr>
          <a:r>
            <a:rPr lang="en-US" b="1" dirty="0">
              <a:solidFill>
                <a:schemeClr val="tx1"/>
              </a:solidFill>
            </a:rPr>
            <a:t>Plank (2) → Hips sagging at 20s reflect limited core endurance.</a:t>
          </a:r>
        </a:p>
        <a:p>
          <a:pPr>
            <a:buFont typeface="Arial" panose="020B0604020202020204" pitchFamily="34" charset="0"/>
            <a:buChar char="•"/>
          </a:pPr>
          <a:endParaRPr lang="en-US" b="1" dirty="0">
            <a:solidFill>
              <a:schemeClr val="tx1"/>
            </a:solidFill>
          </a:endParaRPr>
        </a:p>
      </dgm:t>
    </dgm:pt>
    <dgm:pt modelId="{EC6C4AD4-09D4-D146-AFD0-E34BC7E26F79}" type="parTrans" cxnId="{4A782A32-21C2-4CEE-863A-9A76F7E03FDC}">
      <dgm:prSet/>
      <dgm:spPr/>
      <dgm:t>
        <a:bodyPr/>
        <a:lstStyle/>
        <a:p>
          <a:endParaRPr lang="en-US"/>
        </a:p>
      </dgm:t>
    </dgm:pt>
    <dgm:pt modelId="{4824563A-31D6-EC4F-986E-A345A23E0784}" type="sibTrans" cxnId="{4A782A32-21C2-4CEE-863A-9A76F7E03FDC}">
      <dgm:prSet/>
      <dgm:spPr/>
      <dgm:t>
        <a:bodyPr/>
        <a:lstStyle/>
        <a:p>
          <a:endParaRPr lang="en-US"/>
        </a:p>
      </dgm:t>
    </dgm:pt>
    <dgm:pt modelId="{F39A3458-4B47-0E43-9FBB-DA7DB350AD4E}">
      <dgm:prSet/>
      <dgm:spPr/>
      <dgm:t>
        <a:bodyPr/>
        <a:lstStyle/>
        <a:p>
          <a:pPr>
            <a:buFont typeface="Arial" panose="020B0604020202020204" pitchFamily="34" charset="0"/>
            <a:buChar char="•"/>
          </a:pPr>
          <a:r>
            <a:rPr lang="en-US" b="1" dirty="0">
              <a:solidFill>
                <a:schemeClr val="tx1"/>
              </a:solidFill>
            </a:rPr>
            <a:t>Bird Dog (2) → Torso rotation indicates weak anti-rotation control.</a:t>
          </a:r>
        </a:p>
      </dgm:t>
    </dgm:pt>
    <dgm:pt modelId="{7F314D78-128D-BA49-9592-C246EF2D71CE}" type="parTrans" cxnId="{267E4796-F40F-49E1-8A4B-4E468CAA1B44}">
      <dgm:prSet/>
      <dgm:spPr/>
      <dgm:t>
        <a:bodyPr/>
        <a:lstStyle/>
        <a:p>
          <a:endParaRPr lang="en-US"/>
        </a:p>
      </dgm:t>
    </dgm:pt>
    <dgm:pt modelId="{253539DF-A621-824E-A727-E07A3B36B70F}" type="sibTrans" cxnId="{267E4796-F40F-49E1-8A4B-4E468CAA1B44}">
      <dgm:prSet/>
      <dgm:spPr/>
      <dgm:t>
        <a:bodyPr/>
        <a:lstStyle/>
        <a:p>
          <a:endParaRPr lang="en-US"/>
        </a:p>
      </dgm:t>
    </dgm:pt>
    <dgm:pt modelId="{15BF2D58-F104-5141-B3D4-7A50E0FEF189}">
      <dgm:prSet/>
      <dgm:spPr/>
      <dgm:t>
        <a:bodyPr/>
        <a:lstStyle/>
        <a:p>
          <a:pPr>
            <a:buFont typeface="Arial" panose="020B0604020202020204" pitchFamily="34" charset="0"/>
            <a:buChar char="•"/>
          </a:pPr>
          <a:r>
            <a:rPr lang="en-US" b="1" dirty="0">
              <a:solidFill>
                <a:schemeClr val="tx1"/>
              </a:solidFill>
            </a:rPr>
            <a:t>Core Stability → Improve trunk endurance and anti-rotation strength.</a:t>
          </a:r>
        </a:p>
        <a:p>
          <a:pPr>
            <a:buFont typeface="Arial" panose="020B0604020202020204" pitchFamily="34" charset="0"/>
            <a:buChar char="•"/>
          </a:pPr>
          <a:endParaRPr lang="en-US" b="1" dirty="0">
            <a:solidFill>
              <a:schemeClr val="tx1"/>
            </a:solidFill>
          </a:endParaRPr>
        </a:p>
        <a:p>
          <a:pPr>
            <a:buFont typeface="Arial" panose="020B0604020202020204" pitchFamily="34" charset="0"/>
            <a:buChar char="•"/>
          </a:pPr>
          <a:endParaRPr lang="en-US" b="1" dirty="0">
            <a:solidFill>
              <a:schemeClr val="tx1"/>
            </a:solidFill>
          </a:endParaRPr>
        </a:p>
      </dgm:t>
    </dgm:pt>
    <dgm:pt modelId="{89AAC391-BC3D-4945-A869-D1DE7DC97942}" type="parTrans" cxnId="{0BBD546B-7309-4032-84E5-5FFF0FEE6A7F}">
      <dgm:prSet/>
      <dgm:spPr/>
      <dgm:t>
        <a:bodyPr/>
        <a:lstStyle/>
        <a:p>
          <a:endParaRPr lang="en-US"/>
        </a:p>
      </dgm:t>
    </dgm:pt>
    <dgm:pt modelId="{71D106F3-15F8-4943-8F3A-4FE1EDE1111B}" type="sibTrans" cxnId="{0BBD546B-7309-4032-84E5-5FFF0FEE6A7F}">
      <dgm:prSet/>
      <dgm:spPr/>
      <dgm:t>
        <a:bodyPr/>
        <a:lstStyle/>
        <a:p>
          <a:endParaRPr lang="en-US"/>
        </a:p>
      </dgm:t>
    </dgm:pt>
    <dgm:pt modelId="{CA47D456-25A1-4B48-AC9B-97C152D4F72B}">
      <dgm:prSet/>
      <dgm:spPr/>
      <dgm:t>
        <a:bodyPr/>
        <a:lstStyle/>
        <a:p>
          <a:pPr>
            <a:buFont typeface="Arial" panose="020B0604020202020204" pitchFamily="34" charset="0"/>
            <a:buChar char="•"/>
          </a:pPr>
          <a:r>
            <a:rPr lang="en-US" b="1" dirty="0">
              <a:solidFill>
                <a:schemeClr val="tx1"/>
              </a:solidFill>
            </a:rPr>
            <a:t>Strength Balance → Maintain overhead squat mobility while addressing targeted stability issues.</a:t>
          </a:r>
        </a:p>
      </dgm:t>
    </dgm:pt>
    <dgm:pt modelId="{271CD5A5-A4BC-2A46-9B06-B536BF490926}" type="parTrans" cxnId="{88CA0150-25B0-4B0C-9061-F0E72152B30C}">
      <dgm:prSet/>
      <dgm:spPr/>
      <dgm:t>
        <a:bodyPr/>
        <a:lstStyle/>
        <a:p>
          <a:endParaRPr lang="en-US"/>
        </a:p>
      </dgm:t>
    </dgm:pt>
    <dgm:pt modelId="{FDBF1BC0-26C7-1449-83C0-AC86D1067FFE}" type="sibTrans" cxnId="{88CA0150-25B0-4B0C-9061-F0E72152B30C}">
      <dgm:prSet/>
      <dgm:spPr/>
      <dgm:t>
        <a:bodyPr/>
        <a:lstStyle/>
        <a:p>
          <a:endParaRPr lang="en-US"/>
        </a:p>
      </dgm:t>
    </dgm:pt>
    <dgm:pt modelId="{B8B64A5B-55A3-3A4C-9314-E8A91DA8D64E}">
      <dgm:prSet/>
      <dgm:spPr/>
      <dgm:t>
        <a:bodyPr/>
        <a:lstStyle/>
        <a:p>
          <a:pPr>
            <a:buFont typeface="Arial" panose="020B0604020202020204" pitchFamily="34" charset="0"/>
            <a:buChar char="•"/>
          </a:pPr>
          <a:r>
            <a:rPr lang="en-US" b="1" dirty="0">
              <a:solidFill>
                <a:schemeClr val="tx1"/>
              </a:solidFill>
            </a:rPr>
            <a:t>Split Squat → Use assisted or box-supported variations.</a:t>
          </a:r>
        </a:p>
      </dgm:t>
    </dgm:pt>
    <dgm:pt modelId="{A6747859-4548-7A46-B3FA-11BAAD2098FC}" type="parTrans" cxnId="{8061DDDC-2313-4F3A-A05A-D1D259EA068A}">
      <dgm:prSet/>
      <dgm:spPr/>
      <dgm:t>
        <a:bodyPr/>
        <a:lstStyle/>
        <a:p>
          <a:endParaRPr lang="en-US"/>
        </a:p>
      </dgm:t>
    </dgm:pt>
    <dgm:pt modelId="{C206969A-B394-6E40-A23F-BF021837F767}" type="sibTrans" cxnId="{8061DDDC-2313-4F3A-A05A-D1D259EA068A}">
      <dgm:prSet/>
      <dgm:spPr/>
      <dgm:t>
        <a:bodyPr/>
        <a:lstStyle/>
        <a:p>
          <a:endParaRPr lang="en-US"/>
        </a:p>
      </dgm:t>
    </dgm:pt>
    <dgm:pt modelId="{D33C617D-95ED-5D4A-A118-49756059A7A5}">
      <dgm:prSet/>
      <dgm:spPr/>
      <dgm:t>
        <a:bodyPr/>
        <a:lstStyle/>
        <a:p>
          <a:pPr>
            <a:buFont typeface="Arial" panose="020B0604020202020204" pitchFamily="34" charset="0"/>
            <a:buChar char="•"/>
          </a:pPr>
          <a:r>
            <a:rPr lang="en-US" b="1" dirty="0">
              <a:solidFill>
                <a:schemeClr val="tx1"/>
              </a:solidFill>
            </a:rPr>
            <a:t>Single-Leg Reach → Add hand support or reduce range.</a:t>
          </a:r>
        </a:p>
      </dgm:t>
    </dgm:pt>
    <dgm:pt modelId="{EA168560-EE97-8D4E-BFBD-AD4BA60806B2}" type="parTrans" cxnId="{159EB8F8-630C-4078-B229-41A10066B4C2}">
      <dgm:prSet/>
      <dgm:spPr/>
      <dgm:t>
        <a:bodyPr/>
        <a:lstStyle/>
        <a:p>
          <a:endParaRPr lang="en-US"/>
        </a:p>
      </dgm:t>
    </dgm:pt>
    <dgm:pt modelId="{6FF61019-3A56-1945-AB51-D44E0ACB58F5}" type="sibTrans" cxnId="{159EB8F8-630C-4078-B229-41A10066B4C2}">
      <dgm:prSet/>
      <dgm:spPr/>
      <dgm:t>
        <a:bodyPr/>
        <a:lstStyle/>
        <a:p>
          <a:endParaRPr lang="en-US"/>
        </a:p>
      </dgm:t>
    </dgm:pt>
    <dgm:pt modelId="{4C91D627-97AA-1C48-B9A4-51D1893BFFDE}">
      <dgm:prSet/>
      <dgm:spPr/>
      <dgm:t>
        <a:bodyPr/>
        <a:lstStyle/>
        <a:p>
          <a:pPr>
            <a:buFont typeface="Arial" panose="020B0604020202020204" pitchFamily="34" charset="0"/>
            <a:buChar char="•"/>
          </a:pPr>
          <a:endParaRPr lang="en-US" b="1">
            <a:solidFill>
              <a:schemeClr val="tx1"/>
            </a:solidFill>
          </a:endParaRPr>
        </a:p>
      </dgm:t>
    </dgm:pt>
    <dgm:pt modelId="{E8D00020-3AD3-6B46-9220-BE9AAAEBE2EB}" type="parTrans" cxnId="{1CC04FBE-8B99-43CE-A6D3-6373C604855D}">
      <dgm:prSet/>
      <dgm:spPr/>
      <dgm:t>
        <a:bodyPr/>
        <a:lstStyle/>
        <a:p>
          <a:endParaRPr lang="en-US"/>
        </a:p>
      </dgm:t>
    </dgm:pt>
    <dgm:pt modelId="{DFAD6411-02C2-C047-AF4E-1A4B7FE31EE1}" type="sibTrans" cxnId="{1CC04FBE-8B99-43CE-A6D3-6373C604855D}">
      <dgm:prSet/>
      <dgm:spPr/>
      <dgm:t>
        <a:bodyPr/>
        <a:lstStyle/>
        <a:p>
          <a:endParaRPr lang="en-US"/>
        </a:p>
      </dgm:t>
    </dgm:pt>
    <dgm:pt modelId="{0FE5BF7E-7944-9249-BB66-C720BFA0AC45}">
      <dgm:prSet/>
      <dgm:spPr/>
      <dgm:t>
        <a:bodyPr/>
        <a:lstStyle/>
        <a:p>
          <a:pPr>
            <a:buFont typeface="Arial" panose="020B0604020202020204" pitchFamily="34" charset="0"/>
            <a:buChar char="•"/>
          </a:pPr>
          <a:endParaRPr lang="en-US" b="1">
            <a:solidFill>
              <a:schemeClr val="tx1"/>
            </a:solidFill>
          </a:endParaRPr>
        </a:p>
      </dgm:t>
    </dgm:pt>
    <dgm:pt modelId="{5F69CA03-A2A4-0741-B2D0-9D72BEA4A2FB}" type="parTrans" cxnId="{AFFA09C2-C6D7-48E3-BCE7-8D4FF547375E}">
      <dgm:prSet/>
      <dgm:spPr/>
      <dgm:t>
        <a:bodyPr/>
        <a:lstStyle/>
        <a:p>
          <a:endParaRPr lang="en-US"/>
        </a:p>
      </dgm:t>
    </dgm:pt>
    <dgm:pt modelId="{7A80130D-98FF-4F4A-9490-028810453959}" type="sibTrans" cxnId="{AFFA09C2-C6D7-48E3-BCE7-8D4FF547375E}">
      <dgm:prSet/>
      <dgm:spPr/>
      <dgm:t>
        <a:bodyPr/>
        <a:lstStyle/>
        <a:p>
          <a:endParaRPr lang="en-US"/>
        </a:p>
      </dgm:t>
    </dgm:pt>
    <dgm:pt modelId="{CF8967C4-5764-2645-96D8-204628292AA7}">
      <dgm:prSet/>
      <dgm:spPr/>
      <dgm:t>
        <a:bodyPr/>
        <a:lstStyle/>
        <a:p>
          <a:pPr>
            <a:buFont typeface="Arial" panose="020B0604020202020204" pitchFamily="34" charset="0"/>
            <a:buChar char="•"/>
          </a:pPr>
          <a:endParaRPr lang="en-US" b="1" dirty="0">
            <a:solidFill>
              <a:schemeClr val="tx1"/>
            </a:solidFill>
          </a:endParaRPr>
        </a:p>
      </dgm:t>
    </dgm:pt>
    <dgm:pt modelId="{EA063EC5-25E7-DC48-8AE9-459CBE5F6BA9}" type="parTrans" cxnId="{D68F641B-4239-4E08-A139-D86C7FC9C822}">
      <dgm:prSet/>
      <dgm:spPr/>
      <dgm:t>
        <a:bodyPr/>
        <a:lstStyle/>
        <a:p>
          <a:endParaRPr lang="en-US"/>
        </a:p>
      </dgm:t>
    </dgm:pt>
    <dgm:pt modelId="{3046159B-6177-6041-9AC0-5A9291414EF7}" type="sibTrans" cxnId="{D68F641B-4239-4E08-A139-D86C7FC9C822}">
      <dgm:prSet/>
      <dgm:spPr/>
      <dgm:t>
        <a:bodyPr/>
        <a:lstStyle/>
        <a:p>
          <a:endParaRPr lang="en-US"/>
        </a:p>
      </dgm:t>
    </dgm:pt>
    <dgm:pt modelId="{E0AE6B6B-55AC-394F-91B6-CD3E3ADEB4FF}">
      <dgm:prSet/>
      <dgm:spPr/>
      <dgm:t>
        <a:bodyPr/>
        <a:lstStyle/>
        <a:p>
          <a:pPr>
            <a:buFont typeface="Arial" panose="020B0604020202020204" pitchFamily="34" charset="0"/>
            <a:buChar char="•"/>
          </a:pPr>
          <a:r>
            <a:rPr lang="en-US" b="1" dirty="0">
              <a:solidFill>
                <a:schemeClr val="tx1"/>
              </a:solidFill>
            </a:rPr>
            <a:t>Core Stability:</a:t>
          </a:r>
        </a:p>
      </dgm:t>
    </dgm:pt>
    <dgm:pt modelId="{5AC1D8D9-7154-DB44-BD1E-C18FDBED039C}" type="parTrans" cxnId="{D896A7BE-3D3B-4074-8EE4-CCA14D58F268}">
      <dgm:prSet/>
      <dgm:spPr/>
      <dgm:t>
        <a:bodyPr/>
        <a:lstStyle/>
        <a:p>
          <a:endParaRPr lang="en-US"/>
        </a:p>
      </dgm:t>
    </dgm:pt>
    <dgm:pt modelId="{48D3318A-9282-954B-83CA-1423D838BCC4}" type="sibTrans" cxnId="{D896A7BE-3D3B-4074-8EE4-CCA14D58F268}">
      <dgm:prSet/>
      <dgm:spPr/>
      <dgm:t>
        <a:bodyPr/>
        <a:lstStyle/>
        <a:p>
          <a:endParaRPr lang="en-US"/>
        </a:p>
      </dgm:t>
    </dgm:pt>
    <dgm:pt modelId="{A151FD41-5984-1443-ACA0-185A288205E8}">
      <dgm:prSet/>
      <dgm:spPr/>
      <dgm:t>
        <a:bodyPr/>
        <a:lstStyle/>
        <a:p>
          <a:pPr>
            <a:buFont typeface="Arial" panose="020B0604020202020204" pitchFamily="34" charset="0"/>
            <a:buChar char="•"/>
          </a:pPr>
          <a:r>
            <a:rPr lang="en-US" b="1" dirty="0">
              <a:solidFill>
                <a:schemeClr val="tx1"/>
              </a:solidFill>
            </a:rPr>
            <a:t>Plank → Shorter holds, emphasize tension cues.</a:t>
          </a:r>
        </a:p>
      </dgm:t>
    </dgm:pt>
    <dgm:pt modelId="{1F6A4C85-A954-A446-A100-C4C93B686316}" type="parTrans" cxnId="{0E82590B-05EC-4409-874F-17664ABF4168}">
      <dgm:prSet/>
      <dgm:spPr/>
      <dgm:t>
        <a:bodyPr/>
        <a:lstStyle/>
        <a:p>
          <a:endParaRPr lang="en-US"/>
        </a:p>
      </dgm:t>
    </dgm:pt>
    <dgm:pt modelId="{BB9F8A38-3052-EF4B-B78F-58ADBB7C0C63}" type="sibTrans" cxnId="{0E82590B-05EC-4409-874F-17664ABF4168}">
      <dgm:prSet/>
      <dgm:spPr/>
      <dgm:t>
        <a:bodyPr/>
        <a:lstStyle/>
        <a:p>
          <a:endParaRPr lang="en-US"/>
        </a:p>
      </dgm:t>
    </dgm:pt>
    <dgm:pt modelId="{6A68306A-DA6A-D243-B115-B6563958D992}">
      <dgm:prSet/>
      <dgm:spPr/>
      <dgm:t>
        <a:bodyPr/>
        <a:lstStyle/>
        <a:p>
          <a:pPr>
            <a:buFont typeface="Arial" panose="020B0604020202020204" pitchFamily="34" charset="0"/>
            <a:buChar char="•"/>
          </a:pPr>
          <a:r>
            <a:rPr lang="en-US" b="1" dirty="0">
              <a:solidFill>
                <a:schemeClr val="tx1"/>
              </a:solidFill>
            </a:rPr>
            <a:t>Bird Dog → Integrate band resistance for anti-rotation.</a:t>
          </a:r>
        </a:p>
      </dgm:t>
    </dgm:pt>
    <dgm:pt modelId="{8F82C566-E1DA-3F4C-B49E-1C261C4B6F0F}" type="parTrans" cxnId="{6BF3B1E7-E645-423E-9C35-EA0D778DB834}">
      <dgm:prSet/>
      <dgm:spPr/>
      <dgm:t>
        <a:bodyPr/>
        <a:lstStyle/>
        <a:p>
          <a:endParaRPr lang="en-US"/>
        </a:p>
      </dgm:t>
    </dgm:pt>
    <dgm:pt modelId="{3C879543-3DF8-204A-8357-AB47EEDC6DE5}" type="sibTrans" cxnId="{6BF3B1E7-E645-423E-9C35-EA0D778DB834}">
      <dgm:prSet/>
      <dgm:spPr/>
      <dgm:t>
        <a:bodyPr/>
        <a:lstStyle/>
        <a:p>
          <a:endParaRPr lang="en-US"/>
        </a:p>
      </dgm:t>
    </dgm:pt>
    <dgm:pt modelId="{EE489C16-EC36-0241-8827-DC0B0DFB2424}">
      <dgm:prSet/>
      <dgm:spPr/>
      <dgm:t>
        <a:bodyPr/>
        <a:lstStyle/>
        <a:p>
          <a:pPr>
            <a:buFont typeface="Arial" panose="020B0604020202020204" pitchFamily="34" charset="0"/>
            <a:buChar char="•"/>
          </a:pPr>
          <a:endParaRPr lang="en-US" b="1" dirty="0">
            <a:solidFill>
              <a:schemeClr val="tx1"/>
            </a:solidFill>
          </a:endParaRPr>
        </a:p>
      </dgm:t>
    </dgm:pt>
    <dgm:pt modelId="{CA4CFC7C-5FCB-ED4F-8428-8BFC8EE0B3BD}" type="parTrans" cxnId="{798FE659-4765-455F-B2BD-0A95762B70DC}">
      <dgm:prSet/>
      <dgm:spPr/>
      <dgm:t>
        <a:bodyPr/>
        <a:lstStyle/>
        <a:p>
          <a:endParaRPr lang="en-US"/>
        </a:p>
      </dgm:t>
    </dgm:pt>
    <dgm:pt modelId="{51E80AFD-BD0B-2148-BC0C-21B253B99972}" type="sibTrans" cxnId="{798FE659-4765-455F-B2BD-0A95762B70DC}">
      <dgm:prSet/>
      <dgm:spPr/>
      <dgm:t>
        <a:bodyPr/>
        <a:lstStyle/>
        <a:p>
          <a:endParaRPr lang="en-US"/>
        </a:p>
      </dgm:t>
    </dgm:pt>
    <dgm:pt modelId="{EFC0B0B0-5B9B-B041-B7ED-B3665B19C76B}">
      <dgm:prSet/>
      <dgm:spPr/>
      <dgm:t>
        <a:bodyPr/>
        <a:lstStyle/>
        <a:p>
          <a:pPr>
            <a:buFont typeface="Arial" panose="020B0604020202020204" pitchFamily="34" charset="0"/>
            <a:buChar char="•"/>
          </a:pPr>
          <a:endParaRPr lang="en-US" b="1">
            <a:solidFill>
              <a:schemeClr val="tx1"/>
            </a:solidFill>
          </a:endParaRPr>
        </a:p>
      </dgm:t>
    </dgm:pt>
    <dgm:pt modelId="{DF36820C-0436-B846-8B29-9BF489C6BA68}" type="parTrans" cxnId="{12E5506B-096D-477F-81F5-3381E505237F}">
      <dgm:prSet/>
      <dgm:spPr/>
      <dgm:t>
        <a:bodyPr/>
        <a:lstStyle/>
        <a:p>
          <a:endParaRPr lang="en-US"/>
        </a:p>
      </dgm:t>
    </dgm:pt>
    <dgm:pt modelId="{A61DA683-5DA5-7146-95ED-666EB6AA8E5E}" type="sibTrans" cxnId="{12E5506B-096D-477F-81F5-3381E505237F}">
      <dgm:prSet/>
      <dgm:spPr/>
      <dgm:t>
        <a:bodyPr/>
        <a:lstStyle/>
        <a:p>
          <a:endParaRPr lang="en-US"/>
        </a:p>
      </dgm:t>
    </dgm:pt>
    <dgm:pt modelId="{9D6325FE-F3DF-AA45-AAA4-97BFC808286E}">
      <dgm:prSet/>
      <dgm:spPr/>
      <dgm:t>
        <a:bodyPr/>
        <a:lstStyle/>
        <a:p>
          <a:pPr>
            <a:buFont typeface="Arial" panose="020B0604020202020204" pitchFamily="34" charset="0"/>
            <a:buChar char="•"/>
          </a:pPr>
          <a:endParaRPr lang="en-US" b="1" dirty="0">
            <a:solidFill>
              <a:schemeClr val="tx1"/>
            </a:solidFill>
          </a:endParaRPr>
        </a:p>
      </dgm:t>
    </dgm:pt>
    <dgm:pt modelId="{A89964F0-CE62-F648-A441-E64A4C28BBAA}" type="parTrans" cxnId="{E84D8D3E-6AF1-42F7-B44E-BFE65DEC0747}">
      <dgm:prSet/>
      <dgm:spPr/>
      <dgm:t>
        <a:bodyPr/>
        <a:lstStyle/>
        <a:p>
          <a:endParaRPr lang="en-US"/>
        </a:p>
      </dgm:t>
    </dgm:pt>
    <dgm:pt modelId="{8AC4D436-2831-B14F-B417-163D299CAAF8}" type="sibTrans" cxnId="{E84D8D3E-6AF1-42F7-B44E-BFE65DEC0747}">
      <dgm:prSet/>
      <dgm:spPr/>
      <dgm:t>
        <a:bodyPr/>
        <a:lstStyle/>
        <a:p>
          <a:endParaRPr lang="en-US"/>
        </a:p>
      </dgm:t>
    </dgm:pt>
    <dgm:pt modelId="{1DEF682A-E379-6042-B7B0-5BE3A94582E4}">
      <dgm:prSet/>
      <dgm:spPr/>
      <dgm:t>
        <a:bodyPr/>
        <a:lstStyle/>
        <a:p>
          <a:pPr>
            <a:buFont typeface="Arial" panose="020B0604020202020204" pitchFamily="34" charset="0"/>
            <a:buChar char="•"/>
          </a:pPr>
          <a:r>
            <a:rPr lang="en-US" b="1" dirty="0">
              <a:solidFill>
                <a:schemeClr val="tx1"/>
              </a:solidFill>
            </a:rPr>
            <a:t>Load &amp; Complexity:</a:t>
          </a:r>
        </a:p>
      </dgm:t>
    </dgm:pt>
    <dgm:pt modelId="{DBDC74FA-8642-5C46-A486-AB8F832BCA0F}" type="parTrans" cxnId="{251588F3-7891-4FE6-B486-6671E9549D0E}">
      <dgm:prSet/>
      <dgm:spPr/>
      <dgm:t>
        <a:bodyPr/>
        <a:lstStyle/>
        <a:p>
          <a:endParaRPr lang="en-US"/>
        </a:p>
      </dgm:t>
    </dgm:pt>
    <dgm:pt modelId="{7627552E-4132-D140-9CCC-A537DB18CBD4}" type="sibTrans" cxnId="{251588F3-7891-4FE6-B486-6671E9549D0E}">
      <dgm:prSet/>
      <dgm:spPr/>
      <dgm:t>
        <a:bodyPr/>
        <a:lstStyle/>
        <a:p>
          <a:endParaRPr lang="en-US"/>
        </a:p>
      </dgm:t>
    </dgm:pt>
    <dgm:pt modelId="{BC55419F-C9E3-C540-A9C8-6D364317A894}">
      <dgm:prSet/>
      <dgm:spPr/>
      <dgm:t>
        <a:bodyPr/>
        <a:lstStyle/>
        <a:p>
          <a:pPr>
            <a:buFont typeface="Arial" panose="020B0604020202020204" pitchFamily="34" charset="0"/>
            <a:buChar char="•"/>
          </a:pPr>
          <a:r>
            <a:rPr lang="en-US" b="1" dirty="0">
              <a:solidFill>
                <a:schemeClr val="tx1"/>
              </a:solidFill>
            </a:rPr>
            <a:t>Build bilateral strength while progressively adding unilateral challenges.</a:t>
          </a:r>
        </a:p>
      </dgm:t>
    </dgm:pt>
    <dgm:pt modelId="{303C44D7-D17B-6749-8F38-B9E98DACEAE0}" type="parTrans" cxnId="{AA7C23FA-F890-40C1-AE14-DED0D16132E8}">
      <dgm:prSet/>
      <dgm:spPr/>
      <dgm:t>
        <a:bodyPr/>
        <a:lstStyle/>
        <a:p>
          <a:endParaRPr lang="en-US"/>
        </a:p>
      </dgm:t>
    </dgm:pt>
    <dgm:pt modelId="{5B7E3220-413C-8D4F-A659-FEC4E3D3F5E4}" type="sibTrans" cxnId="{AA7C23FA-F890-40C1-AE14-DED0D16132E8}">
      <dgm:prSet/>
      <dgm:spPr/>
      <dgm:t>
        <a:bodyPr/>
        <a:lstStyle/>
        <a:p>
          <a:endParaRPr lang="en-US"/>
        </a:p>
      </dgm:t>
    </dgm:pt>
    <dgm:pt modelId="{9EE68C2D-CDD4-E044-B55B-BAC18A4DB615}" type="pres">
      <dgm:prSet presAssocID="{A18F6850-4A13-4958-BDD8-2D6B25D6F871}" presName="Name0" presStyleCnt="0">
        <dgm:presLayoutVars>
          <dgm:dir/>
          <dgm:animLvl val="lvl"/>
          <dgm:resizeHandles val="exact"/>
        </dgm:presLayoutVars>
      </dgm:prSet>
      <dgm:spPr/>
    </dgm:pt>
    <dgm:pt modelId="{A2C26F6D-9FF4-094C-90E9-D3C70FBA1949}" type="pres">
      <dgm:prSet presAssocID="{21F3723D-F59D-41A4-9F23-7B7E52BCC3D3}" presName="composite" presStyleCnt="0"/>
      <dgm:spPr/>
    </dgm:pt>
    <dgm:pt modelId="{EEC748DA-DB3B-7845-A7EA-81B743D7EB51}" type="pres">
      <dgm:prSet presAssocID="{21F3723D-F59D-41A4-9F23-7B7E52BCC3D3}" presName="parTx" presStyleLbl="alignNode1" presStyleIdx="0" presStyleCnt="3">
        <dgm:presLayoutVars>
          <dgm:chMax val="0"/>
          <dgm:chPref val="0"/>
        </dgm:presLayoutVars>
      </dgm:prSet>
      <dgm:spPr/>
    </dgm:pt>
    <dgm:pt modelId="{6249CF27-27A5-A749-8473-56AE274B9FA9}" type="pres">
      <dgm:prSet presAssocID="{21F3723D-F59D-41A4-9F23-7B7E52BCC3D3}" presName="desTx" presStyleLbl="alignAccFollowNode1" presStyleIdx="0" presStyleCnt="3">
        <dgm:presLayoutVars/>
      </dgm:prSet>
      <dgm:spPr/>
    </dgm:pt>
    <dgm:pt modelId="{E7E58221-2500-0F4E-AB85-95A33FE4A028}" type="pres">
      <dgm:prSet presAssocID="{3C7162A0-3FF7-433E-B1FC-AB3A8173239F}" presName="space" presStyleCnt="0"/>
      <dgm:spPr/>
    </dgm:pt>
    <dgm:pt modelId="{1511F71B-7821-8E4E-924D-498A6FA13ADA}" type="pres">
      <dgm:prSet presAssocID="{577CC8DF-7342-4EBB-929F-999C2B3A236B}" presName="composite" presStyleCnt="0"/>
      <dgm:spPr/>
    </dgm:pt>
    <dgm:pt modelId="{4E796159-CB3C-7749-9225-DD7AC320746F}" type="pres">
      <dgm:prSet presAssocID="{577CC8DF-7342-4EBB-929F-999C2B3A236B}" presName="parTx" presStyleLbl="alignNode1" presStyleIdx="1" presStyleCnt="3">
        <dgm:presLayoutVars>
          <dgm:chMax val="0"/>
          <dgm:chPref val="0"/>
        </dgm:presLayoutVars>
      </dgm:prSet>
      <dgm:spPr/>
    </dgm:pt>
    <dgm:pt modelId="{DEE88499-65A7-6744-A137-0272C754D43E}" type="pres">
      <dgm:prSet presAssocID="{577CC8DF-7342-4EBB-929F-999C2B3A236B}" presName="desTx" presStyleLbl="alignAccFollowNode1" presStyleIdx="1" presStyleCnt="3">
        <dgm:presLayoutVars/>
      </dgm:prSet>
      <dgm:spPr/>
    </dgm:pt>
    <dgm:pt modelId="{5ECF5FD4-3850-994C-9634-42C89040382A}" type="pres">
      <dgm:prSet presAssocID="{FFD1CC60-92B2-4E4F-8C49-2A1C2C8FE463}" presName="space" presStyleCnt="0"/>
      <dgm:spPr/>
    </dgm:pt>
    <dgm:pt modelId="{4F7934C4-F272-9147-8B98-8E5433069430}" type="pres">
      <dgm:prSet presAssocID="{BB58E243-C73C-48A7-8191-0D47883E52B2}" presName="composite" presStyleCnt="0"/>
      <dgm:spPr/>
    </dgm:pt>
    <dgm:pt modelId="{44C84DA7-E608-A44D-80B7-76EC6855F148}" type="pres">
      <dgm:prSet presAssocID="{BB58E243-C73C-48A7-8191-0D47883E52B2}" presName="parTx" presStyleLbl="alignNode1" presStyleIdx="2" presStyleCnt="3">
        <dgm:presLayoutVars>
          <dgm:chMax val="0"/>
          <dgm:chPref val="0"/>
        </dgm:presLayoutVars>
      </dgm:prSet>
      <dgm:spPr/>
    </dgm:pt>
    <dgm:pt modelId="{F9680565-AADE-404B-ADFC-E0F5D21D9C78}" type="pres">
      <dgm:prSet presAssocID="{BB58E243-C73C-48A7-8191-0D47883E52B2}" presName="desTx" presStyleLbl="alignAccFollowNode1" presStyleIdx="2" presStyleCnt="3">
        <dgm:presLayoutVars/>
      </dgm:prSet>
      <dgm:spPr/>
    </dgm:pt>
  </dgm:ptLst>
  <dgm:cxnLst>
    <dgm:cxn modelId="{9C1A7604-5AC5-412E-829C-10FC126B4268}" type="presOf" srcId="{CF8967C4-5764-2645-96D8-204628292AA7}" destId="{F9680565-AADE-404B-ADFC-E0F5D21D9C78}" srcOrd="0" destOrd="5" presId="urn:microsoft.com/office/officeart/2016/7/layout/ChevronBlockProcess"/>
    <dgm:cxn modelId="{0E82590B-05EC-4409-874F-17664ABF4168}" srcId="{E0AE6B6B-55AC-394F-91B6-CD3E3ADEB4FF}" destId="{A151FD41-5984-1443-ACA0-185A288205E8}" srcOrd="0" destOrd="0" parTransId="{1F6A4C85-A954-A446-A100-C4C93B686316}" sibTransId="{BB9F8A38-3052-EF4B-B78F-58ADBB7C0C63}"/>
    <dgm:cxn modelId="{52C8AA14-0E62-4263-B7DD-B8D7E58C5209}" type="presOf" srcId="{EFC0B0B0-5B9B-B041-B7ED-B3665B19C76B}" destId="{F9680565-AADE-404B-ADFC-E0F5D21D9C78}" srcOrd="0" destOrd="10" presId="urn:microsoft.com/office/officeart/2016/7/layout/ChevronBlockProcess"/>
    <dgm:cxn modelId="{130E291A-F61B-474E-A1C9-E83B4FAF7696}" type="presOf" srcId="{1DEF682A-E379-6042-B7B0-5BE3A94582E4}" destId="{F9680565-AADE-404B-ADFC-E0F5D21D9C78}" srcOrd="0" destOrd="12" presId="urn:microsoft.com/office/officeart/2016/7/layout/ChevronBlockProcess"/>
    <dgm:cxn modelId="{D68F641B-4239-4E08-A139-D86C7FC9C822}" srcId="{9CC90546-1B7F-4A67-93C6-FC53DF3A22D3}" destId="{CF8967C4-5764-2645-96D8-204628292AA7}" srcOrd="4" destOrd="0" parTransId="{EA063EC5-25E7-DC48-8AE9-459CBE5F6BA9}" sibTransId="{3046159B-6177-6041-9AC0-5A9291414EF7}"/>
    <dgm:cxn modelId="{62945A20-7D2C-436E-98D2-38072C24023E}" type="presOf" srcId="{36E4C989-77AE-6E4D-8E72-8C5097D17D85}" destId="{6249CF27-27A5-A749-8473-56AE274B9FA9}" srcOrd="0" destOrd="2" presId="urn:microsoft.com/office/officeart/2016/7/layout/ChevronBlockProcess"/>
    <dgm:cxn modelId="{113FAE28-54B6-4D5A-836C-809CAED0E74B}" type="presOf" srcId="{21F3723D-F59D-41A4-9F23-7B7E52BCC3D3}" destId="{EEC748DA-DB3B-7845-A7EA-81B743D7EB51}" srcOrd="0" destOrd="0" presId="urn:microsoft.com/office/officeart/2016/7/layout/ChevronBlockProcess"/>
    <dgm:cxn modelId="{BED39C2A-D444-4904-896A-A62EAAB7802D}" type="presOf" srcId="{E0AE6B6B-55AC-394F-91B6-CD3E3ADEB4FF}" destId="{F9680565-AADE-404B-ADFC-E0F5D21D9C78}" srcOrd="0" destOrd="6" presId="urn:microsoft.com/office/officeart/2016/7/layout/ChevronBlockProcess"/>
    <dgm:cxn modelId="{4A782A32-21C2-4CEE-863A-9A76F7E03FDC}" srcId="{21F3723D-F59D-41A4-9F23-7B7E52BCC3D3}" destId="{00B4C5E4-9903-C44B-8417-CC05F0F1C329}" srcOrd="3" destOrd="0" parTransId="{EC6C4AD4-09D4-D146-AFD0-E34BC7E26F79}" sibTransId="{4824563A-31D6-EC4F-986E-A345A23E0784}"/>
    <dgm:cxn modelId="{73DF963D-9580-4F6B-9B5E-30E5BA6E10D8}" type="presOf" srcId="{B8B64A5B-55A3-3A4C-9314-E8A91DA8D64E}" destId="{F9680565-AADE-404B-ADFC-E0F5D21D9C78}" srcOrd="0" destOrd="1" presId="urn:microsoft.com/office/officeart/2016/7/layout/ChevronBlockProcess"/>
    <dgm:cxn modelId="{E84D8D3E-6AF1-42F7-B44E-BFE65DEC0747}" srcId="{E0AE6B6B-55AC-394F-91B6-CD3E3ADEB4FF}" destId="{9D6325FE-F3DF-AA45-AAA4-97BFC808286E}" srcOrd="4" destOrd="0" parTransId="{A89964F0-CE62-F648-A441-E64A4C28BBAA}" sibTransId="{8AC4D436-2831-B14F-B417-163D299CAAF8}"/>
    <dgm:cxn modelId="{4E240042-1D3D-4F49-9ACC-3DD565F11F2F}" type="presOf" srcId="{00B4C5E4-9903-C44B-8417-CC05F0F1C329}" destId="{6249CF27-27A5-A749-8473-56AE274B9FA9}" srcOrd="0" destOrd="3" presId="urn:microsoft.com/office/officeart/2016/7/layout/ChevronBlockProcess"/>
    <dgm:cxn modelId="{4BE74742-9AEE-4B3F-B1DB-C67F76C26A78}" type="presOf" srcId="{577CC8DF-7342-4EBB-929F-999C2B3A236B}" destId="{4E796159-CB3C-7749-9225-DD7AC320746F}" srcOrd="0" destOrd="0" presId="urn:microsoft.com/office/officeart/2016/7/layout/ChevronBlockProcess"/>
    <dgm:cxn modelId="{0E8A0A48-DC0D-4D76-99CD-FAEDA91CA0F4}" type="presOf" srcId="{BB58E243-C73C-48A7-8191-0D47883E52B2}" destId="{44C84DA7-E608-A44D-80B7-76EC6855F148}" srcOrd="0" destOrd="0" presId="urn:microsoft.com/office/officeart/2016/7/layout/ChevronBlockProcess"/>
    <dgm:cxn modelId="{AE09274B-EFF1-4E52-B50B-9A418815CA03}" type="presOf" srcId="{EE489C16-EC36-0241-8827-DC0B0DFB2424}" destId="{F9680565-AADE-404B-ADFC-E0F5D21D9C78}" srcOrd="0" destOrd="9" presId="urn:microsoft.com/office/officeart/2016/7/layout/ChevronBlockProcess"/>
    <dgm:cxn modelId="{88CA0150-25B0-4B0C-9061-F0E72152B30C}" srcId="{577CC8DF-7342-4EBB-929F-999C2B3A236B}" destId="{CA47D456-25A1-4B48-AC9B-97C152D4F72B}" srcOrd="2" destOrd="0" parTransId="{271CD5A5-A4BC-2A46-9B06-B536BF490926}" sibTransId="{FDBF1BC0-26C7-1449-83C0-AC86D1067FFE}"/>
    <dgm:cxn modelId="{72EADA54-3F7F-4BC7-B76D-8A6AB49F7C8B}" srcId="{A18F6850-4A13-4958-BDD8-2D6B25D6F871}" destId="{577CC8DF-7342-4EBB-929F-999C2B3A236B}" srcOrd="1" destOrd="0" parTransId="{B773978D-4EF4-40E1-A75D-95F052C3405F}" sibTransId="{FFD1CC60-92B2-4E4F-8C49-2A1C2C8FE463}"/>
    <dgm:cxn modelId="{9DEC9758-55CE-49F2-B391-76242858BFA0}" type="presOf" srcId="{4C91D627-97AA-1C48-B9A4-51D1893BFFDE}" destId="{F9680565-AADE-404B-ADFC-E0F5D21D9C78}" srcOrd="0" destOrd="3" presId="urn:microsoft.com/office/officeart/2016/7/layout/ChevronBlockProcess"/>
    <dgm:cxn modelId="{798FE659-4765-455F-B2BD-0A95762B70DC}" srcId="{E0AE6B6B-55AC-394F-91B6-CD3E3ADEB4FF}" destId="{EE489C16-EC36-0241-8827-DC0B0DFB2424}" srcOrd="2" destOrd="0" parTransId="{CA4CFC7C-5FCB-ED4F-8428-8BFC8EE0B3BD}" sibTransId="{51E80AFD-BD0B-2148-BC0C-21B253B99972}"/>
    <dgm:cxn modelId="{A331985C-9F3F-41AE-B8D2-C4C698C3EF03}" srcId="{BB58E243-C73C-48A7-8191-0D47883E52B2}" destId="{9CC90546-1B7F-4A67-93C6-FC53DF3A22D3}" srcOrd="0" destOrd="0" parTransId="{982CB071-D2FB-4754-9C05-D6DA3A07F395}" sibTransId="{2E497B3B-7B96-4675-89EC-B981A7EFD282}"/>
    <dgm:cxn modelId="{0A2F0D62-4034-4D95-9388-2FB2C9864E14}" type="presOf" srcId="{9CC90546-1B7F-4A67-93C6-FC53DF3A22D3}" destId="{F9680565-AADE-404B-ADFC-E0F5D21D9C78}" srcOrd="0" destOrd="0" presId="urn:microsoft.com/office/officeart/2016/7/layout/ChevronBlockProcess"/>
    <dgm:cxn modelId="{E9A04062-AF3F-4F2F-8344-03379B3CB1E8}" type="presOf" srcId="{F39A3458-4B47-0E43-9FBB-DA7DB350AD4E}" destId="{6249CF27-27A5-A749-8473-56AE274B9FA9}" srcOrd="0" destOrd="4" presId="urn:microsoft.com/office/officeart/2016/7/layout/ChevronBlockProcess"/>
    <dgm:cxn modelId="{7F93D667-AB88-483E-839B-E765B028AE48}" type="presOf" srcId="{CA47D456-25A1-4B48-AC9B-97C152D4F72B}" destId="{DEE88499-65A7-6744-A137-0272C754D43E}" srcOrd="0" destOrd="2" presId="urn:microsoft.com/office/officeart/2016/7/layout/ChevronBlockProcess"/>
    <dgm:cxn modelId="{12E5506B-096D-477F-81F5-3381E505237F}" srcId="{E0AE6B6B-55AC-394F-91B6-CD3E3ADEB4FF}" destId="{EFC0B0B0-5B9B-B041-B7ED-B3665B19C76B}" srcOrd="3" destOrd="0" parTransId="{DF36820C-0436-B846-8B29-9BF489C6BA68}" sibTransId="{A61DA683-5DA5-7146-95ED-666EB6AA8E5E}"/>
    <dgm:cxn modelId="{0BBD546B-7309-4032-84E5-5FFF0FEE6A7F}" srcId="{577CC8DF-7342-4EBB-929F-999C2B3A236B}" destId="{15BF2D58-F104-5141-B3D4-7A50E0FEF189}" srcOrd="1" destOrd="0" parTransId="{89AAC391-BC3D-4945-A869-D1DE7DC97942}" sibTransId="{71D106F3-15F8-4943-8F3A-4FE1EDE1111B}"/>
    <dgm:cxn modelId="{B1216E73-B2FD-483B-B482-D582C7EA88CD}" type="presOf" srcId="{461A29F7-FB4E-AA4E-8792-12D891FA36B6}" destId="{6249CF27-27A5-A749-8473-56AE274B9FA9}" srcOrd="0" destOrd="1" presId="urn:microsoft.com/office/officeart/2016/7/layout/ChevronBlockProcess"/>
    <dgm:cxn modelId="{67F03879-F7AD-41AC-8D75-66ED2E3CAE18}" type="presOf" srcId="{9D6325FE-F3DF-AA45-AAA4-97BFC808286E}" destId="{F9680565-AADE-404B-ADFC-E0F5D21D9C78}" srcOrd="0" destOrd="11" presId="urn:microsoft.com/office/officeart/2016/7/layout/ChevronBlockProcess"/>
    <dgm:cxn modelId="{8D0BA47F-EBB0-4448-B5B5-F99393A73CD5}" srcId="{A18F6850-4A13-4958-BDD8-2D6B25D6F871}" destId="{BB58E243-C73C-48A7-8191-0D47883E52B2}" srcOrd="2" destOrd="0" parTransId="{28A80C13-D164-46AC-81FB-ABC24FB2A692}" sibTransId="{8CF6F6CA-45A5-49D3-BCE4-25CFAB178329}"/>
    <dgm:cxn modelId="{8F1DDB88-9749-4660-8B31-564B55679DAC}" type="presOf" srcId="{BC55419F-C9E3-C540-A9C8-6D364317A894}" destId="{F9680565-AADE-404B-ADFC-E0F5D21D9C78}" srcOrd="0" destOrd="13" presId="urn:microsoft.com/office/officeart/2016/7/layout/ChevronBlockProcess"/>
    <dgm:cxn modelId="{55EBA290-BD5E-4D2E-A4AB-6376593BA7F6}" srcId="{21F3723D-F59D-41A4-9F23-7B7E52BCC3D3}" destId="{461A29F7-FB4E-AA4E-8792-12D891FA36B6}" srcOrd="1" destOrd="0" parTransId="{519FA4C6-68F7-8345-8CF4-CF8D1DBCB390}" sibTransId="{E989DF7D-57D8-414F-8DFE-6EC83E64FAE2}"/>
    <dgm:cxn modelId="{267E4796-F40F-49E1-8A4B-4E468CAA1B44}" srcId="{21F3723D-F59D-41A4-9F23-7B7E52BCC3D3}" destId="{F39A3458-4B47-0E43-9FBB-DA7DB350AD4E}" srcOrd="4" destOrd="0" parTransId="{7F314D78-128D-BA49-9592-C246EF2D71CE}" sibTransId="{253539DF-A621-824E-A727-E07A3B36B70F}"/>
    <dgm:cxn modelId="{1C45B79C-D44C-4FA2-B39C-64C22F8C31DF}" srcId="{577CC8DF-7342-4EBB-929F-999C2B3A236B}" destId="{A06C04B9-E183-4F34-A6A5-D0520333D891}" srcOrd="0" destOrd="0" parTransId="{7C0DD88B-1BF6-4BA7-A727-CE812CE9AC42}" sibTransId="{3CCF97E7-C369-41CA-A6E6-B71D4F4B0CCE}"/>
    <dgm:cxn modelId="{F63101A8-5922-48C6-B93F-5B2C042051DA}" type="presOf" srcId="{15BF2D58-F104-5141-B3D4-7A50E0FEF189}" destId="{DEE88499-65A7-6744-A137-0272C754D43E}" srcOrd="0" destOrd="1" presId="urn:microsoft.com/office/officeart/2016/7/layout/ChevronBlockProcess"/>
    <dgm:cxn modelId="{25BF1BAE-6D56-4A93-AEAE-8333DE4DF470}" type="presOf" srcId="{567BDCEF-8BAF-524E-9F40-E4D714FBBC77}" destId="{6249CF27-27A5-A749-8473-56AE274B9FA9}" srcOrd="0" destOrd="0" presId="urn:microsoft.com/office/officeart/2016/7/layout/ChevronBlockProcess"/>
    <dgm:cxn modelId="{AFFECFAF-4F13-4FCB-9A2D-669012008E27}" type="presOf" srcId="{0FE5BF7E-7944-9249-BB66-C720BFA0AC45}" destId="{F9680565-AADE-404B-ADFC-E0F5D21D9C78}" srcOrd="0" destOrd="4" presId="urn:microsoft.com/office/officeart/2016/7/layout/ChevronBlockProcess"/>
    <dgm:cxn modelId="{09401CB2-C25D-47B2-9C6E-476F593B6D9F}" type="presOf" srcId="{A06C04B9-E183-4F34-A6A5-D0520333D891}" destId="{DEE88499-65A7-6744-A137-0272C754D43E}" srcOrd="0" destOrd="0" presId="urn:microsoft.com/office/officeart/2016/7/layout/ChevronBlockProcess"/>
    <dgm:cxn modelId="{016555BA-0A38-5647-AF10-D5850DBF278A}" srcId="{21F3723D-F59D-41A4-9F23-7B7E52BCC3D3}" destId="{567BDCEF-8BAF-524E-9F40-E4D714FBBC77}" srcOrd="0" destOrd="0" parTransId="{31E0698D-5A96-A441-8330-8D11E75CF88E}" sibTransId="{10FDE596-2AA1-8D4A-8959-33BB0BDCAC07}"/>
    <dgm:cxn modelId="{1CC04FBE-8B99-43CE-A6D3-6373C604855D}" srcId="{9CC90546-1B7F-4A67-93C6-FC53DF3A22D3}" destId="{4C91D627-97AA-1C48-B9A4-51D1893BFFDE}" srcOrd="2" destOrd="0" parTransId="{E8D00020-3AD3-6B46-9220-BE9AAAEBE2EB}" sibTransId="{DFAD6411-02C2-C047-AF4E-1A4B7FE31EE1}"/>
    <dgm:cxn modelId="{D896A7BE-3D3B-4074-8EE4-CCA14D58F268}" srcId="{BB58E243-C73C-48A7-8191-0D47883E52B2}" destId="{E0AE6B6B-55AC-394F-91B6-CD3E3ADEB4FF}" srcOrd="1" destOrd="0" parTransId="{5AC1D8D9-7154-DB44-BD1E-C18FDBED039C}" sibTransId="{48D3318A-9282-954B-83CA-1423D838BCC4}"/>
    <dgm:cxn modelId="{AFFA09C2-C6D7-48E3-BCE7-8D4FF547375E}" srcId="{9CC90546-1B7F-4A67-93C6-FC53DF3A22D3}" destId="{0FE5BF7E-7944-9249-BB66-C720BFA0AC45}" srcOrd="3" destOrd="0" parTransId="{5F69CA03-A2A4-0741-B2D0-9D72BEA4A2FB}" sibTransId="{7A80130D-98FF-4F4A-9490-028810453959}"/>
    <dgm:cxn modelId="{9FDD84C6-3D2C-4773-9A97-DEB955097526}" srcId="{21F3723D-F59D-41A4-9F23-7B7E52BCC3D3}" destId="{36E4C989-77AE-6E4D-8E72-8C5097D17D85}" srcOrd="2" destOrd="0" parTransId="{DF1E73B4-72F3-AD4E-BA68-453A6BCE6D22}" sibTransId="{A11607CD-0BC7-4643-BA4A-A38A34C6D334}"/>
    <dgm:cxn modelId="{8061DDDC-2313-4F3A-A05A-D1D259EA068A}" srcId="{9CC90546-1B7F-4A67-93C6-FC53DF3A22D3}" destId="{B8B64A5B-55A3-3A4C-9314-E8A91DA8D64E}" srcOrd="0" destOrd="0" parTransId="{A6747859-4548-7A46-B3FA-11BAAD2098FC}" sibTransId="{C206969A-B394-6E40-A23F-BF021837F767}"/>
    <dgm:cxn modelId="{7B2D7BDD-1FE8-4C7A-9F91-731C9D564AA1}" srcId="{A18F6850-4A13-4958-BDD8-2D6B25D6F871}" destId="{21F3723D-F59D-41A4-9F23-7B7E52BCC3D3}" srcOrd="0" destOrd="0" parTransId="{5A4BAE93-2C16-4A15-B20C-3B3BF783ABD2}" sibTransId="{3C7162A0-3FF7-433E-B1FC-AB3A8173239F}"/>
    <dgm:cxn modelId="{825A79E4-5BD0-433F-A0AC-07A0139A2FFE}" type="presOf" srcId="{A151FD41-5984-1443-ACA0-185A288205E8}" destId="{F9680565-AADE-404B-ADFC-E0F5D21D9C78}" srcOrd="0" destOrd="7" presId="urn:microsoft.com/office/officeart/2016/7/layout/ChevronBlockProcess"/>
    <dgm:cxn modelId="{B5DA80E6-3444-49B5-A335-8FD0784F6321}" type="presOf" srcId="{6A68306A-DA6A-D243-B115-B6563958D992}" destId="{F9680565-AADE-404B-ADFC-E0F5D21D9C78}" srcOrd="0" destOrd="8" presId="urn:microsoft.com/office/officeart/2016/7/layout/ChevronBlockProcess"/>
    <dgm:cxn modelId="{6BF3B1E7-E645-423E-9C35-EA0D778DB834}" srcId="{E0AE6B6B-55AC-394F-91B6-CD3E3ADEB4FF}" destId="{6A68306A-DA6A-D243-B115-B6563958D992}" srcOrd="1" destOrd="0" parTransId="{8F82C566-E1DA-3F4C-B49E-1C261C4B6F0F}" sibTransId="{3C879543-3DF8-204A-8357-AB47EEDC6DE5}"/>
    <dgm:cxn modelId="{8E71FFEA-4896-4A86-A0EE-2AA9BF927DF2}" type="presOf" srcId="{D33C617D-95ED-5D4A-A118-49756059A7A5}" destId="{F9680565-AADE-404B-ADFC-E0F5D21D9C78}" srcOrd="0" destOrd="2" presId="urn:microsoft.com/office/officeart/2016/7/layout/ChevronBlockProcess"/>
    <dgm:cxn modelId="{251588F3-7891-4FE6-B486-6671E9549D0E}" srcId="{BB58E243-C73C-48A7-8191-0D47883E52B2}" destId="{1DEF682A-E379-6042-B7B0-5BE3A94582E4}" srcOrd="2" destOrd="0" parTransId="{DBDC74FA-8642-5C46-A486-AB8F832BCA0F}" sibTransId="{7627552E-4132-D140-9CCC-A537DB18CBD4}"/>
    <dgm:cxn modelId="{4947E4F5-F69C-42A3-B137-A4352046BCC8}" type="presOf" srcId="{A18F6850-4A13-4958-BDD8-2D6B25D6F871}" destId="{9EE68C2D-CDD4-E044-B55B-BAC18A4DB615}" srcOrd="0" destOrd="0" presId="urn:microsoft.com/office/officeart/2016/7/layout/ChevronBlockProcess"/>
    <dgm:cxn modelId="{159EB8F8-630C-4078-B229-41A10066B4C2}" srcId="{9CC90546-1B7F-4A67-93C6-FC53DF3A22D3}" destId="{D33C617D-95ED-5D4A-A118-49756059A7A5}" srcOrd="1" destOrd="0" parTransId="{EA168560-EE97-8D4E-BFBD-AD4BA60806B2}" sibTransId="{6FF61019-3A56-1945-AB51-D44E0ACB58F5}"/>
    <dgm:cxn modelId="{AA7C23FA-F890-40C1-AE14-DED0D16132E8}" srcId="{1DEF682A-E379-6042-B7B0-5BE3A94582E4}" destId="{BC55419F-C9E3-C540-A9C8-6D364317A894}" srcOrd="0" destOrd="0" parTransId="{303C44D7-D17B-6749-8F38-B9E98DACEAE0}" sibTransId="{5B7E3220-413C-8D4F-A659-FEC4E3D3F5E4}"/>
    <dgm:cxn modelId="{7A12EB5C-5212-4F58-9BEE-EFBB00F5E3E5}" type="presParOf" srcId="{9EE68C2D-CDD4-E044-B55B-BAC18A4DB615}" destId="{A2C26F6D-9FF4-094C-90E9-D3C70FBA1949}" srcOrd="0" destOrd="0" presId="urn:microsoft.com/office/officeart/2016/7/layout/ChevronBlockProcess"/>
    <dgm:cxn modelId="{A2DC0EAD-1DA2-4101-B55C-1D53DB17E016}" type="presParOf" srcId="{A2C26F6D-9FF4-094C-90E9-D3C70FBA1949}" destId="{EEC748DA-DB3B-7845-A7EA-81B743D7EB51}" srcOrd="0" destOrd="0" presId="urn:microsoft.com/office/officeart/2016/7/layout/ChevronBlockProcess"/>
    <dgm:cxn modelId="{011D1E5C-B014-4D50-8BAA-7743D80557A9}" type="presParOf" srcId="{A2C26F6D-9FF4-094C-90E9-D3C70FBA1949}" destId="{6249CF27-27A5-A749-8473-56AE274B9FA9}" srcOrd="1" destOrd="0" presId="urn:microsoft.com/office/officeart/2016/7/layout/ChevronBlockProcess"/>
    <dgm:cxn modelId="{3D5662FE-5234-446E-B429-C798FC4A7DE2}" type="presParOf" srcId="{9EE68C2D-CDD4-E044-B55B-BAC18A4DB615}" destId="{E7E58221-2500-0F4E-AB85-95A33FE4A028}" srcOrd="1" destOrd="0" presId="urn:microsoft.com/office/officeart/2016/7/layout/ChevronBlockProcess"/>
    <dgm:cxn modelId="{42CC32F4-EAF0-4005-A324-3CD1A1844D74}" type="presParOf" srcId="{9EE68C2D-CDD4-E044-B55B-BAC18A4DB615}" destId="{1511F71B-7821-8E4E-924D-498A6FA13ADA}" srcOrd="2" destOrd="0" presId="urn:microsoft.com/office/officeart/2016/7/layout/ChevronBlockProcess"/>
    <dgm:cxn modelId="{537E58B0-F780-40CD-AC41-BAFD16222196}" type="presParOf" srcId="{1511F71B-7821-8E4E-924D-498A6FA13ADA}" destId="{4E796159-CB3C-7749-9225-DD7AC320746F}" srcOrd="0" destOrd="0" presId="urn:microsoft.com/office/officeart/2016/7/layout/ChevronBlockProcess"/>
    <dgm:cxn modelId="{A25DAB14-7B61-4809-A7CE-DABC67766632}" type="presParOf" srcId="{1511F71B-7821-8E4E-924D-498A6FA13ADA}" destId="{DEE88499-65A7-6744-A137-0272C754D43E}" srcOrd="1" destOrd="0" presId="urn:microsoft.com/office/officeart/2016/7/layout/ChevronBlockProcess"/>
    <dgm:cxn modelId="{8CF18E3E-5924-4528-B6FD-5D0A96C59277}" type="presParOf" srcId="{9EE68C2D-CDD4-E044-B55B-BAC18A4DB615}" destId="{5ECF5FD4-3850-994C-9634-42C89040382A}" srcOrd="3" destOrd="0" presId="urn:microsoft.com/office/officeart/2016/7/layout/ChevronBlockProcess"/>
    <dgm:cxn modelId="{7E8E1E0F-3C4D-42CA-8724-294DC1F8A1B5}" type="presParOf" srcId="{9EE68C2D-CDD4-E044-B55B-BAC18A4DB615}" destId="{4F7934C4-F272-9147-8B98-8E5433069430}" srcOrd="4" destOrd="0" presId="urn:microsoft.com/office/officeart/2016/7/layout/ChevronBlockProcess"/>
    <dgm:cxn modelId="{92FA338F-A2E2-452F-A0D8-1FBAB5F29EF5}" type="presParOf" srcId="{4F7934C4-F272-9147-8B98-8E5433069430}" destId="{44C84DA7-E608-A44D-80B7-76EC6855F148}" srcOrd="0" destOrd="0" presId="urn:microsoft.com/office/officeart/2016/7/layout/ChevronBlockProcess"/>
    <dgm:cxn modelId="{1CE72A25-7AC3-43C2-86F7-A593EC31B56F}" type="presParOf" srcId="{4F7934C4-F272-9147-8B98-8E5433069430}" destId="{F9680565-AADE-404B-ADFC-E0F5D21D9C78}" srcOrd="1" destOrd="0" presId="urn:microsoft.com/office/officeart/2016/7/layout/ChevronBlock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13BA89-44B9-6446-9A5B-29C107BBA2E4}">
      <dsp:nvSpPr>
        <dsp:cNvPr id="0" name=""/>
        <dsp:cNvSpPr/>
      </dsp:nvSpPr>
      <dsp:spPr>
        <a:xfrm>
          <a:off x="1098" y="504560"/>
          <a:ext cx="4058817" cy="3593958"/>
        </a:xfrm>
        <a:prstGeom prst="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Font typeface="Arial" panose="020B0604020202020204" pitchFamily="34" charset="0"/>
            <a:buNone/>
          </a:pPr>
          <a:r>
            <a:rPr lang="en-US" sz="1600" kern="1200"/>
            <a:t>Evaluates thoracic and shoulder mobility along with core control under load. </a:t>
          </a:r>
        </a:p>
        <a:p>
          <a:pPr marL="0" lvl="0" indent="0" algn="ctr" defTabSz="711200">
            <a:lnSpc>
              <a:spcPct val="90000"/>
            </a:lnSpc>
            <a:spcBef>
              <a:spcPct val="0"/>
            </a:spcBef>
            <a:spcAft>
              <a:spcPct val="35000"/>
            </a:spcAft>
            <a:buFont typeface="Arial" panose="020B0604020202020204" pitchFamily="34" charset="0"/>
            <a:buNone/>
          </a:pPr>
          <a:endParaRPr lang="en-US" sz="1600" kern="1200"/>
        </a:p>
        <a:p>
          <a:pPr marL="0" lvl="0" indent="0" algn="ctr" defTabSz="711200">
            <a:lnSpc>
              <a:spcPct val="90000"/>
            </a:lnSpc>
            <a:spcBef>
              <a:spcPct val="0"/>
            </a:spcBef>
            <a:spcAft>
              <a:spcPct val="35000"/>
            </a:spcAft>
            <a:buFont typeface="Arial" panose="020B0604020202020204" pitchFamily="34" charset="0"/>
            <a:buNone/>
          </a:pPr>
          <a:r>
            <a:rPr lang="en-US" sz="1600" kern="1200"/>
            <a:t>Low Scores indicate difficulty maintaining a neutral spine in hinge-based lifts. </a:t>
          </a:r>
        </a:p>
        <a:p>
          <a:pPr marL="0" lvl="0" indent="0" algn="ctr" defTabSz="711200">
            <a:lnSpc>
              <a:spcPct val="90000"/>
            </a:lnSpc>
            <a:spcBef>
              <a:spcPct val="0"/>
            </a:spcBef>
            <a:spcAft>
              <a:spcPct val="35000"/>
            </a:spcAft>
            <a:buFont typeface="Arial" panose="020B0604020202020204" pitchFamily="34" charset="0"/>
            <a:buNone/>
          </a:pPr>
          <a:endParaRPr lang="en-US" sz="1600" kern="1200"/>
        </a:p>
        <a:p>
          <a:pPr marL="0" lvl="0" indent="0" algn="ctr" defTabSz="711200">
            <a:lnSpc>
              <a:spcPct val="90000"/>
            </a:lnSpc>
            <a:spcBef>
              <a:spcPct val="0"/>
            </a:spcBef>
            <a:spcAft>
              <a:spcPct val="35000"/>
            </a:spcAft>
            <a:buFont typeface="Arial" panose="020B0604020202020204" pitchFamily="34" charset="0"/>
            <a:buNone/>
          </a:pPr>
          <a:r>
            <a:rPr lang="en-US" sz="1600" kern="1200"/>
            <a:t>Recommended adjustments: </a:t>
          </a:r>
        </a:p>
        <a:p>
          <a:pPr marL="0" lvl="0" indent="0" algn="ctr" defTabSz="711200">
            <a:lnSpc>
              <a:spcPct val="90000"/>
            </a:lnSpc>
            <a:spcBef>
              <a:spcPct val="0"/>
            </a:spcBef>
            <a:spcAft>
              <a:spcPct val="35000"/>
            </a:spcAft>
            <a:buFont typeface="Arial" panose="020B0604020202020204" pitchFamily="34" charset="0"/>
            <a:buNone/>
          </a:pPr>
          <a:r>
            <a:rPr lang="en-US" sz="1600" kern="1200"/>
            <a:t>Start with supported or lower-depth variations to reinforce stability before progressing.</a:t>
          </a:r>
        </a:p>
        <a:p>
          <a:pPr marL="0" lvl="0" indent="0" algn="ctr" defTabSz="711200">
            <a:lnSpc>
              <a:spcPct val="90000"/>
            </a:lnSpc>
            <a:spcBef>
              <a:spcPct val="0"/>
            </a:spcBef>
            <a:spcAft>
              <a:spcPct val="35000"/>
            </a:spcAft>
            <a:buFont typeface="Arial" panose="020B0604020202020204" pitchFamily="34" charset="0"/>
            <a:buNone/>
          </a:pPr>
          <a:endParaRPr lang="en-US" sz="1600" kern="1200"/>
        </a:p>
      </dsp:txBody>
      <dsp:txXfrm>
        <a:off x="1098" y="504560"/>
        <a:ext cx="4058817" cy="35939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13BA89-44B9-6446-9A5B-29C107BBA2E4}">
      <dsp:nvSpPr>
        <dsp:cNvPr id="0" name=""/>
        <dsp:cNvSpPr/>
      </dsp:nvSpPr>
      <dsp:spPr>
        <a:xfrm>
          <a:off x="163725" y="196"/>
          <a:ext cx="5322675" cy="4602685"/>
        </a:xfrm>
        <a:prstGeom prst="rect">
          <a:avLst/>
        </a:prstGeom>
        <a:solidFill>
          <a:schemeClr val="accent5">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Font typeface="Arial" panose="020B0604020202020204" pitchFamily="34" charset="0"/>
            <a:buNone/>
          </a:pPr>
          <a:r>
            <a:rPr lang="en-US" sz="1900" b="1" kern="1200"/>
            <a:t>Single-Leg Balance Reach:</a:t>
          </a:r>
          <a:endParaRPr lang="en-US" sz="1900" kern="1200"/>
        </a:p>
        <a:p>
          <a:pPr marL="0" lvl="0" indent="0" algn="ctr" defTabSz="844550">
            <a:lnSpc>
              <a:spcPct val="90000"/>
            </a:lnSpc>
            <a:spcBef>
              <a:spcPct val="0"/>
            </a:spcBef>
            <a:spcAft>
              <a:spcPct val="35000"/>
            </a:spcAft>
            <a:buNone/>
          </a:pPr>
          <a:r>
            <a:rPr lang="en-US" sz="1900" kern="1200"/>
            <a:t>Assesses unilateral stability and proprioception.</a:t>
          </a:r>
        </a:p>
        <a:p>
          <a:pPr marL="0" lvl="0" indent="0" algn="ctr" defTabSz="844550">
            <a:lnSpc>
              <a:spcPct val="90000"/>
            </a:lnSpc>
            <a:spcBef>
              <a:spcPct val="0"/>
            </a:spcBef>
            <a:spcAft>
              <a:spcPct val="35000"/>
            </a:spcAft>
            <a:buNone/>
          </a:pPr>
          <a:r>
            <a:rPr lang="en-US" sz="1900" kern="1200"/>
            <a:t>A score of one or two suggests single-leg RDLs may be too advanced at this stage.</a:t>
          </a:r>
        </a:p>
        <a:p>
          <a:pPr marL="0" lvl="0" indent="0" algn="ctr" defTabSz="844550">
            <a:lnSpc>
              <a:spcPct val="90000"/>
            </a:lnSpc>
            <a:spcBef>
              <a:spcPct val="0"/>
            </a:spcBef>
            <a:spcAft>
              <a:spcPct val="35000"/>
            </a:spcAft>
            <a:buNone/>
          </a:pPr>
          <a:endParaRPr lang="en-US" sz="1900" kern="1200"/>
        </a:p>
        <a:p>
          <a:pPr marL="0" lvl="0" indent="0" algn="ctr" defTabSz="844550">
            <a:lnSpc>
              <a:spcPct val="90000"/>
            </a:lnSpc>
            <a:spcBef>
              <a:spcPct val="0"/>
            </a:spcBef>
            <a:spcAft>
              <a:spcPct val="35000"/>
            </a:spcAft>
            <a:buNone/>
          </a:pPr>
          <a:r>
            <a:rPr lang="en-US" sz="1900" kern="1200"/>
            <a:t>Recommended adjustments: Begin with two-legged variations, partial range of motion, or suspension assistance before advancing. </a:t>
          </a:r>
        </a:p>
        <a:p>
          <a:pPr marL="0" lvl="0" indent="0" algn="ctr" defTabSz="844550">
            <a:lnSpc>
              <a:spcPct val="90000"/>
            </a:lnSpc>
            <a:spcBef>
              <a:spcPct val="0"/>
            </a:spcBef>
            <a:spcAft>
              <a:spcPct val="35000"/>
            </a:spcAft>
            <a:buNone/>
          </a:pPr>
          <a:endParaRPr lang="en-US" sz="1900" kern="1200"/>
        </a:p>
        <a:p>
          <a:pPr marL="0" lvl="0" indent="0" algn="ctr" defTabSz="844550">
            <a:lnSpc>
              <a:spcPct val="90000"/>
            </a:lnSpc>
            <a:spcBef>
              <a:spcPct val="0"/>
            </a:spcBef>
            <a:spcAft>
              <a:spcPct val="35000"/>
            </a:spcAft>
            <a:buNone/>
          </a:pPr>
          <a:r>
            <a:rPr lang="en-US" sz="1900" kern="1200"/>
            <a:t>They may start with two-legged variations and build single-leg capacity over time with partial-range or TRX support.</a:t>
          </a:r>
        </a:p>
      </dsp:txBody>
      <dsp:txXfrm>
        <a:off x="163725" y="196"/>
        <a:ext cx="5322675" cy="46026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13BA89-44B9-6446-9A5B-29C107BBA2E4}">
      <dsp:nvSpPr>
        <dsp:cNvPr id="0" name=""/>
        <dsp:cNvSpPr/>
      </dsp:nvSpPr>
      <dsp:spPr>
        <a:xfrm>
          <a:off x="133570" y="0"/>
          <a:ext cx="4963725" cy="4442825"/>
        </a:xfrm>
        <a:prstGeom prst="rect">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Font typeface="Arial" panose="020B0604020202020204" pitchFamily="34" charset="0"/>
            <a:buNone/>
          </a:pPr>
          <a:r>
            <a:rPr lang="en-US" sz="2200" kern="1200"/>
            <a:t>Evaluates thoracic and shoulder mobility along with core control under load. </a:t>
          </a:r>
        </a:p>
        <a:p>
          <a:pPr marL="0" lvl="0" indent="0" algn="ctr" defTabSz="977900">
            <a:lnSpc>
              <a:spcPct val="90000"/>
            </a:lnSpc>
            <a:spcBef>
              <a:spcPct val="0"/>
            </a:spcBef>
            <a:spcAft>
              <a:spcPct val="35000"/>
            </a:spcAft>
            <a:buFont typeface="Arial" panose="020B0604020202020204" pitchFamily="34" charset="0"/>
            <a:buNone/>
          </a:pPr>
          <a:endParaRPr lang="en-US" sz="2200" kern="1200"/>
        </a:p>
        <a:p>
          <a:pPr marL="0" lvl="0" indent="0" algn="ctr" defTabSz="977900">
            <a:lnSpc>
              <a:spcPct val="90000"/>
            </a:lnSpc>
            <a:spcBef>
              <a:spcPct val="0"/>
            </a:spcBef>
            <a:spcAft>
              <a:spcPct val="35000"/>
            </a:spcAft>
            <a:buFont typeface="Arial" panose="020B0604020202020204" pitchFamily="34" charset="0"/>
            <a:buNone/>
          </a:pPr>
          <a:r>
            <a:rPr lang="en-US" sz="2200" kern="1200"/>
            <a:t>Low Scores indicate difficulty maintaining a neutral spine in hinge-based lifts. </a:t>
          </a:r>
        </a:p>
        <a:p>
          <a:pPr marL="0" lvl="0" indent="0" algn="ctr" defTabSz="977900">
            <a:lnSpc>
              <a:spcPct val="90000"/>
            </a:lnSpc>
            <a:spcBef>
              <a:spcPct val="0"/>
            </a:spcBef>
            <a:spcAft>
              <a:spcPct val="35000"/>
            </a:spcAft>
            <a:buFont typeface="Arial" panose="020B0604020202020204" pitchFamily="34" charset="0"/>
            <a:buNone/>
          </a:pPr>
          <a:endParaRPr lang="en-US" sz="2200" kern="1200"/>
        </a:p>
        <a:p>
          <a:pPr marL="0" lvl="0" indent="0" algn="ctr" defTabSz="977900">
            <a:lnSpc>
              <a:spcPct val="90000"/>
            </a:lnSpc>
            <a:spcBef>
              <a:spcPct val="0"/>
            </a:spcBef>
            <a:spcAft>
              <a:spcPct val="35000"/>
            </a:spcAft>
            <a:buFont typeface="Arial" panose="020B0604020202020204" pitchFamily="34" charset="0"/>
            <a:buNone/>
          </a:pPr>
          <a:r>
            <a:rPr lang="en-US" sz="2200" kern="1200"/>
            <a:t>Recommended adjustments: </a:t>
          </a:r>
        </a:p>
        <a:p>
          <a:pPr marL="0" lvl="0" indent="0" algn="ctr" defTabSz="977900">
            <a:lnSpc>
              <a:spcPct val="90000"/>
            </a:lnSpc>
            <a:spcBef>
              <a:spcPct val="0"/>
            </a:spcBef>
            <a:spcAft>
              <a:spcPct val="35000"/>
            </a:spcAft>
            <a:buFont typeface="Arial" panose="020B0604020202020204" pitchFamily="34" charset="0"/>
            <a:buNone/>
          </a:pPr>
          <a:r>
            <a:rPr lang="en-US" sz="2200" kern="1200"/>
            <a:t>Start with supported or lower-depth variations to reinforce stability before progressing.</a:t>
          </a:r>
        </a:p>
      </dsp:txBody>
      <dsp:txXfrm>
        <a:off x="133570" y="0"/>
        <a:ext cx="4963725" cy="444282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13BA89-44B9-6446-9A5B-29C107BBA2E4}">
      <dsp:nvSpPr>
        <dsp:cNvPr id="0" name=""/>
        <dsp:cNvSpPr/>
      </dsp:nvSpPr>
      <dsp:spPr>
        <a:xfrm>
          <a:off x="159665" y="0"/>
          <a:ext cx="5985592" cy="4805969"/>
        </a:xfrm>
        <a:prstGeom prst="rect">
          <a:avLst/>
        </a:prstGeom>
        <a:solidFill>
          <a:schemeClr val="accent6">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Font typeface="Arial" panose="020B0604020202020204" pitchFamily="34" charset="0"/>
            <a:buNone/>
          </a:pPr>
          <a:r>
            <a:rPr lang="en-US" sz="2400" kern="1200"/>
            <a:t>Evaluates thoracic and shoulder mobility along with core control under load. </a:t>
          </a:r>
        </a:p>
        <a:p>
          <a:pPr marL="0" lvl="0" indent="0" algn="ctr" defTabSz="1066800">
            <a:lnSpc>
              <a:spcPct val="90000"/>
            </a:lnSpc>
            <a:spcBef>
              <a:spcPct val="0"/>
            </a:spcBef>
            <a:spcAft>
              <a:spcPct val="35000"/>
            </a:spcAft>
            <a:buFont typeface="Arial" panose="020B0604020202020204" pitchFamily="34" charset="0"/>
            <a:buNone/>
          </a:pPr>
          <a:endParaRPr lang="en-US" sz="2400" kern="1200"/>
        </a:p>
        <a:p>
          <a:pPr marL="0" lvl="0" indent="0" algn="ctr" defTabSz="1066800">
            <a:lnSpc>
              <a:spcPct val="90000"/>
            </a:lnSpc>
            <a:spcBef>
              <a:spcPct val="0"/>
            </a:spcBef>
            <a:spcAft>
              <a:spcPct val="35000"/>
            </a:spcAft>
            <a:buFont typeface="Arial" panose="020B0604020202020204" pitchFamily="34" charset="0"/>
            <a:buNone/>
          </a:pPr>
          <a:r>
            <a:rPr lang="en-US" sz="2400" kern="1200"/>
            <a:t>Low Scores indicate difficulty maintaining a neutral spine in hinge-based lifts. </a:t>
          </a:r>
        </a:p>
        <a:p>
          <a:pPr marL="0" lvl="0" indent="0" algn="ctr" defTabSz="1066800">
            <a:lnSpc>
              <a:spcPct val="90000"/>
            </a:lnSpc>
            <a:spcBef>
              <a:spcPct val="0"/>
            </a:spcBef>
            <a:spcAft>
              <a:spcPct val="35000"/>
            </a:spcAft>
            <a:buFont typeface="Arial" panose="020B0604020202020204" pitchFamily="34" charset="0"/>
            <a:buNone/>
          </a:pPr>
          <a:endParaRPr lang="en-US" sz="2400" kern="1200"/>
        </a:p>
        <a:p>
          <a:pPr marL="0" lvl="0" indent="0" algn="ctr" defTabSz="1066800">
            <a:lnSpc>
              <a:spcPct val="90000"/>
            </a:lnSpc>
            <a:spcBef>
              <a:spcPct val="0"/>
            </a:spcBef>
            <a:spcAft>
              <a:spcPct val="35000"/>
            </a:spcAft>
            <a:buFont typeface="Arial" panose="020B0604020202020204" pitchFamily="34" charset="0"/>
            <a:buNone/>
          </a:pPr>
          <a:r>
            <a:rPr lang="en-US" sz="2400" kern="1200"/>
            <a:t>Recommended adjustments: </a:t>
          </a:r>
        </a:p>
        <a:p>
          <a:pPr marL="0" lvl="0" indent="0" algn="ctr" defTabSz="1066800">
            <a:lnSpc>
              <a:spcPct val="90000"/>
            </a:lnSpc>
            <a:spcBef>
              <a:spcPct val="0"/>
            </a:spcBef>
            <a:spcAft>
              <a:spcPct val="35000"/>
            </a:spcAft>
            <a:buFont typeface="Arial" panose="020B0604020202020204" pitchFamily="34" charset="0"/>
            <a:buNone/>
          </a:pPr>
          <a:r>
            <a:rPr lang="en-US" sz="2400" kern="1200"/>
            <a:t>Start with supported or lower-depth variations to reinforce stability before progressing.</a:t>
          </a:r>
        </a:p>
      </dsp:txBody>
      <dsp:txXfrm>
        <a:off x="159665" y="0"/>
        <a:ext cx="5985592" cy="48059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748DA-DB3B-7845-A7EA-81B743D7EB51}">
      <dsp:nvSpPr>
        <dsp:cNvPr id="0" name=""/>
        <dsp:cNvSpPr/>
      </dsp:nvSpPr>
      <dsp:spPr>
        <a:xfrm>
          <a:off x="9455" y="222428"/>
          <a:ext cx="3742102" cy="1122630"/>
        </a:xfrm>
        <a:prstGeom prst="chevron">
          <a:avLst>
            <a:gd name="adj" fmla="val 30000"/>
          </a:avLst>
        </a:prstGeom>
        <a:solidFill>
          <a:schemeClr val="accent2">
            <a:hueOff val="0"/>
            <a:satOff val="0"/>
            <a:lumOff val="0"/>
            <a:alphaOff val="0"/>
          </a:schemeClr>
        </a:solidFill>
        <a:ln w="9525" cap="flat" cmpd="sng" algn="ctr">
          <a:solidFill>
            <a:schemeClr val="accent2">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txBody>
        <a:bodyPr spcFirstLastPara="0" vert="horz" wrap="square" lIns="138614" tIns="138614" rIns="138614" bIns="138614" numCol="1" spcCol="1270" anchor="ctr" anchorCtr="0">
          <a:noAutofit/>
        </a:bodyPr>
        <a:lstStyle/>
        <a:p>
          <a:pPr marL="0" lvl="0" indent="0" algn="ctr" defTabSz="889000">
            <a:lnSpc>
              <a:spcPct val="90000"/>
            </a:lnSpc>
            <a:spcBef>
              <a:spcPct val="0"/>
            </a:spcBef>
            <a:spcAft>
              <a:spcPct val="35000"/>
            </a:spcAft>
            <a:buNone/>
            <a:defRPr b="1"/>
          </a:pPr>
          <a:r>
            <a:rPr lang="en-US" sz="2000" b="1" kern="1200"/>
            <a:t>Identify Patterns in Scores</a:t>
          </a:r>
        </a:p>
      </dsp:txBody>
      <dsp:txXfrm>
        <a:off x="346244" y="222428"/>
        <a:ext cx="3068524" cy="1122630"/>
      </dsp:txXfrm>
    </dsp:sp>
    <dsp:sp modelId="{6249CF27-27A5-A749-8473-56AE274B9FA9}">
      <dsp:nvSpPr>
        <dsp:cNvPr id="0" name=""/>
        <dsp:cNvSpPr/>
      </dsp:nvSpPr>
      <dsp:spPr>
        <a:xfrm>
          <a:off x="9455" y="1345059"/>
          <a:ext cx="3405313" cy="3520777"/>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269095" tIns="269095" rIns="269095" bIns="538191" numCol="1" spcCol="1270" anchor="t" anchorCtr="0">
          <a:noAutofit/>
        </a:bodyPr>
        <a:lstStyle/>
        <a:p>
          <a:pPr marL="0" lvl="0" indent="0" algn="l" defTabSz="488950">
            <a:lnSpc>
              <a:spcPct val="90000"/>
            </a:lnSpc>
            <a:spcBef>
              <a:spcPct val="0"/>
            </a:spcBef>
            <a:spcAft>
              <a:spcPct val="35000"/>
            </a:spcAft>
            <a:buNone/>
          </a:pPr>
          <a:r>
            <a:rPr lang="en-US" sz="1100" b="1" kern="1200" dirty="0">
              <a:solidFill>
                <a:schemeClr val="tx1"/>
              </a:solidFill>
            </a:rPr>
            <a:t>Overhead Squat (3) → Good mobility &amp; posture.</a:t>
          </a:r>
        </a:p>
        <a:p>
          <a:pPr marL="0" lvl="0" indent="0" algn="l" defTabSz="488950">
            <a:lnSpc>
              <a:spcPct val="90000"/>
            </a:lnSpc>
            <a:spcBef>
              <a:spcPct val="0"/>
            </a:spcBef>
            <a:spcAft>
              <a:spcPct val="35000"/>
            </a:spcAft>
            <a:buNone/>
          </a:pPr>
          <a:endParaRPr lang="en-US" sz="1100" b="1" kern="1200" dirty="0">
            <a:solidFill>
              <a:schemeClr val="tx1"/>
            </a:solidFill>
          </a:endParaRPr>
        </a:p>
        <a:p>
          <a:pPr marL="0" lvl="0" indent="0" algn="l" defTabSz="488950">
            <a:lnSpc>
              <a:spcPct val="90000"/>
            </a:lnSpc>
            <a:spcBef>
              <a:spcPct val="0"/>
            </a:spcBef>
            <a:spcAft>
              <a:spcPct val="35000"/>
            </a:spcAft>
            <a:buFont typeface="Arial" panose="020B0604020202020204" pitchFamily="34" charset="0"/>
            <a:buNone/>
          </a:pPr>
          <a:r>
            <a:rPr lang="en-US" sz="1100" b="1" kern="1200" dirty="0">
              <a:solidFill>
                <a:schemeClr val="tx1"/>
              </a:solidFill>
            </a:rPr>
            <a:t>Split Squat (1) → Left knee collapse indicates hip/knee instability.</a:t>
          </a:r>
        </a:p>
        <a:p>
          <a:pPr marL="0" lvl="0" indent="0" algn="l" defTabSz="488950">
            <a:lnSpc>
              <a:spcPct val="90000"/>
            </a:lnSpc>
            <a:spcBef>
              <a:spcPct val="0"/>
            </a:spcBef>
            <a:spcAft>
              <a:spcPct val="35000"/>
            </a:spcAft>
            <a:buFont typeface="Arial" panose="020B0604020202020204" pitchFamily="34" charset="0"/>
            <a:buNone/>
          </a:pPr>
          <a:endParaRPr lang="en-US" sz="1100" b="1" kern="1200" dirty="0">
            <a:solidFill>
              <a:schemeClr val="tx1"/>
            </a:solidFill>
          </a:endParaRPr>
        </a:p>
        <a:p>
          <a:pPr marL="0" lvl="0" indent="0" algn="l" defTabSz="488950">
            <a:lnSpc>
              <a:spcPct val="90000"/>
            </a:lnSpc>
            <a:spcBef>
              <a:spcPct val="0"/>
            </a:spcBef>
            <a:spcAft>
              <a:spcPct val="35000"/>
            </a:spcAft>
            <a:buFont typeface="Arial" panose="020B0604020202020204" pitchFamily="34" charset="0"/>
            <a:buNone/>
          </a:pPr>
          <a:r>
            <a:rPr lang="en-US" sz="1100" b="1" kern="1200" dirty="0">
              <a:solidFill>
                <a:schemeClr val="tx1"/>
              </a:solidFill>
            </a:rPr>
            <a:t>Single-Leg Reach (1) → Right hip drop under fatigue shows lateral instability.</a:t>
          </a:r>
        </a:p>
        <a:p>
          <a:pPr marL="0" lvl="0" indent="0" algn="l" defTabSz="488950">
            <a:lnSpc>
              <a:spcPct val="90000"/>
            </a:lnSpc>
            <a:spcBef>
              <a:spcPct val="0"/>
            </a:spcBef>
            <a:spcAft>
              <a:spcPct val="35000"/>
            </a:spcAft>
            <a:buFont typeface="Arial" panose="020B0604020202020204" pitchFamily="34" charset="0"/>
            <a:buNone/>
          </a:pPr>
          <a:endParaRPr lang="en-US" sz="1100" b="1" kern="1200" dirty="0">
            <a:solidFill>
              <a:schemeClr val="tx1"/>
            </a:solidFill>
          </a:endParaRPr>
        </a:p>
        <a:p>
          <a:pPr marL="0" lvl="0" indent="0" algn="l" defTabSz="488950">
            <a:lnSpc>
              <a:spcPct val="90000"/>
            </a:lnSpc>
            <a:spcBef>
              <a:spcPct val="0"/>
            </a:spcBef>
            <a:spcAft>
              <a:spcPct val="35000"/>
            </a:spcAft>
            <a:buFont typeface="Arial" panose="020B0604020202020204" pitchFamily="34" charset="0"/>
            <a:buNone/>
          </a:pPr>
          <a:r>
            <a:rPr lang="en-US" sz="1100" b="1" kern="1200" dirty="0">
              <a:solidFill>
                <a:schemeClr val="tx1"/>
              </a:solidFill>
            </a:rPr>
            <a:t>Plank (2) → Hips sagging at 20s reflect limited core endurance.</a:t>
          </a:r>
        </a:p>
        <a:p>
          <a:pPr marL="0" lvl="0" indent="0" algn="l" defTabSz="488950">
            <a:lnSpc>
              <a:spcPct val="90000"/>
            </a:lnSpc>
            <a:spcBef>
              <a:spcPct val="0"/>
            </a:spcBef>
            <a:spcAft>
              <a:spcPct val="35000"/>
            </a:spcAft>
            <a:buFont typeface="Arial" panose="020B0604020202020204" pitchFamily="34" charset="0"/>
            <a:buNone/>
          </a:pPr>
          <a:endParaRPr lang="en-US" sz="1100" b="1" kern="1200" dirty="0">
            <a:solidFill>
              <a:schemeClr val="tx1"/>
            </a:solidFill>
          </a:endParaRPr>
        </a:p>
        <a:p>
          <a:pPr marL="0" lvl="0" indent="0" algn="l" defTabSz="488950">
            <a:lnSpc>
              <a:spcPct val="90000"/>
            </a:lnSpc>
            <a:spcBef>
              <a:spcPct val="0"/>
            </a:spcBef>
            <a:spcAft>
              <a:spcPct val="35000"/>
            </a:spcAft>
            <a:buFont typeface="Arial" panose="020B0604020202020204" pitchFamily="34" charset="0"/>
            <a:buNone/>
          </a:pPr>
          <a:r>
            <a:rPr lang="en-US" sz="1100" b="1" kern="1200" dirty="0">
              <a:solidFill>
                <a:schemeClr val="tx1"/>
              </a:solidFill>
            </a:rPr>
            <a:t>Bird Dog (2) → Torso rotation indicates weak anti-rotation control.</a:t>
          </a:r>
        </a:p>
      </dsp:txBody>
      <dsp:txXfrm>
        <a:off x="9455" y="1345059"/>
        <a:ext cx="3405313" cy="3520777"/>
      </dsp:txXfrm>
    </dsp:sp>
    <dsp:sp modelId="{4E796159-CB3C-7749-9225-DD7AC320746F}">
      <dsp:nvSpPr>
        <dsp:cNvPr id="0" name=""/>
        <dsp:cNvSpPr/>
      </dsp:nvSpPr>
      <dsp:spPr>
        <a:xfrm>
          <a:off x="3695943" y="222428"/>
          <a:ext cx="3742102" cy="1122630"/>
        </a:xfrm>
        <a:prstGeom prst="chevron">
          <a:avLst>
            <a:gd name="adj" fmla="val 30000"/>
          </a:avLst>
        </a:prstGeom>
        <a:solidFill>
          <a:schemeClr val="accent3">
            <a:hueOff val="0"/>
            <a:satOff val="0"/>
            <a:lumOff val="0"/>
            <a:alphaOff val="0"/>
          </a:schemeClr>
        </a:solidFill>
        <a:ln w="9525" cap="flat" cmpd="sng" algn="ctr">
          <a:solidFill>
            <a:schemeClr val="accent3">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txBody>
        <a:bodyPr spcFirstLastPara="0" vert="horz" wrap="square" lIns="138614" tIns="138614" rIns="138614" bIns="138614" numCol="1" spcCol="1270" anchor="ctr" anchorCtr="0">
          <a:noAutofit/>
        </a:bodyPr>
        <a:lstStyle/>
        <a:p>
          <a:pPr marL="0" lvl="0" indent="0" algn="ctr" defTabSz="889000">
            <a:lnSpc>
              <a:spcPct val="90000"/>
            </a:lnSpc>
            <a:spcBef>
              <a:spcPct val="0"/>
            </a:spcBef>
            <a:spcAft>
              <a:spcPct val="35000"/>
            </a:spcAft>
            <a:buNone/>
            <a:defRPr b="1"/>
          </a:pPr>
          <a:r>
            <a:rPr lang="en-US" sz="2000" b="1" kern="1200"/>
            <a:t>Actionable Takeaways </a:t>
          </a:r>
          <a:endParaRPr lang="en-US" sz="2000" kern="1200"/>
        </a:p>
      </dsp:txBody>
      <dsp:txXfrm>
        <a:off x="4032732" y="222428"/>
        <a:ext cx="3068524" cy="1122630"/>
      </dsp:txXfrm>
    </dsp:sp>
    <dsp:sp modelId="{DEE88499-65A7-6744-A137-0272C754D43E}">
      <dsp:nvSpPr>
        <dsp:cNvPr id="0" name=""/>
        <dsp:cNvSpPr/>
      </dsp:nvSpPr>
      <dsp:spPr>
        <a:xfrm>
          <a:off x="3695943" y="1345059"/>
          <a:ext cx="3405313" cy="3520777"/>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269095" tIns="269095" rIns="269095" bIns="538191" numCol="1" spcCol="1270" anchor="t" anchorCtr="0">
          <a:noAutofit/>
        </a:bodyPr>
        <a:lstStyle/>
        <a:p>
          <a:pPr marL="0" lvl="0" indent="0" algn="l" defTabSz="488950">
            <a:lnSpc>
              <a:spcPct val="90000"/>
            </a:lnSpc>
            <a:spcBef>
              <a:spcPct val="0"/>
            </a:spcBef>
            <a:spcAft>
              <a:spcPct val="35000"/>
            </a:spcAft>
            <a:buNone/>
          </a:pPr>
          <a:r>
            <a:rPr lang="en-US" sz="1100" b="1" kern="1200" dirty="0">
              <a:solidFill>
                <a:schemeClr val="tx1"/>
              </a:solidFill>
            </a:rPr>
            <a:t>Unilateral Stability → Prioritize regressions and gradual progressions for lunges.</a:t>
          </a:r>
        </a:p>
        <a:p>
          <a:pPr marL="0" lvl="0" indent="0" algn="l" defTabSz="488950">
            <a:lnSpc>
              <a:spcPct val="90000"/>
            </a:lnSpc>
            <a:spcBef>
              <a:spcPct val="0"/>
            </a:spcBef>
            <a:spcAft>
              <a:spcPct val="35000"/>
            </a:spcAft>
            <a:buNone/>
          </a:pPr>
          <a:endParaRPr lang="en-US" sz="1100" b="1" kern="1200" dirty="0">
            <a:solidFill>
              <a:schemeClr val="tx1"/>
            </a:solidFill>
          </a:endParaRPr>
        </a:p>
        <a:p>
          <a:pPr marL="0" lvl="0" indent="0" algn="l" defTabSz="488950">
            <a:lnSpc>
              <a:spcPct val="90000"/>
            </a:lnSpc>
            <a:spcBef>
              <a:spcPct val="0"/>
            </a:spcBef>
            <a:spcAft>
              <a:spcPct val="35000"/>
            </a:spcAft>
            <a:buNone/>
          </a:pPr>
          <a:endParaRPr lang="en-US" sz="1100" b="1" kern="1200" dirty="0">
            <a:solidFill>
              <a:schemeClr val="tx1"/>
            </a:solidFill>
          </a:endParaRPr>
        </a:p>
        <a:p>
          <a:pPr marL="0" lvl="0" indent="0" algn="l" defTabSz="488950">
            <a:lnSpc>
              <a:spcPct val="90000"/>
            </a:lnSpc>
            <a:spcBef>
              <a:spcPct val="0"/>
            </a:spcBef>
            <a:spcAft>
              <a:spcPct val="35000"/>
            </a:spcAft>
            <a:buFont typeface="Arial" panose="020B0604020202020204" pitchFamily="34" charset="0"/>
            <a:buNone/>
          </a:pPr>
          <a:r>
            <a:rPr lang="en-US" sz="1100" b="1" kern="1200" dirty="0">
              <a:solidFill>
                <a:schemeClr val="tx1"/>
              </a:solidFill>
            </a:rPr>
            <a:t>Core Stability → Improve trunk endurance and anti-rotation strength.</a:t>
          </a:r>
        </a:p>
        <a:p>
          <a:pPr marL="0" lvl="0" indent="0" algn="l" defTabSz="488950">
            <a:lnSpc>
              <a:spcPct val="90000"/>
            </a:lnSpc>
            <a:spcBef>
              <a:spcPct val="0"/>
            </a:spcBef>
            <a:spcAft>
              <a:spcPct val="35000"/>
            </a:spcAft>
            <a:buFont typeface="Arial" panose="020B0604020202020204" pitchFamily="34" charset="0"/>
            <a:buNone/>
          </a:pPr>
          <a:endParaRPr lang="en-US" sz="1100" b="1" kern="1200" dirty="0">
            <a:solidFill>
              <a:schemeClr val="tx1"/>
            </a:solidFill>
          </a:endParaRPr>
        </a:p>
        <a:p>
          <a:pPr marL="0" lvl="0" indent="0" algn="l" defTabSz="488950">
            <a:lnSpc>
              <a:spcPct val="90000"/>
            </a:lnSpc>
            <a:spcBef>
              <a:spcPct val="0"/>
            </a:spcBef>
            <a:spcAft>
              <a:spcPct val="35000"/>
            </a:spcAft>
            <a:buFont typeface="Arial" panose="020B0604020202020204" pitchFamily="34" charset="0"/>
            <a:buNone/>
          </a:pPr>
          <a:endParaRPr lang="en-US" sz="1100" b="1" kern="1200" dirty="0">
            <a:solidFill>
              <a:schemeClr val="tx1"/>
            </a:solidFill>
          </a:endParaRPr>
        </a:p>
        <a:p>
          <a:pPr marL="0" lvl="0" indent="0" algn="l" defTabSz="488950">
            <a:lnSpc>
              <a:spcPct val="90000"/>
            </a:lnSpc>
            <a:spcBef>
              <a:spcPct val="0"/>
            </a:spcBef>
            <a:spcAft>
              <a:spcPct val="35000"/>
            </a:spcAft>
            <a:buFont typeface="Arial" panose="020B0604020202020204" pitchFamily="34" charset="0"/>
            <a:buNone/>
          </a:pPr>
          <a:r>
            <a:rPr lang="en-US" sz="1100" b="1" kern="1200" dirty="0">
              <a:solidFill>
                <a:schemeClr val="tx1"/>
              </a:solidFill>
            </a:rPr>
            <a:t>Strength Balance → Maintain overhead squat mobility while addressing targeted stability issues.</a:t>
          </a:r>
        </a:p>
      </dsp:txBody>
      <dsp:txXfrm>
        <a:off x="3695943" y="1345059"/>
        <a:ext cx="3405313" cy="3520777"/>
      </dsp:txXfrm>
    </dsp:sp>
    <dsp:sp modelId="{44C84DA7-E608-A44D-80B7-76EC6855F148}">
      <dsp:nvSpPr>
        <dsp:cNvPr id="0" name=""/>
        <dsp:cNvSpPr/>
      </dsp:nvSpPr>
      <dsp:spPr>
        <a:xfrm>
          <a:off x="7382430" y="222428"/>
          <a:ext cx="3742102" cy="1122630"/>
        </a:xfrm>
        <a:prstGeom prst="chevron">
          <a:avLst>
            <a:gd name="adj" fmla="val 30000"/>
          </a:avLst>
        </a:prstGeom>
        <a:solidFill>
          <a:schemeClr val="accent4">
            <a:hueOff val="0"/>
            <a:satOff val="0"/>
            <a:lumOff val="0"/>
            <a:alphaOff val="0"/>
          </a:schemeClr>
        </a:solidFill>
        <a:ln w="9525" cap="flat" cmpd="sng" algn="ctr">
          <a:solidFill>
            <a:schemeClr val="accent4">
              <a:hueOff val="0"/>
              <a:satOff val="0"/>
              <a:lumOff val="0"/>
              <a:alphaOff val="0"/>
            </a:schemeClr>
          </a:solidFill>
          <a:prstDash val="solid"/>
        </a:ln>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dsp:spPr>
      <dsp:style>
        <a:lnRef idx="1">
          <a:scrgbClr r="0" g="0" b="0"/>
        </a:lnRef>
        <a:fillRef idx="3">
          <a:scrgbClr r="0" g="0" b="0"/>
        </a:fillRef>
        <a:effectRef idx="3">
          <a:scrgbClr r="0" g="0" b="0"/>
        </a:effectRef>
        <a:fontRef idx="minor">
          <a:schemeClr val="lt1"/>
        </a:fontRef>
      </dsp:style>
      <dsp:txBody>
        <a:bodyPr spcFirstLastPara="0" vert="horz" wrap="square" lIns="138614" tIns="138614" rIns="138614" bIns="138614" numCol="1" spcCol="1270" anchor="ctr" anchorCtr="0">
          <a:noAutofit/>
        </a:bodyPr>
        <a:lstStyle/>
        <a:p>
          <a:pPr marL="0" lvl="0" indent="0" algn="ctr" defTabSz="889000">
            <a:lnSpc>
              <a:spcPct val="90000"/>
            </a:lnSpc>
            <a:spcBef>
              <a:spcPct val="0"/>
            </a:spcBef>
            <a:spcAft>
              <a:spcPct val="35000"/>
            </a:spcAft>
            <a:buNone/>
            <a:defRPr b="1"/>
          </a:pPr>
          <a:r>
            <a:rPr lang="en-US" sz="2000" b="1" kern="1200"/>
            <a:t>Adjust Programming </a:t>
          </a:r>
          <a:endParaRPr lang="en-US" sz="2000" kern="1200"/>
        </a:p>
      </dsp:txBody>
      <dsp:txXfrm>
        <a:off x="7719219" y="222428"/>
        <a:ext cx="3068524" cy="1122630"/>
      </dsp:txXfrm>
    </dsp:sp>
    <dsp:sp modelId="{F9680565-AADE-404B-ADFC-E0F5D21D9C78}">
      <dsp:nvSpPr>
        <dsp:cNvPr id="0" name=""/>
        <dsp:cNvSpPr/>
      </dsp:nvSpPr>
      <dsp:spPr>
        <a:xfrm>
          <a:off x="7382430" y="1345059"/>
          <a:ext cx="3405313" cy="3520777"/>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269095" tIns="269095" rIns="269095" bIns="538191" numCol="1" spcCol="1270" anchor="t" anchorCtr="0">
          <a:noAutofit/>
        </a:bodyPr>
        <a:lstStyle/>
        <a:p>
          <a:pPr marL="0" lvl="0" indent="0" algn="l" defTabSz="488950">
            <a:lnSpc>
              <a:spcPct val="90000"/>
            </a:lnSpc>
            <a:spcBef>
              <a:spcPct val="0"/>
            </a:spcBef>
            <a:spcAft>
              <a:spcPct val="35000"/>
            </a:spcAft>
            <a:buNone/>
          </a:pPr>
          <a:r>
            <a:rPr lang="en-US" sz="1100" b="1" kern="1200" dirty="0">
              <a:solidFill>
                <a:schemeClr val="tx1"/>
              </a:solidFill>
            </a:rPr>
            <a:t>Unstable Patterns:</a:t>
          </a:r>
        </a:p>
        <a:p>
          <a:pPr marL="57150" lvl="1" indent="-57150" algn="l" defTabSz="400050">
            <a:lnSpc>
              <a:spcPct val="90000"/>
            </a:lnSpc>
            <a:spcBef>
              <a:spcPct val="0"/>
            </a:spcBef>
            <a:spcAft>
              <a:spcPct val="15000"/>
            </a:spcAft>
            <a:buFont typeface="Arial" panose="020B0604020202020204" pitchFamily="34" charset="0"/>
            <a:buChar char="•"/>
          </a:pPr>
          <a:r>
            <a:rPr lang="en-US" sz="900" b="1" kern="1200" dirty="0">
              <a:solidFill>
                <a:schemeClr val="tx1"/>
              </a:solidFill>
            </a:rPr>
            <a:t>Split Squat → Use assisted or box-supported variations.</a:t>
          </a:r>
        </a:p>
        <a:p>
          <a:pPr marL="57150" lvl="1" indent="-57150" algn="l" defTabSz="400050">
            <a:lnSpc>
              <a:spcPct val="90000"/>
            </a:lnSpc>
            <a:spcBef>
              <a:spcPct val="0"/>
            </a:spcBef>
            <a:spcAft>
              <a:spcPct val="15000"/>
            </a:spcAft>
            <a:buFont typeface="Arial" panose="020B0604020202020204" pitchFamily="34" charset="0"/>
            <a:buChar char="•"/>
          </a:pPr>
          <a:r>
            <a:rPr lang="en-US" sz="900" b="1" kern="1200" dirty="0">
              <a:solidFill>
                <a:schemeClr val="tx1"/>
              </a:solidFill>
            </a:rPr>
            <a:t>Single-Leg Reach → Add hand support or reduce range.</a:t>
          </a:r>
        </a:p>
        <a:p>
          <a:pPr marL="57150" lvl="1" indent="-57150" algn="l" defTabSz="400050">
            <a:lnSpc>
              <a:spcPct val="90000"/>
            </a:lnSpc>
            <a:spcBef>
              <a:spcPct val="0"/>
            </a:spcBef>
            <a:spcAft>
              <a:spcPct val="15000"/>
            </a:spcAft>
            <a:buFont typeface="Arial" panose="020B0604020202020204" pitchFamily="34" charset="0"/>
            <a:buChar char="•"/>
          </a:pPr>
          <a:endParaRPr lang="en-US" sz="900" b="1" kern="1200">
            <a:solidFill>
              <a:schemeClr val="tx1"/>
            </a:solidFill>
          </a:endParaRPr>
        </a:p>
        <a:p>
          <a:pPr marL="57150" lvl="1" indent="-57150" algn="l" defTabSz="400050">
            <a:lnSpc>
              <a:spcPct val="90000"/>
            </a:lnSpc>
            <a:spcBef>
              <a:spcPct val="0"/>
            </a:spcBef>
            <a:spcAft>
              <a:spcPct val="15000"/>
            </a:spcAft>
            <a:buFont typeface="Arial" panose="020B0604020202020204" pitchFamily="34" charset="0"/>
            <a:buChar char="•"/>
          </a:pPr>
          <a:endParaRPr lang="en-US" sz="900" b="1" kern="1200">
            <a:solidFill>
              <a:schemeClr val="tx1"/>
            </a:solidFill>
          </a:endParaRPr>
        </a:p>
        <a:p>
          <a:pPr marL="57150" lvl="1" indent="-57150" algn="l" defTabSz="400050">
            <a:lnSpc>
              <a:spcPct val="90000"/>
            </a:lnSpc>
            <a:spcBef>
              <a:spcPct val="0"/>
            </a:spcBef>
            <a:spcAft>
              <a:spcPct val="15000"/>
            </a:spcAft>
            <a:buFont typeface="Arial" panose="020B0604020202020204" pitchFamily="34" charset="0"/>
            <a:buChar char="•"/>
          </a:pPr>
          <a:endParaRPr lang="en-US" sz="900" b="1" kern="1200" dirty="0">
            <a:solidFill>
              <a:schemeClr val="tx1"/>
            </a:solidFill>
          </a:endParaRPr>
        </a:p>
        <a:p>
          <a:pPr marL="0" lvl="0" indent="0" algn="l" defTabSz="488950">
            <a:lnSpc>
              <a:spcPct val="90000"/>
            </a:lnSpc>
            <a:spcBef>
              <a:spcPct val="0"/>
            </a:spcBef>
            <a:spcAft>
              <a:spcPct val="35000"/>
            </a:spcAft>
            <a:buFont typeface="Arial" panose="020B0604020202020204" pitchFamily="34" charset="0"/>
            <a:buNone/>
          </a:pPr>
          <a:r>
            <a:rPr lang="en-US" sz="1100" b="1" kern="1200" dirty="0">
              <a:solidFill>
                <a:schemeClr val="tx1"/>
              </a:solidFill>
            </a:rPr>
            <a:t>Core Stability:</a:t>
          </a:r>
        </a:p>
        <a:p>
          <a:pPr marL="57150" lvl="1" indent="-57150" algn="l" defTabSz="400050">
            <a:lnSpc>
              <a:spcPct val="90000"/>
            </a:lnSpc>
            <a:spcBef>
              <a:spcPct val="0"/>
            </a:spcBef>
            <a:spcAft>
              <a:spcPct val="15000"/>
            </a:spcAft>
            <a:buFont typeface="Arial" panose="020B0604020202020204" pitchFamily="34" charset="0"/>
            <a:buChar char="•"/>
          </a:pPr>
          <a:r>
            <a:rPr lang="en-US" sz="900" b="1" kern="1200" dirty="0">
              <a:solidFill>
                <a:schemeClr val="tx1"/>
              </a:solidFill>
            </a:rPr>
            <a:t>Plank → Shorter holds, emphasize tension cues.</a:t>
          </a:r>
        </a:p>
        <a:p>
          <a:pPr marL="57150" lvl="1" indent="-57150" algn="l" defTabSz="400050">
            <a:lnSpc>
              <a:spcPct val="90000"/>
            </a:lnSpc>
            <a:spcBef>
              <a:spcPct val="0"/>
            </a:spcBef>
            <a:spcAft>
              <a:spcPct val="15000"/>
            </a:spcAft>
            <a:buFont typeface="Arial" panose="020B0604020202020204" pitchFamily="34" charset="0"/>
            <a:buChar char="•"/>
          </a:pPr>
          <a:r>
            <a:rPr lang="en-US" sz="900" b="1" kern="1200" dirty="0">
              <a:solidFill>
                <a:schemeClr val="tx1"/>
              </a:solidFill>
            </a:rPr>
            <a:t>Bird Dog → Integrate band resistance for anti-rotation.</a:t>
          </a:r>
        </a:p>
        <a:p>
          <a:pPr marL="57150" lvl="1" indent="-57150" algn="l" defTabSz="400050">
            <a:lnSpc>
              <a:spcPct val="90000"/>
            </a:lnSpc>
            <a:spcBef>
              <a:spcPct val="0"/>
            </a:spcBef>
            <a:spcAft>
              <a:spcPct val="15000"/>
            </a:spcAft>
            <a:buFont typeface="Arial" panose="020B0604020202020204" pitchFamily="34" charset="0"/>
            <a:buChar char="•"/>
          </a:pPr>
          <a:endParaRPr lang="en-US" sz="900" b="1" kern="1200" dirty="0">
            <a:solidFill>
              <a:schemeClr val="tx1"/>
            </a:solidFill>
          </a:endParaRPr>
        </a:p>
        <a:p>
          <a:pPr marL="57150" lvl="1" indent="-57150" algn="l" defTabSz="400050">
            <a:lnSpc>
              <a:spcPct val="90000"/>
            </a:lnSpc>
            <a:spcBef>
              <a:spcPct val="0"/>
            </a:spcBef>
            <a:spcAft>
              <a:spcPct val="15000"/>
            </a:spcAft>
            <a:buFont typeface="Arial" panose="020B0604020202020204" pitchFamily="34" charset="0"/>
            <a:buChar char="•"/>
          </a:pPr>
          <a:endParaRPr lang="en-US" sz="900" b="1" kern="1200">
            <a:solidFill>
              <a:schemeClr val="tx1"/>
            </a:solidFill>
          </a:endParaRPr>
        </a:p>
        <a:p>
          <a:pPr marL="57150" lvl="1" indent="-57150" algn="l" defTabSz="400050">
            <a:lnSpc>
              <a:spcPct val="90000"/>
            </a:lnSpc>
            <a:spcBef>
              <a:spcPct val="0"/>
            </a:spcBef>
            <a:spcAft>
              <a:spcPct val="15000"/>
            </a:spcAft>
            <a:buFont typeface="Arial" panose="020B0604020202020204" pitchFamily="34" charset="0"/>
            <a:buChar char="•"/>
          </a:pPr>
          <a:endParaRPr lang="en-US" sz="900" b="1" kern="1200" dirty="0">
            <a:solidFill>
              <a:schemeClr val="tx1"/>
            </a:solidFill>
          </a:endParaRPr>
        </a:p>
        <a:p>
          <a:pPr marL="0" lvl="0" indent="0" algn="l" defTabSz="488950">
            <a:lnSpc>
              <a:spcPct val="90000"/>
            </a:lnSpc>
            <a:spcBef>
              <a:spcPct val="0"/>
            </a:spcBef>
            <a:spcAft>
              <a:spcPct val="35000"/>
            </a:spcAft>
            <a:buFont typeface="Arial" panose="020B0604020202020204" pitchFamily="34" charset="0"/>
            <a:buNone/>
          </a:pPr>
          <a:r>
            <a:rPr lang="en-US" sz="1100" b="1" kern="1200" dirty="0">
              <a:solidFill>
                <a:schemeClr val="tx1"/>
              </a:solidFill>
            </a:rPr>
            <a:t>Load &amp; Complexity:</a:t>
          </a:r>
        </a:p>
        <a:p>
          <a:pPr marL="57150" lvl="1" indent="-57150" algn="l" defTabSz="400050">
            <a:lnSpc>
              <a:spcPct val="90000"/>
            </a:lnSpc>
            <a:spcBef>
              <a:spcPct val="0"/>
            </a:spcBef>
            <a:spcAft>
              <a:spcPct val="15000"/>
            </a:spcAft>
            <a:buFont typeface="Arial" panose="020B0604020202020204" pitchFamily="34" charset="0"/>
            <a:buChar char="•"/>
          </a:pPr>
          <a:r>
            <a:rPr lang="en-US" sz="900" b="1" kern="1200" dirty="0">
              <a:solidFill>
                <a:schemeClr val="tx1"/>
              </a:solidFill>
            </a:rPr>
            <a:t>Build bilateral strength while progressively adding unilateral challenges.</a:t>
          </a:r>
        </a:p>
      </dsp:txBody>
      <dsp:txXfrm>
        <a:off x="7382430" y="1345059"/>
        <a:ext cx="3405313" cy="3520777"/>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3/20/26</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3/20/26</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34D6B-14BC-C758-5046-61FBA0CD89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75F648-111D-2329-AA54-8897FAFF9B0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C5C139D-4788-6D98-83C4-CB5412056134}"/>
              </a:ext>
            </a:extLst>
          </p:cNvPr>
          <p:cNvSpPr>
            <a:spLocks noGrp="1"/>
          </p:cNvSpPr>
          <p:nvPr>
            <p:ph type="body" idx="1"/>
          </p:nvPr>
        </p:nvSpPr>
        <p:spPr/>
        <p:txBody>
          <a:bodyPr/>
          <a:lstStyle/>
          <a:p>
            <a:r>
              <a:rPr lang="en-US" sz="1100"/>
              <a:t>Moving well is essential not just for gym performance, but for meeting the ever-changing demands of everyday life. Whether lifting a toddler, carrying groceries, standing up from a chair, or rotating to check a blind spot, </a:t>
            </a:r>
            <a:r>
              <a:rPr lang="en-US" sz="1100" b="1"/>
              <a:t>our ability to move efficiently and adapt to different loads, angles, and environments directly impacts our strength, mobility, and long-term resilience.</a:t>
            </a:r>
            <a:endParaRPr lang="en-US"/>
          </a:p>
        </p:txBody>
      </p:sp>
      <p:sp>
        <p:nvSpPr>
          <p:cNvPr id="4" name="Slide Number Placeholder 3">
            <a:extLst>
              <a:ext uri="{FF2B5EF4-FFF2-40B4-BE49-F238E27FC236}">
                <a16:creationId xmlns:a16="http://schemas.microsoft.com/office/drawing/2014/main" id="{13EF2B18-6D21-6491-A6A4-DCD3AD4919C8}"/>
              </a:ext>
            </a:extLst>
          </p:cNvPr>
          <p:cNvSpPr>
            <a:spLocks noGrp="1"/>
          </p:cNvSpPr>
          <p:nvPr>
            <p:ph type="sldNum" sz="quarter" idx="5"/>
          </p:nvPr>
        </p:nvSpPr>
        <p:spPr/>
        <p:txBody>
          <a:bodyPr/>
          <a:lstStyle/>
          <a:p>
            <a:pPr lvl="0"/>
            <a:fld id="{FF93ABF6-B20D-447F-9BE9-9EB6AFC5D55B}" type="slidenum">
              <a:rPr lang="en-US" smtClean="0"/>
              <a:t>2</a:t>
            </a:fld>
            <a:endParaRPr lang="en-US"/>
          </a:p>
        </p:txBody>
      </p:sp>
    </p:spTree>
    <p:extLst>
      <p:ext uri="{BB962C8B-B14F-4D97-AF65-F5344CB8AC3E}">
        <p14:creationId xmlns:p14="http://schemas.microsoft.com/office/powerpoint/2010/main" val="1293407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2F992-A531-972F-1F25-B002056B57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A2EDA-BEB6-C956-2566-D066D4FAC91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DF192E1-61EC-7B81-A796-6572A5AE5F78}"/>
              </a:ext>
            </a:extLst>
          </p:cNvPr>
          <p:cNvSpPr>
            <a:spLocks noGrp="1"/>
          </p:cNvSpPr>
          <p:nvPr>
            <p:ph type="body" idx="1"/>
          </p:nvPr>
        </p:nvSpPr>
        <p:spPr/>
        <p:txBody>
          <a:bodyPr/>
          <a:lstStyle/>
          <a:p>
            <a:br>
              <a:rPr lang="en-US" sz="1100" b="1"/>
            </a:br>
            <a:r>
              <a:rPr lang="en-US" sz="1100"/>
              <a:t>The six foundational movement patterns—</a:t>
            </a:r>
            <a:r>
              <a:rPr lang="en-US" sz="1100" b="1"/>
              <a:t>Push, Pull, Hinge, Squat, Lunge, and Rotation</a:t>
            </a:r>
            <a:r>
              <a:rPr lang="en-US" sz="1100"/>
              <a:t>—form the basis of nearly every physical task we perform. Mastering and progressing these movements isn’t just about lifting heavier weights; it’s about </a:t>
            </a:r>
            <a:r>
              <a:rPr lang="en-US" sz="1100" b="1"/>
              <a:t>building the adaptability to handle real-world challenges safely and effectively.</a:t>
            </a:r>
            <a:br>
              <a:rPr lang="en-US" sz="1100" b="1"/>
            </a:br>
            <a:br>
              <a:rPr lang="en-US" sz="1100" b="1"/>
            </a:br>
            <a:br>
              <a:rPr lang="en-US" sz="1100"/>
            </a:br>
            <a:r>
              <a:rPr lang="en-US" sz="1100"/>
              <a:t>Understanding the </a:t>
            </a:r>
            <a:r>
              <a:rPr lang="en-US" sz="1100" b="1"/>
              <a:t>complexity of movement</a:t>
            </a:r>
            <a:r>
              <a:rPr lang="en-US" sz="1100"/>
              <a:t> means recognizing that no two days feel exactly the same. Fatigue, stress, injuries, or external demands can impact how well we move, making it crucial to </a:t>
            </a:r>
            <a:r>
              <a:rPr lang="en-US" sz="1100" b="1"/>
              <a:t>adjust movement difficulty dynamically</a:t>
            </a:r>
            <a:r>
              <a:rPr lang="en-US" sz="1100"/>
              <a:t>—not just for performance goals, but to maintain </a:t>
            </a:r>
            <a:r>
              <a:rPr lang="en-US" sz="1100" b="1"/>
              <a:t>functional independence and prevent injury</a:t>
            </a:r>
            <a:r>
              <a:rPr lang="en-US" sz="1100"/>
              <a:t> as life throws new demands our way.</a:t>
            </a:r>
            <a:br>
              <a:rPr lang="en-US" sz="1100"/>
            </a:br>
            <a:br>
              <a:rPr lang="en-US" sz="1100"/>
            </a:br>
            <a:br>
              <a:rPr lang="en-US" sz="1100"/>
            </a:br>
            <a:r>
              <a:rPr lang="en-US" sz="1100"/>
              <a:t>By strategically progressing or regressing movements through </a:t>
            </a:r>
            <a:r>
              <a:rPr lang="en-US" sz="1100" b="1"/>
              <a:t>load, tempo, range of motion, and body position</a:t>
            </a:r>
            <a:r>
              <a:rPr lang="en-US" sz="1100"/>
              <a:t>, we create a training framework that helps individuals </a:t>
            </a:r>
            <a:r>
              <a:rPr lang="en-US" sz="1100" b="1"/>
              <a:t>build strength where they need it, reinforce stability where they lack it, and develop movement confidence for both training and daily life.</a:t>
            </a:r>
            <a:r>
              <a:rPr lang="en-US" sz="1100"/>
              <a:t> The ability to scale exercises ensures that </a:t>
            </a:r>
            <a:r>
              <a:rPr lang="en-US" sz="1100" b="1"/>
              <a:t>everyone—regardless of age, experience, or ability—can train safely, make progress, and stay prepared for whatever life requires.</a:t>
            </a:r>
            <a:endParaRPr lang="en-US"/>
          </a:p>
        </p:txBody>
      </p:sp>
      <p:sp>
        <p:nvSpPr>
          <p:cNvPr id="4" name="Slide Number Placeholder 3">
            <a:extLst>
              <a:ext uri="{FF2B5EF4-FFF2-40B4-BE49-F238E27FC236}">
                <a16:creationId xmlns:a16="http://schemas.microsoft.com/office/drawing/2014/main" id="{53369F65-7AAC-9886-6AD2-B9AFEE964331}"/>
              </a:ext>
            </a:extLst>
          </p:cNvPr>
          <p:cNvSpPr>
            <a:spLocks noGrp="1"/>
          </p:cNvSpPr>
          <p:nvPr>
            <p:ph type="sldNum" sz="quarter" idx="5"/>
          </p:nvPr>
        </p:nvSpPr>
        <p:spPr/>
        <p:txBody>
          <a:bodyPr/>
          <a:lstStyle/>
          <a:p>
            <a:pPr lvl="0"/>
            <a:fld id="{FF93ABF6-B20D-447F-9BE9-9EB6AFC5D55B}" type="slidenum">
              <a:rPr lang="en-US" smtClean="0"/>
              <a:t>3</a:t>
            </a:fld>
            <a:endParaRPr lang="en-US"/>
          </a:p>
        </p:txBody>
      </p:sp>
    </p:spTree>
    <p:extLst>
      <p:ext uri="{BB962C8B-B14F-4D97-AF65-F5344CB8AC3E}">
        <p14:creationId xmlns:p14="http://schemas.microsoft.com/office/powerpoint/2010/main" val="347475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5A32E-D2FA-9482-AED3-1DB1042C6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84327-B7F2-504A-3E0A-4E61FFFE67D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782E1D6-00B6-F32B-C63A-008C4529CF5B}"/>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8E3A4955-809C-00E8-983C-492268659BD3}"/>
              </a:ext>
            </a:extLst>
          </p:cNvPr>
          <p:cNvSpPr>
            <a:spLocks noGrp="1"/>
          </p:cNvSpPr>
          <p:nvPr>
            <p:ph type="sldNum" sz="quarter" idx="5"/>
          </p:nvPr>
        </p:nvSpPr>
        <p:spPr/>
        <p:txBody>
          <a:bodyPr/>
          <a:lstStyle/>
          <a:p>
            <a:pPr lvl="0"/>
            <a:fld id="{FF93ABF6-B20D-447F-9BE9-9EB6AFC5D55B}" type="slidenum">
              <a:rPr lang="en-US"/>
              <a:t>5</a:t>
            </a:fld>
            <a:endParaRPr lang="en-US"/>
          </a:p>
        </p:txBody>
      </p:sp>
    </p:spTree>
    <p:extLst>
      <p:ext uri="{BB962C8B-B14F-4D97-AF65-F5344CB8AC3E}">
        <p14:creationId xmlns:p14="http://schemas.microsoft.com/office/powerpoint/2010/main" val="926091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E56F9-5CF6-D36D-16F2-4443ED5C8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AAAD3-8C6E-C91B-E672-0F0CD43D471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34666B1-DE0C-9EEB-8388-98D939DE68CE}"/>
              </a:ext>
            </a:extLst>
          </p:cNvPr>
          <p:cNvSpPr>
            <a:spLocks noGrp="1"/>
          </p:cNvSpPr>
          <p:nvPr>
            <p:ph type="body" idx="1"/>
          </p:nvPr>
        </p:nvSpPr>
        <p:spPr/>
        <p:txBody>
          <a:bodyPr/>
          <a:lstStyle/>
          <a:p>
            <a:pPr>
              <a:buFont typeface="Arial" panose="020B0604020202020204" pitchFamily="34" charset="0"/>
              <a:buChar char="•"/>
            </a:pPr>
            <a:r>
              <a:rPr lang="en-US" sz="1100" b="1">
                <a:solidFill>
                  <a:schemeClr val="accent3">
                    <a:lumMod val="40000"/>
                    <a:lumOff val="60000"/>
                  </a:schemeClr>
                </a:solidFill>
              </a:rPr>
              <a:t>Efficient Evaluations</a:t>
            </a:r>
          </a:p>
          <a:p>
            <a:pPr>
              <a:buFont typeface="Arial" panose="020B0604020202020204" pitchFamily="34" charset="0"/>
              <a:buChar char="•"/>
            </a:pPr>
            <a:r>
              <a:rPr lang="en-US" sz="1100"/>
              <a:t>Screens multiple planes, upper/lower-body strength, stability, and core control in under 10 minutes.</a:t>
            </a:r>
          </a:p>
          <a:p>
            <a:pPr>
              <a:buFont typeface="Arial" panose="020B0604020202020204" pitchFamily="34" charset="0"/>
              <a:buChar char="•"/>
            </a:pPr>
            <a:endParaRPr lang="en-US" sz="1100"/>
          </a:p>
          <a:p>
            <a:pPr>
              <a:buFont typeface="Arial" panose="020B0604020202020204" pitchFamily="34" charset="0"/>
              <a:buChar char="•"/>
            </a:pPr>
            <a:endParaRPr lang="en-US" sz="1100"/>
          </a:p>
          <a:p>
            <a:pPr>
              <a:buFont typeface="Arial" panose="020B0604020202020204" pitchFamily="34" charset="0"/>
              <a:buChar char="•"/>
            </a:pPr>
            <a:r>
              <a:rPr lang="en-US" sz="1100">
                <a:solidFill>
                  <a:schemeClr val="accent3">
                    <a:lumMod val="40000"/>
                    <a:lumOff val="60000"/>
                  </a:schemeClr>
                </a:solidFill>
              </a:rPr>
              <a:t> </a:t>
            </a:r>
            <a:r>
              <a:rPr lang="en-US" sz="1100" b="1">
                <a:solidFill>
                  <a:schemeClr val="accent3">
                    <a:lumMod val="40000"/>
                    <a:lumOff val="60000"/>
                  </a:schemeClr>
                </a:solidFill>
              </a:rPr>
              <a:t>Immediate Feedback</a:t>
            </a:r>
            <a:r>
              <a:rPr lang="en-US" sz="1100">
                <a:solidFill>
                  <a:schemeClr val="accent3">
                    <a:lumMod val="40000"/>
                    <a:lumOff val="60000"/>
                  </a:schemeClr>
                </a:solidFill>
              </a:rPr>
              <a:t> </a:t>
            </a:r>
          </a:p>
          <a:p>
            <a:pPr>
              <a:buFont typeface="Arial" panose="020B0604020202020204" pitchFamily="34" charset="0"/>
              <a:buChar char="•"/>
            </a:pPr>
            <a:r>
              <a:rPr lang="en-US" sz="1100"/>
              <a:t>Clients quickly identify movement limitations, such as: "I can’t hold my plank past 20 seconds without sagging.”</a:t>
            </a:r>
          </a:p>
          <a:p>
            <a:pPr>
              <a:buFont typeface="Arial" panose="020B0604020202020204" pitchFamily="34" charset="0"/>
              <a:buChar char="•"/>
            </a:pPr>
            <a:r>
              <a:rPr lang="en-US" sz="1100"/>
              <a:t>"My left knee collapses during a split squat.”</a:t>
            </a:r>
          </a:p>
          <a:p>
            <a:pPr>
              <a:buFont typeface="Arial" panose="020B0604020202020204" pitchFamily="34" charset="0"/>
              <a:buChar char="•"/>
            </a:pPr>
            <a:endParaRPr lang="en-US" sz="1100"/>
          </a:p>
          <a:p>
            <a:pPr>
              <a:buFont typeface="Arial" panose="020B0604020202020204" pitchFamily="34" charset="0"/>
              <a:buChar char="•"/>
            </a:pPr>
            <a:endParaRPr lang="en-US" sz="1100"/>
          </a:p>
          <a:p>
            <a:r>
              <a:rPr lang="en-US" sz="1100" b="1">
                <a:solidFill>
                  <a:schemeClr val="accent3">
                    <a:lumMod val="40000"/>
                    <a:lumOff val="60000"/>
                  </a:schemeClr>
                </a:solidFill>
              </a:rPr>
              <a:t>Real-Life Application</a:t>
            </a:r>
          </a:p>
          <a:p>
            <a:r>
              <a:rPr lang="en-US" sz="1100"/>
              <a:t>These tests reflect essential movement patterns used in daily life, including squatting, stepping, bracing, and coordinating limbs effectively.</a:t>
            </a:r>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endParaRPr lang="en-US">
              <a:cs typeface="Calibri"/>
            </a:endParaRPr>
          </a:p>
        </p:txBody>
      </p:sp>
      <p:sp>
        <p:nvSpPr>
          <p:cNvPr id="4" name="Slide Number Placeholder 3">
            <a:extLst>
              <a:ext uri="{FF2B5EF4-FFF2-40B4-BE49-F238E27FC236}">
                <a16:creationId xmlns:a16="http://schemas.microsoft.com/office/drawing/2014/main" id="{9B58026D-3430-4F94-1ED0-96DF5D8BE1B3}"/>
              </a:ext>
            </a:extLst>
          </p:cNvPr>
          <p:cNvSpPr>
            <a:spLocks noGrp="1"/>
          </p:cNvSpPr>
          <p:nvPr>
            <p:ph type="sldNum" sz="quarter" idx="5"/>
          </p:nvPr>
        </p:nvSpPr>
        <p:spPr/>
        <p:txBody>
          <a:bodyPr/>
          <a:lstStyle/>
          <a:p>
            <a:pPr lvl="0"/>
            <a:fld id="{FF93ABF6-B20D-447F-9BE9-9EB6AFC5D55B}" type="slidenum">
              <a:rPr lang="en-US"/>
              <a:t>7</a:t>
            </a:fld>
            <a:endParaRPr lang="en-US"/>
          </a:p>
        </p:txBody>
      </p:sp>
    </p:spTree>
    <p:extLst>
      <p:ext uri="{BB962C8B-B14F-4D97-AF65-F5344CB8AC3E}">
        <p14:creationId xmlns:p14="http://schemas.microsoft.com/office/powerpoint/2010/main" val="2182402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12C3-BC3C-99D0-9A46-D50E8762E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BD35E-33CA-7782-639A-44E2591132C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8BBF328-C813-5924-DF42-8C8A728A9291}"/>
              </a:ext>
            </a:extLst>
          </p:cNvPr>
          <p:cNvSpPr>
            <a:spLocks noGrp="1"/>
          </p:cNvSpPr>
          <p:nvPr>
            <p:ph type="body" idx="1"/>
          </p:nvPr>
        </p:nvSpPr>
        <p:spPr/>
        <p:txBody>
          <a:bodyPr/>
          <a:lstStyle/>
          <a:p>
            <a:pPr>
              <a:buFont typeface="Arial" panose="020B0604020202020204" pitchFamily="34" charset="0"/>
              <a:buChar char="•"/>
            </a:pPr>
            <a:r>
              <a:rPr lang="en-US" sz="1100" b="1">
                <a:solidFill>
                  <a:schemeClr val="accent3">
                    <a:lumMod val="40000"/>
                    <a:lumOff val="60000"/>
                  </a:schemeClr>
                </a:solidFill>
              </a:rPr>
              <a:t>Efficient Evaluations</a:t>
            </a:r>
          </a:p>
          <a:p>
            <a:pPr>
              <a:buFont typeface="Arial" panose="020B0604020202020204" pitchFamily="34" charset="0"/>
              <a:buChar char="•"/>
            </a:pPr>
            <a:r>
              <a:rPr lang="en-US" sz="1100"/>
              <a:t>Screens multiple planes, upper/lower-body strength, stability, and core control in under 10 minutes.</a:t>
            </a:r>
          </a:p>
          <a:p>
            <a:pPr>
              <a:buFont typeface="Arial" panose="020B0604020202020204" pitchFamily="34" charset="0"/>
              <a:buChar char="•"/>
            </a:pPr>
            <a:endParaRPr lang="en-US" sz="1100"/>
          </a:p>
          <a:p>
            <a:pPr>
              <a:buFont typeface="Arial" panose="020B0604020202020204" pitchFamily="34" charset="0"/>
              <a:buChar char="•"/>
            </a:pPr>
            <a:endParaRPr lang="en-US" sz="1100"/>
          </a:p>
          <a:p>
            <a:pPr>
              <a:buFont typeface="Arial" panose="020B0604020202020204" pitchFamily="34" charset="0"/>
              <a:buChar char="•"/>
            </a:pPr>
            <a:r>
              <a:rPr lang="en-US" sz="1100">
                <a:solidFill>
                  <a:schemeClr val="accent3">
                    <a:lumMod val="40000"/>
                    <a:lumOff val="60000"/>
                  </a:schemeClr>
                </a:solidFill>
              </a:rPr>
              <a:t> </a:t>
            </a:r>
            <a:r>
              <a:rPr lang="en-US" sz="1100" b="1">
                <a:solidFill>
                  <a:schemeClr val="accent3">
                    <a:lumMod val="40000"/>
                    <a:lumOff val="60000"/>
                  </a:schemeClr>
                </a:solidFill>
              </a:rPr>
              <a:t>Immediate Feedback</a:t>
            </a:r>
            <a:r>
              <a:rPr lang="en-US" sz="1100">
                <a:solidFill>
                  <a:schemeClr val="accent3">
                    <a:lumMod val="40000"/>
                    <a:lumOff val="60000"/>
                  </a:schemeClr>
                </a:solidFill>
              </a:rPr>
              <a:t> </a:t>
            </a:r>
          </a:p>
          <a:p>
            <a:pPr>
              <a:buFont typeface="Arial" panose="020B0604020202020204" pitchFamily="34" charset="0"/>
              <a:buChar char="•"/>
            </a:pPr>
            <a:r>
              <a:rPr lang="en-US" sz="1100"/>
              <a:t>Clients quickly identify movement limitations, such as: "I can’t hold my plank past 20 seconds without sagging.”</a:t>
            </a:r>
          </a:p>
          <a:p>
            <a:pPr>
              <a:buFont typeface="Arial" panose="020B0604020202020204" pitchFamily="34" charset="0"/>
              <a:buChar char="•"/>
            </a:pPr>
            <a:r>
              <a:rPr lang="en-US" sz="1100"/>
              <a:t>"My left knee collapses during a split squat.”</a:t>
            </a:r>
          </a:p>
          <a:p>
            <a:pPr>
              <a:buFont typeface="Arial" panose="020B0604020202020204" pitchFamily="34" charset="0"/>
              <a:buChar char="•"/>
            </a:pPr>
            <a:endParaRPr lang="en-US" sz="1100"/>
          </a:p>
          <a:p>
            <a:pPr>
              <a:buFont typeface="Arial" panose="020B0604020202020204" pitchFamily="34" charset="0"/>
              <a:buChar char="•"/>
            </a:pPr>
            <a:endParaRPr lang="en-US" sz="1100"/>
          </a:p>
          <a:p>
            <a:r>
              <a:rPr lang="en-US" sz="1100" b="1">
                <a:solidFill>
                  <a:schemeClr val="accent3">
                    <a:lumMod val="40000"/>
                    <a:lumOff val="60000"/>
                  </a:schemeClr>
                </a:solidFill>
              </a:rPr>
              <a:t>Real-Life Application</a:t>
            </a:r>
          </a:p>
          <a:p>
            <a:r>
              <a:rPr lang="en-US" sz="1100"/>
              <a:t>These tests reflect essential movement patterns used in daily life, including squatting, stepping, bracing, and coordinating limbs effectively.</a:t>
            </a:r>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endParaRPr lang="en-US">
              <a:cs typeface="Calibri"/>
            </a:endParaRPr>
          </a:p>
        </p:txBody>
      </p:sp>
      <p:sp>
        <p:nvSpPr>
          <p:cNvPr id="4" name="Slide Number Placeholder 3">
            <a:extLst>
              <a:ext uri="{FF2B5EF4-FFF2-40B4-BE49-F238E27FC236}">
                <a16:creationId xmlns:a16="http://schemas.microsoft.com/office/drawing/2014/main" id="{5F7D4EC1-0DD1-ADC7-A874-AD6589BD6A09}"/>
              </a:ext>
            </a:extLst>
          </p:cNvPr>
          <p:cNvSpPr>
            <a:spLocks noGrp="1"/>
          </p:cNvSpPr>
          <p:nvPr>
            <p:ph type="sldNum" sz="quarter" idx="5"/>
          </p:nvPr>
        </p:nvSpPr>
        <p:spPr/>
        <p:txBody>
          <a:bodyPr/>
          <a:lstStyle/>
          <a:p>
            <a:pPr lvl="0"/>
            <a:fld id="{FF93ABF6-B20D-447F-9BE9-9EB6AFC5D55B}" type="slidenum">
              <a:rPr lang="en-US"/>
              <a:t>8</a:t>
            </a:fld>
            <a:endParaRPr lang="en-US"/>
          </a:p>
        </p:txBody>
      </p:sp>
    </p:spTree>
    <p:extLst>
      <p:ext uri="{BB962C8B-B14F-4D97-AF65-F5344CB8AC3E}">
        <p14:creationId xmlns:p14="http://schemas.microsoft.com/office/powerpoint/2010/main" val="30887375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D4803-C6CA-E9D7-BDCB-29653AF1D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A1528-8F4E-C243-2D03-030A9E688CF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0310E16-6B36-7B49-6783-2E72EA14D98F}"/>
              </a:ext>
            </a:extLst>
          </p:cNvPr>
          <p:cNvSpPr>
            <a:spLocks noGrp="1"/>
          </p:cNvSpPr>
          <p:nvPr>
            <p:ph type="body" idx="1"/>
          </p:nvPr>
        </p:nvSpPr>
        <p:spPr/>
        <p:txBody>
          <a:bodyPr/>
          <a:lstStyle/>
          <a:p>
            <a:pPr>
              <a:buFont typeface="Arial" panose="020B0604020202020204" pitchFamily="34" charset="0"/>
              <a:buChar char="•"/>
            </a:pPr>
            <a:r>
              <a:rPr lang="en-US" sz="1100" b="1">
                <a:solidFill>
                  <a:schemeClr val="accent3">
                    <a:lumMod val="40000"/>
                    <a:lumOff val="60000"/>
                  </a:schemeClr>
                </a:solidFill>
              </a:rPr>
              <a:t>Efficient Evaluations</a:t>
            </a:r>
          </a:p>
          <a:p>
            <a:pPr>
              <a:buFont typeface="Arial" panose="020B0604020202020204" pitchFamily="34" charset="0"/>
              <a:buChar char="•"/>
            </a:pPr>
            <a:r>
              <a:rPr lang="en-US" sz="1100"/>
              <a:t>Screens multiple planes, upper/lower-body strength, stability, and core control in under 10 minutes.</a:t>
            </a:r>
          </a:p>
          <a:p>
            <a:pPr>
              <a:buFont typeface="Arial" panose="020B0604020202020204" pitchFamily="34" charset="0"/>
              <a:buChar char="•"/>
            </a:pPr>
            <a:endParaRPr lang="en-US" sz="1100"/>
          </a:p>
          <a:p>
            <a:pPr>
              <a:buFont typeface="Arial" panose="020B0604020202020204" pitchFamily="34" charset="0"/>
              <a:buChar char="•"/>
            </a:pPr>
            <a:endParaRPr lang="en-US" sz="1100"/>
          </a:p>
          <a:p>
            <a:pPr>
              <a:buFont typeface="Arial" panose="020B0604020202020204" pitchFamily="34" charset="0"/>
              <a:buChar char="•"/>
            </a:pPr>
            <a:r>
              <a:rPr lang="en-US" sz="1100">
                <a:solidFill>
                  <a:schemeClr val="accent3">
                    <a:lumMod val="40000"/>
                    <a:lumOff val="60000"/>
                  </a:schemeClr>
                </a:solidFill>
              </a:rPr>
              <a:t> </a:t>
            </a:r>
            <a:r>
              <a:rPr lang="en-US" sz="1100" b="1">
                <a:solidFill>
                  <a:schemeClr val="accent3">
                    <a:lumMod val="40000"/>
                    <a:lumOff val="60000"/>
                  </a:schemeClr>
                </a:solidFill>
              </a:rPr>
              <a:t>Immediate Feedback</a:t>
            </a:r>
            <a:r>
              <a:rPr lang="en-US" sz="1100">
                <a:solidFill>
                  <a:schemeClr val="accent3">
                    <a:lumMod val="40000"/>
                    <a:lumOff val="60000"/>
                  </a:schemeClr>
                </a:solidFill>
              </a:rPr>
              <a:t> </a:t>
            </a:r>
          </a:p>
          <a:p>
            <a:pPr>
              <a:buFont typeface="Arial" panose="020B0604020202020204" pitchFamily="34" charset="0"/>
              <a:buChar char="•"/>
            </a:pPr>
            <a:r>
              <a:rPr lang="en-US" sz="1100"/>
              <a:t>Clients quickly identify movement limitations, such as: "I can’t hold my plank past 20 seconds without sagging.”</a:t>
            </a:r>
          </a:p>
          <a:p>
            <a:pPr>
              <a:buFont typeface="Arial" panose="020B0604020202020204" pitchFamily="34" charset="0"/>
              <a:buChar char="•"/>
            </a:pPr>
            <a:r>
              <a:rPr lang="en-US" sz="1100"/>
              <a:t>"My left knee collapses during a split squat.”</a:t>
            </a:r>
          </a:p>
          <a:p>
            <a:pPr>
              <a:buFont typeface="Arial" panose="020B0604020202020204" pitchFamily="34" charset="0"/>
              <a:buChar char="•"/>
            </a:pPr>
            <a:endParaRPr lang="en-US" sz="1100"/>
          </a:p>
          <a:p>
            <a:pPr>
              <a:buFont typeface="Arial" panose="020B0604020202020204" pitchFamily="34" charset="0"/>
              <a:buChar char="•"/>
            </a:pPr>
            <a:endParaRPr lang="en-US" sz="1100"/>
          </a:p>
          <a:p>
            <a:r>
              <a:rPr lang="en-US" sz="1100" b="1">
                <a:solidFill>
                  <a:schemeClr val="accent3">
                    <a:lumMod val="40000"/>
                    <a:lumOff val="60000"/>
                  </a:schemeClr>
                </a:solidFill>
              </a:rPr>
              <a:t>Real-Life Application</a:t>
            </a:r>
          </a:p>
          <a:p>
            <a:r>
              <a:rPr lang="en-US" sz="1100"/>
              <a:t>These tests reflect essential movement patterns used in daily life, including squatting, stepping, bracing, and coordinating limbs effectively.</a:t>
            </a:r>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endParaRPr lang="en-US">
              <a:cs typeface="Calibri"/>
            </a:endParaRPr>
          </a:p>
        </p:txBody>
      </p:sp>
      <p:sp>
        <p:nvSpPr>
          <p:cNvPr id="4" name="Slide Number Placeholder 3">
            <a:extLst>
              <a:ext uri="{FF2B5EF4-FFF2-40B4-BE49-F238E27FC236}">
                <a16:creationId xmlns:a16="http://schemas.microsoft.com/office/drawing/2014/main" id="{54C7B274-965E-64E6-433F-F9A6F5717096}"/>
              </a:ext>
            </a:extLst>
          </p:cNvPr>
          <p:cNvSpPr>
            <a:spLocks noGrp="1"/>
          </p:cNvSpPr>
          <p:nvPr>
            <p:ph type="sldNum" sz="quarter" idx="5"/>
          </p:nvPr>
        </p:nvSpPr>
        <p:spPr/>
        <p:txBody>
          <a:bodyPr/>
          <a:lstStyle/>
          <a:p>
            <a:pPr lvl="0"/>
            <a:fld id="{FF93ABF6-B20D-447F-9BE9-9EB6AFC5D55B}" type="slidenum">
              <a:rPr lang="en-US"/>
              <a:t>9</a:t>
            </a:fld>
            <a:endParaRPr lang="en-US"/>
          </a:p>
        </p:txBody>
      </p:sp>
    </p:spTree>
    <p:extLst>
      <p:ext uri="{BB962C8B-B14F-4D97-AF65-F5344CB8AC3E}">
        <p14:creationId xmlns:p14="http://schemas.microsoft.com/office/powerpoint/2010/main" val="26290328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3E9A8-9F6F-7033-AB06-660566A708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765E0-FF98-905F-6CD2-512F02452F7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2E36749-BAE3-EF4B-EA4A-50033CE8905C}"/>
              </a:ext>
            </a:extLst>
          </p:cNvPr>
          <p:cNvSpPr>
            <a:spLocks noGrp="1"/>
          </p:cNvSpPr>
          <p:nvPr>
            <p:ph type="body" idx="1"/>
          </p:nvPr>
        </p:nvSpPr>
        <p:spPr/>
        <p:txBody>
          <a:bodyPr/>
          <a:lstStyle/>
          <a:p>
            <a:pPr>
              <a:buFont typeface="Arial" panose="020B0604020202020204" pitchFamily="34" charset="0"/>
              <a:buChar char="•"/>
            </a:pPr>
            <a:r>
              <a:rPr lang="en-US" sz="1100" b="1">
                <a:solidFill>
                  <a:schemeClr val="accent3">
                    <a:lumMod val="40000"/>
                    <a:lumOff val="60000"/>
                  </a:schemeClr>
                </a:solidFill>
              </a:rPr>
              <a:t>Efficient Evaluations</a:t>
            </a:r>
          </a:p>
          <a:p>
            <a:pPr>
              <a:buFont typeface="Arial" panose="020B0604020202020204" pitchFamily="34" charset="0"/>
              <a:buChar char="•"/>
            </a:pPr>
            <a:r>
              <a:rPr lang="en-US" sz="1100"/>
              <a:t>Screens multiple planes, upper/lower-body strength, stability, and core control in under 10 minutes.</a:t>
            </a:r>
          </a:p>
          <a:p>
            <a:pPr>
              <a:buFont typeface="Arial" panose="020B0604020202020204" pitchFamily="34" charset="0"/>
              <a:buChar char="•"/>
            </a:pPr>
            <a:endParaRPr lang="en-US" sz="1100"/>
          </a:p>
          <a:p>
            <a:pPr>
              <a:buFont typeface="Arial" panose="020B0604020202020204" pitchFamily="34" charset="0"/>
              <a:buChar char="•"/>
            </a:pPr>
            <a:endParaRPr lang="en-US" sz="1100"/>
          </a:p>
          <a:p>
            <a:pPr>
              <a:buFont typeface="Arial" panose="020B0604020202020204" pitchFamily="34" charset="0"/>
              <a:buChar char="•"/>
            </a:pPr>
            <a:r>
              <a:rPr lang="en-US" sz="1100">
                <a:solidFill>
                  <a:schemeClr val="accent3">
                    <a:lumMod val="40000"/>
                    <a:lumOff val="60000"/>
                  </a:schemeClr>
                </a:solidFill>
              </a:rPr>
              <a:t> </a:t>
            </a:r>
            <a:r>
              <a:rPr lang="en-US" sz="1100" b="1">
                <a:solidFill>
                  <a:schemeClr val="accent3">
                    <a:lumMod val="40000"/>
                    <a:lumOff val="60000"/>
                  </a:schemeClr>
                </a:solidFill>
              </a:rPr>
              <a:t>Immediate Feedback</a:t>
            </a:r>
            <a:r>
              <a:rPr lang="en-US" sz="1100">
                <a:solidFill>
                  <a:schemeClr val="accent3">
                    <a:lumMod val="40000"/>
                    <a:lumOff val="60000"/>
                  </a:schemeClr>
                </a:solidFill>
              </a:rPr>
              <a:t> </a:t>
            </a:r>
          </a:p>
          <a:p>
            <a:pPr>
              <a:buFont typeface="Arial" panose="020B0604020202020204" pitchFamily="34" charset="0"/>
              <a:buChar char="•"/>
            </a:pPr>
            <a:r>
              <a:rPr lang="en-US" sz="1100"/>
              <a:t>Clients quickly identify movement limitations, such as: "I can’t hold my plank past 20 seconds without sagging.”</a:t>
            </a:r>
          </a:p>
          <a:p>
            <a:pPr>
              <a:buFont typeface="Arial" panose="020B0604020202020204" pitchFamily="34" charset="0"/>
              <a:buChar char="•"/>
            </a:pPr>
            <a:r>
              <a:rPr lang="en-US" sz="1100"/>
              <a:t>"My left knee collapses during a split squat.”</a:t>
            </a:r>
          </a:p>
          <a:p>
            <a:pPr>
              <a:buFont typeface="Arial" panose="020B0604020202020204" pitchFamily="34" charset="0"/>
              <a:buChar char="•"/>
            </a:pPr>
            <a:endParaRPr lang="en-US" sz="1100"/>
          </a:p>
          <a:p>
            <a:pPr>
              <a:buFont typeface="Arial" panose="020B0604020202020204" pitchFamily="34" charset="0"/>
              <a:buChar char="•"/>
            </a:pPr>
            <a:endParaRPr lang="en-US" sz="1100"/>
          </a:p>
          <a:p>
            <a:r>
              <a:rPr lang="en-US" sz="1100" b="1">
                <a:solidFill>
                  <a:schemeClr val="accent3">
                    <a:lumMod val="40000"/>
                    <a:lumOff val="60000"/>
                  </a:schemeClr>
                </a:solidFill>
              </a:rPr>
              <a:t>Real-Life Application</a:t>
            </a:r>
          </a:p>
          <a:p>
            <a:r>
              <a:rPr lang="en-US" sz="1100"/>
              <a:t>These tests reflect essential movement patterns used in daily life, including squatting, stepping, bracing, and coordinating limbs effectively.</a:t>
            </a:r>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pPr marL="171450" indent="-171450">
              <a:lnSpc>
                <a:spcPct val="110000"/>
              </a:lnSpc>
              <a:spcBef>
                <a:spcPts val="1000"/>
              </a:spcBef>
              <a:buClr>
                <a:schemeClr val="accent3"/>
              </a:buClr>
              <a:buFont typeface="Arial" panose="020B0604020202020204" pitchFamily="34" charset="0"/>
              <a:buChar char="•"/>
            </a:pPr>
            <a:endParaRPr lang="en-US" sz="1200"/>
          </a:p>
          <a:p>
            <a:endParaRPr lang="en-US">
              <a:cs typeface="Calibri"/>
            </a:endParaRPr>
          </a:p>
        </p:txBody>
      </p:sp>
      <p:sp>
        <p:nvSpPr>
          <p:cNvPr id="4" name="Slide Number Placeholder 3">
            <a:extLst>
              <a:ext uri="{FF2B5EF4-FFF2-40B4-BE49-F238E27FC236}">
                <a16:creationId xmlns:a16="http://schemas.microsoft.com/office/drawing/2014/main" id="{0C97AE76-2CE7-4E44-2554-C73DEB30D4BE}"/>
              </a:ext>
            </a:extLst>
          </p:cNvPr>
          <p:cNvSpPr>
            <a:spLocks noGrp="1"/>
          </p:cNvSpPr>
          <p:nvPr>
            <p:ph type="sldNum" sz="quarter" idx="5"/>
          </p:nvPr>
        </p:nvSpPr>
        <p:spPr/>
        <p:txBody>
          <a:bodyPr/>
          <a:lstStyle/>
          <a:p>
            <a:pPr lvl="0"/>
            <a:fld id="{FF93ABF6-B20D-447F-9BE9-9EB6AFC5D55B}" type="slidenum">
              <a:rPr lang="en-US"/>
              <a:t>10</a:t>
            </a:fld>
            <a:endParaRPr lang="en-US"/>
          </a:p>
        </p:txBody>
      </p:sp>
    </p:spTree>
    <p:extLst>
      <p:ext uri="{BB962C8B-B14F-4D97-AF65-F5344CB8AC3E}">
        <p14:creationId xmlns:p14="http://schemas.microsoft.com/office/powerpoint/2010/main" val="3178259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F8054-D915-746E-FF2D-7C8523DC0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EF3F9-FBA4-B104-917E-B112ED2C021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A461E3E-ED25-BE04-5570-0C0CC54A07D1}"/>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359B68A3-C353-601F-5B44-2878FCA8092E}"/>
              </a:ext>
            </a:extLst>
          </p:cNvPr>
          <p:cNvSpPr>
            <a:spLocks noGrp="1"/>
          </p:cNvSpPr>
          <p:nvPr>
            <p:ph type="sldNum" sz="quarter" idx="5"/>
          </p:nvPr>
        </p:nvSpPr>
        <p:spPr/>
        <p:txBody>
          <a:bodyPr/>
          <a:lstStyle/>
          <a:p>
            <a:pPr lvl="0"/>
            <a:fld id="{FF93ABF6-B20D-447F-9BE9-9EB6AFC5D55B}" type="slidenum">
              <a:rPr lang="en-US"/>
              <a:t>11</a:t>
            </a:fld>
            <a:endParaRPr lang="en-US"/>
          </a:p>
        </p:txBody>
      </p:sp>
    </p:spTree>
    <p:extLst>
      <p:ext uri="{BB962C8B-B14F-4D97-AF65-F5344CB8AC3E}">
        <p14:creationId xmlns:p14="http://schemas.microsoft.com/office/powerpoint/2010/main" val="1777757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10C43-9E29-6875-11D3-A2EDEB3F21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200D52-B468-E849-17C3-9E7FEE86E8C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21AAF54-72E6-4254-32C3-62FA33EB0901}"/>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186FA174-DAE2-DEE0-5773-1347F906A329}"/>
              </a:ext>
            </a:extLst>
          </p:cNvPr>
          <p:cNvSpPr>
            <a:spLocks noGrp="1"/>
          </p:cNvSpPr>
          <p:nvPr>
            <p:ph type="sldNum" sz="quarter" idx="5"/>
          </p:nvPr>
        </p:nvSpPr>
        <p:spPr/>
        <p:txBody>
          <a:bodyPr/>
          <a:lstStyle/>
          <a:p>
            <a:pPr lvl="0"/>
            <a:fld id="{FF93ABF6-B20D-447F-9BE9-9EB6AFC5D55B}" type="slidenum">
              <a:rPr lang="en-US"/>
              <a:t>12</a:t>
            </a:fld>
            <a:endParaRPr lang="en-US"/>
          </a:p>
        </p:txBody>
      </p:sp>
    </p:spTree>
    <p:extLst>
      <p:ext uri="{BB962C8B-B14F-4D97-AF65-F5344CB8AC3E}">
        <p14:creationId xmlns:p14="http://schemas.microsoft.com/office/powerpoint/2010/main" val="3746806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A81FA-FA59-DDD9-C2DF-51C10BE42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1A3B9-3C8D-7608-A44D-1418B9A9085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2CC0184-B3EF-E6E2-65CB-07572B11C5FD}"/>
              </a:ext>
            </a:extLst>
          </p:cNvPr>
          <p:cNvSpPr>
            <a:spLocks noGrp="1"/>
          </p:cNvSpPr>
          <p:nvPr>
            <p:ph type="body" idx="1"/>
          </p:nvPr>
        </p:nvSpPr>
        <p:spPr/>
        <p:txBody>
          <a:bodyPr/>
          <a:lstStyle/>
          <a:p>
            <a:pPr marL="115888" marR="0" lvl="0" indent="-115888"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b="0" i="0">
                <a:effectLst/>
                <a:latin typeface="Montserrat Font" pitchFamily="2" charset="77"/>
              </a:rPr>
              <a:t>The first step will be to choose the appropriate workout for the member based on the information you received while collecting their story as well as their overall score on the High Five Assessment.</a:t>
            </a:r>
            <a:endParaRPr lang="en-US"/>
          </a:p>
          <a:p>
            <a:endParaRPr lang="en-US">
              <a:cs typeface="Calibri"/>
            </a:endParaRPr>
          </a:p>
        </p:txBody>
      </p:sp>
      <p:sp>
        <p:nvSpPr>
          <p:cNvPr id="4" name="Slide Number Placeholder 3">
            <a:extLst>
              <a:ext uri="{FF2B5EF4-FFF2-40B4-BE49-F238E27FC236}">
                <a16:creationId xmlns:a16="http://schemas.microsoft.com/office/drawing/2014/main" id="{5F3AAA46-C607-DC7B-5700-D76C714F5376}"/>
              </a:ext>
            </a:extLst>
          </p:cNvPr>
          <p:cNvSpPr>
            <a:spLocks noGrp="1"/>
          </p:cNvSpPr>
          <p:nvPr>
            <p:ph type="sldNum" sz="quarter" idx="5"/>
          </p:nvPr>
        </p:nvSpPr>
        <p:spPr/>
        <p:txBody>
          <a:bodyPr/>
          <a:lstStyle/>
          <a:p>
            <a:pPr lvl="0"/>
            <a:fld id="{FF93ABF6-B20D-447F-9BE9-9EB6AFC5D55B}" type="slidenum">
              <a:rPr lang="en-US"/>
              <a:t>13</a:t>
            </a:fld>
            <a:endParaRPr lang="en-US"/>
          </a:p>
        </p:txBody>
      </p:sp>
    </p:spTree>
    <p:extLst>
      <p:ext uri="{BB962C8B-B14F-4D97-AF65-F5344CB8AC3E}">
        <p14:creationId xmlns:p14="http://schemas.microsoft.com/office/powerpoint/2010/main" val="2428536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A64D1-01CB-8476-4F2A-0E831DF31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15C50E-F9F3-30C5-0B9C-CE2344D6BB1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A4EE3D6-FE18-0AC3-F2D4-1C8B1280B2AC}"/>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82BB898E-D7AB-2D91-0307-76FA29F43D14}"/>
              </a:ext>
            </a:extLst>
          </p:cNvPr>
          <p:cNvSpPr>
            <a:spLocks noGrp="1"/>
          </p:cNvSpPr>
          <p:nvPr>
            <p:ph type="sldNum" sz="quarter" idx="5"/>
          </p:nvPr>
        </p:nvSpPr>
        <p:spPr/>
        <p:txBody>
          <a:bodyPr/>
          <a:lstStyle/>
          <a:p>
            <a:pPr lvl="0"/>
            <a:fld id="{FF93ABF6-B20D-447F-9BE9-9EB6AFC5D55B}" type="slidenum">
              <a:rPr lang="en-US"/>
              <a:t>14</a:t>
            </a:fld>
            <a:endParaRPr lang="en-US"/>
          </a:p>
        </p:txBody>
      </p:sp>
    </p:spTree>
    <p:extLst>
      <p:ext uri="{BB962C8B-B14F-4D97-AF65-F5344CB8AC3E}">
        <p14:creationId xmlns:p14="http://schemas.microsoft.com/office/powerpoint/2010/main" val="1414598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C266F-ED10-FF74-8A9A-6AFC2EB33B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3B474-0DF9-5B0E-97F4-9017DB40C97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430D475-9F20-F61E-4652-77D0336A961C}"/>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A39883D8-355A-9B61-CCEF-E8696D7F27D1}"/>
              </a:ext>
            </a:extLst>
          </p:cNvPr>
          <p:cNvSpPr>
            <a:spLocks noGrp="1"/>
          </p:cNvSpPr>
          <p:nvPr>
            <p:ph type="sldNum" sz="quarter" idx="5"/>
          </p:nvPr>
        </p:nvSpPr>
        <p:spPr/>
        <p:txBody>
          <a:bodyPr/>
          <a:lstStyle/>
          <a:p>
            <a:pPr lvl="0"/>
            <a:fld id="{FF93ABF6-B20D-447F-9BE9-9EB6AFC5D55B}" type="slidenum">
              <a:rPr lang="en-US"/>
              <a:t>15</a:t>
            </a:fld>
            <a:endParaRPr lang="en-US"/>
          </a:p>
        </p:txBody>
      </p:sp>
    </p:spTree>
    <p:extLst>
      <p:ext uri="{BB962C8B-B14F-4D97-AF65-F5344CB8AC3E}">
        <p14:creationId xmlns:p14="http://schemas.microsoft.com/office/powerpoint/2010/main" val="1724178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0ECEC-B468-3AAE-3710-FCB3313782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AEF889-163E-15FB-15FE-78049276872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DA0A077-4600-AE73-672D-07951252625D}"/>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9CC2AA66-818A-716D-371E-201D458C7E95}"/>
              </a:ext>
            </a:extLst>
          </p:cNvPr>
          <p:cNvSpPr>
            <a:spLocks noGrp="1"/>
          </p:cNvSpPr>
          <p:nvPr>
            <p:ph type="sldNum" sz="quarter" idx="5"/>
          </p:nvPr>
        </p:nvSpPr>
        <p:spPr/>
        <p:txBody>
          <a:bodyPr/>
          <a:lstStyle/>
          <a:p>
            <a:pPr lvl="0"/>
            <a:fld id="{FF93ABF6-B20D-447F-9BE9-9EB6AFC5D55B}" type="slidenum">
              <a:rPr lang="en-US"/>
              <a:t>16</a:t>
            </a:fld>
            <a:endParaRPr lang="en-US"/>
          </a:p>
        </p:txBody>
      </p:sp>
    </p:spTree>
    <p:extLst>
      <p:ext uri="{BB962C8B-B14F-4D97-AF65-F5344CB8AC3E}">
        <p14:creationId xmlns:p14="http://schemas.microsoft.com/office/powerpoint/2010/main" val="1320548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0BFDA-CA12-2DCA-48C0-1B3B78446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41394-1E8F-742B-DE63-924611DE21B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03092FE-1444-28C0-7E0C-E46115CF0EA8}"/>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0A97103F-3DB6-BF03-0DFB-D32FA1C7CC92}"/>
              </a:ext>
            </a:extLst>
          </p:cNvPr>
          <p:cNvSpPr>
            <a:spLocks noGrp="1"/>
          </p:cNvSpPr>
          <p:nvPr>
            <p:ph type="sldNum" sz="quarter" idx="5"/>
          </p:nvPr>
        </p:nvSpPr>
        <p:spPr/>
        <p:txBody>
          <a:bodyPr/>
          <a:lstStyle/>
          <a:p>
            <a:pPr lvl="0"/>
            <a:fld id="{FF93ABF6-B20D-447F-9BE9-9EB6AFC5D55B}" type="slidenum">
              <a:rPr lang="en-US"/>
              <a:t>17</a:t>
            </a:fld>
            <a:endParaRPr lang="en-US"/>
          </a:p>
        </p:txBody>
      </p:sp>
    </p:spTree>
    <p:extLst>
      <p:ext uri="{BB962C8B-B14F-4D97-AF65-F5344CB8AC3E}">
        <p14:creationId xmlns:p14="http://schemas.microsoft.com/office/powerpoint/2010/main" val="16912751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1C72C-C5BF-E5E5-F1A7-1FB18A1EC0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E48C0-E4C8-EEDF-DB1E-9C20BCC7C26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9EAB5CE-9304-A6E5-7103-820366DC0B07}"/>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976B7EAA-9C66-EE21-372C-EB4C1B7E2994}"/>
              </a:ext>
            </a:extLst>
          </p:cNvPr>
          <p:cNvSpPr>
            <a:spLocks noGrp="1"/>
          </p:cNvSpPr>
          <p:nvPr>
            <p:ph type="sldNum" sz="quarter" idx="5"/>
          </p:nvPr>
        </p:nvSpPr>
        <p:spPr/>
        <p:txBody>
          <a:bodyPr/>
          <a:lstStyle/>
          <a:p>
            <a:pPr lvl="0"/>
            <a:fld id="{FF93ABF6-B20D-447F-9BE9-9EB6AFC5D55B}" type="slidenum">
              <a:rPr lang="en-US"/>
              <a:t>18</a:t>
            </a:fld>
            <a:endParaRPr lang="en-US"/>
          </a:p>
        </p:txBody>
      </p:sp>
    </p:spTree>
    <p:extLst>
      <p:ext uri="{BB962C8B-B14F-4D97-AF65-F5344CB8AC3E}">
        <p14:creationId xmlns:p14="http://schemas.microsoft.com/office/powerpoint/2010/main" val="42361557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145E6-C63C-F2A5-2C51-6AC5373C3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19EDC-B1B6-C2E3-EE79-78F2BF7B6E8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7D16AFD-C3CA-877A-5F10-5CAE0C1894DF}"/>
              </a:ext>
            </a:extLst>
          </p:cNvPr>
          <p:cNvSpPr>
            <a:spLocks noGrp="1"/>
          </p:cNvSpPr>
          <p:nvPr>
            <p:ph type="body" idx="1"/>
          </p:nvPr>
        </p:nvSpPr>
        <p:spPr/>
        <p:txBody>
          <a:bodyPr/>
          <a:lstStyle/>
          <a:p>
            <a:endParaRPr lang="en-US">
              <a:cs typeface="Calibri"/>
            </a:endParaRPr>
          </a:p>
        </p:txBody>
      </p:sp>
      <p:sp>
        <p:nvSpPr>
          <p:cNvPr id="4" name="Slide Number Placeholder 3">
            <a:extLst>
              <a:ext uri="{FF2B5EF4-FFF2-40B4-BE49-F238E27FC236}">
                <a16:creationId xmlns:a16="http://schemas.microsoft.com/office/drawing/2014/main" id="{D44E0A3F-BCD9-DC11-7EE4-8A31300A87E4}"/>
              </a:ext>
            </a:extLst>
          </p:cNvPr>
          <p:cNvSpPr>
            <a:spLocks noGrp="1"/>
          </p:cNvSpPr>
          <p:nvPr>
            <p:ph type="sldNum" sz="quarter" idx="5"/>
          </p:nvPr>
        </p:nvSpPr>
        <p:spPr/>
        <p:txBody>
          <a:bodyPr/>
          <a:lstStyle/>
          <a:p>
            <a:pPr lvl="0"/>
            <a:fld id="{FF93ABF6-B20D-447F-9BE9-9EB6AFC5D55B}" type="slidenum">
              <a:rPr lang="en-US"/>
              <a:t>19</a:t>
            </a:fld>
            <a:endParaRPr lang="en-US"/>
          </a:p>
        </p:txBody>
      </p:sp>
    </p:spTree>
    <p:extLst>
      <p:ext uri="{BB962C8B-B14F-4D97-AF65-F5344CB8AC3E}">
        <p14:creationId xmlns:p14="http://schemas.microsoft.com/office/powerpoint/2010/main" val="26156844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E0906-207B-8953-9645-9C003641C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F5667-66E4-57D2-5098-63C4DA2D5C8F}"/>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2C1630D7-AFDA-3B3E-D81C-36759FE1217D}"/>
              </a:ext>
            </a:extLst>
          </p:cNvPr>
          <p:cNvSpPr>
            <a:spLocks noGrp="1"/>
          </p:cNvSpPr>
          <p:nvPr>
            <p:ph type="body" idx="1"/>
          </p:nvPr>
        </p:nvSpPr>
        <p:spPr/>
        <p:txBody>
          <a:bodyPr/>
          <a:lstStyle/>
          <a:p>
            <a:r>
              <a:rPr lang="en-US" sz="1200" b="1">
                <a:solidFill>
                  <a:schemeClr val="accent4">
                    <a:lumMod val="60000"/>
                    <a:lumOff val="40000"/>
                  </a:schemeClr>
                </a:solidFill>
              </a:rPr>
              <a:t>1. One Continuum Per Pattern</a:t>
            </a:r>
            <a:endParaRPr lang="en-US" sz="1200">
              <a:solidFill>
                <a:schemeClr val="accent4">
                  <a:lumMod val="60000"/>
                  <a:lumOff val="40000"/>
                </a:schemeClr>
              </a:solidFill>
            </a:endParaRPr>
          </a:p>
          <a:p>
            <a:pPr>
              <a:buFont typeface="Arial" panose="020B0604020202020204" pitchFamily="34" charset="0"/>
              <a:buChar char="•"/>
            </a:pPr>
            <a:r>
              <a:rPr lang="en-US" sz="1100"/>
              <a:t>Each foundational movement (Squat, Hinge, Lunge, Push, Pull, Rotation) follows a </a:t>
            </a:r>
            <a:r>
              <a:rPr lang="en-US" sz="1100" b="1"/>
              <a:t>progression ladder</a:t>
            </a:r>
            <a:r>
              <a:rPr lang="en-US" sz="1100"/>
              <a:t>.</a:t>
            </a:r>
          </a:p>
          <a:p>
            <a:pPr>
              <a:buFont typeface="Arial" panose="020B0604020202020204" pitchFamily="34" charset="0"/>
              <a:buChar char="•"/>
            </a:pPr>
            <a:r>
              <a:rPr lang="en-US" sz="1100"/>
              <a:t>In AFT settings, demonstrate </a:t>
            </a:r>
            <a:r>
              <a:rPr lang="en-US" sz="1100" b="1"/>
              <a:t>1–2 baseline variations</a:t>
            </a:r>
            <a:r>
              <a:rPr lang="en-US" sz="1100"/>
              <a:t>, then direct individuals to their appropriate level.</a:t>
            </a:r>
          </a:p>
          <a:p>
            <a:endParaRPr lang="en-US"/>
          </a:p>
        </p:txBody>
      </p:sp>
      <p:sp>
        <p:nvSpPr>
          <p:cNvPr id="4" name="Slide Number Placeholder 3">
            <a:extLst>
              <a:ext uri="{FF2B5EF4-FFF2-40B4-BE49-F238E27FC236}">
                <a16:creationId xmlns:a16="http://schemas.microsoft.com/office/drawing/2014/main" id="{45FAF1C3-B2E7-0AD8-D35D-E5B5173A4F95}"/>
              </a:ext>
            </a:extLst>
          </p:cNvPr>
          <p:cNvSpPr>
            <a:spLocks noGrp="1"/>
          </p:cNvSpPr>
          <p:nvPr>
            <p:ph type="sldNum" sz="quarter" idx="5"/>
          </p:nvPr>
        </p:nvSpPr>
        <p:spPr/>
        <p:txBody>
          <a:bodyPr/>
          <a:lstStyle/>
          <a:p>
            <a:fld id="{5470BA31-47BF-48E8-B9A3-29FECAA7F110}" type="slidenum">
              <a:rPr lang="en-US" smtClean="0"/>
              <a:pPr/>
              <a:t>21</a:t>
            </a:fld>
            <a:endParaRPr lang="en-US"/>
          </a:p>
        </p:txBody>
      </p:sp>
    </p:spTree>
    <p:extLst>
      <p:ext uri="{BB962C8B-B14F-4D97-AF65-F5344CB8AC3E}">
        <p14:creationId xmlns:p14="http://schemas.microsoft.com/office/powerpoint/2010/main" val="784792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725488"/>
            <a:ext cx="5486400" cy="3086100"/>
          </a:xfrm>
        </p:spPr>
      </p:sp>
      <p:sp>
        <p:nvSpPr>
          <p:cNvPr id="3" name="Notes Placeholder 2"/>
          <p:cNvSpPr>
            <a:spLocks noGrp="1"/>
          </p:cNvSpPr>
          <p:nvPr>
            <p:ph type="body" idx="1"/>
          </p:nvPr>
        </p:nvSpPr>
        <p:spPr/>
        <p:txBody>
          <a:bodyPr/>
          <a:lstStyle/>
          <a:p>
            <a:r>
              <a:rPr lang="en-US" sz="1100"/>
              <a:t>Understanding the </a:t>
            </a:r>
            <a:r>
              <a:rPr lang="en-US" sz="1100" b="1"/>
              <a:t>complexity of movement</a:t>
            </a:r>
            <a:r>
              <a:rPr lang="en-US" sz="1100"/>
              <a:t> means recognizing that no two days feel exactly the same. Fatigue, stress, injuries, or external demands can impact how well we move, making it crucial to </a:t>
            </a:r>
            <a:r>
              <a:rPr lang="en-US" sz="1100" b="1"/>
              <a:t>adjust movement difficulty dynamically</a:t>
            </a:r>
            <a:r>
              <a:rPr lang="en-US" sz="1100"/>
              <a:t>—not just for performance goals, but to maintain </a:t>
            </a:r>
            <a:r>
              <a:rPr lang="en-US" sz="1100" b="1"/>
              <a:t>functional independence and prevent injury</a:t>
            </a:r>
            <a:r>
              <a:rPr lang="en-US" sz="1100"/>
              <a:t> as life throws new demands our way.</a:t>
            </a:r>
            <a:br>
              <a:rPr lang="en-US" sz="1100"/>
            </a:br>
            <a:br>
              <a:rPr lang="en-US" sz="1100"/>
            </a:br>
            <a:r>
              <a:rPr lang="en-US" sz="1100"/>
              <a:t>By strategically progressing or regressing movements through </a:t>
            </a:r>
            <a:r>
              <a:rPr lang="en-US" sz="1100" b="1"/>
              <a:t>load, tempo, range of motion, and body position</a:t>
            </a:r>
            <a:r>
              <a:rPr lang="en-US" sz="1100"/>
              <a:t>, we create a training framework that helps individuals </a:t>
            </a:r>
            <a:r>
              <a:rPr lang="en-US" sz="1100" b="1"/>
              <a:t>build strength where they need it, reinforce stability where they lack it, and develop movement confidence for both training and daily life.</a:t>
            </a:r>
            <a:r>
              <a:rPr lang="en-US" sz="1100"/>
              <a:t> The ability to scale exercises ensures that </a:t>
            </a:r>
            <a:r>
              <a:rPr lang="en-US" sz="1100" b="1"/>
              <a:t>everyone—regardless of age, experience, or ability—can train safely, make progress, and stay prepared for whatever life requires.</a:t>
            </a:r>
            <a:endParaRPr lang="en-US"/>
          </a:p>
        </p:txBody>
      </p:sp>
      <p:sp>
        <p:nvSpPr>
          <p:cNvPr id="4" name="Slide Number Placeholder 3"/>
          <p:cNvSpPr>
            <a:spLocks noGrp="1"/>
          </p:cNvSpPr>
          <p:nvPr>
            <p:ph type="sldNum" sz="quarter" idx="5"/>
          </p:nvPr>
        </p:nvSpPr>
        <p:spPr/>
        <p:txBody>
          <a:bodyPr/>
          <a:lstStyle/>
          <a:p>
            <a:fld id="{5470BA31-47BF-48E8-B9A3-29FECAA7F110}" type="slidenum">
              <a:rPr lang="en-US" smtClean="0"/>
              <a:pPr/>
              <a:t>23</a:t>
            </a:fld>
            <a:endParaRPr lang="en-US"/>
          </a:p>
        </p:txBody>
      </p:sp>
    </p:spTree>
    <p:extLst>
      <p:ext uri="{BB962C8B-B14F-4D97-AF65-F5344CB8AC3E}">
        <p14:creationId xmlns:p14="http://schemas.microsoft.com/office/powerpoint/2010/main" val="3848693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725488"/>
            <a:ext cx="5486400" cy="3086100"/>
          </a:xfrm>
        </p:spPr>
      </p:sp>
      <p:sp>
        <p:nvSpPr>
          <p:cNvPr id="3" name="Notes Placeholder 2"/>
          <p:cNvSpPr>
            <a:spLocks noGrp="1"/>
          </p:cNvSpPr>
          <p:nvPr>
            <p:ph type="body" idx="1"/>
          </p:nvPr>
        </p:nvSpPr>
        <p:spPr/>
        <p:txBody>
          <a:bodyPr/>
          <a:lstStyle/>
          <a:p>
            <a:pPr marL="0" indent="0">
              <a:lnSpc>
                <a:spcPct val="100000"/>
              </a:lnSpc>
              <a:buNone/>
            </a:pPr>
            <a:r>
              <a:rPr lang="en-US" sz="1100" b="1"/>
              <a:t>BENEFITS:</a:t>
            </a:r>
          </a:p>
          <a:p>
            <a:pPr marL="0" indent="0">
              <a:lnSpc>
                <a:spcPct val="100000"/>
              </a:lnSpc>
              <a:buNone/>
            </a:pPr>
            <a:r>
              <a:rPr lang="en-US" sz="1100"/>
              <a:t>Develops upper-body pushing strength Improves shoulder and chest musculature Enhances core stability when performed with proper bracing (e.g., push-ups). </a:t>
            </a:r>
            <a:r>
              <a:rPr lang="en-US" sz="1100" i="1"/>
              <a:t>Upper-body pushing strength is critical for daily activities like pushing doors, lifting objects, or maintaining shoulder health and posture. Stability in pressing movements prevents compensations that can lead to shoulder strain. </a:t>
            </a:r>
            <a:endParaRPr lang="en-US" sz="1100" b="1"/>
          </a:p>
          <a:p>
            <a:pPr marL="0" indent="0">
              <a:lnSpc>
                <a:spcPct val="100000"/>
              </a:lnSpc>
              <a:buNone/>
            </a:pPr>
            <a:r>
              <a:rPr lang="en-US" sz="1100" b="1"/>
              <a:t>PRIME MOVERS:</a:t>
            </a:r>
          </a:p>
          <a:p>
            <a:pPr marL="0" indent="0">
              <a:lnSpc>
                <a:spcPct val="100000"/>
              </a:lnSpc>
              <a:buNone/>
            </a:pPr>
            <a:r>
              <a:rPr lang="en-US" sz="1100"/>
              <a:t>Pectoralis major, anterior deltoids, triceps brachii </a:t>
            </a:r>
            <a:endParaRPr lang="en-US" sz="1100" b="1"/>
          </a:p>
          <a:p>
            <a:endParaRPr lang="en-US"/>
          </a:p>
        </p:txBody>
      </p:sp>
      <p:sp>
        <p:nvSpPr>
          <p:cNvPr id="4" name="Slide Number Placeholder 3"/>
          <p:cNvSpPr>
            <a:spLocks noGrp="1"/>
          </p:cNvSpPr>
          <p:nvPr>
            <p:ph type="sldNum" sz="quarter" idx="5"/>
          </p:nvPr>
        </p:nvSpPr>
        <p:spPr/>
        <p:txBody>
          <a:bodyPr/>
          <a:lstStyle/>
          <a:p>
            <a:fld id="{5470BA31-47BF-48E8-B9A3-29FECAA7F110}" type="slidenum">
              <a:rPr lang="en-US" smtClean="0"/>
              <a:pPr/>
              <a:t>34</a:t>
            </a:fld>
            <a:endParaRPr lang="en-US"/>
          </a:p>
        </p:txBody>
      </p:sp>
    </p:spTree>
    <p:extLst>
      <p:ext uri="{BB962C8B-B14F-4D97-AF65-F5344CB8AC3E}">
        <p14:creationId xmlns:p14="http://schemas.microsoft.com/office/powerpoint/2010/main" val="1476397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5FB98-0B18-81CB-6175-ED0A22C8F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CD2E63-F121-B9E3-76F8-0682E82E2258}"/>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282E263D-B449-C492-7BC1-436ADBC720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A0882F-7261-9D7F-3619-2D8AE8034661}"/>
              </a:ext>
            </a:extLst>
          </p:cNvPr>
          <p:cNvSpPr>
            <a:spLocks noGrp="1"/>
          </p:cNvSpPr>
          <p:nvPr>
            <p:ph type="sldNum" sz="quarter" idx="5"/>
          </p:nvPr>
        </p:nvSpPr>
        <p:spPr/>
        <p:txBody>
          <a:bodyPr/>
          <a:lstStyle/>
          <a:p>
            <a:fld id="{5470BA31-47BF-48E8-B9A3-29FECAA7F110}" type="slidenum">
              <a:rPr lang="en-US" smtClean="0"/>
              <a:pPr/>
              <a:t>35</a:t>
            </a:fld>
            <a:endParaRPr lang="en-US"/>
          </a:p>
        </p:txBody>
      </p:sp>
    </p:spTree>
    <p:extLst>
      <p:ext uri="{BB962C8B-B14F-4D97-AF65-F5344CB8AC3E}">
        <p14:creationId xmlns:p14="http://schemas.microsoft.com/office/powerpoint/2010/main" val="2673392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51A53-3390-21D2-8204-B2A5C0128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F76E6-3C1D-C1BC-B8FC-A85718AFCFE9}"/>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4720D046-CFAB-2D1D-EE85-9D7D9BC1267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2C9E8C-5859-3001-257F-361351ADD034}"/>
              </a:ext>
            </a:extLst>
          </p:cNvPr>
          <p:cNvSpPr>
            <a:spLocks noGrp="1"/>
          </p:cNvSpPr>
          <p:nvPr>
            <p:ph type="sldNum" sz="quarter" idx="5"/>
          </p:nvPr>
        </p:nvSpPr>
        <p:spPr/>
        <p:txBody>
          <a:bodyPr/>
          <a:lstStyle/>
          <a:p>
            <a:fld id="{5470BA31-47BF-48E8-B9A3-29FECAA7F110}" type="slidenum">
              <a:rPr lang="en-US" smtClean="0"/>
              <a:pPr/>
              <a:t>36</a:t>
            </a:fld>
            <a:endParaRPr lang="en-US"/>
          </a:p>
        </p:txBody>
      </p:sp>
    </p:spTree>
    <p:extLst>
      <p:ext uri="{BB962C8B-B14F-4D97-AF65-F5344CB8AC3E}">
        <p14:creationId xmlns:p14="http://schemas.microsoft.com/office/powerpoint/2010/main" val="19123068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C1A2E-DB60-4BCA-E73A-DE5D26BD0C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8F5A3-1224-E272-5FA2-D7B2D6FBB121}"/>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DCAE41A2-E8E8-9630-EA17-C1F55D06C552}"/>
              </a:ext>
            </a:extLst>
          </p:cNvPr>
          <p:cNvSpPr>
            <a:spLocks noGrp="1"/>
          </p:cNvSpPr>
          <p:nvPr>
            <p:ph type="body" idx="1"/>
          </p:nvPr>
        </p:nvSpPr>
        <p:spPr/>
        <p:txBody>
          <a:bodyPr/>
          <a:lstStyle/>
          <a:p>
            <a:pPr marL="0" indent="0">
              <a:buNone/>
            </a:pPr>
            <a:r>
              <a:rPr lang="en-US" sz="1600" b="1">
                <a:solidFill>
                  <a:schemeClr val="accent3">
                    <a:lumMod val="60000"/>
                    <a:lumOff val="40000"/>
                  </a:schemeClr>
                </a:solidFill>
                <a:ea typeface="+mn-lt"/>
                <a:cs typeface="+mn-lt"/>
              </a:rPr>
              <a:t>BENEFITS:</a:t>
            </a:r>
          </a:p>
          <a:p>
            <a:pPr marL="0" indent="0">
              <a:buNone/>
            </a:pPr>
            <a:r>
              <a:rPr lang="en-US" sz="1100"/>
              <a:t>Builds overhead strength and shoulder stability Improves scapular upward rotation (healthy overhead mechanics) Reinforces core engagement under a vertical load. </a:t>
            </a:r>
            <a:r>
              <a:rPr lang="en-US" sz="1100" i="1"/>
              <a:t>Overhead pressing is essential for real-world tasks like lifting objects onto shelves, stabilizing loads overhead, and maintaining strong, mobile shoulders. Proper execution prevents compensations that stress the lower back or rotator cuff.</a:t>
            </a:r>
            <a:endParaRPr lang="en-US" sz="1100" b="1">
              <a:ea typeface="+mn-lt"/>
              <a:cs typeface="+mn-lt"/>
            </a:endParaRPr>
          </a:p>
          <a:p>
            <a:pPr marL="0" indent="0">
              <a:buNone/>
            </a:pPr>
            <a:r>
              <a:rPr lang="en-US" sz="1600" b="1">
                <a:ea typeface="+mn-lt"/>
                <a:cs typeface="+mn-lt"/>
              </a:rPr>
              <a:t>PRIME MOVERS:</a:t>
            </a:r>
          </a:p>
          <a:p>
            <a:pPr marL="0" indent="0">
              <a:buNone/>
            </a:pPr>
            <a:r>
              <a:rPr lang="en-US" sz="1100"/>
              <a:t>Deltoids (especially anterior/lateral), upper trapezius (stabilizer), triceps brachii </a:t>
            </a:r>
            <a:endParaRPr lang="en-US" sz="1100" b="1"/>
          </a:p>
          <a:p>
            <a:endParaRPr lang="en-US"/>
          </a:p>
        </p:txBody>
      </p:sp>
      <p:sp>
        <p:nvSpPr>
          <p:cNvPr id="4" name="Slide Number Placeholder 3">
            <a:extLst>
              <a:ext uri="{FF2B5EF4-FFF2-40B4-BE49-F238E27FC236}">
                <a16:creationId xmlns:a16="http://schemas.microsoft.com/office/drawing/2014/main" id="{6D3EC692-0B49-53B6-99C7-BEFA882DAD67}"/>
              </a:ext>
            </a:extLst>
          </p:cNvPr>
          <p:cNvSpPr>
            <a:spLocks noGrp="1"/>
          </p:cNvSpPr>
          <p:nvPr>
            <p:ph type="sldNum" sz="quarter" idx="5"/>
          </p:nvPr>
        </p:nvSpPr>
        <p:spPr/>
        <p:txBody>
          <a:bodyPr/>
          <a:lstStyle/>
          <a:p>
            <a:fld id="{5470BA31-47BF-48E8-B9A3-29FECAA7F110}" type="slidenum">
              <a:rPr lang="en-US" smtClean="0"/>
              <a:pPr/>
              <a:t>37</a:t>
            </a:fld>
            <a:endParaRPr lang="en-US"/>
          </a:p>
        </p:txBody>
      </p:sp>
    </p:spTree>
    <p:extLst>
      <p:ext uri="{BB962C8B-B14F-4D97-AF65-F5344CB8AC3E}">
        <p14:creationId xmlns:p14="http://schemas.microsoft.com/office/powerpoint/2010/main" val="5823208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A1B62-4BB7-6793-0CDC-6A0A95893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908D0E-465B-22BC-1867-76017F70BB06}"/>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24F94580-7DDF-2C4D-0AF3-5EC1D78B48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A93787-9EF7-B692-936B-EAF239F29CA3}"/>
              </a:ext>
            </a:extLst>
          </p:cNvPr>
          <p:cNvSpPr>
            <a:spLocks noGrp="1"/>
          </p:cNvSpPr>
          <p:nvPr>
            <p:ph type="sldNum" sz="quarter" idx="5"/>
          </p:nvPr>
        </p:nvSpPr>
        <p:spPr/>
        <p:txBody>
          <a:bodyPr/>
          <a:lstStyle/>
          <a:p>
            <a:fld id="{5470BA31-47BF-48E8-B9A3-29FECAA7F110}" type="slidenum">
              <a:rPr lang="en-US" smtClean="0"/>
              <a:pPr/>
              <a:t>38</a:t>
            </a:fld>
            <a:endParaRPr lang="en-US"/>
          </a:p>
        </p:txBody>
      </p:sp>
    </p:spTree>
    <p:extLst>
      <p:ext uri="{BB962C8B-B14F-4D97-AF65-F5344CB8AC3E}">
        <p14:creationId xmlns:p14="http://schemas.microsoft.com/office/powerpoint/2010/main" val="22358370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09A59-6C67-E4D1-519E-3B8D041FA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1860E1-E6CA-6C6D-E235-F6A0776C6811}"/>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85F5DD1F-7129-CC56-9AA4-662E74F8D5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1CB5FD-97E6-D5BD-7219-797DFA4ED378}"/>
              </a:ext>
            </a:extLst>
          </p:cNvPr>
          <p:cNvSpPr>
            <a:spLocks noGrp="1"/>
          </p:cNvSpPr>
          <p:nvPr>
            <p:ph type="sldNum" sz="quarter" idx="5"/>
          </p:nvPr>
        </p:nvSpPr>
        <p:spPr/>
        <p:txBody>
          <a:bodyPr/>
          <a:lstStyle/>
          <a:p>
            <a:fld id="{5470BA31-47BF-48E8-B9A3-29FECAA7F110}" type="slidenum">
              <a:rPr lang="en-US" smtClean="0"/>
              <a:pPr/>
              <a:t>39</a:t>
            </a:fld>
            <a:endParaRPr lang="en-US"/>
          </a:p>
        </p:txBody>
      </p:sp>
    </p:spTree>
    <p:extLst>
      <p:ext uri="{BB962C8B-B14F-4D97-AF65-F5344CB8AC3E}">
        <p14:creationId xmlns:p14="http://schemas.microsoft.com/office/powerpoint/2010/main" val="39140263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4A037-ADE7-27FF-3B16-A9862C6B42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69DAEC-BB9C-A0F2-A5D8-4040DCB7EAA8}"/>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91A62C0A-9A68-1FB5-906E-95953010BAB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8BBA02-2505-378A-3CF5-C596B389D45C}"/>
              </a:ext>
            </a:extLst>
          </p:cNvPr>
          <p:cNvSpPr>
            <a:spLocks noGrp="1"/>
          </p:cNvSpPr>
          <p:nvPr>
            <p:ph type="sldNum" sz="quarter" idx="5"/>
          </p:nvPr>
        </p:nvSpPr>
        <p:spPr/>
        <p:txBody>
          <a:bodyPr/>
          <a:lstStyle/>
          <a:p>
            <a:fld id="{5470BA31-47BF-48E8-B9A3-29FECAA7F110}" type="slidenum">
              <a:rPr lang="en-US" smtClean="0"/>
              <a:pPr/>
              <a:t>40</a:t>
            </a:fld>
            <a:endParaRPr lang="en-US"/>
          </a:p>
        </p:txBody>
      </p:sp>
    </p:spTree>
    <p:extLst>
      <p:ext uri="{BB962C8B-B14F-4D97-AF65-F5344CB8AC3E}">
        <p14:creationId xmlns:p14="http://schemas.microsoft.com/office/powerpoint/2010/main" val="30422613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370BD-88E7-C473-76A8-391595C71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22A8D-160A-434A-3DA9-4FB0FDB4A0E7}"/>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B1313D66-43CF-B4BE-90FC-90251148BB5A}"/>
              </a:ext>
            </a:extLst>
          </p:cNvPr>
          <p:cNvSpPr>
            <a:spLocks noGrp="1"/>
          </p:cNvSpPr>
          <p:nvPr>
            <p:ph type="body" idx="1"/>
          </p:nvPr>
        </p:nvSpPr>
        <p:spPr/>
        <p:txBody>
          <a:bodyPr/>
          <a:lstStyle/>
          <a:p>
            <a:pPr marL="0" indent="0">
              <a:lnSpc>
                <a:spcPct val="100000"/>
              </a:lnSpc>
              <a:buNone/>
            </a:pPr>
            <a:r>
              <a:rPr lang="en-US" sz="1100" b="1"/>
              <a:t>BENEFITS:</a:t>
            </a:r>
          </a:p>
          <a:p>
            <a:pPr marL="0" indent="0">
              <a:lnSpc>
                <a:spcPct val="100000"/>
              </a:lnSpc>
              <a:buNone/>
            </a:pPr>
            <a:r>
              <a:rPr lang="en-US" sz="1100"/>
              <a:t>Strengthens the posterior chain to prevent low-back injuries Trains safe hip-dominant movement patterns for lifting objects off the ground Builds powerful glutes and hamstrings, enhancing athletic performance. </a:t>
            </a:r>
            <a:r>
              <a:rPr lang="en-US" sz="1100" i="1"/>
              <a:t>A strong hinge pattern is essential for real-life tasks like picking up heavy objects, jumping explosively, or preventing low-back injuries by training hip-driven movement instead of lumbar compensation.</a:t>
            </a:r>
            <a:endParaRPr lang="en-US" sz="1100" b="1"/>
          </a:p>
          <a:p>
            <a:pPr marL="0" indent="0">
              <a:lnSpc>
                <a:spcPct val="100000"/>
              </a:lnSpc>
              <a:buNone/>
            </a:pPr>
            <a:r>
              <a:rPr lang="en-US" sz="1100" b="1"/>
              <a:t>PRIME MOVERS:</a:t>
            </a:r>
          </a:p>
          <a:p>
            <a:endParaRPr lang="en-US"/>
          </a:p>
        </p:txBody>
      </p:sp>
      <p:sp>
        <p:nvSpPr>
          <p:cNvPr id="4" name="Slide Number Placeholder 3">
            <a:extLst>
              <a:ext uri="{FF2B5EF4-FFF2-40B4-BE49-F238E27FC236}">
                <a16:creationId xmlns:a16="http://schemas.microsoft.com/office/drawing/2014/main" id="{00D4BE24-949E-AD7C-9338-A53ACE528B10}"/>
              </a:ext>
            </a:extLst>
          </p:cNvPr>
          <p:cNvSpPr>
            <a:spLocks noGrp="1"/>
          </p:cNvSpPr>
          <p:nvPr>
            <p:ph type="sldNum" sz="quarter" idx="5"/>
          </p:nvPr>
        </p:nvSpPr>
        <p:spPr/>
        <p:txBody>
          <a:bodyPr/>
          <a:lstStyle/>
          <a:p>
            <a:fld id="{5470BA31-47BF-48E8-B9A3-29FECAA7F110}" type="slidenum">
              <a:rPr lang="en-US" smtClean="0"/>
              <a:pPr/>
              <a:t>41</a:t>
            </a:fld>
            <a:endParaRPr lang="en-US"/>
          </a:p>
        </p:txBody>
      </p:sp>
    </p:spTree>
    <p:extLst>
      <p:ext uri="{BB962C8B-B14F-4D97-AF65-F5344CB8AC3E}">
        <p14:creationId xmlns:p14="http://schemas.microsoft.com/office/powerpoint/2010/main" val="1095868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72542-0E81-A555-9190-4DDA35DE71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CCFD3-BFBB-D273-75F7-15E1A3531EBA}"/>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8B5D33BA-02BC-0342-85DB-B178402E37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3FD73B-7EE8-9408-A7E1-B1D92A5B3FF4}"/>
              </a:ext>
            </a:extLst>
          </p:cNvPr>
          <p:cNvSpPr>
            <a:spLocks noGrp="1"/>
          </p:cNvSpPr>
          <p:nvPr>
            <p:ph type="sldNum" sz="quarter" idx="5"/>
          </p:nvPr>
        </p:nvSpPr>
        <p:spPr/>
        <p:txBody>
          <a:bodyPr/>
          <a:lstStyle/>
          <a:p>
            <a:fld id="{5470BA31-47BF-48E8-B9A3-29FECAA7F110}" type="slidenum">
              <a:rPr lang="en-US" smtClean="0"/>
              <a:pPr/>
              <a:t>42</a:t>
            </a:fld>
            <a:endParaRPr lang="en-US"/>
          </a:p>
        </p:txBody>
      </p:sp>
    </p:spTree>
    <p:extLst>
      <p:ext uri="{BB962C8B-B14F-4D97-AF65-F5344CB8AC3E}">
        <p14:creationId xmlns:p14="http://schemas.microsoft.com/office/powerpoint/2010/main" val="5960523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B1046-E706-3A53-62BB-EE995E2D4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04C03-CB5B-272A-827D-79034F4D7B44}"/>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8D7C8977-C268-B560-1591-2B2863737E3E}"/>
              </a:ext>
            </a:extLst>
          </p:cNvPr>
          <p:cNvSpPr>
            <a:spLocks noGrp="1"/>
          </p:cNvSpPr>
          <p:nvPr>
            <p:ph type="body" idx="1"/>
          </p:nvPr>
        </p:nvSpPr>
        <p:spPr/>
        <p:txBody>
          <a:bodyPr/>
          <a:lstStyle/>
          <a:p>
            <a:pPr marL="0" indent="0">
              <a:lnSpc>
                <a:spcPct val="100000"/>
              </a:lnSpc>
              <a:buNone/>
            </a:pPr>
            <a:r>
              <a:rPr lang="en-US" sz="1100" b="1"/>
              <a:t>BENEFITS:</a:t>
            </a:r>
          </a:p>
          <a:p>
            <a:pPr marL="0" indent="0">
              <a:lnSpc>
                <a:spcPct val="100000"/>
              </a:lnSpc>
              <a:buNone/>
            </a:pPr>
            <a:r>
              <a:rPr lang="en-US" sz="1100"/>
              <a:t>Enhances lower-body strength and hypertrophy Boosts functional mobility (e.g., getting up from a chair) Strengthens knee and hip extensors for daily tasks and athletic performance. </a:t>
            </a:r>
            <a:r>
              <a:rPr lang="en-US" sz="1100" i="1"/>
              <a:t>Squatting is one of the most fundamental human movement patterns, essential for daily tasks like sitting, standing, lifting, and athletic performance. Strengthening the squat improves lower-body power, joint health, and injury resilience.</a:t>
            </a:r>
            <a:endParaRPr lang="en-US" sz="1100" b="1"/>
          </a:p>
          <a:p>
            <a:pPr marL="0" indent="0">
              <a:lnSpc>
                <a:spcPct val="100000"/>
              </a:lnSpc>
              <a:buNone/>
            </a:pPr>
            <a:r>
              <a:rPr lang="en-US" sz="1100" b="1"/>
              <a:t>PRIME MOVERS:</a:t>
            </a:r>
          </a:p>
          <a:p>
            <a:endParaRPr lang="en-US"/>
          </a:p>
        </p:txBody>
      </p:sp>
      <p:sp>
        <p:nvSpPr>
          <p:cNvPr id="4" name="Slide Number Placeholder 3">
            <a:extLst>
              <a:ext uri="{FF2B5EF4-FFF2-40B4-BE49-F238E27FC236}">
                <a16:creationId xmlns:a16="http://schemas.microsoft.com/office/drawing/2014/main" id="{9BD2ACE8-C554-8E0E-BEEB-D473DA5E543D}"/>
              </a:ext>
            </a:extLst>
          </p:cNvPr>
          <p:cNvSpPr>
            <a:spLocks noGrp="1"/>
          </p:cNvSpPr>
          <p:nvPr>
            <p:ph type="sldNum" sz="quarter" idx="5"/>
          </p:nvPr>
        </p:nvSpPr>
        <p:spPr/>
        <p:txBody>
          <a:bodyPr/>
          <a:lstStyle/>
          <a:p>
            <a:fld id="{5470BA31-47BF-48E8-B9A3-29FECAA7F110}" type="slidenum">
              <a:rPr lang="en-US" smtClean="0"/>
              <a:pPr/>
              <a:t>43</a:t>
            </a:fld>
            <a:endParaRPr lang="en-US"/>
          </a:p>
        </p:txBody>
      </p:sp>
    </p:spTree>
    <p:extLst>
      <p:ext uri="{BB962C8B-B14F-4D97-AF65-F5344CB8AC3E}">
        <p14:creationId xmlns:p14="http://schemas.microsoft.com/office/powerpoint/2010/main" val="19507130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02A8D-BC75-852D-2365-A6114BEE2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4A479-1951-C9D3-540B-7857F51B06A1}"/>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6846007B-2EC0-64E5-E9CD-6BDFBFBDB7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3D879B-CC53-3581-0854-A141913A462C}"/>
              </a:ext>
            </a:extLst>
          </p:cNvPr>
          <p:cNvSpPr>
            <a:spLocks noGrp="1"/>
          </p:cNvSpPr>
          <p:nvPr>
            <p:ph type="sldNum" sz="quarter" idx="5"/>
          </p:nvPr>
        </p:nvSpPr>
        <p:spPr/>
        <p:txBody>
          <a:bodyPr/>
          <a:lstStyle/>
          <a:p>
            <a:fld id="{5470BA31-47BF-48E8-B9A3-29FECAA7F110}" type="slidenum">
              <a:rPr lang="en-US" smtClean="0"/>
              <a:pPr/>
              <a:t>44</a:t>
            </a:fld>
            <a:endParaRPr lang="en-US"/>
          </a:p>
        </p:txBody>
      </p:sp>
    </p:spTree>
    <p:extLst>
      <p:ext uri="{BB962C8B-B14F-4D97-AF65-F5344CB8AC3E}">
        <p14:creationId xmlns:p14="http://schemas.microsoft.com/office/powerpoint/2010/main" val="1517177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13286-01AB-7AB9-2669-553C7147A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7EC22-BB70-9BC8-F092-B74E5AF840DC}"/>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9C566FAF-1660-DF48-E762-2B5B1E6AA29E}"/>
              </a:ext>
            </a:extLst>
          </p:cNvPr>
          <p:cNvSpPr>
            <a:spLocks noGrp="1"/>
          </p:cNvSpPr>
          <p:nvPr>
            <p:ph type="body" idx="1"/>
          </p:nvPr>
        </p:nvSpPr>
        <p:spPr/>
        <p:txBody>
          <a:bodyPr/>
          <a:lstStyle/>
          <a:p>
            <a:pPr marL="115888" marR="0" lvl="0" indent="-115888"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100"/>
              <a:t>Quadriceps, gluteus maximus, adductors; core stabilizers support the spine </a:t>
            </a:r>
            <a:endParaRPr lang="en-US" sz="1100" b="1"/>
          </a:p>
          <a:p>
            <a:endParaRPr lang="en-US"/>
          </a:p>
        </p:txBody>
      </p:sp>
      <p:sp>
        <p:nvSpPr>
          <p:cNvPr id="4" name="Slide Number Placeholder 3">
            <a:extLst>
              <a:ext uri="{FF2B5EF4-FFF2-40B4-BE49-F238E27FC236}">
                <a16:creationId xmlns:a16="http://schemas.microsoft.com/office/drawing/2014/main" id="{858AAB3F-C2C4-E240-E8ED-F338EB80895B}"/>
              </a:ext>
            </a:extLst>
          </p:cNvPr>
          <p:cNvSpPr>
            <a:spLocks noGrp="1"/>
          </p:cNvSpPr>
          <p:nvPr>
            <p:ph type="sldNum" sz="quarter" idx="5"/>
          </p:nvPr>
        </p:nvSpPr>
        <p:spPr/>
        <p:txBody>
          <a:bodyPr/>
          <a:lstStyle/>
          <a:p>
            <a:fld id="{5470BA31-47BF-48E8-B9A3-29FECAA7F110}" type="slidenum">
              <a:rPr lang="en-US" smtClean="0"/>
              <a:pPr/>
              <a:t>45</a:t>
            </a:fld>
            <a:endParaRPr lang="en-US"/>
          </a:p>
        </p:txBody>
      </p:sp>
    </p:spTree>
    <p:extLst>
      <p:ext uri="{BB962C8B-B14F-4D97-AF65-F5344CB8AC3E}">
        <p14:creationId xmlns:p14="http://schemas.microsoft.com/office/powerpoint/2010/main" val="1035084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DFDEB-F68F-8D83-1E29-41025C942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66A388-AC2A-936E-610C-4EB66F3D01B5}"/>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7494A403-FA67-1BB6-9F76-2A03199999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B82218-5249-5A42-A12C-89ED2CCE91E0}"/>
              </a:ext>
            </a:extLst>
          </p:cNvPr>
          <p:cNvSpPr>
            <a:spLocks noGrp="1"/>
          </p:cNvSpPr>
          <p:nvPr>
            <p:ph type="sldNum" sz="quarter" idx="5"/>
          </p:nvPr>
        </p:nvSpPr>
        <p:spPr/>
        <p:txBody>
          <a:bodyPr/>
          <a:lstStyle/>
          <a:p>
            <a:fld id="{5470BA31-47BF-48E8-B9A3-29FECAA7F110}" type="slidenum">
              <a:rPr lang="en-US" smtClean="0"/>
              <a:pPr/>
              <a:t>46</a:t>
            </a:fld>
            <a:endParaRPr lang="en-US"/>
          </a:p>
        </p:txBody>
      </p:sp>
    </p:spTree>
    <p:extLst>
      <p:ext uri="{BB962C8B-B14F-4D97-AF65-F5344CB8AC3E}">
        <p14:creationId xmlns:p14="http://schemas.microsoft.com/office/powerpoint/2010/main" val="36544570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F95DE-134D-017F-2F65-F55BB64410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BE19D-6164-F31F-C1C4-9514498B5920}"/>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283C3E47-170A-767C-CB13-FD0456362A50}"/>
              </a:ext>
            </a:extLst>
          </p:cNvPr>
          <p:cNvSpPr>
            <a:spLocks noGrp="1"/>
          </p:cNvSpPr>
          <p:nvPr>
            <p:ph type="body" idx="1"/>
          </p:nvPr>
        </p:nvSpPr>
        <p:spPr/>
        <p:txBody>
          <a:bodyPr/>
          <a:lstStyle/>
          <a:p>
            <a:pPr marL="0" indent="0">
              <a:lnSpc>
                <a:spcPct val="100000"/>
              </a:lnSpc>
              <a:buNone/>
            </a:pPr>
            <a:r>
              <a:rPr lang="en-US" sz="1100" b="1"/>
              <a:t>BENEFITS:</a:t>
            </a:r>
          </a:p>
          <a:p>
            <a:pPr marL="0" indent="0">
              <a:lnSpc>
                <a:spcPct val="100000"/>
              </a:lnSpc>
              <a:buNone/>
            </a:pPr>
            <a:r>
              <a:rPr lang="en-US" sz="1100"/>
              <a:t>Strengthens the upper back for better posture Improves scapular retraction and shoulder stability Balances out pressing movements to reduce injury risk. </a:t>
            </a:r>
            <a:r>
              <a:rPr lang="en-US" sz="1100" i="1"/>
              <a:t>Pulling movements are essential for maintaining </a:t>
            </a:r>
            <a:r>
              <a:rPr lang="en-US" sz="1100" b="1" i="1"/>
              <a:t>posture, shoulder stability, and spinal alignment.</a:t>
            </a:r>
            <a:r>
              <a:rPr lang="en-US" sz="1100" i="1"/>
              <a:t> Strengthening the upper back counteracts pressing movements, preventing imbalances and reducing injury risk.</a:t>
            </a:r>
            <a:endParaRPr lang="en-US" sz="1100" b="1"/>
          </a:p>
          <a:p>
            <a:endParaRPr lang="en-US"/>
          </a:p>
        </p:txBody>
      </p:sp>
      <p:sp>
        <p:nvSpPr>
          <p:cNvPr id="4" name="Slide Number Placeholder 3">
            <a:extLst>
              <a:ext uri="{FF2B5EF4-FFF2-40B4-BE49-F238E27FC236}">
                <a16:creationId xmlns:a16="http://schemas.microsoft.com/office/drawing/2014/main" id="{8FBADFDF-9675-B7A9-7FEC-620A0E76E90A}"/>
              </a:ext>
            </a:extLst>
          </p:cNvPr>
          <p:cNvSpPr>
            <a:spLocks noGrp="1"/>
          </p:cNvSpPr>
          <p:nvPr>
            <p:ph type="sldNum" sz="quarter" idx="5"/>
          </p:nvPr>
        </p:nvSpPr>
        <p:spPr/>
        <p:txBody>
          <a:bodyPr/>
          <a:lstStyle/>
          <a:p>
            <a:fld id="{5470BA31-47BF-48E8-B9A3-29FECAA7F110}" type="slidenum">
              <a:rPr lang="en-US" smtClean="0"/>
              <a:pPr/>
              <a:t>47</a:t>
            </a:fld>
            <a:endParaRPr lang="en-US"/>
          </a:p>
        </p:txBody>
      </p:sp>
    </p:spTree>
    <p:extLst>
      <p:ext uri="{BB962C8B-B14F-4D97-AF65-F5344CB8AC3E}">
        <p14:creationId xmlns:p14="http://schemas.microsoft.com/office/powerpoint/2010/main" val="31231354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5DE18-7906-A6EB-05AA-5FC15C9A7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00306-4042-D019-2F65-210BE1E71DBE}"/>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4E4A6D32-EB68-A061-1B90-12B7B0880091}"/>
              </a:ext>
            </a:extLst>
          </p:cNvPr>
          <p:cNvSpPr>
            <a:spLocks noGrp="1"/>
          </p:cNvSpPr>
          <p:nvPr>
            <p:ph type="body" idx="1"/>
          </p:nvPr>
        </p:nvSpPr>
        <p:spPr/>
        <p:txBody>
          <a:bodyPr/>
          <a:lstStyle/>
          <a:p>
            <a:pPr marL="0" indent="0">
              <a:lnSpc>
                <a:spcPct val="100000"/>
              </a:lnSpc>
              <a:buNone/>
            </a:pPr>
            <a:r>
              <a:rPr lang="en-US" sz="1100" b="1"/>
              <a:t>PRIME MOVERS:</a:t>
            </a:r>
          </a:p>
          <a:p>
            <a:pPr marL="0" indent="0">
              <a:lnSpc>
                <a:spcPct val="100000"/>
              </a:lnSpc>
              <a:buNone/>
            </a:pPr>
            <a:r>
              <a:rPr lang="en-US" sz="1100"/>
              <a:t>Latissimus dorsi, rhomboids, trapezius (mid/low), posterior deltoids, biceps </a:t>
            </a:r>
            <a:endParaRPr lang="en-US" sz="1100" b="1"/>
          </a:p>
          <a:p>
            <a:endParaRPr lang="en-US"/>
          </a:p>
        </p:txBody>
      </p:sp>
      <p:sp>
        <p:nvSpPr>
          <p:cNvPr id="4" name="Slide Number Placeholder 3">
            <a:extLst>
              <a:ext uri="{FF2B5EF4-FFF2-40B4-BE49-F238E27FC236}">
                <a16:creationId xmlns:a16="http://schemas.microsoft.com/office/drawing/2014/main" id="{0B8F58DB-649B-540D-9D3E-AD694F22334A}"/>
              </a:ext>
            </a:extLst>
          </p:cNvPr>
          <p:cNvSpPr>
            <a:spLocks noGrp="1"/>
          </p:cNvSpPr>
          <p:nvPr>
            <p:ph type="sldNum" sz="quarter" idx="5"/>
          </p:nvPr>
        </p:nvSpPr>
        <p:spPr/>
        <p:txBody>
          <a:bodyPr/>
          <a:lstStyle/>
          <a:p>
            <a:fld id="{5470BA31-47BF-48E8-B9A3-29FECAA7F110}" type="slidenum">
              <a:rPr lang="en-US" smtClean="0"/>
              <a:pPr/>
              <a:t>48</a:t>
            </a:fld>
            <a:endParaRPr lang="en-US"/>
          </a:p>
        </p:txBody>
      </p:sp>
    </p:spTree>
    <p:extLst>
      <p:ext uri="{BB962C8B-B14F-4D97-AF65-F5344CB8AC3E}">
        <p14:creationId xmlns:p14="http://schemas.microsoft.com/office/powerpoint/2010/main" val="41159637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9D8F4-74E7-49AC-52C3-D53161D0E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56C62B-AB21-C19C-DFA8-1E7827EE417D}"/>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EF6538AF-675D-8998-40EB-9D21F2CC2A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49965C2-5B8E-3A42-DDA3-A2C3C355D8C2}"/>
              </a:ext>
            </a:extLst>
          </p:cNvPr>
          <p:cNvSpPr>
            <a:spLocks noGrp="1"/>
          </p:cNvSpPr>
          <p:nvPr>
            <p:ph type="sldNum" sz="quarter" idx="5"/>
          </p:nvPr>
        </p:nvSpPr>
        <p:spPr/>
        <p:txBody>
          <a:bodyPr/>
          <a:lstStyle/>
          <a:p>
            <a:fld id="{5470BA31-47BF-48E8-B9A3-29FECAA7F110}" type="slidenum">
              <a:rPr lang="en-US" smtClean="0"/>
              <a:pPr/>
              <a:t>49</a:t>
            </a:fld>
            <a:endParaRPr lang="en-US"/>
          </a:p>
        </p:txBody>
      </p:sp>
    </p:spTree>
    <p:extLst>
      <p:ext uri="{BB962C8B-B14F-4D97-AF65-F5344CB8AC3E}">
        <p14:creationId xmlns:p14="http://schemas.microsoft.com/office/powerpoint/2010/main" val="25697343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326FA-AAF3-48D1-64CF-8A2370A65C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1F7AE7-BC43-2435-EB4F-D1F903812702}"/>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AC44E1D3-C257-FD05-C002-5A0922C904FD}"/>
              </a:ext>
            </a:extLst>
          </p:cNvPr>
          <p:cNvSpPr>
            <a:spLocks noGrp="1"/>
          </p:cNvSpPr>
          <p:nvPr>
            <p:ph type="body" idx="1"/>
          </p:nvPr>
        </p:nvSpPr>
        <p:spPr/>
        <p:txBody>
          <a:bodyPr/>
          <a:lstStyle/>
          <a:p>
            <a:pPr marL="0" indent="0">
              <a:lnSpc>
                <a:spcPct val="100000"/>
              </a:lnSpc>
              <a:buNone/>
            </a:pPr>
            <a:r>
              <a:rPr lang="en-US" sz="1100" b="1"/>
              <a:t>BENEFITS:</a:t>
            </a:r>
          </a:p>
          <a:p>
            <a:pPr marL="0" indent="0">
              <a:lnSpc>
                <a:spcPct val="100000"/>
              </a:lnSpc>
              <a:buNone/>
            </a:pPr>
            <a:r>
              <a:rPr lang="en-US" sz="1100"/>
              <a:t>Increases upper-back strength for better posture and shoulder health Develops grip strength and core stability (especially in pull-ups/chin-ups) Complements pressing movements by maintaining balance in the shoulder girdle. </a:t>
            </a:r>
            <a:r>
              <a:rPr lang="en-US" sz="1100" i="1"/>
              <a:t>Vertical pulling is essential for real-world tasks like climbing, carrying, and overhead lifting. Developing grip strength and core control enhances total-body stability and pulling power.</a:t>
            </a:r>
            <a:endParaRPr lang="en-US" sz="1100" b="1"/>
          </a:p>
          <a:p>
            <a:endParaRPr lang="en-US"/>
          </a:p>
        </p:txBody>
      </p:sp>
      <p:sp>
        <p:nvSpPr>
          <p:cNvPr id="4" name="Slide Number Placeholder 3">
            <a:extLst>
              <a:ext uri="{FF2B5EF4-FFF2-40B4-BE49-F238E27FC236}">
                <a16:creationId xmlns:a16="http://schemas.microsoft.com/office/drawing/2014/main" id="{94C8CC78-961E-4795-8C28-C0B2D363F92B}"/>
              </a:ext>
            </a:extLst>
          </p:cNvPr>
          <p:cNvSpPr>
            <a:spLocks noGrp="1"/>
          </p:cNvSpPr>
          <p:nvPr>
            <p:ph type="sldNum" sz="quarter" idx="5"/>
          </p:nvPr>
        </p:nvSpPr>
        <p:spPr/>
        <p:txBody>
          <a:bodyPr/>
          <a:lstStyle/>
          <a:p>
            <a:fld id="{5470BA31-47BF-48E8-B9A3-29FECAA7F110}" type="slidenum">
              <a:rPr lang="en-US" smtClean="0"/>
              <a:pPr/>
              <a:t>50</a:t>
            </a:fld>
            <a:endParaRPr lang="en-US"/>
          </a:p>
        </p:txBody>
      </p:sp>
    </p:spTree>
    <p:extLst>
      <p:ext uri="{BB962C8B-B14F-4D97-AF65-F5344CB8AC3E}">
        <p14:creationId xmlns:p14="http://schemas.microsoft.com/office/powerpoint/2010/main" val="9743877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7052-15A1-8E74-8048-E2441EB07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9807F-E2CD-24DA-9143-DC6158460288}"/>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B5631554-3898-E574-9F46-9DF933A1DA8D}"/>
              </a:ext>
            </a:extLst>
          </p:cNvPr>
          <p:cNvSpPr>
            <a:spLocks noGrp="1"/>
          </p:cNvSpPr>
          <p:nvPr>
            <p:ph type="body" idx="1"/>
          </p:nvPr>
        </p:nvSpPr>
        <p:spPr/>
        <p:txBody>
          <a:bodyPr/>
          <a:lstStyle/>
          <a:p>
            <a:pPr marL="0" indent="0">
              <a:lnSpc>
                <a:spcPct val="100000"/>
              </a:lnSpc>
              <a:buNone/>
            </a:pPr>
            <a:r>
              <a:rPr lang="en-US" sz="1100" b="1"/>
              <a:t>PRIME MOVERS:</a:t>
            </a:r>
          </a:p>
          <a:p>
            <a:pPr marL="0" indent="0">
              <a:lnSpc>
                <a:spcPct val="100000"/>
              </a:lnSpc>
              <a:buNone/>
            </a:pPr>
            <a:r>
              <a:rPr lang="en-US" sz="1100"/>
              <a:t>Latissimus dorsi, biceps brachii, forearms, scapular downward rotators (rhomboids, lower traps) </a:t>
            </a:r>
            <a:endParaRPr lang="en-US" sz="1100" b="1"/>
          </a:p>
          <a:p>
            <a:endParaRPr lang="en-US"/>
          </a:p>
        </p:txBody>
      </p:sp>
      <p:sp>
        <p:nvSpPr>
          <p:cNvPr id="4" name="Slide Number Placeholder 3">
            <a:extLst>
              <a:ext uri="{FF2B5EF4-FFF2-40B4-BE49-F238E27FC236}">
                <a16:creationId xmlns:a16="http://schemas.microsoft.com/office/drawing/2014/main" id="{4A691DB5-DD8A-B307-6971-BB47C7D88DDD}"/>
              </a:ext>
            </a:extLst>
          </p:cNvPr>
          <p:cNvSpPr>
            <a:spLocks noGrp="1"/>
          </p:cNvSpPr>
          <p:nvPr>
            <p:ph type="sldNum" sz="quarter" idx="5"/>
          </p:nvPr>
        </p:nvSpPr>
        <p:spPr/>
        <p:txBody>
          <a:bodyPr/>
          <a:lstStyle/>
          <a:p>
            <a:fld id="{5470BA31-47BF-48E8-B9A3-29FECAA7F110}" type="slidenum">
              <a:rPr lang="en-US" smtClean="0"/>
              <a:pPr/>
              <a:t>51</a:t>
            </a:fld>
            <a:endParaRPr lang="en-US"/>
          </a:p>
        </p:txBody>
      </p:sp>
    </p:spTree>
    <p:extLst>
      <p:ext uri="{BB962C8B-B14F-4D97-AF65-F5344CB8AC3E}">
        <p14:creationId xmlns:p14="http://schemas.microsoft.com/office/powerpoint/2010/main" val="5243159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32771-E335-8DFC-CF0C-AB5CF0C828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351CC-9DD9-6D82-94FA-622D3028A753}"/>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2BDEBD33-C201-873B-E1F1-249CFF9FC99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59D725-7BD7-34FC-3DAF-2E332F5AE528}"/>
              </a:ext>
            </a:extLst>
          </p:cNvPr>
          <p:cNvSpPr>
            <a:spLocks noGrp="1"/>
          </p:cNvSpPr>
          <p:nvPr>
            <p:ph type="sldNum" sz="quarter" idx="5"/>
          </p:nvPr>
        </p:nvSpPr>
        <p:spPr/>
        <p:txBody>
          <a:bodyPr/>
          <a:lstStyle/>
          <a:p>
            <a:fld id="{5470BA31-47BF-48E8-B9A3-29FECAA7F110}" type="slidenum">
              <a:rPr lang="en-US" smtClean="0"/>
              <a:pPr/>
              <a:t>52</a:t>
            </a:fld>
            <a:endParaRPr lang="en-US"/>
          </a:p>
        </p:txBody>
      </p:sp>
    </p:spTree>
    <p:extLst>
      <p:ext uri="{BB962C8B-B14F-4D97-AF65-F5344CB8AC3E}">
        <p14:creationId xmlns:p14="http://schemas.microsoft.com/office/powerpoint/2010/main" val="9242749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D3864-EADA-7297-2EFF-9B1BECCAB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0054C1-C404-0E6C-1ACD-855EA5864CC7}"/>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D11ACFE2-E3A5-A0B1-B45F-CD51BF6D5298}"/>
              </a:ext>
            </a:extLst>
          </p:cNvPr>
          <p:cNvSpPr>
            <a:spLocks noGrp="1"/>
          </p:cNvSpPr>
          <p:nvPr>
            <p:ph type="body" idx="1"/>
          </p:nvPr>
        </p:nvSpPr>
        <p:spPr/>
        <p:txBody>
          <a:bodyPr/>
          <a:lstStyle/>
          <a:p>
            <a:pPr marL="0" indent="0">
              <a:lnSpc>
                <a:spcPct val="100000"/>
              </a:lnSpc>
              <a:buNone/>
            </a:pPr>
            <a:r>
              <a:rPr lang="en-US" sz="1100" b="1"/>
              <a:t>BENEFITS:</a:t>
            </a:r>
          </a:p>
          <a:p>
            <a:pPr marL="0" indent="0">
              <a:lnSpc>
                <a:spcPct val="100000"/>
              </a:lnSpc>
              <a:buNone/>
            </a:pPr>
            <a:r>
              <a:rPr lang="en-US" sz="1100"/>
              <a:t>Develops unilateral strength and corrects side-to-side imbalances Improves hip stability, knee tracking, and balance Great for daily activities like climbing stairs or picking items off the ground. </a:t>
            </a:r>
            <a:r>
              <a:rPr lang="en-US" sz="1100" i="1"/>
              <a:t>Unilateral strength is critical for everyday movements like climbing stairs, stepping onto curbs, or navigating uneven terrain. Training lunges improves knee stability, hip strength, and balance for long-term mobility and injury prevention.</a:t>
            </a:r>
            <a:endParaRPr lang="en-US" sz="1100" b="1"/>
          </a:p>
          <a:p>
            <a:endParaRPr lang="en-US"/>
          </a:p>
        </p:txBody>
      </p:sp>
      <p:sp>
        <p:nvSpPr>
          <p:cNvPr id="4" name="Slide Number Placeholder 3">
            <a:extLst>
              <a:ext uri="{FF2B5EF4-FFF2-40B4-BE49-F238E27FC236}">
                <a16:creationId xmlns:a16="http://schemas.microsoft.com/office/drawing/2014/main" id="{ADD300F4-7976-84BF-5093-47A3BDA284A9}"/>
              </a:ext>
            </a:extLst>
          </p:cNvPr>
          <p:cNvSpPr>
            <a:spLocks noGrp="1"/>
          </p:cNvSpPr>
          <p:nvPr>
            <p:ph type="sldNum" sz="quarter" idx="5"/>
          </p:nvPr>
        </p:nvSpPr>
        <p:spPr/>
        <p:txBody>
          <a:bodyPr/>
          <a:lstStyle/>
          <a:p>
            <a:fld id="{5470BA31-47BF-48E8-B9A3-29FECAA7F110}" type="slidenum">
              <a:rPr lang="en-US" smtClean="0"/>
              <a:pPr/>
              <a:t>53</a:t>
            </a:fld>
            <a:endParaRPr lang="en-US"/>
          </a:p>
        </p:txBody>
      </p:sp>
    </p:spTree>
    <p:extLst>
      <p:ext uri="{BB962C8B-B14F-4D97-AF65-F5344CB8AC3E}">
        <p14:creationId xmlns:p14="http://schemas.microsoft.com/office/powerpoint/2010/main" val="23110077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18268-167F-8862-9794-E93887083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85ADA-6B34-3C55-B3F4-2785E6B2F066}"/>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907499B3-2935-16F6-0FD1-355DD98B5425}"/>
              </a:ext>
            </a:extLst>
          </p:cNvPr>
          <p:cNvSpPr>
            <a:spLocks noGrp="1"/>
          </p:cNvSpPr>
          <p:nvPr>
            <p:ph type="body" idx="1"/>
          </p:nvPr>
        </p:nvSpPr>
        <p:spPr/>
        <p:txBody>
          <a:bodyPr/>
          <a:lstStyle/>
          <a:p>
            <a:pPr marL="0" indent="0">
              <a:lnSpc>
                <a:spcPct val="100000"/>
              </a:lnSpc>
              <a:buNone/>
            </a:pPr>
            <a:r>
              <a:rPr lang="en-US" sz="1100" b="1"/>
              <a:t>PRIME MOVERS:</a:t>
            </a:r>
          </a:p>
          <a:p>
            <a:pPr marL="0" indent="0">
              <a:lnSpc>
                <a:spcPct val="100000"/>
              </a:lnSpc>
              <a:buNone/>
            </a:pPr>
            <a:r>
              <a:rPr lang="en-US" sz="1100"/>
              <a:t>Quadriceps, gluteus maximus, hamstrings (stabilization), calves; core aids balance </a:t>
            </a:r>
            <a:endParaRPr lang="en-US" sz="1100" b="1"/>
          </a:p>
          <a:p>
            <a:endParaRPr lang="en-US"/>
          </a:p>
        </p:txBody>
      </p:sp>
      <p:sp>
        <p:nvSpPr>
          <p:cNvPr id="4" name="Slide Number Placeholder 3">
            <a:extLst>
              <a:ext uri="{FF2B5EF4-FFF2-40B4-BE49-F238E27FC236}">
                <a16:creationId xmlns:a16="http://schemas.microsoft.com/office/drawing/2014/main" id="{8B121848-9D24-E71B-36A9-54C6CC13C854}"/>
              </a:ext>
            </a:extLst>
          </p:cNvPr>
          <p:cNvSpPr>
            <a:spLocks noGrp="1"/>
          </p:cNvSpPr>
          <p:nvPr>
            <p:ph type="sldNum" sz="quarter" idx="5"/>
          </p:nvPr>
        </p:nvSpPr>
        <p:spPr/>
        <p:txBody>
          <a:bodyPr/>
          <a:lstStyle/>
          <a:p>
            <a:fld id="{5470BA31-47BF-48E8-B9A3-29FECAA7F110}" type="slidenum">
              <a:rPr lang="en-US" smtClean="0"/>
              <a:pPr/>
              <a:t>54</a:t>
            </a:fld>
            <a:endParaRPr lang="en-US"/>
          </a:p>
        </p:txBody>
      </p:sp>
    </p:spTree>
    <p:extLst>
      <p:ext uri="{BB962C8B-B14F-4D97-AF65-F5344CB8AC3E}">
        <p14:creationId xmlns:p14="http://schemas.microsoft.com/office/powerpoint/2010/main" val="36213800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257BC-9ACC-C2DE-0009-A39B3CEDE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75485F-8195-32A2-665C-00B22508DC29}"/>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280C7C68-F663-8A12-4A1C-24EDEA505E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868572-FDF1-3392-BAF9-0230AF3708E2}"/>
              </a:ext>
            </a:extLst>
          </p:cNvPr>
          <p:cNvSpPr>
            <a:spLocks noGrp="1"/>
          </p:cNvSpPr>
          <p:nvPr>
            <p:ph type="sldNum" sz="quarter" idx="5"/>
          </p:nvPr>
        </p:nvSpPr>
        <p:spPr/>
        <p:txBody>
          <a:bodyPr/>
          <a:lstStyle/>
          <a:p>
            <a:fld id="{5470BA31-47BF-48E8-B9A3-29FECAA7F110}" type="slidenum">
              <a:rPr lang="en-US" smtClean="0"/>
              <a:pPr/>
              <a:t>55</a:t>
            </a:fld>
            <a:endParaRPr lang="en-US"/>
          </a:p>
        </p:txBody>
      </p:sp>
    </p:spTree>
    <p:extLst>
      <p:ext uri="{BB962C8B-B14F-4D97-AF65-F5344CB8AC3E}">
        <p14:creationId xmlns:p14="http://schemas.microsoft.com/office/powerpoint/2010/main" val="10257875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58D20-71EE-B976-37F4-1C0EE4430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A583E-9788-7AE7-2603-7849DA41AE5F}"/>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948F93DF-31B7-6A23-4721-54351F239F35}"/>
              </a:ext>
            </a:extLst>
          </p:cNvPr>
          <p:cNvSpPr>
            <a:spLocks noGrp="1"/>
          </p:cNvSpPr>
          <p:nvPr>
            <p:ph type="body" idx="1"/>
          </p:nvPr>
        </p:nvSpPr>
        <p:spPr/>
        <p:txBody>
          <a:bodyPr/>
          <a:lstStyle/>
          <a:p>
            <a:pPr marL="0" indent="0">
              <a:lnSpc>
                <a:spcPct val="100000"/>
              </a:lnSpc>
              <a:buNone/>
            </a:pPr>
            <a:r>
              <a:rPr lang="en-US" sz="1100" b="1"/>
              <a:t>BENEFITS:</a:t>
            </a:r>
          </a:p>
          <a:p>
            <a:pPr marL="0" indent="0">
              <a:lnSpc>
                <a:spcPct val="100000"/>
              </a:lnSpc>
              <a:buNone/>
            </a:pPr>
            <a:r>
              <a:rPr lang="en-US" sz="1100"/>
              <a:t>Develops core stability and rotational strength (essential for many sports and daily twisting movements) Improves trunk control, reducing spinal stress in rotational tasks Enhances overall athleticism and injury resilience. </a:t>
            </a:r>
            <a:r>
              <a:rPr lang="en-US" sz="1100" i="1"/>
              <a:t>Rotational strength is essential for daily life (twisting to grab objects, sports movements, and core bracing under load). Training rotation improves power transfer, injury resilience, and overall functional strength.</a:t>
            </a:r>
            <a:endParaRPr lang="en-US" sz="1100" b="1"/>
          </a:p>
          <a:p>
            <a:endParaRPr lang="en-US"/>
          </a:p>
        </p:txBody>
      </p:sp>
      <p:sp>
        <p:nvSpPr>
          <p:cNvPr id="4" name="Slide Number Placeholder 3">
            <a:extLst>
              <a:ext uri="{FF2B5EF4-FFF2-40B4-BE49-F238E27FC236}">
                <a16:creationId xmlns:a16="http://schemas.microsoft.com/office/drawing/2014/main" id="{CB78134E-446D-7E83-17CA-4D0C34944350}"/>
              </a:ext>
            </a:extLst>
          </p:cNvPr>
          <p:cNvSpPr>
            <a:spLocks noGrp="1"/>
          </p:cNvSpPr>
          <p:nvPr>
            <p:ph type="sldNum" sz="quarter" idx="5"/>
          </p:nvPr>
        </p:nvSpPr>
        <p:spPr/>
        <p:txBody>
          <a:bodyPr/>
          <a:lstStyle/>
          <a:p>
            <a:fld id="{5470BA31-47BF-48E8-B9A3-29FECAA7F110}" type="slidenum">
              <a:rPr lang="en-US" smtClean="0"/>
              <a:pPr/>
              <a:t>56</a:t>
            </a:fld>
            <a:endParaRPr lang="en-US"/>
          </a:p>
        </p:txBody>
      </p:sp>
    </p:spTree>
    <p:extLst>
      <p:ext uri="{BB962C8B-B14F-4D97-AF65-F5344CB8AC3E}">
        <p14:creationId xmlns:p14="http://schemas.microsoft.com/office/powerpoint/2010/main" val="22053199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5C6AF-96CD-D5FF-7F18-154FCF345A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3729B-828F-CDC0-22DD-147BE561BD0B}"/>
              </a:ext>
            </a:extLst>
          </p:cNvPr>
          <p:cNvSpPr>
            <a:spLocks noGrp="1" noRot="1" noChangeAspect="1"/>
          </p:cNvSpPr>
          <p:nvPr>
            <p:ph type="sldImg"/>
          </p:nvPr>
        </p:nvSpPr>
        <p:spPr>
          <a:xfrm>
            <a:off x="685800" y="725488"/>
            <a:ext cx="5486400" cy="3086100"/>
          </a:xfrm>
        </p:spPr>
      </p:sp>
      <p:sp>
        <p:nvSpPr>
          <p:cNvPr id="3" name="Notes Placeholder 2">
            <a:extLst>
              <a:ext uri="{FF2B5EF4-FFF2-40B4-BE49-F238E27FC236}">
                <a16:creationId xmlns:a16="http://schemas.microsoft.com/office/drawing/2014/main" id="{50DE4274-E04B-EBCB-F00C-B32B21FFEBAF}"/>
              </a:ext>
            </a:extLst>
          </p:cNvPr>
          <p:cNvSpPr>
            <a:spLocks noGrp="1"/>
          </p:cNvSpPr>
          <p:nvPr>
            <p:ph type="body" idx="1"/>
          </p:nvPr>
        </p:nvSpPr>
        <p:spPr/>
        <p:txBody>
          <a:bodyPr/>
          <a:lstStyle/>
          <a:p>
            <a:pPr marL="0" indent="0">
              <a:lnSpc>
                <a:spcPct val="100000"/>
              </a:lnSpc>
              <a:buNone/>
            </a:pPr>
            <a:r>
              <a:rPr lang="en-US" sz="1100" b="1"/>
              <a:t>PRIME MOVERS:</a:t>
            </a:r>
          </a:p>
          <a:p>
            <a:pPr marL="0" indent="0">
              <a:lnSpc>
                <a:spcPct val="100000"/>
              </a:lnSpc>
              <a:buNone/>
            </a:pPr>
            <a:r>
              <a:rPr lang="en-US" sz="1100"/>
              <a:t>Obliques (internal/external), transverse abdominis, spinal rotators; hips often assist </a:t>
            </a:r>
            <a:endParaRPr lang="en-US" sz="1100" b="1"/>
          </a:p>
          <a:p>
            <a:endParaRPr lang="en-US"/>
          </a:p>
        </p:txBody>
      </p:sp>
      <p:sp>
        <p:nvSpPr>
          <p:cNvPr id="4" name="Slide Number Placeholder 3">
            <a:extLst>
              <a:ext uri="{FF2B5EF4-FFF2-40B4-BE49-F238E27FC236}">
                <a16:creationId xmlns:a16="http://schemas.microsoft.com/office/drawing/2014/main" id="{29A459A1-EA5E-37CF-67AE-060A78F0C2A6}"/>
              </a:ext>
            </a:extLst>
          </p:cNvPr>
          <p:cNvSpPr>
            <a:spLocks noGrp="1"/>
          </p:cNvSpPr>
          <p:nvPr>
            <p:ph type="sldNum" sz="quarter" idx="5"/>
          </p:nvPr>
        </p:nvSpPr>
        <p:spPr/>
        <p:txBody>
          <a:bodyPr/>
          <a:lstStyle/>
          <a:p>
            <a:fld id="{5470BA31-47BF-48E8-B9A3-29FECAA7F110}" type="slidenum">
              <a:rPr lang="en-US" smtClean="0"/>
              <a:pPr/>
              <a:t>57</a:t>
            </a:fld>
            <a:endParaRPr lang="en-US"/>
          </a:p>
        </p:txBody>
      </p:sp>
    </p:spTree>
    <p:extLst>
      <p:ext uri="{BB962C8B-B14F-4D97-AF65-F5344CB8AC3E}">
        <p14:creationId xmlns:p14="http://schemas.microsoft.com/office/powerpoint/2010/main" val="4768087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3/20/26</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3/20/26</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3/20/26</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3/20/26</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3/20/26</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3/20/26</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3/20/26</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3/20/26</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3/20/26</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3/20/26</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3/20/26</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3/20/26</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3/20/26</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3/20/26</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3/20/26</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3/20/26</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3/20/26</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3/20/26</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3/20/26</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3/20/26</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3/20/26</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3/20/26</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3/20/26</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3/20/26</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3/20/26</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3/20/26</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3/20/26</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3/20/26</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3/20/26</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3/20/26</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3/20/26</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3/20/26</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3/20/26</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3/20/26</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3/20/26</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3/20/26</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3/20/26</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3/20/26</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3/20/26</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cSld name="4 Column Comparison">
    <p:bg>
      <p:bgPr>
        <a:solidFill>
          <a:srgbClr val="401297"/>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7E0C624-EF0A-41B5-934C-BC027599D8A9}"/>
              </a:ext>
            </a:extLst>
          </p:cNvPr>
          <p:cNvSpPr txBox="1">
            <a:spLocks noGrp="1"/>
          </p:cNvSpPr>
          <p:nvPr>
            <p:ph type="body" idx="1"/>
          </p:nvPr>
        </p:nvSpPr>
        <p:spPr>
          <a:xfrm>
            <a:off x="839784" y="1778946"/>
            <a:ext cx="2337590" cy="303663"/>
          </a:xfrm>
        </p:spPr>
        <p:txBody>
          <a:bodyPr tIns="91440" bIns="91440" anchor="ctr"/>
          <a:lstStyle>
            <a:lvl1pPr marL="0" indent="0">
              <a:lnSpc>
                <a:spcPct val="90000"/>
              </a:lnSpc>
              <a:spcBef>
                <a:spcPts val="0"/>
              </a:spcBef>
              <a:buNone/>
              <a:defRPr b="1">
                <a:solidFill>
                  <a:srgbClr val="5BC2E7"/>
                </a:solidFill>
              </a:defRPr>
            </a:lvl1pPr>
          </a:lstStyle>
          <a:p>
            <a:pPr lvl="0"/>
            <a:r>
              <a:rPr lang="en-US"/>
              <a:t>Click to Edit Master </a:t>
            </a:r>
            <a:br>
              <a:rPr lang="en-US"/>
            </a:br>
            <a:r>
              <a:rPr lang="en-US"/>
              <a:t>Text Styles</a:t>
            </a:r>
          </a:p>
        </p:txBody>
      </p:sp>
      <p:sp>
        <p:nvSpPr>
          <p:cNvPr id="3" name="Content Placeholder 3">
            <a:extLst>
              <a:ext uri="{FF2B5EF4-FFF2-40B4-BE49-F238E27FC236}">
                <a16:creationId xmlns:a16="http://schemas.microsoft.com/office/drawing/2014/main" id="{A76FF8A3-7CCF-4A72-BB9D-559603C08A2D}"/>
              </a:ext>
            </a:extLst>
          </p:cNvPr>
          <p:cNvSpPr txBox="1">
            <a:spLocks noGrp="1"/>
          </p:cNvSpPr>
          <p:nvPr>
            <p:ph idx="2"/>
          </p:nvPr>
        </p:nvSpPr>
        <p:spPr>
          <a:xfrm>
            <a:off x="839784" y="2184181"/>
            <a:ext cx="2337590" cy="3684583"/>
          </a:xfrm>
          <a:gradFill>
            <a:gsLst>
              <a:gs pos="0">
                <a:srgbClr val="6244BB"/>
              </a:gs>
              <a:gs pos="100000">
                <a:srgbClr val="9568CC"/>
              </a:gs>
            </a:gsLst>
            <a:lin ang="2700000"/>
          </a:gradFill>
        </p:spPr>
        <p:txBody>
          <a:bodyPr lIns="182880" tIns="182880" rIns="182880" bIns="182880"/>
          <a:lstStyle>
            <a:lvl1pPr>
              <a:defRPr/>
            </a:lvl1pPr>
            <a:lvl2pPr marL="347472" indent="-118872">
              <a:buClr>
                <a:srgbClr val="FFFFFF"/>
              </a:buClr>
              <a:defRPr sz="1100"/>
            </a:lvl2pPr>
            <a:lvl3pPr indent="-111127">
              <a:defRPr sz="1050"/>
            </a:lvl3pPr>
            <a:lvl4pPr indent="-115891">
              <a:defRPr sz="900"/>
            </a:lvl4pPr>
            <a:lvl5pPr marL="687391" indent="-111127">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
            <a:extLst>
              <a:ext uri="{FF2B5EF4-FFF2-40B4-BE49-F238E27FC236}">
                <a16:creationId xmlns:a16="http://schemas.microsoft.com/office/drawing/2014/main" id="{4FB88B0D-BE2F-43BA-BC6D-15EF1699B9DB}"/>
              </a:ext>
            </a:extLst>
          </p:cNvPr>
          <p:cNvSpPr txBox="1">
            <a:spLocks noGrp="1"/>
          </p:cNvSpPr>
          <p:nvPr>
            <p:ph type="body" idx="3"/>
          </p:nvPr>
        </p:nvSpPr>
        <p:spPr>
          <a:xfrm>
            <a:off x="9017913" y="1778946"/>
            <a:ext cx="2336712" cy="303663"/>
          </a:xfrm>
        </p:spPr>
        <p:txBody>
          <a:bodyPr tIns="91440" bIns="91440" anchor="ctr"/>
          <a:lstStyle>
            <a:lvl1pPr marL="0" indent="0">
              <a:lnSpc>
                <a:spcPct val="90000"/>
              </a:lnSpc>
              <a:spcBef>
                <a:spcPts val="0"/>
              </a:spcBef>
              <a:buNone/>
              <a:defRPr b="1">
                <a:solidFill>
                  <a:srgbClr val="5BC2E7"/>
                </a:solidFill>
              </a:defRPr>
            </a:lvl1pPr>
          </a:lstStyle>
          <a:p>
            <a:pPr lvl="0"/>
            <a:r>
              <a:rPr lang="en-US"/>
              <a:t>Click to Edit Master </a:t>
            </a:r>
            <a:br>
              <a:rPr lang="en-US"/>
            </a:br>
            <a:r>
              <a:rPr lang="en-US"/>
              <a:t>Text Styles</a:t>
            </a:r>
          </a:p>
        </p:txBody>
      </p:sp>
      <p:sp>
        <p:nvSpPr>
          <p:cNvPr id="5" name="Content Placeholder 5">
            <a:extLst>
              <a:ext uri="{FF2B5EF4-FFF2-40B4-BE49-F238E27FC236}">
                <a16:creationId xmlns:a16="http://schemas.microsoft.com/office/drawing/2014/main" id="{18E6F2DC-EDEB-4D41-B56D-66542FF8CF6A}"/>
              </a:ext>
            </a:extLst>
          </p:cNvPr>
          <p:cNvSpPr txBox="1">
            <a:spLocks noGrp="1"/>
          </p:cNvSpPr>
          <p:nvPr>
            <p:ph idx="4"/>
          </p:nvPr>
        </p:nvSpPr>
        <p:spPr>
          <a:xfrm>
            <a:off x="9017913" y="2184181"/>
            <a:ext cx="2336712" cy="3684583"/>
          </a:xfrm>
          <a:gradFill>
            <a:gsLst>
              <a:gs pos="0">
                <a:srgbClr val="6244BB"/>
              </a:gs>
              <a:gs pos="100000">
                <a:srgbClr val="9568CC"/>
              </a:gs>
            </a:gsLst>
            <a:lin ang="2700000"/>
          </a:gradFill>
        </p:spPr>
        <p:txBody>
          <a:bodyPr lIns="182880" tIns="182880" rIns="182880" bIns="182880"/>
          <a:lstStyle>
            <a:lvl1pPr>
              <a:defRPr/>
            </a:lvl1pPr>
            <a:lvl2pPr marL="347472" indent="-118872">
              <a:buClr>
                <a:srgbClr val="FFFFFF"/>
              </a:buClr>
              <a:defRPr sz="1100"/>
            </a:lvl2pPr>
            <a:lvl3pPr indent="-111127">
              <a:defRPr sz="1050"/>
            </a:lvl3pPr>
            <a:lvl4pPr indent="-112708">
              <a:defRPr sz="900"/>
            </a:lvl4pPr>
            <a:lvl5pPr marL="687391" indent="-111127">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6">
            <a:extLst>
              <a:ext uri="{FF2B5EF4-FFF2-40B4-BE49-F238E27FC236}">
                <a16:creationId xmlns:a16="http://schemas.microsoft.com/office/drawing/2014/main" id="{9ED76DF1-44E6-4DA1-B0E8-83EF67C04BD1}"/>
              </a:ext>
            </a:extLst>
          </p:cNvPr>
          <p:cNvSpPr txBox="1">
            <a:spLocks noGrp="1"/>
          </p:cNvSpPr>
          <p:nvPr>
            <p:ph type="dt" sz="half" idx="7"/>
          </p:nvPr>
        </p:nvSpPr>
        <p:spPr/>
        <p:txBody>
          <a:bodyPr/>
          <a:lstStyle>
            <a:lvl1pPr>
              <a:defRPr/>
            </a:lvl1pPr>
          </a:lstStyle>
          <a:p>
            <a:pPr lvl="0"/>
            <a:fld id="{B2FC02CC-AB06-4639-83FB-754EE01DA43F}" type="datetime1">
              <a:rPr lang="en-US"/>
              <a:pPr lvl="0"/>
              <a:t>3/20/26</a:t>
            </a:fld>
            <a:endParaRPr lang="en-US"/>
          </a:p>
        </p:txBody>
      </p:sp>
      <p:sp>
        <p:nvSpPr>
          <p:cNvPr id="7" name="Footer Placeholder 7">
            <a:extLst>
              <a:ext uri="{FF2B5EF4-FFF2-40B4-BE49-F238E27FC236}">
                <a16:creationId xmlns:a16="http://schemas.microsoft.com/office/drawing/2014/main" id="{B8E19A3D-A4A0-4430-8E64-9A84162C64D6}"/>
              </a:ext>
            </a:extLst>
          </p:cNvPr>
          <p:cNvSpPr txBox="1">
            <a:spLocks noGrp="1"/>
          </p:cNvSpPr>
          <p:nvPr>
            <p:ph type="ftr" sz="quarter" idx="9"/>
          </p:nvPr>
        </p:nvSpPr>
        <p:spPr/>
        <p:txBody>
          <a:bodyPr/>
          <a:lstStyle>
            <a:lvl1pPr>
              <a:defRPr/>
            </a:lvl1pPr>
          </a:lstStyle>
          <a:p>
            <a:pPr lvl="0"/>
            <a:endParaRPr lang="en-US"/>
          </a:p>
        </p:txBody>
      </p:sp>
      <p:sp>
        <p:nvSpPr>
          <p:cNvPr id="8" name="Slide Number Placeholder 8">
            <a:extLst>
              <a:ext uri="{FF2B5EF4-FFF2-40B4-BE49-F238E27FC236}">
                <a16:creationId xmlns:a16="http://schemas.microsoft.com/office/drawing/2014/main" id="{7BBDE76E-3958-48DE-84D5-D90BAF3FD746}"/>
              </a:ext>
            </a:extLst>
          </p:cNvPr>
          <p:cNvSpPr txBox="1">
            <a:spLocks noGrp="1"/>
          </p:cNvSpPr>
          <p:nvPr>
            <p:ph type="sldNum" sz="quarter" idx="8"/>
          </p:nvPr>
        </p:nvSpPr>
        <p:spPr/>
        <p:txBody>
          <a:bodyPr/>
          <a:lstStyle>
            <a:lvl1pPr>
              <a:defRPr/>
            </a:lvl1pPr>
          </a:lstStyle>
          <a:p>
            <a:pPr lvl="0"/>
            <a:fld id="{EE7E4B82-EFF6-4FB9-8A3E-4D4B80994125}" type="slidenum">
              <a:t>‹#›</a:t>
            </a:fld>
            <a:endParaRPr lang="en-US"/>
          </a:p>
        </p:txBody>
      </p:sp>
      <p:sp>
        <p:nvSpPr>
          <p:cNvPr id="9" name="Text Placeholder 2">
            <a:extLst>
              <a:ext uri="{FF2B5EF4-FFF2-40B4-BE49-F238E27FC236}">
                <a16:creationId xmlns:a16="http://schemas.microsoft.com/office/drawing/2014/main" id="{A454C50A-5108-4985-BBE7-1C305D73F981}"/>
              </a:ext>
            </a:extLst>
          </p:cNvPr>
          <p:cNvSpPr txBox="1">
            <a:spLocks noGrp="1"/>
          </p:cNvSpPr>
          <p:nvPr>
            <p:ph type="body" idx="4294967295"/>
          </p:nvPr>
        </p:nvSpPr>
        <p:spPr>
          <a:xfrm>
            <a:off x="3579720" y="1778946"/>
            <a:ext cx="2337590" cy="303663"/>
          </a:xfrm>
        </p:spPr>
        <p:txBody>
          <a:bodyPr tIns="91440" bIns="91440" anchor="ctr"/>
          <a:lstStyle>
            <a:lvl1pPr marL="0" indent="0">
              <a:lnSpc>
                <a:spcPct val="90000"/>
              </a:lnSpc>
              <a:spcBef>
                <a:spcPts val="0"/>
              </a:spcBef>
              <a:buNone/>
              <a:defRPr b="1">
                <a:solidFill>
                  <a:srgbClr val="5BC2E7"/>
                </a:solidFill>
              </a:defRPr>
            </a:lvl1pPr>
          </a:lstStyle>
          <a:p>
            <a:pPr lvl="0"/>
            <a:r>
              <a:rPr lang="en-US"/>
              <a:t>Click to Edit Master </a:t>
            </a:r>
            <a:br>
              <a:rPr lang="en-US"/>
            </a:br>
            <a:r>
              <a:rPr lang="en-US"/>
              <a:t>Text Styles</a:t>
            </a:r>
          </a:p>
        </p:txBody>
      </p:sp>
      <p:sp>
        <p:nvSpPr>
          <p:cNvPr id="10" name="Content Placeholder 3">
            <a:extLst>
              <a:ext uri="{FF2B5EF4-FFF2-40B4-BE49-F238E27FC236}">
                <a16:creationId xmlns:a16="http://schemas.microsoft.com/office/drawing/2014/main" id="{E5F31115-9D57-4354-91AF-EF6E7BED7BFF}"/>
              </a:ext>
            </a:extLst>
          </p:cNvPr>
          <p:cNvSpPr txBox="1">
            <a:spLocks noGrp="1"/>
          </p:cNvSpPr>
          <p:nvPr>
            <p:ph idx="4294967295"/>
          </p:nvPr>
        </p:nvSpPr>
        <p:spPr>
          <a:xfrm>
            <a:off x="3579720" y="2184181"/>
            <a:ext cx="2337590" cy="3684583"/>
          </a:xfrm>
          <a:gradFill>
            <a:gsLst>
              <a:gs pos="0">
                <a:srgbClr val="6244BB"/>
              </a:gs>
              <a:gs pos="100000">
                <a:srgbClr val="9568CC"/>
              </a:gs>
            </a:gsLst>
            <a:lin ang="2700000"/>
          </a:gradFill>
        </p:spPr>
        <p:txBody>
          <a:bodyPr lIns="182880" tIns="182880" rIns="182880" bIns="182880"/>
          <a:lstStyle>
            <a:lvl1pPr>
              <a:defRPr/>
            </a:lvl1pPr>
            <a:lvl2pPr marL="347472" indent="-118872">
              <a:buClr>
                <a:srgbClr val="FFFFFF"/>
              </a:buClr>
              <a:defRPr sz="1100"/>
            </a:lvl2pPr>
            <a:lvl3pPr indent="-111127">
              <a:defRPr sz="1050"/>
            </a:lvl3pPr>
            <a:lvl4pPr indent="-115891">
              <a:defRPr sz="900"/>
            </a:lvl4pPr>
            <a:lvl5pPr marL="687391" indent="-111127">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61E99CDF-DC70-4C30-B83D-CD22E76F9E7C}"/>
              </a:ext>
            </a:extLst>
          </p:cNvPr>
          <p:cNvSpPr txBox="1">
            <a:spLocks noGrp="1"/>
          </p:cNvSpPr>
          <p:nvPr>
            <p:ph type="body" idx="4294967295"/>
          </p:nvPr>
        </p:nvSpPr>
        <p:spPr>
          <a:xfrm>
            <a:off x="6298816" y="1778946"/>
            <a:ext cx="2337590" cy="303663"/>
          </a:xfrm>
        </p:spPr>
        <p:txBody>
          <a:bodyPr tIns="91440" bIns="91440" anchor="ctr"/>
          <a:lstStyle>
            <a:lvl1pPr marL="0" indent="0">
              <a:lnSpc>
                <a:spcPct val="90000"/>
              </a:lnSpc>
              <a:spcBef>
                <a:spcPts val="0"/>
              </a:spcBef>
              <a:buNone/>
              <a:defRPr b="1">
                <a:solidFill>
                  <a:srgbClr val="5BC2E7"/>
                </a:solidFill>
              </a:defRPr>
            </a:lvl1pPr>
          </a:lstStyle>
          <a:p>
            <a:pPr lvl="0"/>
            <a:r>
              <a:rPr lang="en-US"/>
              <a:t>Click to Edit Master </a:t>
            </a:r>
            <a:br>
              <a:rPr lang="en-US"/>
            </a:br>
            <a:r>
              <a:rPr lang="en-US"/>
              <a:t>Text Styles</a:t>
            </a:r>
          </a:p>
        </p:txBody>
      </p:sp>
      <p:sp>
        <p:nvSpPr>
          <p:cNvPr id="12" name="Content Placeholder 3">
            <a:extLst>
              <a:ext uri="{FF2B5EF4-FFF2-40B4-BE49-F238E27FC236}">
                <a16:creationId xmlns:a16="http://schemas.microsoft.com/office/drawing/2014/main" id="{CCE9A37D-C9C2-49E9-AB32-55BAF1832C9B}"/>
              </a:ext>
            </a:extLst>
          </p:cNvPr>
          <p:cNvSpPr txBox="1">
            <a:spLocks noGrp="1"/>
          </p:cNvSpPr>
          <p:nvPr>
            <p:ph idx="4294967295"/>
          </p:nvPr>
        </p:nvSpPr>
        <p:spPr>
          <a:xfrm>
            <a:off x="6298816" y="2184181"/>
            <a:ext cx="2337590" cy="3684583"/>
          </a:xfrm>
          <a:gradFill>
            <a:gsLst>
              <a:gs pos="0">
                <a:srgbClr val="6244BB"/>
              </a:gs>
              <a:gs pos="100000">
                <a:srgbClr val="9568CC"/>
              </a:gs>
            </a:gsLst>
            <a:lin ang="2700000"/>
          </a:gradFill>
        </p:spPr>
        <p:txBody>
          <a:bodyPr lIns="182880" tIns="182880" rIns="182880" bIns="182880"/>
          <a:lstStyle>
            <a:lvl1pPr>
              <a:defRPr/>
            </a:lvl1pPr>
            <a:lvl2pPr marL="347472" indent="-118872">
              <a:buClr>
                <a:srgbClr val="FFFFFF"/>
              </a:buClr>
              <a:defRPr sz="1100"/>
            </a:lvl2pPr>
            <a:lvl3pPr indent="-111127">
              <a:defRPr sz="1050"/>
            </a:lvl3pPr>
            <a:lvl4pPr indent="-115891">
              <a:defRPr sz="900"/>
            </a:lvl4pPr>
            <a:lvl5pPr marL="687391" indent="-111127">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04016032"/>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Media and Content Layout Tablet">
    <p:bg>
      <p:bgPr>
        <a:solidFill>
          <a:srgbClr val="221551"/>
        </a:solidFill>
        <a:effectLst/>
      </p:bgPr>
    </p:bg>
    <p:spTree>
      <p:nvGrpSpPr>
        <p:cNvPr id="1" name=""/>
        <p:cNvGrpSpPr/>
        <p:nvPr/>
      </p:nvGrpSpPr>
      <p:grpSpPr>
        <a:xfrm>
          <a:off x="0" y="0"/>
          <a:ext cx="0" cy="0"/>
          <a:chOff x="0" y="0"/>
          <a:chExt cx="0" cy="0"/>
        </a:xfrm>
      </p:grpSpPr>
      <p:sp>
        <p:nvSpPr>
          <p:cNvPr id="2" name="Footer Placeholder 5">
            <a:extLst>
              <a:ext uri="{FF2B5EF4-FFF2-40B4-BE49-F238E27FC236}">
                <a16:creationId xmlns:a16="http://schemas.microsoft.com/office/drawing/2014/main" id="{6339699E-4547-4308-BEF1-7992C2175218}"/>
              </a:ext>
            </a:extLst>
          </p:cNvPr>
          <p:cNvSpPr txBox="1">
            <a:spLocks noGrp="1"/>
          </p:cNvSpPr>
          <p:nvPr>
            <p:ph type="ftr" sz="quarter" idx="9"/>
          </p:nvPr>
        </p:nvSpPr>
        <p:spPr/>
        <p:txBody>
          <a:bodyPr/>
          <a:lstStyle>
            <a:lvl1pPr>
              <a:defRPr/>
            </a:lvl1pPr>
          </a:lstStyle>
          <a:p>
            <a:pPr lvl="0"/>
            <a:endParaRPr lang="en-US"/>
          </a:p>
        </p:txBody>
      </p:sp>
      <p:sp>
        <p:nvSpPr>
          <p:cNvPr id="3" name="Slide Number Placeholder 6">
            <a:extLst>
              <a:ext uri="{FF2B5EF4-FFF2-40B4-BE49-F238E27FC236}">
                <a16:creationId xmlns:a16="http://schemas.microsoft.com/office/drawing/2014/main" id="{60EEFABC-CD07-4F98-B8FA-3B80998E875B}"/>
              </a:ext>
            </a:extLst>
          </p:cNvPr>
          <p:cNvSpPr txBox="1">
            <a:spLocks noGrp="1"/>
          </p:cNvSpPr>
          <p:nvPr>
            <p:ph type="sldNum" sz="quarter" idx="8"/>
          </p:nvPr>
        </p:nvSpPr>
        <p:spPr/>
        <p:txBody>
          <a:bodyPr/>
          <a:lstStyle>
            <a:lvl1pPr>
              <a:defRPr/>
            </a:lvl1pPr>
          </a:lstStyle>
          <a:p>
            <a:pPr lvl="0"/>
            <a:fld id="{16F3C6DA-73F0-4C7F-9984-E4872B9CEAB8}" type="slidenum">
              <a:t>‹#›</a:t>
            </a:fld>
            <a:endParaRPr lang="en-US"/>
          </a:p>
        </p:txBody>
      </p:sp>
      <p:sp>
        <p:nvSpPr>
          <p:cNvPr id="4" name="Content Placeholder 2">
            <a:extLst>
              <a:ext uri="{FF2B5EF4-FFF2-40B4-BE49-F238E27FC236}">
                <a16:creationId xmlns:a16="http://schemas.microsoft.com/office/drawing/2014/main" id="{03903505-7666-4885-89A6-2AD0265C6CD3}"/>
              </a:ext>
            </a:extLst>
          </p:cNvPr>
          <p:cNvSpPr txBox="1">
            <a:spLocks noGrp="1"/>
          </p:cNvSpPr>
          <p:nvPr>
            <p:ph idx="4294967295"/>
          </p:nvPr>
        </p:nvSpPr>
        <p:spPr>
          <a:xfrm>
            <a:off x="345661" y="3243157"/>
            <a:ext cx="2877753" cy="266096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16">
            <a:extLst>
              <a:ext uri="{FF2B5EF4-FFF2-40B4-BE49-F238E27FC236}">
                <a16:creationId xmlns:a16="http://schemas.microsoft.com/office/drawing/2014/main" id="{9845C159-A1C3-4C84-AEF1-2CF0DD2D1702}"/>
              </a:ext>
            </a:extLst>
          </p:cNvPr>
          <p:cNvSpPr txBox="1">
            <a:spLocks noGrp="1"/>
          </p:cNvSpPr>
          <p:nvPr>
            <p:ph idx="4294967295"/>
          </p:nvPr>
        </p:nvSpPr>
        <p:spPr>
          <a:xfrm>
            <a:off x="3914619" y="386864"/>
            <a:ext cx="7562270" cy="5650525"/>
          </a:xfrm>
        </p:spPr>
        <p:txBody>
          <a:bodyPr lIns="182880" tIns="457200" rIns="274320" bIns="1188720" anchor="ctr" anchorCtr="1"/>
          <a:lstStyle>
            <a:lvl1pPr marL="0" indent="0" algn="ctr">
              <a:buNone/>
              <a:defRPr sz="1200">
                <a:solidFill>
                  <a:srgbClr val="2D2926"/>
                </a:solidFill>
              </a:defRPr>
            </a:lvl1pPr>
          </a:lstStyle>
          <a:p>
            <a:pPr lvl="0"/>
            <a:r>
              <a:rPr lang="en-US"/>
              <a:t>Click the image or video icon to insert your multimedia content.</a:t>
            </a:r>
          </a:p>
        </p:txBody>
      </p:sp>
      <p:sp>
        <p:nvSpPr>
          <p:cNvPr id="6" name="Title 1">
            <a:extLst>
              <a:ext uri="{FF2B5EF4-FFF2-40B4-BE49-F238E27FC236}">
                <a16:creationId xmlns:a16="http://schemas.microsoft.com/office/drawing/2014/main" id="{E0FC17C7-4A40-4C5C-ABFA-173690677E7D}"/>
              </a:ext>
            </a:extLst>
          </p:cNvPr>
          <p:cNvSpPr txBox="1">
            <a:spLocks noGrp="1"/>
          </p:cNvSpPr>
          <p:nvPr>
            <p:ph type="title"/>
          </p:nvPr>
        </p:nvSpPr>
        <p:spPr>
          <a:xfrm>
            <a:off x="345670" y="805851"/>
            <a:ext cx="2877753" cy="2281830"/>
          </a:xfrm>
        </p:spPr>
        <p:txBody>
          <a:bodyPr/>
          <a:lstStyle>
            <a:lvl1pPr>
              <a:defRPr/>
            </a:lvl1pPr>
          </a:lstStyle>
          <a:p>
            <a:pPr lvl="0"/>
            <a:r>
              <a:rPr lang="en-US"/>
              <a:t>Tablet with Content Layout</a:t>
            </a:r>
          </a:p>
        </p:txBody>
      </p:sp>
    </p:spTree>
    <p:extLst>
      <p:ext uri="{BB962C8B-B14F-4D97-AF65-F5344CB8AC3E}">
        <p14:creationId xmlns:p14="http://schemas.microsoft.com/office/powerpoint/2010/main" val="250878501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3/20/26</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 id="2147483739" r:id="rId67"/>
    <p:sldLayoutId id="2147483740" r:id="rId68"/>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EB_70C8438A.xml"/><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18/10/relationships/comments" Target="../comments/modernComment_1DA_476DABFC.xml"/><Relationship Id="rId7" Type="http://schemas.openxmlformats.org/officeDocument/2006/relationships/diagramColors" Target="../diagrams/colors1.xml"/><Relationship Id="rId2" Type="http://schemas.openxmlformats.org/officeDocument/2006/relationships/notesSlide" Target="../notesSlides/notesSlide4.xml"/><Relationship Id="rId1" Type="http://schemas.openxmlformats.org/officeDocument/2006/relationships/slideLayout" Target="../slideLayouts/slideLayout19.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46.jpeg"/><Relationship Id="rId4" Type="http://schemas.openxmlformats.org/officeDocument/2006/relationships/diagramData" Target="../diagrams/data1.xml"/><Relationship Id="rId9" Type="http://schemas.openxmlformats.org/officeDocument/2006/relationships/image" Target="../media/image45.jpeg"/></Relationships>
</file>

<file path=ppt/slides/_rels/slide8.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48.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1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7.xml"/></Relationships>
</file>

<file path=ppt/slides/_rels/slide13.xml.rels><?xml version="1.0" encoding="UTF-8" standalone="yes"?>
<Relationships xmlns="http://schemas.openxmlformats.org/package/2006/relationships"><Relationship Id="rId8" Type="http://schemas.microsoft.com/office/2007/relationships/diagramDrawing" Target="../diagrams/drawing5.xml"/><Relationship Id="rId3" Type="http://schemas.microsoft.com/office/2018/10/relationships/comments" Target="../comments/modernComment_1DB_B02D3500.xml"/><Relationship Id="rId7" Type="http://schemas.openxmlformats.org/officeDocument/2006/relationships/diagramColors" Target="../diagrams/colors5.xml"/><Relationship Id="rId2" Type="http://schemas.openxmlformats.org/officeDocument/2006/relationships/notesSlide" Target="../notesSlides/notesSlide10.xml"/><Relationship Id="rId1" Type="http://schemas.openxmlformats.org/officeDocument/2006/relationships/slideLayout" Target="../slideLayouts/slideLayout68.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DD_6D294EF0.xml"/><Relationship Id="rId2" Type="http://schemas.openxmlformats.org/officeDocument/2006/relationships/notesSlide" Target="../notesSlides/notesSlide11.xml"/><Relationship Id="rId1" Type="http://schemas.openxmlformats.org/officeDocument/2006/relationships/slideLayout" Target="../slideLayouts/slideLayout6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8.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DE_E3E80B86.xml"/><Relationship Id="rId2" Type="http://schemas.openxmlformats.org/officeDocument/2006/relationships/notesSlide" Target="../notesSlides/notesSlide16.xml"/><Relationship Id="rId1" Type="http://schemas.openxmlformats.org/officeDocument/2006/relationships/slideLayout" Target="../slideLayouts/slideLayout6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7.xml"/><Relationship Id="rId1" Type="http://schemas.openxmlformats.org/officeDocument/2006/relationships/slideLayout" Target="../slideLayouts/slideLayout41.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9.xml"/><Relationship Id="rId1" Type="http://schemas.openxmlformats.org/officeDocument/2006/relationships/themeOverride" Target="../theme/themeOverride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9.xml"/><Relationship Id="rId1" Type="http://schemas.openxmlformats.org/officeDocument/2006/relationships/themeOverride" Target="../theme/themeOverride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9.xml"/><Relationship Id="rId1" Type="http://schemas.openxmlformats.org/officeDocument/2006/relationships/themeOverride" Target="../theme/themeOverride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9.xml"/><Relationship Id="rId1" Type="http://schemas.openxmlformats.org/officeDocument/2006/relationships/themeOverride" Target="../theme/themeOverride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9.xml"/><Relationship Id="rId1" Type="http://schemas.openxmlformats.org/officeDocument/2006/relationships/themeOverride" Target="../theme/themeOverride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9.xml"/><Relationship Id="rId1" Type="http://schemas.openxmlformats.org/officeDocument/2006/relationships/themeOverride" Target="../theme/themeOverride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6BEED-403D-0E48-B5F1-6C4D2EB4C2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422A8-EA61-987E-877D-89E528DCE7F4}"/>
              </a:ext>
            </a:extLst>
          </p:cNvPr>
          <p:cNvSpPr>
            <a:spLocks noGrp="1"/>
          </p:cNvSpPr>
          <p:nvPr>
            <p:ph type="ctrTitle"/>
          </p:nvPr>
        </p:nvSpPr>
        <p:spPr>
          <a:xfrm>
            <a:off x="1974447" y="3002986"/>
            <a:ext cx="9652045" cy="852028"/>
          </a:xfrm>
        </p:spPr>
        <p:txBody>
          <a:bodyPr/>
          <a:lstStyle/>
          <a:p>
            <a:r>
              <a:rPr lang="en-US">
                <a:solidFill>
                  <a:schemeClr val="tx1"/>
                </a:solidFill>
              </a:rPr>
              <a:t>AF Training</a:t>
            </a:r>
            <a:r>
              <a:rPr lang="en-US" sz="4400">
                <a:solidFill>
                  <a:schemeClr val="tx1"/>
                </a:solidFill>
              </a:rPr>
              <a:t> </a:t>
            </a:r>
            <a:br>
              <a:rPr lang="en-US" sz="4400">
                <a:solidFill>
                  <a:schemeClr val="tx1"/>
                </a:solidFill>
              </a:rPr>
            </a:br>
            <a:r>
              <a:rPr lang="en-US" sz="4400">
                <a:solidFill>
                  <a:schemeClr val="accent6"/>
                </a:solidFill>
              </a:rPr>
              <a:t>Progressions</a:t>
            </a:r>
            <a:r>
              <a:rPr lang="en-US" sz="4400">
                <a:solidFill>
                  <a:schemeClr val="tx1"/>
                </a:solidFill>
              </a:rPr>
              <a:t> &amp; </a:t>
            </a:r>
            <a:r>
              <a:rPr lang="en-US" sz="4400">
                <a:solidFill>
                  <a:schemeClr val="accent6"/>
                </a:solidFill>
              </a:rPr>
              <a:t>Regressions</a:t>
            </a:r>
          </a:p>
        </p:txBody>
      </p:sp>
    </p:spTree>
    <p:extLst>
      <p:ext uri="{BB962C8B-B14F-4D97-AF65-F5344CB8AC3E}">
        <p14:creationId xmlns:p14="http://schemas.microsoft.com/office/powerpoint/2010/main" val="3004022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452F-6EDC-47AC-2AD0-32EE49233ADA}"/>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BC32532-31C8-D206-AFA4-FCF5805ACD4A}"/>
              </a:ext>
            </a:extLst>
          </p:cNvPr>
          <p:cNvSpPr>
            <a:spLocks noGrp="1"/>
          </p:cNvSpPr>
          <p:nvPr>
            <p:ph type="title"/>
          </p:nvPr>
        </p:nvSpPr>
        <p:spPr>
          <a:xfrm>
            <a:off x="342900" y="648929"/>
            <a:ext cx="8850261" cy="4108076"/>
          </a:xfrm>
        </p:spPr>
        <p:txBody>
          <a:bodyPr anchor="b">
            <a:noAutofit/>
          </a:bodyPr>
          <a:lstStyle/>
          <a:p>
            <a:pPr algn="r"/>
            <a:r>
              <a:rPr lang="en-US" sz="8000"/>
              <a:t>MOVING IS </a:t>
            </a:r>
            <a:r>
              <a:rPr lang="en-US" sz="8000">
                <a:solidFill>
                  <a:schemeClr val="accent6"/>
                </a:solidFill>
              </a:rPr>
              <a:t>ESSENTIAL</a:t>
            </a:r>
          </a:p>
        </p:txBody>
      </p:sp>
      <p:sp>
        <p:nvSpPr>
          <p:cNvPr id="33" name="Footer Placeholder 2">
            <a:extLst>
              <a:ext uri="{FF2B5EF4-FFF2-40B4-BE49-F238E27FC236}">
                <a16:creationId xmlns:a16="http://schemas.microsoft.com/office/drawing/2014/main" id="{9F083E93-90D7-9EEF-49CC-1F5948D99EF3}"/>
              </a:ext>
            </a:extLst>
          </p:cNvPr>
          <p:cNvSpPr>
            <a:spLocks noGrp="1"/>
          </p:cNvSpPr>
          <p:nvPr>
            <p:ph type="ftr" sz="quarter" idx="11"/>
          </p:nvPr>
        </p:nvSpPr>
        <p:spPr>
          <a:xfrm>
            <a:off x="342900" y="6394105"/>
            <a:ext cx="10259861" cy="365125"/>
          </a:xfrm>
        </p:spPr>
        <p:txBody>
          <a:bodyPr/>
          <a:lstStyle/>
          <a:p>
            <a:endParaRPr lang="en-US"/>
          </a:p>
        </p:txBody>
      </p:sp>
      <p:sp>
        <p:nvSpPr>
          <p:cNvPr id="24" name="Slide Number Placeholder 4">
            <a:extLst>
              <a:ext uri="{FF2B5EF4-FFF2-40B4-BE49-F238E27FC236}">
                <a16:creationId xmlns:a16="http://schemas.microsoft.com/office/drawing/2014/main" id="{E798B660-5AD6-6E48-4575-5524C8838539}"/>
              </a:ext>
            </a:extLst>
          </p:cNvPr>
          <p:cNvSpPr>
            <a:spLocks noGrp="1"/>
          </p:cNvSpPr>
          <p:nvPr>
            <p:ph type="sldNum" sz="quarter" idx="12"/>
          </p:nvPr>
        </p:nvSpPr>
        <p:spPr>
          <a:xfrm>
            <a:off x="11674225" y="5477347"/>
            <a:ext cx="305503" cy="306298"/>
          </a:xfrm>
        </p:spPr>
        <p:txBody>
          <a:bodyPr anchor="ctr">
            <a:normAutofit/>
          </a:bodyPr>
          <a:lstStyle/>
          <a:p>
            <a:pPr>
              <a:spcAft>
                <a:spcPts val="600"/>
              </a:spcAft>
            </a:pPr>
            <a:fld id="{545951DD-1C6A-495F-8185-4C73F8F8B75A}" type="slidenum">
              <a:rPr lang="en-US" smtClean="0"/>
              <a:pPr>
                <a:spcAft>
                  <a:spcPts val="600"/>
                </a:spcAft>
              </a:pPr>
              <a:t>2</a:t>
            </a:fld>
            <a:endParaRPr lang="en-US"/>
          </a:p>
        </p:txBody>
      </p:sp>
      <p:sp>
        <p:nvSpPr>
          <p:cNvPr id="2" name="Text Placeholder 4">
            <a:extLst>
              <a:ext uri="{FF2B5EF4-FFF2-40B4-BE49-F238E27FC236}">
                <a16:creationId xmlns:a16="http://schemas.microsoft.com/office/drawing/2014/main" id="{B64D0B8F-400B-EDDA-F78B-395FBC60C2A3}"/>
              </a:ext>
            </a:extLst>
          </p:cNvPr>
          <p:cNvSpPr txBox="1">
            <a:spLocks/>
          </p:cNvSpPr>
          <p:nvPr/>
        </p:nvSpPr>
        <p:spPr>
          <a:xfrm>
            <a:off x="1019498" y="3839192"/>
            <a:ext cx="5486400" cy="917813"/>
          </a:xfrm>
          <a:prstGeom prst="rect">
            <a:avLst/>
          </a:prstGeom>
        </p:spPr>
        <p:txBody>
          <a:bodyPr vert="horz" lIns="0" tIns="0" rIns="0" bIns="0" rtlCol="0">
            <a:noAutofit/>
          </a:bodyPr>
          <a:lstStyle>
            <a:lvl1pPr marL="0" indent="0" algn="l" defTabSz="914400" rtl="0" eaLnBrk="1" latinLnBrk="0" hangingPunct="1">
              <a:lnSpc>
                <a:spcPct val="110000"/>
              </a:lnSpc>
              <a:spcBef>
                <a:spcPts val="0"/>
              </a:spcBef>
              <a:buClr>
                <a:schemeClr val="accent3"/>
              </a:buClr>
              <a:buFont typeface="Arial" panose="020B0604020202020204" pitchFamily="34" charset="0"/>
              <a:buNone/>
              <a:defRPr sz="1000" b="0" kern="1200" cap="none" baseline="0">
                <a:solidFill>
                  <a:schemeClr val="tx1"/>
                </a:solidFill>
                <a:latin typeface="+mn-lt"/>
                <a:ea typeface="+mn-ea"/>
                <a:cs typeface="+mn-cs"/>
              </a:defRPr>
            </a:lvl1pPr>
            <a:lvl2pPr marL="344488" indent="-117475" algn="ctr" defTabSz="914400" rtl="0" eaLnBrk="1" latinLnBrk="0" hangingPunct="1">
              <a:lnSpc>
                <a:spcPct val="110000"/>
              </a:lnSpc>
              <a:spcBef>
                <a:spcPts val="0"/>
              </a:spcBef>
              <a:buFont typeface="Arial" panose="020B0604020202020204" pitchFamily="34" charset="0"/>
              <a:buNone/>
              <a:defRPr sz="1000" b="0" kern="1200" cap="none" baseline="0">
                <a:solidFill>
                  <a:schemeClr val="tx1"/>
                </a:solidFill>
                <a:latin typeface="+mn-lt"/>
                <a:ea typeface="+mn-ea"/>
                <a:cs typeface="+mn-cs"/>
              </a:defRPr>
            </a:lvl2pPr>
            <a:lvl3pPr marL="0" indent="0" algn="ctr" defTabSz="914400" rtl="0" eaLnBrk="1" latinLnBrk="0" hangingPunct="1">
              <a:lnSpc>
                <a:spcPct val="110000"/>
              </a:lnSpc>
              <a:spcBef>
                <a:spcPts val="0"/>
              </a:spcBef>
              <a:buClr>
                <a:schemeClr val="tx1"/>
              </a:buClr>
              <a:buFont typeface="Arial" panose="020B0604020202020204" pitchFamily="34" charset="0"/>
              <a:buNone/>
              <a:defRPr sz="1000" b="0" kern="1200" cap="none" baseline="0">
                <a:solidFill>
                  <a:schemeClr val="tx1"/>
                </a:solidFill>
                <a:latin typeface="+mn-lt"/>
                <a:ea typeface="+mn-ea"/>
                <a:cs typeface="+mn-cs"/>
              </a:defRPr>
            </a:lvl3pPr>
            <a:lvl4pPr marL="0" indent="0" algn="ctr" defTabSz="914400" rtl="0" eaLnBrk="1" latinLnBrk="0" hangingPunct="1">
              <a:lnSpc>
                <a:spcPct val="110000"/>
              </a:lnSpc>
              <a:spcBef>
                <a:spcPts val="0"/>
              </a:spcBef>
              <a:buClr>
                <a:schemeClr val="tx1"/>
              </a:buClr>
              <a:buSzPct val="70000"/>
              <a:buFont typeface="Arial" panose="020B0604020202020204" pitchFamily="34" charset="0"/>
              <a:buNone/>
              <a:defRPr sz="1000" b="0" kern="1200" cap="none" baseline="0">
                <a:solidFill>
                  <a:schemeClr val="tx1"/>
                </a:solidFill>
                <a:latin typeface="+mn-lt"/>
                <a:ea typeface="+mn-ea"/>
                <a:cs typeface="+mn-cs"/>
              </a:defRPr>
            </a:lvl4pPr>
            <a:lvl5pPr marL="0" indent="0" algn="ctr" defTabSz="914400" rtl="0" eaLnBrk="1" latinLnBrk="0" hangingPunct="1">
              <a:lnSpc>
                <a:spcPct val="110000"/>
              </a:lnSpc>
              <a:spcBef>
                <a:spcPts val="0"/>
              </a:spcBef>
              <a:buClr>
                <a:schemeClr val="tx1"/>
              </a:buClr>
              <a:buSzPct val="70000"/>
              <a:buFont typeface="Arial" panose="020B0604020202020204" pitchFamily="34" charset="0"/>
              <a:buNone/>
              <a:defRPr sz="1000" b="0" kern="1200" cap="none"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1892172682"/>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A1D14-ABFB-96D2-5017-0A8108E1BC3D}"/>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705D3C41-A919-231B-D14B-ED1009CB068E}"/>
              </a:ext>
            </a:extLst>
          </p:cNvPr>
          <p:cNvSpPr>
            <a:spLocks noGrp="1"/>
          </p:cNvSpPr>
          <p:nvPr>
            <p:ph type="title"/>
          </p:nvPr>
        </p:nvSpPr>
        <p:spPr>
          <a:xfrm>
            <a:off x="5762429" y="1499390"/>
            <a:ext cx="4410271" cy="456410"/>
          </a:xfrm>
        </p:spPr>
        <p:txBody>
          <a:bodyPr anchor="b">
            <a:noAutofit/>
          </a:bodyPr>
          <a:lstStyle/>
          <a:p>
            <a:r>
              <a:rPr lang="en-US">
                <a:solidFill>
                  <a:schemeClr val="accent6"/>
                </a:solidFill>
              </a:rPr>
              <a:t>6 FOUNDATIONAL </a:t>
            </a:r>
            <a:br>
              <a:rPr lang="en-US">
                <a:solidFill>
                  <a:schemeClr val="accent6"/>
                </a:solidFill>
              </a:rPr>
            </a:br>
            <a:r>
              <a:rPr lang="en-US">
                <a:solidFill>
                  <a:schemeClr val="accent6"/>
                </a:solidFill>
              </a:rPr>
              <a:t>MOVEMENT PATTERNS</a:t>
            </a:r>
          </a:p>
        </p:txBody>
      </p:sp>
      <p:sp>
        <p:nvSpPr>
          <p:cNvPr id="3" name="Text Placeholder 2">
            <a:extLst>
              <a:ext uri="{FF2B5EF4-FFF2-40B4-BE49-F238E27FC236}">
                <a16:creationId xmlns:a16="http://schemas.microsoft.com/office/drawing/2014/main" id="{DF5E5FC9-8AA1-F3F0-4DD1-CDED01349114}"/>
              </a:ext>
            </a:extLst>
          </p:cNvPr>
          <p:cNvSpPr>
            <a:spLocks noGrp="1"/>
          </p:cNvSpPr>
          <p:nvPr>
            <p:ph type="body" sz="quarter" idx="14"/>
          </p:nvPr>
        </p:nvSpPr>
        <p:spPr>
          <a:xfrm>
            <a:off x="5762428" y="2048238"/>
            <a:ext cx="4956371" cy="4009661"/>
          </a:xfrm>
        </p:spPr>
        <p:txBody>
          <a:bodyPr/>
          <a:lstStyle/>
          <a:p>
            <a:pPr marL="342900" indent="-342900">
              <a:buFont typeface="+mj-lt"/>
              <a:buAutoNum type="arabicPeriod"/>
            </a:pPr>
            <a:r>
              <a:rPr lang="en-US" sz="3200" b="1"/>
              <a:t>PUSH</a:t>
            </a:r>
          </a:p>
          <a:p>
            <a:pPr marL="342900" indent="-342900">
              <a:buFont typeface="+mj-lt"/>
              <a:buAutoNum type="arabicPeriod"/>
            </a:pPr>
            <a:r>
              <a:rPr lang="en-US" sz="3200" b="1"/>
              <a:t>PULL</a:t>
            </a:r>
          </a:p>
          <a:p>
            <a:pPr marL="342900" indent="-342900">
              <a:buFont typeface="+mj-lt"/>
              <a:buAutoNum type="arabicPeriod"/>
            </a:pPr>
            <a:r>
              <a:rPr lang="en-US" sz="3200" b="1"/>
              <a:t>HINGE</a:t>
            </a:r>
          </a:p>
          <a:p>
            <a:pPr marL="342900" indent="-342900">
              <a:buFont typeface="+mj-lt"/>
              <a:buAutoNum type="arabicPeriod"/>
            </a:pPr>
            <a:r>
              <a:rPr lang="en-US" sz="3200" b="1"/>
              <a:t>SQUAT</a:t>
            </a:r>
          </a:p>
          <a:p>
            <a:pPr marL="342900" indent="-342900">
              <a:buFont typeface="+mj-lt"/>
              <a:buAutoNum type="arabicPeriod"/>
            </a:pPr>
            <a:r>
              <a:rPr lang="en-US" sz="3200" b="1"/>
              <a:t>LUNGE</a:t>
            </a:r>
          </a:p>
          <a:p>
            <a:pPr marL="342900" indent="-342900">
              <a:buFont typeface="+mj-lt"/>
              <a:buAutoNum type="arabicPeriod"/>
            </a:pPr>
            <a:r>
              <a:rPr lang="en-US" sz="3200" b="1"/>
              <a:t>ROTATION</a:t>
            </a:r>
          </a:p>
        </p:txBody>
      </p:sp>
      <p:sp>
        <p:nvSpPr>
          <p:cNvPr id="24" name="Slide Number Placeholder 4">
            <a:extLst>
              <a:ext uri="{FF2B5EF4-FFF2-40B4-BE49-F238E27FC236}">
                <a16:creationId xmlns:a16="http://schemas.microsoft.com/office/drawing/2014/main" id="{8C1044FB-A150-09FA-BB9C-13D7582FCEB3}"/>
              </a:ext>
            </a:extLst>
          </p:cNvPr>
          <p:cNvSpPr>
            <a:spLocks noGrp="1"/>
          </p:cNvSpPr>
          <p:nvPr>
            <p:ph type="sldNum" sz="quarter" idx="4294967295"/>
          </p:nvPr>
        </p:nvSpPr>
        <p:spPr>
          <a:xfrm>
            <a:off x="11887200" y="5476875"/>
            <a:ext cx="304800" cy="306388"/>
          </a:xfrm>
        </p:spPr>
        <p:txBody>
          <a:bodyPr anchor="ctr">
            <a:normAutofit/>
          </a:bodyPr>
          <a:lstStyle/>
          <a:p>
            <a:pPr>
              <a:spcAft>
                <a:spcPts val="600"/>
              </a:spcAft>
            </a:pPr>
            <a:fld id="{545951DD-1C6A-495F-8185-4C73F8F8B75A}" type="slidenum">
              <a:rPr lang="en-US" smtClean="0"/>
              <a:pPr>
                <a:spcAft>
                  <a:spcPts val="600"/>
                </a:spcAft>
              </a:pPr>
              <a:t>3</a:t>
            </a:fld>
            <a:endParaRPr lang="en-US"/>
          </a:p>
        </p:txBody>
      </p:sp>
      <p:sp>
        <p:nvSpPr>
          <p:cNvPr id="2" name="Text Placeholder 4">
            <a:extLst>
              <a:ext uri="{FF2B5EF4-FFF2-40B4-BE49-F238E27FC236}">
                <a16:creationId xmlns:a16="http://schemas.microsoft.com/office/drawing/2014/main" id="{42858D45-B8DC-2441-7B48-9FABD27C6458}"/>
              </a:ext>
            </a:extLst>
          </p:cNvPr>
          <p:cNvSpPr txBox="1">
            <a:spLocks/>
          </p:cNvSpPr>
          <p:nvPr/>
        </p:nvSpPr>
        <p:spPr>
          <a:xfrm>
            <a:off x="1019498" y="3839192"/>
            <a:ext cx="5486400" cy="917813"/>
          </a:xfrm>
          <a:prstGeom prst="rect">
            <a:avLst/>
          </a:prstGeom>
        </p:spPr>
        <p:txBody>
          <a:bodyPr vert="horz" lIns="0" tIns="0" rIns="0" bIns="0" rtlCol="0">
            <a:noAutofit/>
          </a:bodyPr>
          <a:lstStyle>
            <a:lvl1pPr marL="0" indent="0" algn="l" defTabSz="914400" rtl="0" eaLnBrk="1" latinLnBrk="0" hangingPunct="1">
              <a:lnSpc>
                <a:spcPct val="110000"/>
              </a:lnSpc>
              <a:spcBef>
                <a:spcPts val="0"/>
              </a:spcBef>
              <a:buClr>
                <a:schemeClr val="accent3"/>
              </a:buClr>
              <a:buFont typeface="Arial" panose="020B0604020202020204" pitchFamily="34" charset="0"/>
              <a:buNone/>
              <a:defRPr sz="1000" b="0" kern="1200" cap="none" baseline="0">
                <a:solidFill>
                  <a:schemeClr val="tx1"/>
                </a:solidFill>
                <a:latin typeface="+mn-lt"/>
                <a:ea typeface="+mn-ea"/>
                <a:cs typeface="+mn-cs"/>
              </a:defRPr>
            </a:lvl1pPr>
            <a:lvl2pPr marL="344488" indent="-117475" algn="ctr" defTabSz="914400" rtl="0" eaLnBrk="1" latinLnBrk="0" hangingPunct="1">
              <a:lnSpc>
                <a:spcPct val="110000"/>
              </a:lnSpc>
              <a:spcBef>
                <a:spcPts val="0"/>
              </a:spcBef>
              <a:buFont typeface="Arial" panose="020B0604020202020204" pitchFamily="34" charset="0"/>
              <a:buNone/>
              <a:defRPr sz="1000" b="0" kern="1200" cap="none" baseline="0">
                <a:solidFill>
                  <a:schemeClr val="tx1"/>
                </a:solidFill>
                <a:latin typeface="+mn-lt"/>
                <a:ea typeface="+mn-ea"/>
                <a:cs typeface="+mn-cs"/>
              </a:defRPr>
            </a:lvl2pPr>
            <a:lvl3pPr marL="0" indent="0" algn="ctr" defTabSz="914400" rtl="0" eaLnBrk="1" latinLnBrk="0" hangingPunct="1">
              <a:lnSpc>
                <a:spcPct val="110000"/>
              </a:lnSpc>
              <a:spcBef>
                <a:spcPts val="0"/>
              </a:spcBef>
              <a:buClr>
                <a:schemeClr val="tx1"/>
              </a:buClr>
              <a:buFont typeface="Arial" panose="020B0604020202020204" pitchFamily="34" charset="0"/>
              <a:buNone/>
              <a:defRPr sz="1000" b="0" kern="1200" cap="none" baseline="0">
                <a:solidFill>
                  <a:schemeClr val="tx1"/>
                </a:solidFill>
                <a:latin typeface="+mn-lt"/>
                <a:ea typeface="+mn-ea"/>
                <a:cs typeface="+mn-cs"/>
              </a:defRPr>
            </a:lvl3pPr>
            <a:lvl4pPr marL="0" indent="0" algn="ctr" defTabSz="914400" rtl="0" eaLnBrk="1" latinLnBrk="0" hangingPunct="1">
              <a:lnSpc>
                <a:spcPct val="110000"/>
              </a:lnSpc>
              <a:spcBef>
                <a:spcPts val="0"/>
              </a:spcBef>
              <a:buClr>
                <a:schemeClr val="tx1"/>
              </a:buClr>
              <a:buSzPct val="70000"/>
              <a:buFont typeface="Arial" panose="020B0604020202020204" pitchFamily="34" charset="0"/>
              <a:buNone/>
              <a:defRPr sz="1000" b="0" kern="1200" cap="none" baseline="0">
                <a:solidFill>
                  <a:schemeClr val="tx1"/>
                </a:solidFill>
                <a:latin typeface="+mn-lt"/>
                <a:ea typeface="+mn-ea"/>
                <a:cs typeface="+mn-cs"/>
              </a:defRPr>
            </a:lvl4pPr>
            <a:lvl5pPr marL="0" indent="0" algn="ctr" defTabSz="914400" rtl="0" eaLnBrk="1" latinLnBrk="0" hangingPunct="1">
              <a:lnSpc>
                <a:spcPct val="110000"/>
              </a:lnSpc>
              <a:spcBef>
                <a:spcPts val="0"/>
              </a:spcBef>
              <a:buClr>
                <a:schemeClr val="tx1"/>
              </a:buClr>
              <a:buSzPct val="70000"/>
              <a:buFont typeface="Arial" panose="020B0604020202020204" pitchFamily="34" charset="0"/>
              <a:buNone/>
              <a:defRPr sz="1000" b="0" kern="1200" cap="none"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2242806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3B196-903F-19B7-57BD-8DE29A6C11B6}"/>
              </a:ext>
            </a:extLst>
          </p:cNvPr>
          <p:cNvSpPr>
            <a:spLocks noGrp="1"/>
          </p:cNvSpPr>
          <p:nvPr>
            <p:ph type="title"/>
          </p:nvPr>
        </p:nvSpPr>
        <p:spPr>
          <a:xfrm>
            <a:off x="880782" y="545914"/>
            <a:ext cx="10414747" cy="838386"/>
          </a:xfrm>
        </p:spPr>
        <p:txBody>
          <a:bodyPr/>
          <a:lstStyle/>
          <a:p>
            <a:r>
              <a:rPr lang="en-US" sz="2800" b="0"/>
              <a:t>AF Training </a:t>
            </a:r>
            <a:br>
              <a:rPr lang="en-US" sz="4000"/>
            </a:br>
            <a:r>
              <a:rPr lang="en-US" sz="4000"/>
              <a:t>Progressions &amp; Regressions </a:t>
            </a:r>
            <a:r>
              <a:rPr lang="en-US" sz="4000">
                <a:solidFill>
                  <a:schemeClr val="accent6"/>
                </a:solidFill>
              </a:rPr>
              <a:t>Principles</a:t>
            </a:r>
          </a:p>
        </p:txBody>
      </p:sp>
      <p:sp>
        <p:nvSpPr>
          <p:cNvPr id="3" name="Content Placeholder 2">
            <a:extLst>
              <a:ext uri="{FF2B5EF4-FFF2-40B4-BE49-F238E27FC236}">
                <a16:creationId xmlns:a16="http://schemas.microsoft.com/office/drawing/2014/main" id="{02FDB02F-9E24-58D9-C312-7D6FA79FFE26}"/>
              </a:ext>
            </a:extLst>
          </p:cNvPr>
          <p:cNvSpPr>
            <a:spLocks noGrp="1"/>
          </p:cNvSpPr>
          <p:nvPr>
            <p:ph idx="1"/>
          </p:nvPr>
        </p:nvSpPr>
        <p:spPr>
          <a:xfrm>
            <a:off x="880781" y="1712515"/>
            <a:ext cx="10414747" cy="4501471"/>
          </a:xfrm>
        </p:spPr>
        <p:txBody>
          <a:bodyPr vert="horz" lIns="0" tIns="0" rIns="0" bIns="0" rtlCol="0" anchor="t">
            <a:noAutofit/>
          </a:bodyPr>
          <a:lstStyle/>
          <a:p>
            <a:pPr marL="0" indent="0">
              <a:buNone/>
            </a:pPr>
            <a:r>
              <a:rPr lang="en-US" sz="2400" b="1">
                <a:solidFill>
                  <a:schemeClr val="accent4"/>
                </a:solidFill>
              </a:rPr>
              <a:t>Train for Life, Not Just the Gym</a:t>
            </a:r>
          </a:p>
          <a:p>
            <a:r>
              <a:rPr lang="en-US"/>
              <a:t>Movement quality comes first—before load, intensity, or complexity. The goal is not just strength in the gym but </a:t>
            </a:r>
            <a:r>
              <a:rPr lang="en-US" b="1"/>
              <a:t>resilience in daily life.</a:t>
            </a:r>
          </a:p>
          <a:p>
            <a:endParaRPr lang="en-US"/>
          </a:p>
          <a:p>
            <a:pPr marL="0" indent="0">
              <a:buNone/>
            </a:pPr>
            <a:r>
              <a:rPr lang="en-US" sz="2400" b="1">
                <a:solidFill>
                  <a:schemeClr val="accent4"/>
                </a:solidFill>
              </a:rPr>
              <a:t>Empowerment Through Adaptability</a:t>
            </a:r>
          </a:p>
          <a:p>
            <a:r>
              <a:rPr lang="en-US"/>
              <a:t>Regaining mobility, stability, and strength allows people to </a:t>
            </a:r>
            <a:r>
              <a:rPr lang="en-US" b="1"/>
              <a:t>move with confidence</a:t>
            </a:r>
            <a:r>
              <a:rPr lang="en-US"/>
              <a:t> in any scenario—whether lifting a barbell or carrying a child. Progressions expand possibilities, ensuring clients feel </a:t>
            </a:r>
            <a:r>
              <a:rPr lang="en-US" b="1"/>
              <a:t>capable, not restricted.</a:t>
            </a:r>
          </a:p>
          <a:p>
            <a:endParaRPr lang="en-US"/>
          </a:p>
          <a:p>
            <a:pPr marL="0" indent="0">
              <a:buNone/>
            </a:pPr>
            <a:r>
              <a:rPr lang="en-US" sz="2400" b="1">
                <a:solidFill>
                  <a:schemeClr val="accent4"/>
                </a:solidFill>
              </a:rPr>
              <a:t>Function Over Formula</a:t>
            </a:r>
          </a:p>
          <a:p>
            <a:r>
              <a:rPr lang="en-US"/>
              <a:t>We progress or regress movements based on </a:t>
            </a:r>
            <a:r>
              <a:rPr lang="en-US" b="1"/>
              <a:t>how they help people feel, function, and perform in the real world.</a:t>
            </a:r>
            <a:r>
              <a:rPr lang="en-US"/>
              <a:t> By adjusting </a:t>
            </a:r>
            <a:r>
              <a:rPr lang="en-US" b="1"/>
              <a:t>load, tempo, ROM, and stability</a:t>
            </a:r>
            <a:r>
              <a:rPr lang="en-US"/>
              <a:t>, we meet clients </a:t>
            </a:r>
            <a:r>
              <a:rPr lang="en-US" b="1"/>
              <a:t>where they are today</a:t>
            </a:r>
            <a:r>
              <a:rPr lang="en-US"/>
              <a:t> while guiding them toward </a:t>
            </a:r>
            <a:r>
              <a:rPr lang="en-US" b="1"/>
              <a:t>long-term success.</a:t>
            </a:r>
            <a:endParaRPr lang="en-US"/>
          </a:p>
        </p:txBody>
      </p:sp>
      <p:sp>
        <p:nvSpPr>
          <p:cNvPr id="5" name="Slide Number Placeholder 4">
            <a:extLst>
              <a:ext uri="{FF2B5EF4-FFF2-40B4-BE49-F238E27FC236}">
                <a16:creationId xmlns:a16="http://schemas.microsoft.com/office/drawing/2014/main" id="{9C10DB04-218A-B01E-E568-D0EB71869B44}"/>
              </a:ext>
            </a:extLst>
          </p:cNvPr>
          <p:cNvSpPr>
            <a:spLocks noGrp="1"/>
          </p:cNvSpPr>
          <p:nvPr>
            <p:ph type="sldNum" sz="quarter" idx="12"/>
          </p:nvPr>
        </p:nvSpPr>
        <p:spPr/>
        <p:txBody>
          <a:bodyPr/>
          <a:lstStyle/>
          <a:p>
            <a:fld id="{545951DD-1C6A-495F-8185-4C73F8F8B75A}" type="slidenum">
              <a:rPr lang="en-US" smtClean="0"/>
              <a:pPr/>
              <a:t>4</a:t>
            </a:fld>
            <a:endParaRPr lang="en-US"/>
          </a:p>
        </p:txBody>
      </p:sp>
    </p:spTree>
    <p:extLst>
      <p:ext uri="{BB962C8B-B14F-4D97-AF65-F5344CB8AC3E}">
        <p14:creationId xmlns:p14="http://schemas.microsoft.com/office/powerpoint/2010/main" val="2211744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FBA9A-99B2-77C0-7B7C-DBA73FF90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44262-646C-6BCD-1621-3D3C4164536F}"/>
              </a:ext>
            </a:extLst>
          </p:cNvPr>
          <p:cNvSpPr txBox="1">
            <a:spLocks noGrp="1"/>
          </p:cNvSpPr>
          <p:nvPr>
            <p:ph type="title"/>
          </p:nvPr>
        </p:nvSpPr>
        <p:spPr>
          <a:xfrm>
            <a:off x="1710549" y="419377"/>
            <a:ext cx="8767725" cy="797588"/>
          </a:xfrm>
          <a:prstGeom prst="rect">
            <a:avLst/>
          </a:prstGeom>
          <a:noFill/>
          <a:ln>
            <a:noFill/>
          </a:ln>
        </p:spPr>
        <p:txBody>
          <a:bodyPr vert="horz" wrap="square" lIns="0" tIns="0" rIns="0" bIns="0" anchor="ctr" anchorCtr="1" compatLnSpc="1">
            <a:noAutofit/>
          </a:bodyPr>
          <a:lstStyle/>
          <a:p>
            <a:r>
              <a:rPr lang="en-US" sz="4400" b="1"/>
              <a:t>The High Five Assessment</a:t>
            </a:r>
          </a:p>
        </p:txBody>
      </p:sp>
      <p:sp>
        <p:nvSpPr>
          <p:cNvPr id="5" name="TextBox 4">
            <a:extLst>
              <a:ext uri="{FF2B5EF4-FFF2-40B4-BE49-F238E27FC236}">
                <a16:creationId xmlns:a16="http://schemas.microsoft.com/office/drawing/2014/main" id="{81394859-C953-4188-F131-113CA649C3F1}"/>
              </a:ext>
            </a:extLst>
          </p:cNvPr>
          <p:cNvSpPr txBox="1"/>
          <p:nvPr/>
        </p:nvSpPr>
        <p:spPr>
          <a:xfrm>
            <a:off x="836615" y="4504724"/>
            <a:ext cx="10515599" cy="1292662"/>
          </a:xfrm>
          <a:prstGeom prst="rect">
            <a:avLst/>
          </a:prstGeom>
          <a:noFill/>
        </p:spPr>
        <p:txBody>
          <a:bodyPr wrap="square" rtlCol="0">
            <a:spAutoFit/>
          </a:bodyPr>
          <a:lstStyle/>
          <a:p>
            <a:endParaRPr lang="en-US" sz="1400"/>
          </a:p>
          <a:p>
            <a:endParaRPr lang="en-US"/>
          </a:p>
          <a:p>
            <a:endParaRPr lang="en-US"/>
          </a:p>
          <a:p>
            <a:endParaRPr lang="en-US" sz="1400"/>
          </a:p>
          <a:p>
            <a:pPr algn="l"/>
            <a:endParaRPr lang="en-US" sz="1400" err="1">
              <a:solidFill>
                <a:schemeClr val="bg1"/>
              </a:solidFill>
            </a:endParaRPr>
          </a:p>
        </p:txBody>
      </p:sp>
      <p:sp>
        <p:nvSpPr>
          <p:cNvPr id="6" name="Footer Placeholder 5">
            <a:extLst>
              <a:ext uri="{FF2B5EF4-FFF2-40B4-BE49-F238E27FC236}">
                <a16:creationId xmlns:a16="http://schemas.microsoft.com/office/drawing/2014/main" id="{CC8AB547-0126-EF03-F239-1034AEA327F6}"/>
              </a:ext>
            </a:extLst>
          </p:cNvPr>
          <p:cNvSpPr>
            <a:spLocks noGrp="1"/>
          </p:cNvSpPr>
          <p:nvPr>
            <p:ph type="ftr" sz="quarter" idx="9"/>
          </p:nvPr>
        </p:nvSpPr>
        <p:spPr/>
        <p:txBody>
          <a:bodyPr/>
          <a:lstStyle/>
          <a:p>
            <a:r>
              <a:rPr lang="en-US"/>
              <a:t>This ensures safe and effective programming that </a:t>
            </a:r>
            <a:r>
              <a:rPr lang="en-US" b="1"/>
              <a:t>meets them where they are</a:t>
            </a:r>
            <a:r>
              <a:rPr lang="en-US"/>
              <a:t> while guiding them toward </a:t>
            </a:r>
            <a:r>
              <a:rPr lang="en-US" b="1"/>
              <a:t>long-term improvement.</a:t>
            </a:r>
            <a:endParaRPr lang="en-US"/>
          </a:p>
        </p:txBody>
      </p:sp>
      <p:graphicFrame>
        <p:nvGraphicFramePr>
          <p:cNvPr id="10" name="Table 9">
            <a:extLst>
              <a:ext uri="{FF2B5EF4-FFF2-40B4-BE49-F238E27FC236}">
                <a16:creationId xmlns:a16="http://schemas.microsoft.com/office/drawing/2014/main" id="{192B84B8-6688-F8C7-F050-AF86FCBCC605}"/>
              </a:ext>
            </a:extLst>
          </p:cNvPr>
          <p:cNvGraphicFramePr>
            <a:graphicFrameLocks noGrp="1"/>
          </p:cNvGraphicFramePr>
          <p:nvPr>
            <p:extLst>
              <p:ext uri="{D42A27DB-BD31-4B8C-83A1-F6EECF244321}">
                <p14:modId xmlns:p14="http://schemas.microsoft.com/office/powerpoint/2010/main" val="4269147713"/>
              </p:ext>
            </p:extLst>
          </p:nvPr>
        </p:nvGraphicFramePr>
        <p:xfrm>
          <a:off x="1166655" y="1768139"/>
          <a:ext cx="9855510" cy="1615440"/>
        </p:xfrm>
        <a:graphic>
          <a:graphicData uri="http://schemas.openxmlformats.org/drawingml/2006/table">
            <a:tbl>
              <a:tblPr firstRow="1" bandRow="1">
                <a:tableStyleId>{68D230F3-CF80-4859-8CE7-A43EE81993B5}</a:tableStyleId>
              </a:tblPr>
              <a:tblGrid>
                <a:gridCol w="1971102">
                  <a:extLst>
                    <a:ext uri="{9D8B030D-6E8A-4147-A177-3AD203B41FA5}">
                      <a16:colId xmlns:a16="http://schemas.microsoft.com/office/drawing/2014/main" val="117594331"/>
                    </a:ext>
                  </a:extLst>
                </a:gridCol>
                <a:gridCol w="1971102">
                  <a:extLst>
                    <a:ext uri="{9D8B030D-6E8A-4147-A177-3AD203B41FA5}">
                      <a16:colId xmlns:a16="http://schemas.microsoft.com/office/drawing/2014/main" val="3463621414"/>
                    </a:ext>
                  </a:extLst>
                </a:gridCol>
                <a:gridCol w="1971102">
                  <a:extLst>
                    <a:ext uri="{9D8B030D-6E8A-4147-A177-3AD203B41FA5}">
                      <a16:colId xmlns:a16="http://schemas.microsoft.com/office/drawing/2014/main" val="2557276051"/>
                    </a:ext>
                  </a:extLst>
                </a:gridCol>
                <a:gridCol w="1971102">
                  <a:extLst>
                    <a:ext uri="{9D8B030D-6E8A-4147-A177-3AD203B41FA5}">
                      <a16:colId xmlns:a16="http://schemas.microsoft.com/office/drawing/2014/main" val="2291846731"/>
                    </a:ext>
                  </a:extLst>
                </a:gridCol>
                <a:gridCol w="1971102">
                  <a:extLst>
                    <a:ext uri="{9D8B030D-6E8A-4147-A177-3AD203B41FA5}">
                      <a16:colId xmlns:a16="http://schemas.microsoft.com/office/drawing/2014/main" val="640917635"/>
                    </a:ext>
                  </a:extLst>
                </a:gridCol>
              </a:tblGrid>
              <a:tr h="340551">
                <a:tc gridSpan="5">
                  <a:txBody>
                    <a:bodyPr/>
                    <a:lstStyle/>
                    <a:p>
                      <a:r>
                        <a:rPr lang="en-US" sz="1400"/>
                        <a:t>This screen evaluates </a:t>
                      </a:r>
                      <a:r>
                        <a:rPr lang="en-US" sz="1400" b="1"/>
                        <a:t>core stability, lower-body mechanics, and overall coordination</a:t>
                      </a:r>
                      <a:r>
                        <a:rPr lang="en-US" sz="1400"/>
                        <a:t> by testing five fundamental movement patterns: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400">
                        <a:solidFill>
                          <a:schemeClr val="tx1"/>
                        </a:solidFill>
                      </a:endParaRPr>
                    </a:p>
                    <a:p>
                      <a:r>
                        <a:rPr lang="en-US" sz="1400" b="1"/>
                        <a:t>Perform 5-10 reps per movement (per side if applicable).</a:t>
                      </a:r>
                    </a:p>
                    <a:p>
                      <a:endParaRPr lang="en-US" sz="1400" b="1"/>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55556815"/>
                  </a:ext>
                </a:extLst>
              </a:tr>
              <a:tr h="370840">
                <a:tc>
                  <a:txBody>
                    <a:bodyPr/>
                    <a:lstStyle/>
                    <a:p>
                      <a:r>
                        <a:rPr lang="en-US" b="1"/>
                        <a:t>Overhead Squat</a:t>
                      </a:r>
                    </a:p>
                  </a:txBody>
                  <a:tcPr anchor="ctr">
                    <a:lnR w="12700" cap="flat" cmpd="sng" algn="ctr">
                      <a:solidFill>
                        <a:schemeClr val="tx1"/>
                      </a:solidFill>
                      <a:prstDash val="solid"/>
                      <a:round/>
                      <a:headEnd type="none" w="med" len="med"/>
                      <a:tailEnd type="none" w="med" len="med"/>
                    </a:lnR>
                    <a:solidFill>
                      <a:schemeClr val="accent5">
                        <a:alpha val="20000"/>
                      </a:schemeClr>
                    </a:solidFill>
                  </a:tcPr>
                </a:tc>
                <a:tc>
                  <a:txBody>
                    <a:bodyPr/>
                    <a:lstStyle/>
                    <a:p>
                      <a:r>
                        <a:rPr lang="en-US" b="1"/>
                        <a:t>Split Squat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5">
                        <a:alpha val="20000"/>
                      </a:schemeClr>
                    </a:solidFill>
                  </a:tcPr>
                </a:tc>
                <a:tc>
                  <a:txBody>
                    <a:bodyPr/>
                    <a:lstStyle/>
                    <a:p>
                      <a:r>
                        <a:rPr lang="en-US" b="1"/>
                        <a:t>Single-Leg Balance Reach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5">
                        <a:alpha val="20000"/>
                      </a:schemeClr>
                    </a:solidFill>
                  </a:tcPr>
                </a:tc>
                <a:tc>
                  <a:txBody>
                    <a:bodyPr/>
                    <a:lstStyle/>
                    <a:p>
                      <a:r>
                        <a:rPr lang="en-US" b="1"/>
                        <a:t>Plank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5">
                        <a:alpha val="20000"/>
                      </a:schemeClr>
                    </a:solidFill>
                  </a:tcPr>
                </a:tc>
                <a:tc>
                  <a:txBody>
                    <a:bodyPr/>
                    <a:lstStyle/>
                    <a:p>
                      <a:r>
                        <a:rPr lang="en-US" b="1"/>
                        <a:t>Birddog</a:t>
                      </a:r>
                    </a:p>
                  </a:txBody>
                  <a:tcPr anchor="ctr">
                    <a:lnL w="12700" cap="flat" cmpd="sng" algn="ctr">
                      <a:solidFill>
                        <a:schemeClr val="tx1"/>
                      </a:solidFill>
                      <a:prstDash val="solid"/>
                      <a:round/>
                      <a:headEnd type="none" w="med" len="med"/>
                      <a:tailEnd type="none" w="med" len="med"/>
                    </a:lnL>
                    <a:solidFill>
                      <a:schemeClr val="accent5">
                        <a:alpha val="20000"/>
                      </a:schemeClr>
                    </a:solidFill>
                  </a:tcPr>
                </a:tc>
                <a:extLst>
                  <a:ext uri="{0D108BD9-81ED-4DB2-BD59-A6C34878D82A}">
                    <a16:rowId xmlns:a16="http://schemas.microsoft.com/office/drawing/2014/main" val="126949770"/>
                  </a:ext>
                </a:extLst>
              </a:tr>
            </a:tbl>
          </a:graphicData>
        </a:graphic>
      </p:graphicFrame>
      <p:graphicFrame>
        <p:nvGraphicFramePr>
          <p:cNvPr id="14" name="Table 13">
            <a:extLst>
              <a:ext uri="{FF2B5EF4-FFF2-40B4-BE49-F238E27FC236}">
                <a16:creationId xmlns:a16="http://schemas.microsoft.com/office/drawing/2014/main" id="{7137894C-F3DD-FB80-B36A-226367D0BE24}"/>
              </a:ext>
            </a:extLst>
          </p:cNvPr>
          <p:cNvGraphicFramePr>
            <a:graphicFrameLocks noGrp="1"/>
          </p:cNvGraphicFramePr>
          <p:nvPr>
            <p:extLst>
              <p:ext uri="{D42A27DB-BD31-4B8C-83A1-F6EECF244321}">
                <p14:modId xmlns:p14="http://schemas.microsoft.com/office/powerpoint/2010/main" val="1345011710"/>
              </p:ext>
            </p:extLst>
          </p:nvPr>
        </p:nvGraphicFramePr>
        <p:xfrm>
          <a:off x="1166655" y="4100031"/>
          <a:ext cx="9855508" cy="1554480"/>
        </p:xfrm>
        <a:graphic>
          <a:graphicData uri="http://schemas.openxmlformats.org/drawingml/2006/table">
            <a:tbl>
              <a:tblPr firstRow="1" bandRow="1">
                <a:tableStyleId>{D27102A9-8310-4765-A935-A1911B00CA55}</a:tableStyleId>
              </a:tblPr>
              <a:tblGrid>
                <a:gridCol w="2463877">
                  <a:extLst>
                    <a:ext uri="{9D8B030D-6E8A-4147-A177-3AD203B41FA5}">
                      <a16:colId xmlns:a16="http://schemas.microsoft.com/office/drawing/2014/main" val="2356385474"/>
                    </a:ext>
                  </a:extLst>
                </a:gridCol>
                <a:gridCol w="2463877">
                  <a:extLst>
                    <a:ext uri="{9D8B030D-6E8A-4147-A177-3AD203B41FA5}">
                      <a16:colId xmlns:a16="http://schemas.microsoft.com/office/drawing/2014/main" val="1302316097"/>
                    </a:ext>
                  </a:extLst>
                </a:gridCol>
                <a:gridCol w="2463877">
                  <a:extLst>
                    <a:ext uri="{9D8B030D-6E8A-4147-A177-3AD203B41FA5}">
                      <a16:colId xmlns:a16="http://schemas.microsoft.com/office/drawing/2014/main" val="679613253"/>
                    </a:ext>
                  </a:extLst>
                </a:gridCol>
                <a:gridCol w="2463877">
                  <a:extLst>
                    <a:ext uri="{9D8B030D-6E8A-4147-A177-3AD203B41FA5}">
                      <a16:colId xmlns:a16="http://schemas.microsoft.com/office/drawing/2014/main" val="2751138353"/>
                    </a:ext>
                  </a:extLst>
                </a:gridCol>
              </a:tblGrid>
              <a:tr h="370840">
                <a:tc gridSpan="4">
                  <a:txBody>
                    <a:bodyPr/>
                    <a:lstStyle/>
                    <a:p>
                      <a:pPr algn="ctr"/>
                      <a:r>
                        <a:rPr lang="en-US" sz="1400"/>
                        <a:t>For each of the five movements, you’ll record:</a:t>
                      </a:r>
                    </a:p>
                    <a:p>
                      <a:pPr algn="ctr">
                        <a:buFont typeface="Arial" panose="020B0604020202020204" pitchFamily="34" charset="0"/>
                        <a:buChar char="•"/>
                      </a:pPr>
                      <a:r>
                        <a:rPr lang="en-US" sz="1400" b="1"/>
                        <a:t>Pain/Functionality Score:</a:t>
                      </a:r>
                      <a:r>
                        <a:rPr lang="en-US" sz="1400"/>
                        <a:t> 0 to 3, using the following key:</a:t>
                      </a:r>
                    </a:p>
                    <a:p>
                      <a:pPr algn="ctr">
                        <a:buFont typeface="Arial" panose="020B0604020202020204" pitchFamily="34" charset="0"/>
                        <a:buChar char="•"/>
                      </a:pPr>
                      <a:endParaRPr lang="en-US" sz="1400"/>
                    </a:p>
                  </a:txBody>
                  <a:tcPr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4816981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0 = Pain is indicated (movement cannot be continued or is very uncomfortable)</a:t>
                      </a:r>
                    </a:p>
                  </a:txBody>
                  <a:tcPr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t>1 = Movement is dysfunctional or cannot be completed without modification</a:t>
                      </a:r>
                    </a:p>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t>2 = Movement is functional but with clear compensations</a:t>
                      </a:r>
                    </a:p>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t>3 = Movement is functional without noticeable compensation (movement can be loaded today)</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82114849"/>
                  </a:ext>
                </a:extLst>
              </a:tr>
            </a:tbl>
          </a:graphicData>
        </a:graphic>
      </p:graphicFrame>
    </p:spTree>
    <p:extLst>
      <p:ext uri="{BB962C8B-B14F-4D97-AF65-F5344CB8AC3E}">
        <p14:creationId xmlns:p14="http://schemas.microsoft.com/office/powerpoint/2010/main" val="639870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E3C6DADD-4E5D-AB2E-8846-75987C28903A}"/>
              </a:ext>
            </a:extLst>
          </p:cNvPr>
          <p:cNvSpPr>
            <a:spLocks noGrp="1"/>
          </p:cNvSpPr>
          <p:nvPr>
            <p:ph type="title"/>
          </p:nvPr>
        </p:nvSpPr>
        <p:spPr>
          <a:xfrm>
            <a:off x="3726537" y="1039058"/>
            <a:ext cx="5823863" cy="585941"/>
          </a:xfrm>
        </p:spPr>
        <p:txBody>
          <a:bodyPr/>
          <a:lstStyle/>
          <a:p>
            <a:r>
              <a:rPr lang="en-US" sz="4000" b="1"/>
              <a:t>Why This Matters</a:t>
            </a:r>
            <a:endParaRPr lang="en-US"/>
          </a:p>
        </p:txBody>
      </p:sp>
      <p:sp>
        <p:nvSpPr>
          <p:cNvPr id="11" name="Text Placeholder 10">
            <a:extLst>
              <a:ext uri="{FF2B5EF4-FFF2-40B4-BE49-F238E27FC236}">
                <a16:creationId xmlns:a16="http://schemas.microsoft.com/office/drawing/2014/main" id="{938F3C9E-6F11-8843-10C8-BE2B9FCDF010}"/>
              </a:ext>
            </a:extLst>
          </p:cNvPr>
          <p:cNvSpPr>
            <a:spLocks noGrp="1"/>
          </p:cNvSpPr>
          <p:nvPr>
            <p:ph type="body" sz="quarter" idx="13"/>
          </p:nvPr>
        </p:nvSpPr>
        <p:spPr>
          <a:xfrm>
            <a:off x="3726537" y="1854200"/>
            <a:ext cx="7131963" cy="3175000"/>
          </a:xfrm>
        </p:spPr>
        <p:txBody>
          <a:bodyPr/>
          <a:lstStyle/>
          <a:p>
            <a:r>
              <a:rPr lang="en-US" sz="3000"/>
              <a:t>The High Five Assessment provides a </a:t>
            </a:r>
            <a:r>
              <a:rPr lang="en-US" sz="3000" b="1"/>
              <a:t>real-time snapshot</a:t>
            </a:r>
            <a:r>
              <a:rPr lang="en-US" sz="3000"/>
              <a:t> of where a client is on the </a:t>
            </a:r>
            <a:r>
              <a:rPr lang="en-US" sz="3000" b="1"/>
              <a:t>movement continuum</a:t>
            </a:r>
            <a:r>
              <a:rPr lang="en-US" sz="3000"/>
              <a:t>, allowing coaches to </a:t>
            </a:r>
            <a:r>
              <a:rPr lang="en-US" sz="3000" b="1"/>
              <a:t>place them on the appropriate regression or progression ladder quickly.</a:t>
            </a:r>
            <a:endParaRPr lang="en-US" sz="3000"/>
          </a:p>
        </p:txBody>
      </p:sp>
    </p:spTree>
    <p:extLst>
      <p:ext uri="{BB962C8B-B14F-4D97-AF65-F5344CB8AC3E}">
        <p14:creationId xmlns:p14="http://schemas.microsoft.com/office/powerpoint/2010/main" val="159045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DA02F-4DC7-2FF2-25B9-3C7DFFB3A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8385C-0CBB-809A-E346-CDB8E7F4A334}"/>
              </a:ext>
            </a:extLst>
          </p:cNvPr>
          <p:cNvSpPr txBox="1">
            <a:spLocks noGrp="1"/>
          </p:cNvSpPr>
          <p:nvPr>
            <p:ph type="title"/>
          </p:nvPr>
        </p:nvSpPr>
        <p:spPr>
          <a:xfrm>
            <a:off x="888625" y="588735"/>
            <a:ext cx="10414747" cy="438681"/>
          </a:xfrm>
        </p:spPr>
        <p:txBody>
          <a:bodyPr vert="horz" lIns="0" tIns="0" rIns="0" bIns="0" rtlCol="0" anchor="ctr" anchorCtr="1" compatLnSpc="1">
            <a:normAutofit fontScale="90000"/>
          </a:bodyPr>
          <a:lstStyle/>
          <a:p>
            <a:r>
              <a:rPr lang="en-US" sz="4000" b="1"/>
              <a:t>Overhead Squat &amp; Split Squat</a:t>
            </a:r>
            <a:br>
              <a:rPr lang="en-US" sz="4000"/>
            </a:br>
            <a:endParaRPr lang="en-US" sz="4000" b="1" i="0" kern="1200" spc="0">
              <a:latin typeface="+mj-lt"/>
              <a:ea typeface="+mj-ea"/>
              <a:cs typeface="+mj-cs"/>
            </a:endParaRPr>
          </a:p>
        </p:txBody>
      </p:sp>
      <p:sp>
        <p:nvSpPr>
          <p:cNvPr id="21" name="Footer Placeholder 3">
            <a:extLst>
              <a:ext uri="{FF2B5EF4-FFF2-40B4-BE49-F238E27FC236}">
                <a16:creationId xmlns:a16="http://schemas.microsoft.com/office/drawing/2014/main" id="{8C2AC2FE-23C9-3D82-0EB0-D21A4AFAD469}"/>
              </a:ext>
            </a:extLst>
          </p:cNvPr>
          <p:cNvSpPr>
            <a:spLocks noGrp="1"/>
          </p:cNvSpPr>
          <p:nvPr>
            <p:ph type="ftr" sz="quarter" idx="11"/>
          </p:nvPr>
        </p:nvSpPr>
        <p:spPr>
          <a:xfrm>
            <a:off x="702495" y="5915304"/>
            <a:ext cx="10259861" cy="353961"/>
          </a:xfrm>
        </p:spPr>
        <p:txBody>
          <a:bodyPr/>
          <a:lstStyle/>
          <a:p>
            <a:r>
              <a:rPr lang="en-US"/>
              <a:t>The </a:t>
            </a:r>
            <a:r>
              <a:rPr lang="en-US" b="1"/>
              <a:t>High Five Assessment</a:t>
            </a:r>
            <a:r>
              <a:rPr lang="en-US"/>
              <a:t> creates a clear roadmap for each client, connecting movement scores to specific regressions or progressions. This approach ensures that clients train pain-free, build strength effectively, and develop long-term movement confidence.</a:t>
            </a:r>
          </a:p>
        </p:txBody>
      </p:sp>
      <p:sp>
        <p:nvSpPr>
          <p:cNvPr id="8" name="Slide Number Placeholder 7">
            <a:extLst>
              <a:ext uri="{FF2B5EF4-FFF2-40B4-BE49-F238E27FC236}">
                <a16:creationId xmlns:a16="http://schemas.microsoft.com/office/drawing/2014/main" id="{4BC6E68F-F9EB-D9EA-5709-D67E08FFE18B}"/>
              </a:ext>
            </a:extLst>
          </p:cNvPr>
          <p:cNvSpPr txBox="1">
            <a:spLocks noGrp="1"/>
          </p:cNvSpPr>
          <p:nvPr>
            <p:ph type="sldNum" sz="quarter" idx="12"/>
          </p:nvPr>
        </p:nvSpPr>
        <p:spPr>
          <a:xfrm>
            <a:off x="11674225" y="5477347"/>
            <a:ext cx="305503" cy="306298"/>
          </a:xfrm>
        </p:spPr>
        <p:txBody>
          <a:bodyPr vert="horz" lIns="0" tIns="45720" rIns="0" bIns="45720" rtlCol="0" anchor="ctr">
            <a:normAutofit/>
          </a:bodyPr>
          <a:lstStyle/>
          <a:p>
            <a:pPr lvl="0">
              <a:spcAft>
                <a:spcPts val="600"/>
              </a:spcAft>
            </a:pPr>
            <a:fld id="{A40B93B0-CD85-4965-9F46-A34006947191}" type="slidenum">
              <a:rPr lang="en-US" smtClean="0"/>
              <a:pPr lvl="0">
                <a:spcAft>
                  <a:spcPts val="600"/>
                </a:spcAft>
              </a:pPr>
              <a:t>7</a:t>
            </a:fld>
            <a:endParaRPr lang="en-US"/>
          </a:p>
        </p:txBody>
      </p:sp>
      <p:graphicFrame>
        <p:nvGraphicFramePr>
          <p:cNvPr id="4" name="TextBox 2">
            <a:extLst>
              <a:ext uri="{FF2B5EF4-FFF2-40B4-BE49-F238E27FC236}">
                <a16:creationId xmlns:a16="http://schemas.microsoft.com/office/drawing/2014/main" id="{BFEE71A9-E0DB-8B34-333A-516879A5083E}"/>
              </a:ext>
            </a:extLst>
          </p:cNvPr>
          <p:cNvGraphicFramePr/>
          <p:nvPr>
            <p:extLst>
              <p:ext uri="{D42A27DB-BD31-4B8C-83A1-F6EECF244321}">
                <p14:modId xmlns:p14="http://schemas.microsoft.com/office/powerpoint/2010/main" val="2630235718"/>
              </p:ext>
            </p:extLst>
          </p:nvPr>
        </p:nvGraphicFramePr>
        <p:xfrm>
          <a:off x="4022912" y="1027416"/>
          <a:ext cx="4061015" cy="460307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Picture 6" descr="A collage of a person doing squats&#10;&#10;Description automatically generated">
            <a:extLst>
              <a:ext uri="{FF2B5EF4-FFF2-40B4-BE49-F238E27FC236}">
                <a16:creationId xmlns:a16="http://schemas.microsoft.com/office/drawing/2014/main" id="{A1C156F9-EB98-4EF1-D948-3A11134EAABE}"/>
              </a:ext>
            </a:extLst>
          </p:cNvPr>
          <p:cNvPicPr>
            <a:picLocks noChangeAspect="1"/>
          </p:cNvPicPr>
          <p:nvPr/>
        </p:nvPicPr>
        <p:blipFill>
          <a:blip r:embed="rId9">
            <a:extLst>
              <a:ext uri="{28A0092B-C50C-407E-A947-70E740481C1C}">
                <a14:useLocalDpi xmlns:a14="http://schemas.microsoft.com/office/drawing/2010/main" val="0"/>
              </a:ext>
            </a:extLst>
          </a:blip>
          <a:srcRect l="9698" t="3333" r="16102" b="15666"/>
          <a:stretch/>
        </p:blipFill>
        <p:spPr>
          <a:xfrm>
            <a:off x="722645" y="872556"/>
            <a:ext cx="3053465" cy="4757940"/>
          </a:xfrm>
          <a:prstGeom prst="rect">
            <a:avLst/>
          </a:prstGeom>
        </p:spPr>
      </p:pic>
      <p:pic>
        <p:nvPicPr>
          <p:cNvPr id="10" name="Picture 9" descr="A collage of a person doing squats&#10;&#10;Description automatically generated">
            <a:extLst>
              <a:ext uri="{FF2B5EF4-FFF2-40B4-BE49-F238E27FC236}">
                <a16:creationId xmlns:a16="http://schemas.microsoft.com/office/drawing/2014/main" id="{94DCCCA7-D3B5-B7C0-F900-CDEF974ECE27}"/>
              </a:ext>
            </a:extLst>
          </p:cNvPr>
          <p:cNvPicPr>
            <a:picLocks noChangeAspect="1"/>
          </p:cNvPicPr>
          <p:nvPr/>
        </p:nvPicPr>
        <p:blipFill>
          <a:blip r:embed="rId10">
            <a:extLst>
              <a:ext uri="{28A0092B-C50C-407E-A947-70E740481C1C}">
                <a14:useLocalDpi xmlns:a14="http://schemas.microsoft.com/office/drawing/2010/main" val="0"/>
              </a:ext>
            </a:extLst>
          </a:blip>
          <a:srcRect l="9571" t="3333" r="16228" b="15666"/>
          <a:stretch/>
        </p:blipFill>
        <p:spPr>
          <a:xfrm>
            <a:off x="8330729" y="872556"/>
            <a:ext cx="3053465" cy="4757940"/>
          </a:xfrm>
          <a:prstGeom prst="rect">
            <a:avLst/>
          </a:prstGeom>
        </p:spPr>
      </p:pic>
    </p:spTree>
    <p:extLst>
      <p:ext uri="{BB962C8B-B14F-4D97-AF65-F5344CB8AC3E}">
        <p14:creationId xmlns:p14="http://schemas.microsoft.com/office/powerpoint/2010/main" val="1198369788"/>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BA3F0-B4A7-B2C7-F29B-DFE754C27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14A2D0-65B2-A0FD-20E2-9A369B7574DC}"/>
              </a:ext>
            </a:extLst>
          </p:cNvPr>
          <p:cNvSpPr txBox="1">
            <a:spLocks noGrp="1"/>
          </p:cNvSpPr>
          <p:nvPr>
            <p:ph type="title"/>
          </p:nvPr>
        </p:nvSpPr>
        <p:spPr>
          <a:xfrm>
            <a:off x="888626" y="226990"/>
            <a:ext cx="10414747" cy="438681"/>
          </a:xfrm>
        </p:spPr>
        <p:txBody>
          <a:bodyPr vert="horz" lIns="0" tIns="0" rIns="0" bIns="0" rtlCol="0" anchor="ctr" anchorCtr="1" compatLnSpc="1">
            <a:normAutofit fontScale="90000"/>
          </a:bodyPr>
          <a:lstStyle/>
          <a:p>
            <a:r>
              <a:rPr lang="en-US" sz="4000" b="1"/>
              <a:t>Single Leg Balance Reach</a:t>
            </a:r>
            <a:endParaRPr lang="en-US" sz="4000" b="1" i="0" kern="1200" spc="0">
              <a:latin typeface="+mj-lt"/>
              <a:ea typeface="+mj-ea"/>
              <a:cs typeface="+mj-cs"/>
            </a:endParaRPr>
          </a:p>
        </p:txBody>
      </p:sp>
      <p:sp>
        <p:nvSpPr>
          <p:cNvPr id="21" name="Footer Placeholder 3">
            <a:extLst>
              <a:ext uri="{FF2B5EF4-FFF2-40B4-BE49-F238E27FC236}">
                <a16:creationId xmlns:a16="http://schemas.microsoft.com/office/drawing/2014/main" id="{CBD6EB30-04F5-4370-D2D5-B0A58FAFFB0B}"/>
              </a:ext>
            </a:extLst>
          </p:cNvPr>
          <p:cNvSpPr>
            <a:spLocks noGrp="1"/>
          </p:cNvSpPr>
          <p:nvPr>
            <p:ph type="ftr" sz="quarter" idx="11"/>
          </p:nvPr>
        </p:nvSpPr>
        <p:spPr>
          <a:xfrm>
            <a:off x="702495" y="5915304"/>
            <a:ext cx="10259861" cy="353961"/>
          </a:xfrm>
        </p:spPr>
        <p:txBody>
          <a:bodyPr/>
          <a:lstStyle/>
          <a:p>
            <a:r>
              <a:rPr lang="en-US"/>
              <a:t>The </a:t>
            </a:r>
            <a:r>
              <a:rPr lang="en-US" b="1"/>
              <a:t>High Five Assessment</a:t>
            </a:r>
            <a:r>
              <a:rPr lang="en-US"/>
              <a:t> creates a clear roadmap for each client, connecting movement scores to specific regressions or progressions. This approach ensures that clients train pain-free, build strength effectively, and develop long-term movement confidence.</a:t>
            </a:r>
          </a:p>
        </p:txBody>
      </p:sp>
      <p:sp>
        <p:nvSpPr>
          <p:cNvPr id="8" name="Slide Number Placeholder 7">
            <a:extLst>
              <a:ext uri="{FF2B5EF4-FFF2-40B4-BE49-F238E27FC236}">
                <a16:creationId xmlns:a16="http://schemas.microsoft.com/office/drawing/2014/main" id="{D002001D-44A5-33BC-4FF2-850CBD7680F0}"/>
              </a:ext>
            </a:extLst>
          </p:cNvPr>
          <p:cNvSpPr txBox="1">
            <a:spLocks noGrp="1"/>
          </p:cNvSpPr>
          <p:nvPr>
            <p:ph type="sldNum" sz="quarter" idx="12"/>
          </p:nvPr>
        </p:nvSpPr>
        <p:spPr>
          <a:xfrm>
            <a:off x="11674225" y="5477347"/>
            <a:ext cx="305503" cy="306298"/>
          </a:xfrm>
        </p:spPr>
        <p:txBody>
          <a:bodyPr vert="horz" lIns="0" tIns="45720" rIns="0" bIns="45720" rtlCol="0" anchor="ctr">
            <a:normAutofit/>
          </a:bodyPr>
          <a:lstStyle/>
          <a:p>
            <a:pPr lvl="0">
              <a:spcAft>
                <a:spcPts val="600"/>
              </a:spcAft>
            </a:pPr>
            <a:fld id="{A40B93B0-CD85-4965-9F46-A34006947191}" type="slidenum">
              <a:rPr lang="en-US" smtClean="0"/>
              <a:pPr lvl="0">
                <a:spcAft>
                  <a:spcPts val="600"/>
                </a:spcAft>
              </a:pPr>
              <a:t>8</a:t>
            </a:fld>
            <a:endParaRPr lang="en-US"/>
          </a:p>
        </p:txBody>
      </p:sp>
      <p:graphicFrame>
        <p:nvGraphicFramePr>
          <p:cNvPr id="4" name="TextBox 2">
            <a:extLst>
              <a:ext uri="{FF2B5EF4-FFF2-40B4-BE49-F238E27FC236}">
                <a16:creationId xmlns:a16="http://schemas.microsoft.com/office/drawing/2014/main" id="{CC6D6EC9-ADFB-D92C-EFCA-D89E3D9FF2FE}"/>
              </a:ext>
            </a:extLst>
          </p:cNvPr>
          <p:cNvGraphicFramePr/>
          <p:nvPr>
            <p:extLst>
              <p:ext uri="{D42A27DB-BD31-4B8C-83A1-F6EECF244321}">
                <p14:modId xmlns:p14="http://schemas.microsoft.com/office/powerpoint/2010/main" val="794845562"/>
              </p:ext>
            </p:extLst>
          </p:nvPr>
        </p:nvGraphicFramePr>
        <p:xfrm>
          <a:off x="1229643" y="1073256"/>
          <a:ext cx="5650127" cy="46030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A collage of a person doing a push-up&#10;&#10;Description automatically generated">
            <a:extLst>
              <a:ext uri="{FF2B5EF4-FFF2-40B4-BE49-F238E27FC236}">
                <a16:creationId xmlns:a16="http://schemas.microsoft.com/office/drawing/2014/main" id="{F4F08829-6800-7614-E724-A13D7A901EB7}"/>
              </a:ext>
            </a:extLst>
          </p:cNvPr>
          <p:cNvPicPr>
            <a:picLocks noChangeAspect="1"/>
          </p:cNvPicPr>
          <p:nvPr/>
        </p:nvPicPr>
        <p:blipFill rotWithShape="1">
          <a:blip r:embed="rId8">
            <a:extLst>
              <a:ext uri="{28A0092B-C50C-407E-A947-70E740481C1C}">
                <a14:useLocalDpi xmlns:a14="http://schemas.microsoft.com/office/drawing/2010/main" val="0"/>
              </a:ext>
            </a:extLst>
          </a:blip>
          <a:srcRect l="9360" t="4271" r="14514" b="17899"/>
          <a:stretch/>
        </p:blipFill>
        <p:spPr>
          <a:xfrm>
            <a:off x="7406368" y="1043152"/>
            <a:ext cx="3269844" cy="4771695"/>
          </a:xfrm>
          <a:prstGeom prst="rect">
            <a:avLst/>
          </a:prstGeom>
        </p:spPr>
      </p:pic>
    </p:spTree>
    <p:extLst>
      <p:ext uri="{BB962C8B-B14F-4D97-AF65-F5344CB8AC3E}">
        <p14:creationId xmlns:p14="http://schemas.microsoft.com/office/powerpoint/2010/main" val="149878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1E522-D30F-5DEE-6761-D25AA2242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0412AB-80C3-4899-7598-D07742E0CB6B}"/>
              </a:ext>
            </a:extLst>
          </p:cNvPr>
          <p:cNvSpPr txBox="1">
            <a:spLocks noGrp="1"/>
          </p:cNvSpPr>
          <p:nvPr>
            <p:ph type="title"/>
          </p:nvPr>
        </p:nvSpPr>
        <p:spPr>
          <a:xfrm>
            <a:off x="4827627" y="369394"/>
            <a:ext cx="2536746" cy="438681"/>
          </a:xfrm>
        </p:spPr>
        <p:txBody>
          <a:bodyPr vert="horz" lIns="0" tIns="0" rIns="0" bIns="0" rtlCol="0" anchor="ctr" anchorCtr="1" compatLnSpc="1">
            <a:normAutofit fontScale="90000"/>
          </a:bodyPr>
          <a:lstStyle/>
          <a:p>
            <a:r>
              <a:rPr lang="en-US" sz="4000" b="1"/>
              <a:t>Bird Dog</a:t>
            </a:r>
            <a:endParaRPr lang="en-US" sz="4000" b="1" i="0" kern="1200" spc="0">
              <a:latin typeface="+mj-lt"/>
              <a:ea typeface="+mj-ea"/>
              <a:cs typeface="+mj-cs"/>
            </a:endParaRPr>
          </a:p>
        </p:txBody>
      </p:sp>
      <p:sp>
        <p:nvSpPr>
          <p:cNvPr id="21" name="Footer Placeholder 3">
            <a:extLst>
              <a:ext uri="{FF2B5EF4-FFF2-40B4-BE49-F238E27FC236}">
                <a16:creationId xmlns:a16="http://schemas.microsoft.com/office/drawing/2014/main" id="{9F12BF94-04FF-D7BE-B771-3E23184FC7C0}"/>
              </a:ext>
            </a:extLst>
          </p:cNvPr>
          <p:cNvSpPr>
            <a:spLocks noGrp="1"/>
          </p:cNvSpPr>
          <p:nvPr>
            <p:ph type="ftr" sz="quarter" idx="11"/>
          </p:nvPr>
        </p:nvSpPr>
        <p:spPr>
          <a:xfrm>
            <a:off x="702495" y="5915304"/>
            <a:ext cx="10259861" cy="353961"/>
          </a:xfrm>
        </p:spPr>
        <p:txBody>
          <a:bodyPr/>
          <a:lstStyle/>
          <a:p>
            <a:r>
              <a:rPr lang="en-US"/>
              <a:t>The </a:t>
            </a:r>
            <a:r>
              <a:rPr lang="en-US" b="1"/>
              <a:t>High Five Assessment</a:t>
            </a:r>
            <a:r>
              <a:rPr lang="en-US"/>
              <a:t> creates a clear roadmap for each client, connecting movement scores to specific regressions or progressions. This approach ensures that clients train pain-free, build strength effectively, and develop long-term movement confidence.</a:t>
            </a:r>
          </a:p>
        </p:txBody>
      </p:sp>
      <p:sp>
        <p:nvSpPr>
          <p:cNvPr id="8" name="Slide Number Placeholder 7">
            <a:extLst>
              <a:ext uri="{FF2B5EF4-FFF2-40B4-BE49-F238E27FC236}">
                <a16:creationId xmlns:a16="http://schemas.microsoft.com/office/drawing/2014/main" id="{B5F3EDFE-B9FD-6856-11BC-1FB5F6A4CE1E}"/>
              </a:ext>
            </a:extLst>
          </p:cNvPr>
          <p:cNvSpPr txBox="1">
            <a:spLocks noGrp="1"/>
          </p:cNvSpPr>
          <p:nvPr>
            <p:ph type="sldNum" sz="quarter" idx="12"/>
          </p:nvPr>
        </p:nvSpPr>
        <p:spPr>
          <a:xfrm>
            <a:off x="11674225" y="5477347"/>
            <a:ext cx="305503" cy="306298"/>
          </a:xfrm>
        </p:spPr>
        <p:txBody>
          <a:bodyPr vert="horz" lIns="0" tIns="45720" rIns="0" bIns="45720" rtlCol="0" anchor="ctr">
            <a:normAutofit/>
          </a:bodyPr>
          <a:lstStyle/>
          <a:p>
            <a:pPr lvl="0">
              <a:spcAft>
                <a:spcPts val="600"/>
              </a:spcAft>
            </a:pPr>
            <a:fld id="{A40B93B0-CD85-4965-9F46-A34006947191}" type="slidenum">
              <a:rPr lang="en-US" smtClean="0"/>
              <a:pPr lvl="0">
                <a:spcAft>
                  <a:spcPts val="600"/>
                </a:spcAft>
              </a:pPr>
              <a:t>9</a:t>
            </a:fld>
            <a:endParaRPr lang="en-US"/>
          </a:p>
        </p:txBody>
      </p:sp>
      <p:graphicFrame>
        <p:nvGraphicFramePr>
          <p:cNvPr id="4" name="TextBox 2">
            <a:extLst>
              <a:ext uri="{FF2B5EF4-FFF2-40B4-BE49-F238E27FC236}">
                <a16:creationId xmlns:a16="http://schemas.microsoft.com/office/drawing/2014/main" id="{ECE5AC3D-357C-578B-1C91-2EB6FF6701E5}"/>
              </a:ext>
            </a:extLst>
          </p:cNvPr>
          <p:cNvGraphicFramePr/>
          <p:nvPr>
            <p:extLst>
              <p:ext uri="{D42A27DB-BD31-4B8C-83A1-F6EECF244321}">
                <p14:modId xmlns:p14="http://schemas.microsoft.com/office/powerpoint/2010/main" val="2741567425"/>
              </p:ext>
            </p:extLst>
          </p:nvPr>
        </p:nvGraphicFramePr>
        <p:xfrm>
          <a:off x="6096000" y="1260694"/>
          <a:ext cx="5230866" cy="46030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4754B477-3B4E-4001-BB2A-9AC0AE892893}"/>
              </a:ext>
            </a:extLst>
          </p:cNvPr>
          <p:cNvPicPr>
            <a:picLocks noChangeAspect="1"/>
          </p:cNvPicPr>
          <p:nvPr/>
        </p:nvPicPr>
        <p:blipFill>
          <a:blip r:embed="rId8">
            <a:extLst>
              <a:ext uri="{28A0092B-C50C-407E-A947-70E740481C1C}">
                <a14:useLocalDpi xmlns:a14="http://schemas.microsoft.com/office/drawing/2010/main" val="0"/>
              </a:ext>
            </a:extLst>
          </a:blip>
          <a:srcRect l="5256" r="6340" b="15536"/>
          <a:stretch/>
        </p:blipFill>
        <p:spPr>
          <a:xfrm>
            <a:off x="702495" y="1260694"/>
            <a:ext cx="5259948" cy="4522951"/>
          </a:xfrm>
          <a:prstGeom prst="rect">
            <a:avLst/>
          </a:prstGeom>
        </p:spPr>
      </p:pic>
    </p:spTree>
    <p:extLst>
      <p:ext uri="{BB962C8B-B14F-4D97-AF65-F5344CB8AC3E}">
        <p14:creationId xmlns:p14="http://schemas.microsoft.com/office/powerpoint/2010/main" val="2928912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6B538-613B-7999-0AA9-EF1AE345A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DF5F8-78CC-7879-9210-D0F68C068B3D}"/>
              </a:ext>
            </a:extLst>
          </p:cNvPr>
          <p:cNvSpPr txBox="1">
            <a:spLocks noGrp="1"/>
          </p:cNvSpPr>
          <p:nvPr>
            <p:ph type="title"/>
          </p:nvPr>
        </p:nvSpPr>
        <p:spPr>
          <a:xfrm>
            <a:off x="4827627" y="369394"/>
            <a:ext cx="2536746" cy="438681"/>
          </a:xfrm>
        </p:spPr>
        <p:txBody>
          <a:bodyPr vert="horz" lIns="0" tIns="0" rIns="0" bIns="0" rtlCol="0" anchor="ctr" anchorCtr="1" compatLnSpc="1">
            <a:normAutofit fontScale="90000"/>
          </a:bodyPr>
          <a:lstStyle/>
          <a:p>
            <a:r>
              <a:rPr lang="en-US" sz="4000" b="1"/>
              <a:t>Low Plank</a:t>
            </a:r>
            <a:endParaRPr lang="en-US" sz="4000" b="1" i="0" kern="1200" spc="0">
              <a:latin typeface="+mj-lt"/>
              <a:ea typeface="+mj-ea"/>
              <a:cs typeface="+mj-cs"/>
            </a:endParaRPr>
          </a:p>
        </p:txBody>
      </p:sp>
      <p:sp>
        <p:nvSpPr>
          <p:cNvPr id="21" name="Footer Placeholder 3">
            <a:extLst>
              <a:ext uri="{FF2B5EF4-FFF2-40B4-BE49-F238E27FC236}">
                <a16:creationId xmlns:a16="http://schemas.microsoft.com/office/drawing/2014/main" id="{2F366741-2E19-0BC1-D3EB-3FAFAC507051}"/>
              </a:ext>
            </a:extLst>
          </p:cNvPr>
          <p:cNvSpPr>
            <a:spLocks noGrp="1"/>
          </p:cNvSpPr>
          <p:nvPr>
            <p:ph type="ftr" sz="quarter" idx="11"/>
          </p:nvPr>
        </p:nvSpPr>
        <p:spPr>
          <a:xfrm>
            <a:off x="702495" y="5915304"/>
            <a:ext cx="10259861" cy="353961"/>
          </a:xfrm>
        </p:spPr>
        <p:txBody>
          <a:bodyPr/>
          <a:lstStyle/>
          <a:p>
            <a:r>
              <a:rPr lang="en-US"/>
              <a:t>The </a:t>
            </a:r>
            <a:r>
              <a:rPr lang="en-US" b="1"/>
              <a:t>High Five Assessment</a:t>
            </a:r>
            <a:r>
              <a:rPr lang="en-US"/>
              <a:t> creates a clear roadmap for each client, connecting movement scores to specific regressions or progressions. This approach ensures that clients train pain-free, build strength effectively, and develop long-term movement confidence.</a:t>
            </a:r>
          </a:p>
        </p:txBody>
      </p:sp>
      <p:sp>
        <p:nvSpPr>
          <p:cNvPr id="8" name="Slide Number Placeholder 7">
            <a:extLst>
              <a:ext uri="{FF2B5EF4-FFF2-40B4-BE49-F238E27FC236}">
                <a16:creationId xmlns:a16="http://schemas.microsoft.com/office/drawing/2014/main" id="{F31D7713-A8C8-B80B-D378-36E4573B2D77}"/>
              </a:ext>
            </a:extLst>
          </p:cNvPr>
          <p:cNvSpPr txBox="1">
            <a:spLocks noGrp="1"/>
          </p:cNvSpPr>
          <p:nvPr>
            <p:ph type="sldNum" sz="quarter" idx="12"/>
          </p:nvPr>
        </p:nvSpPr>
        <p:spPr>
          <a:xfrm>
            <a:off x="11674225" y="5477347"/>
            <a:ext cx="305503" cy="306298"/>
          </a:xfrm>
        </p:spPr>
        <p:txBody>
          <a:bodyPr vert="horz" lIns="0" tIns="45720" rIns="0" bIns="45720" rtlCol="0" anchor="ctr">
            <a:normAutofit/>
          </a:bodyPr>
          <a:lstStyle/>
          <a:p>
            <a:pPr lvl="0">
              <a:spcAft>
                <a:spcPts val="600"/>
              </a:spcAft>
            </a:pPr>
            <a:fld id="{A40B93B0-CD85-4965-9F46-A34006947191}" type="slidenum">
              <a:rPr lang="en-US" smtClean="0"/>
              <a:pPr lvl="0">
                <a:spcAft>
                  <a:spcPts val="600"/>
                </a:spcAft>
              </a:pPr>
              <a:t>10</a:t>
            </a:fld>
            <a:endParaRPr lang="en-US"/>
          </a:p>
        </p:txBody>
      </p:sp>
      <p:graphicFrame>
        <p:nvGraphicFramePr>
          <p:cNvPr id="4" name="TextBox 2">
            <a:extLst>
              <a:ext uri="{FF2B5EF4-FFF2-40B4-BE49-F238E27FC236}">
                <a16:creationId xmlns:a16="http://schemas.microsoft.com/office/drawing/2014/main" id="{538BFB0C-6B4C-F91E-2794-A3D637706934}"/>
              </a:ext>
            </a:extLst>
          </p:cNvPr>
          <p:cNvGraphicFramePr/>
          <p:nvPr>
            <p:extLst>
              <p:ext uri="{D42A27DB-BD31-4B8C-83A1-F6EECF244321}">
                <p14:modId xmlns:p14="http://schemas.microsoft.com/office/powerpoint/2010/main" val="408749573"/>
              </p:ext>
            </p:extLst>
          </p:nvPr>
        </p:nvGraphicFramePr>
        <p:xfrm>
          <a:off x="5021943" y="1057484"/>
          <a:ext cx="6304923" cy="48062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A collage of a person doing push ups&#10;&#10;Description automatically generated">
            <a:extLst>
              <a:ext uri="{FF2B5EF4-FFF2-40B4-BE49-F238E27FC236}">
                <a16:creationId xmlns:a16="http://schemas.microsoft.com/office/drawing/2014/main" id="{A821E361-45D6-D380-523C-6F205C3D0860}"/>
              </a:ext>
            </a:extLst>
          </p:cNvPr>
          <p:cNvPicPr>
            <a:picLocks noChangeAspect="1"/>
          </p:cNvPicPr>
          <p:nvPr/>
        </p:nvPicPr>
        <p:blipFill>
          <a:blip r:embed="rId8">
            <a:extLst>
              <a:ext uri="{28A0092B-C50C-407E-A947-70E740481C1C}">
                <a14:useLocalDpi xmlns:a14="http://schemas.microsoft.com/office/drawing/2010/main" val="0"/>
              </a:ext>
            </a:extLst>
          </a:blip>
          <a:srcRect l="2873" t="3175" b="13746"/>
          <a:stretch/>
        </p:blipFill>
        <p:spPr>
          <a:xfrm>
            <a:off x="891103" y="1057483"/>
            <a:ext cx="3936524" cy="4806290"/>
          </a:xfrm>
          <a:prstGeom prst="rect">
            <a:avLst/>
          </a:prstGeom>
        </p:spPr>
      </p:pic>
    </p:spTree>
    <p:extLst>
      <p:ext uri="{BB962C8B-B14F-4D97-AF65-F5344CB8AC3E}">
        <p14:creationId xmlns:p14="http://schemas.microsoft.com/office/powerpoint/2010/main" val="4034694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C4E2D-B248-8049-1CB6-27BC7D913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FFDE9F-59A5-36AB-7169-8ADC1B017853}"/>
              </a:ext>
            </a:extLst>
          </p:cNvPr>
          <p:cNvSpPr txBox="1">
            <a:spLocks noGrp="1"/>
          </p:cNvSpPr>
          <p:nvPr>
            <p:ph type="title"/>
          </p:nvPr>
        </p:nvSpPr>
        <p:spPr>
          <a:xfrm>
            <a:off x="1080652" y="365129"/>
            <a:ext cx="9958651" cy="932729"/>
          </a:xfrm>
          <a:prstGeom prst="rect">
            <a:avLst/>
          </a:prstGeom>
          <a:noFill/>
          <a:ln>
            <a:noFill/>
          </a:ln>
        </p:spPr>
        <p:txBody>
          <a:bodyPr vert="horz" wrap="square" lIns="0" tIns="0" rIns="0" bIns="0" anchor="ctr" anchorCtr="1" compatLnSpc="1">
            <a:noAutofit/>
          </a:bodyPr>
          <a:lstStyle/>
          <a:p>
            <a:pPr algn="ctr"/>
            <a:r>
              <a:rPr lang="en-US" b="1">
                <a:solidFill>
                  <a:schemeClr val="accent4"/>
                </a:solidFill>
              </a:rPr>
              <a:t>High Five</a:t>
            </a:r>
            <a:r>
              <a:rPr lang="en-US" b="1"/>
              <a:t> </a:t>
            </a:r>
            <a:br>
              <a:rPr lang="en-US" b="1"/>
            </a:br>
            <a:r>
              <a:rPr lang="en-US" sz="2400" b="0" i="1">
                <a:solidFill>
                  <a:schemeClr val="tx1"/>
                </a:solidFill>
              </a:rPr>
              <a:t>example</a:t>
            </a:r>
            <a:endParaRPr lang="en-US" b="0" i="1">
              <a:solidFill>
                <a:schemeClr val="tx1"/>
              </a:solidFill>
            </a:endParaRPr>
          </a:p>
        </p:txBody>
      </p:sp>
      <p:graphicFrame>
        <p:nvGraphicFramePr>
          <p:cNvPr id="14" name="Table 13">
            <a:extLst>
              <a:ext uri="{FF2B5EF4-FFF2-40B4-BE49-F238E27FC236}">
                <a16:creationId xmlns:a16="http://schemas.microsoft.com/office/drawing/2014/main" id="{BEECC913-069E-D678-DB2D-D5DDCB4F8AEB}"/>
              </a:ext>
            </a:extLst>
          </p:cNvPr>
          <p:cNvGraphicFramePr>
            <a:graphicFrameLocks noGrp="1"/>
          </p:cNvGraphicFramePr>
          <p:nvPr>
            <p:extLst>
              <p:ext uri="{D42A27DB-BD31-4B8C-83A1-F6EECF244321}">
                <p14:modId xmlns:p14="http://schemas.microsoft.com/office/powerpoint/2010/main" val="3230883287"/>
              </p:ext>
            </p:extLst>
          </p:nvPr>
        </p:nvGraphicFramePr>
        <p:xfrm>
          <a:off x="949713" y="1453939"/>
          <a:ext cx="10292574" cy="4644747"/>
        </p:xfrm>
        <a:graphic>
          <a:graphicData uri="http://schemas.openxmlformats.org/drawingml/2006/table">
            <a:tbl>
              <a:tblPr firstRow="1" bandRow="1">
                <a:tableStyleId>{0E3FDE45-AF77-4B5C-9715-49D594BDF05E}</a:tableStyleId>
              </a:tblPr>
              <a:tblGrid>
                <a:gridCol w="1715429">
                  <a:extLst>
                    <a:ext uri="{9D8B030D-6E8A-4147-A177-3AD203B41FA5}">
                      <a16:colId xmlns:a16="http://schemas.microsoft.com/office/drawing/2014/main" val="4089591332"/>
                    </a:ext>
                  </a:extLst>
                </a:gridCol>
                <a:gridCol w="1343332">
                  <a:extLst>
                    <a:ext uri="{9D8B030D-6E8A-4147-A177-3AD203B41FA5}">
                      <a16:colId xmlns:a16="http://schemas.microsoft.com/office/drawing/2014/main" val="3593007171"/>
                    </a:ext>
                  </a:extLst>
                </a:gridCol>
                <a:gridCol w="1254642">
                  <a:extLst>
                    <a:ext uri="{9D8B030D-6E8A-4147-A177-3AD203B41FA5}">
                      <a16:colId xmlns:a16="http://schemas.microsoft.com/office/drawing/2014/main" val="3162129203"/>
                    </a:ext>
                  </a:extLst>
                </a:gridCol>
                <a:gridCol w="1531089">
                  <a:extLst>
                    <a:ext uri="{9D8B030D-6E8A-4147-A177-3AD203B41FA5}">
                      <a16:colId xmlns:a16="http://schemas.microsoft.com/office/drawing/2014/main" val="2229715601"/>
                    </a:ext>
                  </a:extLst>
                </a:gridCol>
                <a:gridCol w="1743739">
                  <a:extLst>
                    <a:ext uri="{9D8B030D-6E8A-4147-A177-3AD203B41FA5}">
                      <a16:colId xmlns:a16="http://schemas.microsoft.com/office/drawing/2014/main" val="840028582"/>
                    </a:ext>
                  </a:extLst>
                </a:gridCol>
                <a:gridCol w="2704343">
                  <a:extLst>
                    <a:ext uri="{9D8B030D-6E8A-4147-A177-3AD203B41FA5}">
                      <a16:colId xmlns:a16="http://schemas.microsoft.com/office/drawing/2014/main" val="2195875612"/>
                    </a:ext>
                  </a:extLst>
                </a:gridCol>
              </a:tblGrid>
              <a:tr h="381773">
                <a:tc>
                  <a:txBody>
                    <a:bodyPr/>
                    <a:lstStyle/>
                    <a:p>
                      <a:r>
                        <a:rPr lang="en-US" sz="1600" b="1"/>
                        <a:t>Movement</a:t>
                      </a:r>
                    </a:p>
                  </a:txBody>
                  <a:tcPr anchor="ctr"/>
                </a:tc>
                <a:tc>
                  <a:txBody>
                    <a:bodyPr/>
                    <a:lstStyle/>
                    <a:p>
                      <a:r>
                        <a:rPr lang="en-US" sz="1600" b="1"/>
                        <a:t>Pain (Y/N) Y=1</a:t>
                      </a:r>
                    </a:p>
                  </a:txBody>
                  <a:tcPr anchor="ctr"/>
                </a:tc>
                <a:tc>
                  <a:txBody>
                    <a:bodyPr/>
                    <a:lstStyle/>
                    <a:p>
                      <a:r>
                        <a:rPr lang="en-US" sz="1600" b="1" dirty="0"/>
                        <a:t>R Score</a:t>
                      </a:r>
                    </a:p>
                  </a:txBody>
                  <a:tcPr anchor="ctr"/>
                </a:tc>
                <a:tc>
                  <a:txBody>
                    <a:bodyPr/>
                    <a:lstStyle/>
                    <a:p>
                      <a:r>
                        <a:rPr lang="en-US" sz="1600" b="1"/>
                        <a:t>L Score</a:t>
                      </a:r>
                    </a:p>
                  </a:txBody>
                  <a:tcPr anchor="ctr"/>
                </a:tc>
                <a:tc>
                  <a:txBody>
                    <a:bodyPr/>
                    <a:lstStyle/>
                    <a:p>
                      <a:r>
                        <a:rPr lang="en-US" sz="1600" b="1">
                          <a:solidFill>
                            <a:schemeClr val="tx1"/>
                          </a:solidFill>
                        </a:rPr>
                        <a:t>Lowest Score</a:t>
                      </a:r>
                    </a:p>
                  </a:txBody>
                  <a:tcPr anchor="ctr"/>
                </a:tc>
                <a:tc>
                  <a:txBody>
                    <a:bodyPr/>
                    <a:lstStyle/>
                    <a:p>
                      <a:r>
                        <a:rPr lang="en-US" sz="1600" b="1"/>
                        <a:t>Notes</a:t>
                      </a:r>
                    </a:p>
                  </a:txBody>
                  <a:tcPr anchor="ctr"/>
                </a:tc>
                <a:extLst>
                  <a:ext uri="{0D108BD9-81ED-4DB2-BD59-A6C34878D82A}">
                    <a16:rowId xmlns:a16="http://schemas.microsoft.com/office/drawing/2014/main" val="1024733056"/>
                  </a:ext>
                </a:extLst>
              </a:tr>
              <a:tr h="561767">
                <a:tc>
                  <a:txBody>
                    <a:bodyPr/>
                    <a:lstStyle/>
                    <a:p>
                      <a:r>
                        <a:rPr lang="en-US" sz="1600" b="1"/>
                        <a:t>Overhead Squat</a:t>
                      </a:r>
                    </a:p>
                  </a:txBody>
                  <a:tcPr anchor="ctr"/>
                </a:tc>
                <a:tc>
                  <a:txBody>
                    <a:bodyPr/>
                    <a:lstStyle/>
                    <a:p>
                      <a:r>
                        <a:rPr lang="en-US" sz="1600" b="1"/>
                        <a:t>N</a:t>
                      </a:r>
                    </a:p>
                  </a:txBody>
                  <a:tcPr anchor="ctr"/>
                </a:tc>
                <a:tc>
                  <a:txBody>
                    <a:bodyPr/>
                    <a:lstStyle/>
                    <a:p>
                      <a:r>
                        <a:rPr lang="en-US" sz="1600" b="1"/>
                        <a:t>–</a:t>
                      </a:r>
                    </a:p>
                  </a:txBody>
                  <a:tcPr anchor="ctr">
                    <a:lnB>
                      <a:noFill/>
                    </a:lnB>
                  </a:tcPr>
                </a:tc>
                <a:tc>
                  <a:txBody>
                    <a:bodyPr/>
                    <a:lstStyle/>
                    <a:p>
                      <a:r>
                        <a:rPr lang="en-US" sz="1600" b="1" dirty="0"/>
                        <a:t>–</a:t>
                      </a:r>
                    </a:p>
                  </a:txBody>
                  <a:tcPr anchor="ctr">
                    <a:lnB w="12700" cap="flat" cmpd="sng" algn="ctr">
                      <a:noFill/>
                      <a:prstDash val="solid"/>
                      <a:round/>
                      <a:headEnd type="none" w="med" len="med"/>
                      <a:tailEnd type="none" w="med" len="med"/>
                    </a:lnB>
                  </a:tcPr>
                </a:tc>
                <a:tc>
                  <a:txBody>
                    <a:bodyPr/>
                    <a:lstStyle/>
                    <a:p>
                      <a:r>
                        <a:rPr lang="en-US" sz="1600" b="1">
                          <a:solidFill>
                            <a:schemeClr val="tx1"/>
                          </a:solidFill>
                        </a:rPr>
                        <a:t>3</a:t>
                      </a:r>
                    </a:p>
                  </a:txBody>
                  <a:tcPr anchor="ctr"/>
                </a:tc>
                <a:tc>
                  <a:txBody>
                    <a:bodyPr/>
                    <a:lstStyle/>
                    <a:p>
                      <a:r>
                        <a:rPr lang="en-US" sz="1600" b="1"/>
                        <a:t>Good depth, stable spine</a:t>
                      </a:r>
                    </a:p>
                  </a:txBody>
                  <a:tcPr anchor="ctr"/>
                </a:tc>
                <a:extLst>
                  <a:ext uri="{0D108BD9-81ED-4DB2-BD59-A6C34878D82A}">
                    <a16:rowId xmlns:a16="http://schemas.microsoft.com/office/drawing/2014/main" val="4193209362"/>
                  </a:ext>
                </a:extLst>
              </a:tr>
              <a:tr h="798300">
                <a:tc>
                  <a:txBody>
                    <a:bodyPr/>
                    <a:lstStyle/>
                    <a:p>
                      <a:r>
                        <a:rPr lang="en-US" sz="1600" b="1"/>
                        <a:t>Split Squat</a:t>
                      </a:r>
                    </a:p>
                  </a:txBody>
                  <a:tcPr anchor="ctr"/>
                </a:tc>
                <a:tc>
                  <a:txBody>
                    <a:bodyPr/>
                    <a:lstStyle/>
                    <a:p>
                      <a:r>
                        <a:rPr lang="en-US" sz="1600" b="1"/>
                        <a:t>N</a:t>
                      </a:r>
                    </a:p>
                  </a:txBody>
                  <a:tcPr anchor="ctr">
                    <a:lnR>
                      <a:noFill/>
                    </a:lnR>
                  </a:tcPr>
                </a:tc>
                <a:tc>
                  <a:txBody>
                    <a:bodyPr/>
                    <a:lstStyle/>
                    <a:p>
                      <a:r>
                        <a:rPr lang="en-US" sz="1600" b="1" dirty="0"/>
                        <a:t>2</a:t>
                      </a:r>
                    </a:p>
                  </a:txBody>
                  <a:tcPr anchor="ctr">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dirty="0"/>
                        <a:t>1</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600" b="1" dirty="0">
                          <a:solidFill>
                            <a:schemeClr val="tx1"/>
                          </a:solidFill>
                        </a:rPr>
                        <a:t>1</a:t>
                      </a:r>
                    </a:p>
                  </a:txBody>
                  <a:tcPr anchor="ctr">
                    <a:lnL w="12700" cap="flat" cmpd="sng" algn="ctr">
                      <a:noFill/>
                      <a:prstDash val="solid"/>
                      <a:round/>
                      <a:headEnd type="none" w="med" len="med"/>
                      <a:tailEnd type="none" w="med" len="med"/>
                    </a:lnL>
                    <a:noFill/>
                  </a:tcPr>
                </a:tc>
                <a:tc>
                  <a:txBody>
                    <a:bodyPr/>
                    <a:lstStyle/>
                    <a:p>
                      <a:r>
                        <a:rPr lang="en-US" sz="1600" b="1" dirty="0"/>
                        <a:t>Left knee valgus/collapse during reps</a:t>
                      </a:r>
                    </a:p>
                  </a:txBody>
                  <a:tcPr anchor="ctr"/>
                </a:tc>
                <a:extLst>
                  <a:ext uri="{0D108BD9-81ED-4DB2-BD59-A6C34878D82A}">
                    <a16:rowId xmlns:a16="http://schemas.microsoft.com/office/drawing/2014/main" val="4139050874"/>
                  </a:ext>
                </a:extLst>
              </a:tr>
              <a:tr h="561767">
                <a:tc>
                  <a:txBody>
                    <a:bodyPr/>
                    <a:lstStyle/>
                    <a:p>
                      <a:r>
                        <a:rPr lang="en-US" sz="1600" b="1"/>
                        <a:t>Single-Leg Balance Reach</a:t>
                      </a:r>
                    </a:p>
                  </a:txBody>
                  <a:tcPr anchor="ctr"/>
                </a:tc>
                <a:tc>
                  <a:txBody>
                    <a:bodyPr/>
                    <a:lstStyle/>
                    <a:p>
                      <a:r>
                        <a:rPr lang="en-US" sz="1600" b="1"/>
                        <a:t>N</a:t>
                      </a:r>
                    </a:p>
                  </a:txBody>
                  <a:tcPr anchor="ctr">
                    <a:lnR w="12700" cap="flat" cmpd="sng" algn="ctr">
                      <a:noFill/>
                      <a:prstDash val="solid"/>
                      <a:round/>
                      <a:headEnd type="none" w="med" len="med"/>
                      <a:tailEnd type="none" w="med" len="med"/>
                    </a:lnR>
                  </a:tcPr>
                </a:tc>
                <a:tc>
                  <a:txBody>
                    <a:bodyPr/>
                    <a:lstStyle/>
                    <a:p>
                      <a:pPr marL="0" algn="ctr" defTabSz="914400" rtl="0" eaLnBrk="1" latinLnBrk="0" hangingPunct="1"/>
                      <a:r>
                        <a:rPr lang="en-US" sz="1600" b="1" kern="1200">
                          <a:solidFill>
                            <a:schemeClr val="tx1"/>
                          </a:solidFill>
                        </a:rPr>
                        <a:t>1</a:t>
                      </a:r>
                      <a:endParaRPr lang="en-US" sz="1600" b="1" kern="1200">
                        <a:solidFill>
                          <a:schemeClr val="tx1"/>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914400" rtl="0" eaLnBrk="1" latinLnBrk="0" hangingPunct="1"/>
                      <a:r>
                        <a:rPr lang="en-US" sz="1600" b="1" kern="1200" dirty="0">
                          <a:solidFill>
                            <a:schemeClr val="tx1"/>
                          </a:solidFill>
                          <a:latin typeface="+mn-lt"/>
                          <a:ea typeface="+mn-ea"/>
                          <a:cs typeface="+mn-cs"/>
                        </a:rPr>
                        <a:t>2</a:t>
                      </a:r>
                    </a:p>
                  </a:txBody>
                  <a:tcPr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algn="ctr" defTabSz="914400" rtl="0" eaLnBrk="1" latinLnBrk="0" hangingPunct="1"/>
                      <a:r>
                        <a:rPr lang="en-US" sz="1600" b="1" kern="1200" dirty="0">
                          <a:solidFill>
                            <a:schemeClr val="tx1"/>
                          </a:solidFill>
                          <a:latin typeface="+mn-lt"/>
                          <a:ea typeface="+mn-ea"/>
                          <a:cs typeface="+mn-cs"/>
                        </a:rPr>
                        <a:t>1</a:t>
                      </a:r>
                    </a:p>
                  </a:txBody>
                  <a:tcPr anchor="ctr">
                    <a:lnL>
                      <a:noFill/>
                    </a:lnL>
                    <a:noFill/>
                  </a:tcPr>
                </a:tc>
                <a:tc>
                  <a:txBody>
                    <a:bodyPr/>
                    <a:lstStyle/>
                    <a:p>
                      <a:r>
                        <a:rPr lang="en-US" sz="1600" b="1" dirty="0"/>
                        <a:t>Right hip drops under fatigue</a:t>
                      </a:r>
                    </a:p>
                  </a:txBody>
                  <a:tcPr anchor="ctr"/>
                </a:tc>
                <a:extLst>
                  <a:ext uri="{0D108BD9-81ED-4DB2-BD59-A6C34878D82A}">
                    <a16:rowId xmlns:a16="http://schemas.microsoft.com/office/drawing/2014/main" val="1678937567"/>
                  </a:ext>
                </a:extLst>
              </a:tr>
              <a:tr h="561767">
                <a:tc>
                  <a:txBody>
                    <a:bodyPr/>
                    <a:lstStyle/>
                    <a:p>
                      <a:r>
                        <a:rPr lang="en-US" sz="1600" b="1"/>
                        <a:t>Plank</a:t>
                      </a:r>
                    </a:p>
                  </a:txBody>
                  <a:tcPr anchor="ctr"/>
                </a:tc>
                <a:tc>
                  <a:txBody>
                    <a:bodyPr/>
                    <a:lstStyle/>
                    <a:p>
                      <a:r>
                        <a:rPr lang="en-US" sz="1600" b="1"/>
                        <a:t>N</a:t>
                      </a:r>
                    </a:p>
                  </a:txBody>
                  <a:tcPr anchor="ctr"/>
                </a:tc>
                <a:tc>
                  <a:txBody>
                    <a:bodyPr/>
                    <a:lstStyle/>
                    <a:p>
                      <a:r>
                        <a:rPr lang="en-US" sz="1600" b="1"/>
                        <a:t>–</a:t>
                      </a:r>
                    </a:p>
                  </a:txBody>
                  <a:tcPr anchor="ctr">
                    <a:lnT w="12700" cap="flat" cmpd="sng" algn="ctr">
                      <a:noFill/>
                      <a:prstDash val="solid"/>
                      <a:round/>
                      <a:headEnd type="none" w="med" len="med"/>
                      <a:tailEnd type="none" w="med" len="med"/>
                    </a:lnT>
                  </a:tcPr>
                </a:tc>
                <a:tc>
                  <a:txBody>
                    <a:bodyPr/>
                    <a:lstStyle/>
                    <a:p>
                      <a:r>
                        <a:rPr lang="en-US" sz="1600" b="1" dirty="0"/>
                        <a:t>–</a:t>
                      </a:r>
                    </a:p>
                  </a:txBody>
                  <a:tcPr anchor="ctr">
                    <a:lnT>
                      <a:noFill/>
                    </a:lnT>
                  </a:tcPr>
                </a:tc>
                <a:tc>
                  <a:txBody>
                    <a:bodyPr/>
                    <a:lstStyle/>
                    <a:p>
                      <a:r>
                        <a:rPr lang="en-US" sz="1600" b="1">
                          <a:solidFill>
                            <a:schemeClr val="tx1"/>
                          </a:solidFill>
                        </a:rPr>
                        <a:t>2</a:t>
                      </a:r>
                    </a:p>
                  </a:txBody>
                  <a:tcPr anchor="ctr"/>
                </a:tc>
                <a:tc>
                  <a:txBody>
                    <a:bodyPr/>
                    <a:lstStyle/>
                    <a:p>
                      <a:r>
                        <a:rPr lang="en-US" sz="1600" b="1" dirty="0"/>
                        <a:t>Hips begin to drop at 20s</a:t>
                      </a:r>
                    </a:p>
                  </a:txBody>
                  <a:tcPr anchor="ctr"/>
                </a:tc>
                <a:extLst>
                  <a:ext uri="{0D108BD9-81ED-4DB2-BD59-A6C34878D82A}">
                    <a16:rowId xmlns:a16="http://schemas.microsoft.com/office/drawing/2014/main" val="2977777299"/>
                  </a:ext>
                </a:extLst>
              </a:tr>
              <a:tr h="561767">
                <a:tc>
                  <a:txBody>
                    <a:bodyPr/>
                    <a:lstStyle/>
                    <a:p>
                      <a:r>
                        <a:rPr lang="en-US" sz="1600" b="1"/>
                        <a:t>Bird Dog</a:t>
                      </a:r>
                    </a:p>
                  </a:txBody>
                  <a:tcPr anchor="ctr"/>
                </a:tc>
                <a:tc>
                  <a:txBody>
                    <a:bodyPr/>
                    <a:lstStyle/>
                    <a:p>
                      <a:r>
                        <a:rPr lang="en-US" sz="1600" b="1"/>
                        <a:t>N</a:t>
                      </a:r>
                    </a:p>
                  </a:txBody>
                  <a:tcPr anchor="ctr"/>
                </a:tc>
                <a:tc>
                  <a:txBody>
                    <a:bodyPr/>
                    <a:lstStyle/>
                    <a:p>
                      <a:r>
                        <a:rPr lang="en-US" sz="1600" b="1"/>
                        <a:t>2</a:t>
                      </a:r>
                    </a:p>
                  </a:txBody>
                  <a:tcPr anchor="ctr"/>
                </a:tc>
                <a:tc>
                  <a:txBody>
                    <a:bodyPr/>
                    <a:lstStyle/>
                    <a:p>
                      <a:r>
                        <a:rPr lang="en-US" sz="1600" b="1"/>
                        <a:t>2</a:t>
                      </a:r>
                    </a:p>
                  </a:txBody>
                  <a:tcPr anchor="ctr"/>
                </a:tc>
                <a:tc>
                  <a:txBody>
                    <a:bodyPr/>
                    <a:lstStyle/>
                    <a:p>
                      <a:r>
                        <a:rPr lang="en-US" sz="1600" b="1">
                          <a:solidFill>
                            <a:schemeClr val="tx1"/>
                          </a:solidFill>
                        </a:rPr>
                        <a:t>2</a:t>
                      </a:r>
                    </a:p>
                  </a:txBody>
                  <a:tcPr anchor="ctr"/>
                </a:tc>
                <a:tc>
                  <a:txBody>
                    <a:bodyPr/>
                    <a:lstStyle/>
                    <a:p>
                      <a:r>
                        <a:rPr lang="en-US" sz="1600" b="1"/>
                        <a:t>Slight rotation in torso</a:t>
                      </a:r>
                    </a:p>
                  </a:txBody>
                  <a:tcPr anchor="ctr"/>
                </a:tc>
                <a:extLst>
                  <a:ext uri="{0D108BD9-81ED-4DB2-BD59-A6C34878D82A}">
                    <a16:rowId xmlns:a16="http://schemas.microsoft.com/office/drawing/2014/main" val="1638377642"/>
                  </a:ext>
                </a:extLst>
              </a:tr>
              <a:tr h="381773">
                <a:tc>
                  <a:txBody>
                    <a:bodyPr/>
                    <a:lstStyle/>
                    <a:p>
                      <a:r>
                        <a:rPr lang="en-US" sz="1600" b="1"/>
                        <a:t>Sum</a:t>
                      </a:r>
                    </a:p>
                  </a:txBody>
                  <a:tcPr anchor="ctr"/>
                </a:tc>
                <a:tc>
                  <a:txBody>
                    <a:bodyPr/>
                    <a:lstStyle/>
                    <a:p>
                      <a:r>
                        <a:rPr lang="en-US" sz="1600" b="1"/>
                        <a:t>–</a:t>
                      </a:r>
                    </a:p>
                  </a:txBody>
                  <a:tcPr anchor="ctr"/>
                </a:tc>
                <a:tc>
                  <a:txBody>
                    <a:bodyPr/>
                    <a:lstStyle/>
                    <a:p>
                      <a:endParaRPr lang="en-US" sz="1600" b="1"/>
                    </a:p>
                  </a:txBody>
                  <a:tcPr anchor="ctr"/>
                </a:tc>
                <a:tc>
                  <a:txBody>
                    <a:bodyPr/>
                    <a:lstStyle/>
                    <a:p>
                      <a:endParaRPr lang="en-US" sz="1600" b="1" dirty="0"/>
                    </a:p>
                  </a:txBody>
                  <a:tcPr anchor="ctr"/>
                </a:tc>
                <a:tc>
                  <a:txBody>
                    <a:bodyPr/>
                    <a:lstStyle/>
                    <a:p>
                      <a:r>
                        <a:rPr lang="en-US" sz="1600" b="1">
                          <a:solidFill>
                            <a:schemeClr val="tx1"/>
                          </a:solidFill>
                        </a:rPr>
                        <a:t>9</a:t>
                      </a:r>
                    </a:p>
                  </a:txBody>
                  <a:tcPr anchor="ctr"/>
                </a:tc>
                <a:tc>
                  <a:txBody>
                    <a:bodyPr/>
                    <a:lstStyle/>
                    <a:p>
                      <a:endParaRPr lang="en-US" sz="1600" b="1"/>
                    </a:p>
                  </a:txBody>
                  <a:tcPr anchor="ctr"/>
                </a:tc>
                <a:extLst>
                  <a:ext uri="{0D108BD9-81ED-4DB2-BD59-A6C34878D82A}">
                    <a16:rowId xmlns:a16="http://schemas.microsoft.com/office/drawing/2014/main" val="360876020"/>
                  </a:ext>
                </a:extLst>
              </a:tr>
              <a:tr h="561767">
                <a:tc>
                  <a:txBody>
                    <a:bodyPr/>
                    <a:lstStyle/>
                    <a:p>
                      <a:r>
                        <a:rPr lang="en-US" sz="1600" b="1"/>
                        <a:t>Overall Score (Sum/5)</a:t>
                      </a:r>
                    </a:p>
                  </a:txBody>
                  <a:tcPr anchor="ctr"/>
                </a:tc>
                <a:tc>
                  <a:txBody>
                    <a:bodyPr/>
                    <a:lstStyle/>
                    <a:p>
                      <a:r>
                        <a:rPr lang="en-US" sz="1600" b="1"/>
                        <a:t>--</a:t>
                      </a:r>
                    </a:p>
                  </a:txBody>
                  <a:tcPr/>
                </a:tc>
                <a:tc>
                  <a:txBody>
                    <a:bodyPr/>
                    <a:lstStyle/>
                    <a:p>
                      <a:endParaRPr lang="en-US" sz="1600" b="1"/>
                    </a:p>
                  </a:txBody>
                  <a:tcPr/>
                </a:tc>
                <a:tc>
                  <a:txBody>
                    <a:bodyPr/>
                    <a:lstStyle/>
                    <a:p>
                      <a:endParaRPr lang="en-US" sz="1600" b="1"/>
                    </a:p>
                  </a:txBody>
                  <a:tcPr/>
                </a:tc>
                <a:tc>
                  <a:txBody>
                    <a:bodyPr/>
                    <a:lstStyle/>
                    <a:p>
                      <a:r>
                        <a:rPr lang="en-US" sz="1600" b="1">
                          <a:solidFill>
                            <a:schemeClr val="tx1"/>
                          </a:solidFill>
                        </a:rPr>
                        <a:t>1.8 avg</a:t>
                      </a:r>
                    </a:p>
                  </a:txBody>
                  <a:tcPr/>
                </a:tc>
                <a:tc>
                  <a:txBody>
                    <a:bodyPr/>
                    <a:lstStyle/>
                    <a:p>
                      <a:endParaRPr lang="en-US" sz="1600" b="1" dirty="0"/>
                    </a:p>
                  </a:txBody>
                  <a:tcPr/>
                </a:tc>
                <a:extLst>
                  <a:ext uri="{0D108BD9-81ED-4DB2-BD59-A6C34878D82A}">
                    <a16:rowId xmlns:a16="http://schemas.microsoft.com/office/drawing/2014/main" val="3071344318"/>
                  </a:ext>
                </a:extLst>
              </a:tr>
            </a:tbl>
          </a:graphicData>
        </a:graphic>
      </p:graphicFrame>
      <p:sp>
        <p:nvSpPr>
          <p:cNvPr id="3" name="TextBox 2">
            <a:extLst>
              <a:ext uri="{FF2B5EF4-FFF2-40B4-BE49-F238E27FC236}">
                <a16:creationId xmlns:a16="http://schemas.microsoft.com/office/drawing/2014/main" id="{2FCE5CB6-5C98-03DB-736C-972613BF4851}"/>
              </a:ext>
            </a:extLst>
          </p:cNvPr>
          <p:cNvSpPr txBox="1"/>
          <p:nvPr/>
        </p:nvSpPr>
        <p:spPr>
          <a:xfrm>
            <a:off x="1116675" y="6084571"/>
            <a:ext cx="9958650" cy="523220"/>
          </a:xfrm>
          <a:prstGeom prst="rect">
            <a:avLst/>
          </a:prstGeom>
          <a:noFill/>
        </p:spPr>
        <p:txBody>
          <a:bodyPr wrap="square" rtlCol="0">
            <a:spAutoFit/>
          </a:bodyPr>
          <a:lstStyle/>
          <a:p>
            <a:pPr algn="ctr"/>
            <a:r>
              <a:rPr lang="en-US" sz="1400" dirty="0">
                <a:highlight>
                  <a:srgbClr val="FF0000"/>
                </a:highlight>
              </a:rPr>
              <a:t>A result like this indicates a need to regress or refine unilateral leg work (Split Squat, Single-Leg Balance Reach) and address some core stability issues (Plank, Bird Dog).</a:t>
            </a:r>
          </a:p>
        </p:txBody>
      </p:sp>
    </p:spTree>
    <p:extLst>
      <p:ext uri="{BB962C8B-B14F-4D97-AF65-F5344CB8AC3E}">
        <p14:creationId xmlns:p14="http://schemas.microsoft.com/office/powerpoint/2010/main" val="4093884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CAE5-AC63-920B-2DF2-B0836C88A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BEA10-97B1-D3FE-A592-F78884C6FC6C}"/>
              </a:ext>
            </a:extLst>
          </p:cNvPr>
          <p:cNvSpPr txBox="1">
            <a:spLocks noGrp="1"/>
          </p:cNvSpPr>
          <p:nvPr>
            <p:ph type="title"/>
          </p:nvPr>
        </p:nvSpPr>
        <p:spPr>
          <a:xfrm>
            <a:off x="1080652" y="365129"/>
            <a:ext cx="9958651" cy="932729"/>
          </a:xfrm>
          <a:prstGeom prst="rect">
            <a:avLst/>
          </a:prstGeom>
          <a:noFill/>
          <a:ln>
            <a:noFill/>
          </a:ln>
        </p:spPr>
        <p:txBody>
          <a:bodyPr vert="horz" wrap="square" lIns="0" tIns="0" rIns="0" bIns="0" anchor="ctr" anchorCtr="1" compatLnSpc="1">
            <a:noAutofit/>
          </a:bodyPr>
          <a:lstStyle/>
          <a:p>
            <a:pPr algn="ctr"/>
            <a:r>
              <a:rPr lang="en-US" b="1">
                <a:solidFill>
                  <a:schemeClr val="accent4"/>
                </a:solidFill>
              </a:rPr>
              <a:t>High Five</a:t>
            </a:r>
            <a:r>
              <a:rPr lang="en-US" b="1"/>
              <a:t> </a:t>
            </a:r>
            <a:br>
              <a:rPr lang="en-US" b="1"/>
            </a:br>
            <a:r>
              <a:rPr lang="en-US" sz="2400" b="0" i="1">
                <a:solidFill>
                  <a:schemeClr val="tx1"/>
                </a:solidFill>
              </a:rPr>
              <a:t>example</a:t>
            </a:r>
            <a:endParaRPr lang="en-US" b="0" i="1">
              <a:solidFill>
                <a:schemeClr val="tx1"/>
              </a:solidFill>
            </a:endParaRPr>
          </a:p>
        </p:txBody>
      </p:sp>
      <p:graphicFrame>
        <p:nvGraphicFramePr>
          <p:cNvPr id="14" name="Table 13">
            <a:extLst>
              <a:ext uri="{FF2B5EF4-FFF2-40B4-BE49-F238E27FC236}">
                <a16:creationId xmlns:a16="http://schemas.microsoft.com/office/drawing/2014/main" id="{B738FA1C-A4D0-AD97-DE26-6C88AB828A2C}"/>
              </a:ext>
            </a:extLst>
          </p:cNvPr>
          <p:cNvGraphicFramePr>
            <a:graphicFrameLocks noGrp="1"/>
          </p:cNvGraphicFramePr>
          <p:nvPr/>
        </p:nvGraphicFramePr>
        <p:xfrm>
          <a:off x="949713" y="1453939"/>
          <a:ext cx="10292574" cy="4482106"/>
        </p:xfrm>
        <a:graphic>
          <a:graphicData uri="http://schemas.openxmlformats.org/drawingml/2006/table">
            <a:tbl>
              <a:tblPr firstRow="1" bandRow="1">
                <a:tableStyleId>{0E3FDE45-AF77-4B5C-9715-49D594BDF05E}</a:tableStyleId>
              </a:tblPr>
              <a:tblGrid>
                <a:gridCol w="1715429">
                  <a:extLst>
                    <a:ext uri="{9D8B030D-6E8A-4147-A177-3AD203B41FA5}">
                      <a16:colId xmlns:a16="http://schemas.microsoft.com/office/drawing/2014/main" val="4089591332"/>
                    </a:ext>
                  </a:extLst>
                </a:gridCol>
                <a:gridCol w="1715429">
                  <a:extLst>
                    <a:ext uri="{9D8B030D-6E8A-4147-A177-3AD203B41FA5}">
                      <a16:colId xmlns:a16="http://schemas.microsoft.com/office/drawing/2014/main" val="3593007171"/>
                    </a:ext>
                  </a:extLst>
                </a:gridCol>
                <a:gridCol w="1715429">
                  <a:extLst>
                    <a:ext uri="{9D8B030D-6E8A-4147-A177-3AD203B41FA5}">
                      <a16:colId xmlns:a16="http://schemas.microsoft.com/office/drawing/2014/main" val="3162129203"/>
                    </a:ext>
                  </a:extLst>
                </a:gridCol>
                <a:gridCol w="1715429">
                  <a:extLst>
                    <a:ext uri="{9D8B030D-6E8A-4147-A177-3AD203B41FA5}">
                      <a16:colId xmlns:a16="http://schemas.microsoft.com/office/drawing/2014/main" val="2229715601"/>
                    </a:ext>
                  </a:extLst>
                </a:gridCol>
                <a:gridCol w="1715429">
                  <a:extLst>
                    <a:ext uri="{9D8B030D-6E8A-4147-A177-3AD203B41FA5}">
                      <a16:colId xmlns:a16="http://schemas.microsoft.com/office/drawing/2014/main" val="840028582"/>
                    </a:ext>
                  </a:extLst>
                </a:gridCol>
                <a:gridCol w="1715429">
                  <a:extLst>
                    <a:ext uri="{9D8B030D-6E8A-4147-A177-3AD203B41FA5}">
                      <a16:colId xmlns:a16="http://schemas.microsoft.com/office/drawing/2014/main" val="2195875612"/>
                    </a:ext>
                  </a:extLst>
                </a:gridCol>
              </a:tblGrid>
              <a:tr h="381773">
                <a:tc>
                  <a:txBody>
                    <a:bodyPr/>
                    <a:lstStyle/>
                    <a:p>
                      <a:r>
                        <a:rPr lang="en-US" sz="1600" b="1"/>
                        <a:t>Movement</a:t>
                      </a:r>
                    </a:p>
                  </a:txBody>
                  <a:tcPr anchor="ctr"/>
                </a:tc>
                <a:tc>
                  <a:txBody>
                    <a:bodyPr/>
                    <a:lstStyle/>
                    <a:p>
                      <a:r>
                        <a:rPr lang="en-US" sz="1600" b="1"/>
                        <a:t>Pain (Y/N) Y=1</a:t>
                      </a:r>
                    </a:p>
                  </a:txBody>
                  <a:tcPr anchor="ctr"/>
                </a:tc>
                <a:tc>
                  <a:txBody>
                    <a:bodyPr/>
                    <a:lstStyle/>
                    <a:p>
                      <a:r>
                        <a:rPr lang="en-US" sz="1600" b="1"/>
                        <a:t>R Score</a:t>
                      </a:r>
                    </a:p>
                  </a:txBody>
                  <a:tcPr anchor="ctr"/>
                </a:tc>
                <a:tc>
                  <a:txBody>
                    <a:bodyPr/>
                    <a:lstStyle/>
                    <a:p>
                      <a:r>
                        <a:rPr lang="en-US" sz="1600" b="1"/>
                        <a:t>L Score</a:t>
                      </a:r>
                    </a:p>
                  </a:txBody>
                  <a:tcPr anchor="ctr"/>
                </a:tc>
                <a:tc>
                  <a:txBody>
                    <a:bodyPr/>
                    <a:lstStyle/>
                    <a:p>
                      <a:r>
                        <a:rPr lang="en-US" sz="1600" b="1">
                          <a:solidFill>
                            <a:schemeClr val="tx1"/>
                          </a:solidFill>
                        </a:rPr>
                        <a:t>Lowest Score</a:t>
                      </a:r>
                    </a:p>
                  </a:txBody>
                  <a:tcPr anchor="ctr"/>
                </a:tc>
                <a:tc>
                  <a:txBody>
                    <a:bodyPr/>
                    <a:lstStyle/>
                    <a:p>
                      <a:r>
                        <a:rPr lang="en-US" sz="1600" b="1"/>
                        <a:t>Notes</a:t>
                      </a:r>
                    </a:p>
                  </a:txBody>
                  <a:tcPr anchor="ctr"/>
                </a:tc>
                <a:extLst>
                  <a:ext uri="{0D108BD9-81ED-4DB2-BD59-A6C34878D82A}">
                    <a16:rowId xmlns:a16="http://schemas.microsoft.com/office/drawing/2014/main" val="1024733056"/>
                  </a:ext>
                </a:extLst>
              </a:tr>
              <a:tr h="561767">
                <a:tc>
                  <a:txBody>
                    <a:bodyPr/>
                    <a:lstStyle/>
                    <a:p>
                      <a:r>
                        <a:rPr lang="en-US" sz="1600" b="1"/>
                        <a:t>Overhead Squat</a:t>
                      </a:r>
                    </a:p>
                  </a:txBody>
                  <a:tcPr anchor="ctr"/>
                </a:tc>
                <a:tc>
                  <a:txBody>
                    <a:bodyPr/>
                    <a:lstStyle/>
                    <a:p>
                      <a:r>
                        <a:rPr lang="en-US" sz="1600" b="1"/>
                        <a:t>N</a:t>
                      </a:r>
                    </a:p>
                  </a:txBody>
                  <a:tcPr anchor="ctr"/>
                </a:tc>
                <a:tc>
                  <a:txBody>
                    <a:bodyPr/>
                    <a:lstStyle/>
                    <a:p>
                      <a:r>
                        <a:rPr lang="en-US" sz="1600" b="1"/>
                        <a:t>–</a:t>
                      </a:r>
                    </a:p>
                  </a:txBody>
                  <a:tcPr anchor="ctr"/>
                </a:tc>
                <a:tc>
                  <a:txBody>
                    <a:bodyPr/>
                    <a:lstStyle/>
                    <a:p>
                      <a:r>
                        <a:rPr lang="en-US" sz="1600" b="1"/>
                        <a:t>–</a:t>
                      </a:r>
                    </a:p>
                  </a:txBody>
                  <a:tcPr anchor="ctr">
                    <a:lnB w="12700" cap="flat" cmpd="sng" algn="ctr">
                      <a:solidFill>
                        <a:schemeClr val="tx1"/>
                      </a:solidFill>
                      <a:prstDash val="solid"/>
                      <a:round/>
                      <a:headEnd type="none" w="med" len="med"/>
                      <a:tailEnd type="none" w="med" len="med"/>
                    </a:lnB>
                  </a:tcPr>
                </a:tc>
                <a:tc>
                  <a:txBody>
                    <a:bodyPr/>
                    <a:lstStyle/>
                    <a:p>
                      <a:r>
                        <a:rPr lang="en-US" sz="1600" b="1">
                          <a:solidFill>
                            <a:schemeClr val="tx1"/>
                          </a:solidFill>
                        </a:rPr>
                        <a:t>3</a:t>
                      </a:r>
                    </a:p>
                  </a:txBody>
                  <a:tcPr anchor="ctr"/>
                </a:tc>
                <a:tc>
                  <a:txBody>
                    <a:bodyPr/>
                    <a:lstStyle/>
                    <a:p>
                      <a:r>
                        <a:rPr lang="en-US" sz="1600" b="1"/>
                        <a:t>Good depth, stable spine</a:t>
                      </a:r>
                    </a:p>
                  </a:txBody>
                  <a:tcPr anchor="ctr"/>
                </a:tc>
                <a:extLst>
                  <a:ext uri="{0D108BD9-81ED-4DB2-BD59-A6C34878D82A}">
                    <a16:rowId xmlns:a16="http://schemas.microsoft.com/office/drawing/2014/main" val="4193209362"/>
                  </a:ext>
                </a:extLst>
              </a:tr>
              <a:tr h="798300">
                <a:tc>
                  <a:txBody>
                    <a:bodyPr/>
                    <a:lstStyle/>
                    <a:p>
                      <a:r>
                        <a:rPr lang="en-US" sz="1600" b="1"/>
                        <a:t>Split Squat</a:t>
                      </a:r>
                    </a:p>
                  </a:txBody>
                  <a:tcPr anchor="ctr"/>
                </a:tc>
                <a:tc>
                  <a:txBody>
                    <a:bodyPr/>
                    <a:lstStyle/>
                    <a:p>
                      <a:r>
                        <a:rPr lang="en-US" sz="1600" b="1"/>
                        <a:t>N</a:t>
                      </a:r>
                    </a:p>
                  </a:txBody>
                  <a:tcPr anchor="ctr"/>
                </a:tc>
                <a:tc>
                  <a:txBody>
                    <a:bodyPr/>
                    <a:lstStyle/>
                    <a:p>
                      <a:r>
                        <a:rPr lang="en-US" sz="1600" b="1"/>
                        <a:t>2</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n-US" sz="1600" b="1"/>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solidFill>
                            <a:schemeClr val="tx1"/>
                          </a:solidFill>
                        </a:rPr>
                        <a:t>1</a:t>
                      </a:r>
                    </a:p>
                  </a:txBody>
                  <a:tcPr anchor="ctr">
                    <a:lnL w="12700" cap="flat" cmpd="sng" algn="ctr">
                      <a:solidFill>
                        <a:schemeClr val="tx1"/>
                      </a:solidFill>
                      <a:prstDash val="solid"/>
                      <a:round/>
                      <a:headEnd type="none" w="med" len="med"/>
                      <a:tailEnd type="none" w="med" len="med"/>
                    </a:lnL>
                    <a:solidFill>
                      <a:schemeClr val="accent4"/>
                    </a:solidFill>
                  </a:tcPr>
                </a:tc>
                <a:tc>
                  <a:txBody>
                    <a:bodyPr/>
                    <a:lstStyle/>
                    <a:p>
                      <a:r>
                        <a:rPr lang="en-US" sz="1600" b="1" dirty="0"/>
                        <a:t>Left knee valgus/collapse during reps</a:t>
                      </a:r>
                    </a:p>
                  </a:txBody>
                  <a:tcPr anchor="ctr"/>
                </a:tc>
                <a:extLst>
                  <a:ext uri="{0D108BD9-81ED-4DB2-BD59-A6C34878D82A}">
                    <a16:rowId xmlns:a16="http://schemas.microsoft.com/office/drawing/2014/main" val="4139050874"/>
                  </a:ext>
                </a:extLst>
              </a:tr>
              <a:tr h="561767">
                <a:tc>
                  <a:txBody>
                    <a:bodyPr/>
                    <a:lstStyle/>
                    <a:p>
                      <a:r>
                        <a:rPr lang="en-US" sz="1600" b="1"/>
                        <a:t>Single-Leg Balance Reach</a:t>
                      </a:r>
                    </a:p>
                  </a:txBody>
                  <a:tcPr anchor="ctr"/>
                </a:tc>
                <a:tc>
                  <a:txBody>
                    <a:bodyPr/>
                    <a:lstStyle/>
                    <a:p>
                      <a:r>
                        <a:rPr lang="en-US" sz="1600" b="1"/>
                        <a:t>N</a:t>
                      </a:r>
                    </a:p>
                  </a:txBody>
                  <a:tcPr anchor="ctr">
                    <a:lnR w="12700" cap="flat" cmpd="sng" algn="ctr">
                      <a:solidFill>
                        <a:schemeClr val="tx1"/>
                      </a:solidFill>
                      <a:prstDash val="solid"/>
                      <a:round/>
                      <a:headEnd type="none" w="med" len="med"/>
                      <a:tailEnd type="none" w="med" len="med"/>
                    </a:lnR>
                  </a:tcPr>
                </a:tc>
                <a:tc>
                  <a:txBody>
                    <a:bodyPr/>
                    <a:lstStyle/>
                    <a:p>
                      <a:pPr marL="0" algn="ctr" defTabSz="914400" rtl="0" eaLnBrk="1" latinLnBrk="0" hangingPunct="1"/>
                      <a:r>
                        <a:rPr lang="en-US" sz="1600" b="1" kern="1200">
                          <a:solidFill>
                            <a:schemeClr val="tx1"/>
                          </a:solidFill>
                        </a:rPr>
                        <a:t>1</a:t>
                      </a:r>
                      <a:endParaRPr lang="en-US" sz="1600" b="1" kern="1200">
                        <a:solidFill>
                          <a:schemeClr val="tx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t>2</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sz="1600" b="1">
                          <a:solidFill>
                            <a:schemeClr val="tx1"/>
                          </a:solidFill>
                        </a:rPr>
                        <a:t>1</a:t>
                      </a:r>
                    </a:p>
                  </a:txBody>
                  <a:tcPr anchor="ctr">
                    <a:solidFill>
                      <a:schemeClr val="accent4"/>
                    </a:solidFill>
                  </a:tcPr>
                </a:tc>
                <a:tc>
                  <a:txBody>
                    <a:bodyPr/>
                    <a:lstStyle/>
                    <a:p>
                      <a:r>
                        <a:rPr lang="en-US" sz="1600" b="1" dirty="0"/>
                        <a:t>Right hip drops under fatigue</a:t>
                      </a:r>
                    </a:p>
                  </a:txBody>
                  <a:tcPr anchor="ctr"/>
                </a:tc>
                <a:extLst>
                  <a:ext uri="{0D108BD9-81ED-4DB2-BD59-A6C34878D82A}">
                    <a16:rowId xmlns:a16="http://schemas.microsoft.com/office/drawing/2014/main" val="1678937567"/>
                  </a:ext>
                </a:extLst>
              </a:tr>
              <a:tr h="561767">
                <a:tc>
                  <a:txBody>
                    <a:bodyPr/>
                    <a:lstStyle/>
                    <a:p>
                      <a:r>
                        <a:rPr lang="en-US" sz="1600" b="1"/>
                        <a:t>Plank</a:t>
                      </a:r>
                    </a:p>
                  </a:txBody>
                  <a:tcPr anchor="ctr"/>
                </a:tc>
                <a:tc>
                  <a:txBody>
                    <a:bodyPr/>
                    <a:lstStyle/>
                    <a:p>
                      <a:r>
                        <a:rPr lang="en-US" sz="1600" b="1"/>
                        <a:t>N</a:t>
                      </a:r>
                    </a:p>
                  </a:txBody>
                  <a:tcPr anchor="ctr"/>
                </a:tc>
                <a:tc>
                  <a:txBody>
                    <a:bodyPr/>
                    <a:lstStyle/>
                    <a:p>
                      <a:r>
                        <a:rPr lang="en-US" sz="1600" b="1"/>
                        <a:t>–</a:t>
                      </a:r>
                    </a:p>
                  </a:txBody>
                  <a:tcPr anchor="ctr">
                    <a:lnT w="12700" cap="flat" cmpd="sng" algn="ctr">
                      <a:solidFill>
                        <a:schemeClr val="tx1"/>
                      </a:solidFill>
                      <a:prstDash val="solid"/>
                      <a:round/>
                      <a:headEnd type="none" w="med" len="med"/>
                      <a:tailEnd type="none" w="med" len="med"/>
                    </a:lnT>
                  </a:tcPr>
                </a:tc>
                <a:tc>
                  <a:txBody>
                    <a:bodyPr/>
                    <a:lstStyle/>
                    <a:p>
                      <a:r>
                        <a:rPr lang="en-US" sz="1600" b="1" dirty="0"/>
                        <a:t>–</a:t>
                      </a:r>
                    </a:p>
                  </a:txBody>
                  <a:tcPr anchor="ctr"/>
                </a:tc>
                <a:tc>
                  <a:txBody>
                    <a:bodyPr/>
                    <a:lstStyle/>
                    <a:p>
                      <a:r>
                        <a:rPr lang="en-US" sz="1600" b="1">
                          <a:solidFill>
                            <a:schemeClr val="tx1"/>
                          </a:solidFill>
                        </a:rPr>
                        <a:t>2</a:t>
                      </a:r>
                    </a:p>
                  </a:txBody>
                  <a:tcPr anchor="ctr"/>
                </a:tc>
                <a:tc>
                  <a:txBody>
                    <a:bodyPr/>
                    <a:lstStyle/>
                    <a:p>
                      <a:r>
                        <a:rPr lang="en-US" sz="1600" b="1" dirty="0"/>
                        <a:t>Hips begin to drop at 20s</a:t>
                      </a:r>
                    </a:p>
                  </a:txBody>
                  <a:tcPr anchor="ctr"/>
                </a:tc>
                <a:extLst>
                  <a:ext uri="{0D108BD9-81ED-4DB2-BD59-A6C34878D82A}">
                    <a16:rowId xmlns:a16="http://schemas.microsoft.com/office/drawing/2014/main" val="2977777299"/>
                  </a:ext>
                </a:extLst>
              </a:tr>
              <a:tr h="561767">
                <a:tc>
                  <a:txBody>
                    <a:bodyPr/>
                    <a:lstStyle/>
                    <a:p>
                      <a:r>
                        <a:rPr lang="en-US" sz="1600" b="1"/>
                        <a:t>Bird Dog</a:t>
                      </a:r>
                    </a:p>
                  </a:txBody>
                  <a:tcPr anchor="ctr"/>
                </a:tc>
                <a:tc>
                  <a:txBody>
                    <a:bodyPr/>
                    <a:lstStyle/>
                    <a:p>
                      <a:r>
                        <a:rPr lang="en-US" sz="1600" b="1"/>
                        <a:t>N</a:t>
                      </a:r>
                    </a:p>
                  </a:txBody>
                  <a:tcPr anchor="ctr"/>
                </a:tc>
                <a:tc>
                  <a:txBody>
                    <a:bodyPr/>
                    <a:lstStyle/>
                    <a:p>
                      <a:r>
                        <a:rPr lang="en-US" sz="1600" b="1"/>
                        <a:t>2</a:t>
                      </a:r>
                    </a:p>
                  </a:txBody>
                  <a:tcPr anchor="ctr"/>
                </a:tc>
                <a:tc>
                  <a:txBody>
                    <a:bodyPr/>
                    <a:lstStyle/>
                    <a:p>
                      <a:r>
                        <a:rPr lang="en-US" sz="1600" b="1"/>
                        <a:t>2</a:t>
                      </a:r>
                    </a:p>
                  </a:txBody>
                  <a:tcPr anchor="ctr"/>
                </a:tc>
                <a:tc>
                  <a:txBody>
                    <a:bodyPr/>
                    <a:lstStyle/>
                    <a:p>
                      <a:r>
                        <a:rPr lang="en-US" sz="1600" b="1">
                          <a:solidFill>
                            <a:schemeClr val="tx1"/>
                          </a:solidFill>
                        </a:rPr>
                        <a:t>2</a:t>
                      </a:r>
                    </a:p>
                  </a:txBody>
                  <a:tcPr anchor="ctr"/>
                </a:tc>
                <a:tc>
                  <a:txBody>
                    <a:bodyPr/>
                    <a:lstStyle/>
                    <a:p>
                      <a:r>
                        <a:rPr lang="en-US" sz="1600" b="1"/>
                        <a:t>Slight rotation in torso</a:t>
                      </a:r>
                    </a:p>
                  </a:txBody>
                  <a:tcPr anchor="ctr"/>
                </a:tc>
                <a:extLst>
                  <a:ext uri="{0D108BD9-81ED-4DB2-BD59-A6C34878D82A}">
                    <a16:rowId xmlns:a16="http://schemas.microsoft.com/office/drawing/2014/main" val="1638377642"/>
                  </a:ext>
                </a:extLst>
              </a:tr>
              <a:tr h="381773">
                <a:tc>
                  <a:txBody>
                    <a:bodyPr/>
                    <a:lstStyle/>
                    <a:p>
                      <a:r>
                        <a:rPr lang="en-US" sz="1600" b="1"/>
                        <a:t>Sum</a:t>
                      </a:r>
                    </a:p>
                  </a:txBody>
                  <a:tcPr anchor="ctr"/>
                </a:tc>
                <a:tc>
                  <a:txBody>
                    <a:bodyPr/>
                    <a:lstStyle/>
                    <a:p>
                      <a:r>
                        <a:rPr lang="en-US" sz="1600" b="1"/>
                        <a:t>–</a:t>
                      </a:r>
                    </a:p>
                  </a:txBody>
                  <a:tcPr anchor="ctr"/>
                </a:tc>
                <a:tc>
                  <a:txBody>
                    <a:bodyPr/>
                    <a:lstStyle/>
                    <a:p>
                      <a:endParaRPr lang="en-US" sz="1600" b="1"/>
                    </a:p>
                  </a:txBody>
                  <a:tcPr anchor="ctr"/>
                </a:tc>
                <a:tc>
                  <a:txBody>
                    <a:bodyPr/>
                    <a:lstStyle/>
                    <a:p>
                      <a:endParaRPr lang="en-US" sz="1600" b="1"/>
                    </a:p>
                  </a:txBody>
                  <a:tcPr anchor="ctr"/>
                </a:tc>
                <a:tc>
                  <a:txBody>
                    <a:bodyPr/>
                    <a:lstStyle/>
                    <a:p>
                      <a:r>
                        <a:rPr lang="en-US" sz="1600" b="1">
                          <a:solidFill>
                            <a:schemeClr val="tx1"/>
                          </a:solidFill>
                        </a:rPr>
                        <a:t>9</a:t>
                      </a:r>
                    </a:p>
                  </a:txBody>
                  <a:tcPr anchor="ctr"/>
                </a:tc>
                <a:tc>
                  <a:txBody>
                    <a:bodyPr/>
                    <a:lstStyle/>
                    <a:p>
                      <a:endParaRPr lang="en-US" sz="1600" b="1"/>
                    </a:p>
                  </a:txBody>
                  <a:tcPr anchor="ctr"/>
                </a:tc>
                <a:extLst>
                  <a:ext uri="{0D108BD9-81ED-4DB2-BD59-A6C34878D82A}">
                    <a16:rowId xmlns:a16="http://schemas.microsoft.com/office/drawing/2014/main" val="360876020"/>
                  </a:ext>
                </a:extLst>
              </a:tr>
              <a:tr h="561767">
                <a:tc>
                  <a:txBody>
                    <a:bodyPr/>
                    <a:lstStyle/>
                    <a:p>
                      <a:r>
                        <a:rPr lang="en-US" sz="1600" b="1"/>
                        <a:t>Overall Score (Sum/5)</a:t>
                      </a:r>
                    </a:p>
                  </a:txBody>
                  <a:tcPr anchor="ctr"/>
                </a:tc>
                <a:tc>
                  <a:txBody>
                    <a:bodyPr/>
                    <a:lstStyle/>
                    <a:p>
                      <a:r>
                        <a:rPr lang="en-US" sz="1600" b="1"/>
                        <a:t>--</a:t>
                      </a:r>
                    </a:p>
                  </a:txBody>
                  <a:tcPr/>
                </a:tc>
                <a:tc>
                  <a:txBody>
                    <a:bodyPr/>
                    <a:lstStyle/>
                    <a:p>
                      <a:endParaRPr lang="en-US" sz="1600" b="1"/>
                    </a:p>
                  </a:txBody>
                  <a:tcPr/>
                </a:tc>
                <a:tc>
                  <a:txBody>
                    <a:bodyPr/>
                    <a:lstStyle/>
                    <a:p>
                      <a:endParaRPr lang="en-US" sz="1600" b="1"/>
                    </a:p>
                  </a:txBody>
                  <a:tcPr/>
                </a:tc>
                <a:tc>
                  <a:txBody>
                    <a:bodyPr/>
                    <a:lstStyle/>
                    <a:p>
                      <a:r>
                        <a:rPr lang="en-US" sz="1600" b="1">
                          <a:solidFill>
                            <a:schemeClr val="tx1"/>
                          </a:solidFill>
                        </a:rPr>
                        <a:t>1.8 avg</a:t>
                      </a:r>
                    </a:p>
                  </a:txBody>
                  <a:tcPr/>
                </a:tc>
                <a:tc>
                  <a:txBody>
                    <a:bodyPr/>
                    <a:lstStyle/>
                    <a:p>
                      <a:endParaRPr lang="en-US" sz="1600" b="1" dirty="0"/>
                    </a:p>
                  </a:txBody>
                  <a:tcPr/>
                </a:tc>
                <a:extLst>
                  <a:ext uri="{0D108BD9-81ED-4DB2-BD59-A6C34878D82A}">
                    <a16:rowId xmlns:a16="http://schemas.microsoft.com/office/drawing/2014/main" val="3071344318"/>
                  </a:ext>
                </a:extLst>
              </a:tr>
            </a:tbl>
          </a:graphicData>
        </a:graphic>
      </p:graphicFrame>
      <p:sp>
        <p:nvSpPr>
          <p:cNvPr id="3" name="TextBox 2">
            <a:extLst>
              <a:ext uri="{FF2B5EF4-FFF2-40B4-BE49-F238E27FC236}">
                <a16:creationId xmlns:a16="http://schemas.microsoft.com/office/drawing/2014/main" id="{2253708E-C2D4-17A0-ADE6-392E74A3CD2A}"/>
              </a:ext>
            </a:extLst>
          </p:cNvPr>
          <p:cNvSpPr txBox="1"/>
          <p:nvPr/>
        </p:nvSpPr>
        <p:spPr>
          <a:xfrm>
            <a:off x="1116675" y="6084571"/>
            <a:ext cx="9958650" cy="523220"/>
          </a:xfrm>
          <a:prstGeom prst="rect">
            <a:avLst/>
          </a:prstGeom>
          <a:noFill/>
        </p:spPr>
        <p:txBody>
          <a:bodyPr wrap="square" rtlCol="0">
            <a:spAutoFit/>
          </a:bodyPr>
          <a:lstStyle/>
          <a:p>
            <a:pPr algn="ctr"/>
            <a:r>
              <a:rPr lang="en-US" sz="1400" dirty="0">
                <a:highlight>
                  <a:srgbClr val="FF0000"/>
                </a:highlight>
              </a:rPr>
              <a:t>A result like this indicates a need to regress or refine unilateral leg work (Split Squat, Single-Leg Balance Reach) and address some core stability issues (Plank, Bird Dog).</a:t>
            </a:r>
          </a:p>
        </p:txBody>
      </p:sp>
    </p:spTree>
    <p:extLst>
      <p:ext uri="{BB962C8B-B14F-4D97-AF65-F5344CB8AC3E}">
        <p14:creationId xmlns:p14="http://schemas.microsoft.com/office/powerpoint/2010/main" val="1641161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1EE3-549A-F03A-AE4A-E05EBDF539B7}"/>
            </a:ext>
          </a:extLst>
        </p:cNvPr>
        <p:cNvGrpSpPr/>
        <p:nvPr/>
      </p:nvGrpSpPr>
      <p:grpSpPr>
        <a:xfrm>
          <a:off x="0" y="0"/>
          <a:ext cx="0" cy="0"/>
          <a:chOff x="0" y="0"/>
          <a:chExt cx="0" cy="0"/>
        </a:xfrm>
      </p:grpSpPr>
      <p:sp>
        <p:nvSpPr>
          <p:cNvPr id="36" name="Footer Placeholder 1">
            <a:extLst>
              <a:ext uri="{FF2B5EF4-FFF2-40B4-BE49-F238E27FC236}">
                <a16:creationId xmlns:a16="http://schemas.microsoft.com/office/drawing/2014/main" id="{43765803-A1BC-D192-A9C3-D18D6411896D}"/>
              </a:ext>
            </a:extLst>
          </p:cNvPr>
          <p:cNvSpPr>
            <a:spLocks noGrp="1"/>
          </p:cNvSpPr>
          <p:nvPr>
            <p:ph type="ftr" sz="quarter" idx="9"/>
          </p:nvPr>
        </p:nvSpPr>
        <p:spPr>
          <a:xfrm>
            <a:off x="342900" y="6394105"/>
            <a:ext cx="10259861" cy="365125"/>
          </a:xfrm>
        </p:spPr>
        <p:txBody>
          <a:bodyPr/>
          <a:lstStyle/>
          <a:p>
            <a:pPr lvl="0"/>
            <a:endParaRPr lang="en-US"/>
          </a:p>
        </p:txBody>
      </p:sp>
      <p:sp>
        <p:nvSpPr>
          <p:cNvPr id="8" name="Slide Number Placeholder 7">
            <a:extLst>
              <a:ext uri="{FF2B5EF4-FFF2-40B4-BE49-F238E27FC236}">
                <a16:creationId xmlns:a16="http://schemas.microsoft.com/office/drawing/2014/main" id="{F0C38A11-D9CE-C22D-E0E1-94D4CD9BBDDB}"/>
              </a:ext>
            </a:extLst>
          </p:cNvPr>
          <p:cNvSpPr txBox="1">
            <a:spLocks noGrp="1"/>
          </p:cNvSpPr>
          <p:nvPr>
            <p:ph type="sldNum" sz="quarter" idx="8"/>
          </p:nvPr>
        </p:nvSpPr>
        <p:spPr>
          <a:xfrm>
            <a:off x="11674225" y="5477347"/>
            <a:ext cx="305503" cy="306298"/>
          </a:xfrm>
        </p:spPr>
        <p:txBody>
          <a:bodyPr vert="horz" lIns="0" tIns="45720" rIns="0" bIns="45720" rtlCol="0" anchor="ctr">
            <a:normAutofit/>
          </a:bodyPr>
          <a:lstStyle/>
          <a:p>
            <a:pPr lvl="0">
              <a:spcAft>
                <a:spcPts val="600"/>
              </a:spcAft>
            </a:pPr>
            <a:fld id="{A40B93B0-CD85-4965-9F46-A34006947191}" type="slidenum">
              <a:rPr lang="en-US"/>
              <a:pPr lvl="0">
                <a:spcAft>
                  <a:spcPts val="600"/>
                </a:spcAft>
              </a:pPr>
              <a:t>13</a:t>
            </a:fld>
            <a:endParaRPr lang="en-US"/>
          </a:p>
        </p:txBody>
      </p:sp>
      <p:sp>
        <p:nvSpPr>
          <p:cNvPr id="2" name="Title 1">
            <a:extLst>
              <a:ext uri="{FF2B5EF4-FFF2-40B4-BE49-F238E27FC236}">
                <a16:creationId xmlns:a16="http://schemas.microsoft.com/office/drawing/2014/main" id="{57F4A7FE-A29E-DEB3-8FF8-D9E827D4F926}"/>
              </a:ext>
            </a:extLst>
          </p:cNvPr>
          <p:cNvSpPr txBox="1">
            <a:spLocks noGrp="1"/>
          </p:cNvSpPr>
          <p:nvPr>
            <p:ph type="title"/>
          </p:nvPr>
        </p:nvSpPr>
        <p:spPr>
          <a:xfrm>
            <a:off x="712986" y="314422"/>
            <a:ext cx="10766026" cy="749595"/>
          </a:xfrm>
        </p:spPr>
        <p:txBody>
          <a:bodyPr vert="horz" lIns="0" tIns="0" rIns="0" bIns="0" rtlCol="0" anchor="b" anchorCtr="1" compatLnSpc="1">
            <a:normAutofit/>
          </a:bodyPr>
          <a:lstStyle/>
          <a:p>
            <a:r>
              <a:rPr lang="en-US" b="1"/>
              <a:t>Programming Post High Five </a:t>
            </a:r>
          </a:p>
        </p:txBody>
      </p:sp>
      <p:graphicFrame>
        <p:nvGraphicFramePr>
          <p:cNvPr id="10" name="TextBox 2">
            <a:extLst>
              <a:ext uri="{FF2B5EF4-FFF2-40B4-BE49-F238E27FC236}">
                <a16:creationId xmlns:a16="http://schemas.microsoft.com/office/drawing/2014/main" id="{AB656DBC-EF31-DD74-9913-F8DD597E503D}"/>
              </a:ext>
            </a:extLst>
          </p:cNvPr>
          <p:cNvGraphicFramePr/>
          <p:nvPr>
            <p:extLst>
              <p:ext uri="{D42A27DB-BD31-4B8C-83A1-F6EECF244321}">
                <p14:modId xmlns:p14="http://schemas.microsoft.com/office/powerpoint/2010/main" val="218104488"/>
              </p:ext>
            </p:extLst>
          </p:nvPr>
        </p:nvGraphicFramePr>
        <p:xfrm>
          <a:off x="529005" y="1080515"/>
          <a:ext cx="11133989" cy="50882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55752704"/>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B1EE5-B77E-A19A-91EA-24B2E3CE36C2}"/>
            </a:ext>
          </a:extLst>
        </p:cNvPr>
        <p:cNvGrpSpPr/>
        <p:nvPr/>
      </p:nvGrpSpPr>
      <p:grpSpPr>
        <a:xfrm>
          <a:off x="0" y="0"/>
          <a:ext cx="0" cy="0"/>
          <a:chOff x="0" y="0"/>
          <a:chExt cx="0" cy="0"/>
        </a:xfrm>
      </p:grpSpPr>
      <p:sp>
        <p:nvSpPr>
          <p:cNvPr id="28" name="Footer Placeholder 1">
            <a:extLst>
              <a:ext uri="{FF2B5EF4-FFF2-40B4-BE49-F238E27FC236}">
                <a16:creationId xmlns:a16="http://schemas.microsoft.com/office/drawing/2014/main" id="{5B1E607B-D08C-FEA9-6477-1F719101EEC1}"/>
              </a:ext>
            </a:extLst>
          </p:cNvPr>
          <p:cNvSpPr>
            <a:spLocks noGrp="1"/>
          </p:cNvSpPr>
          <p:nvPr>
            <p:ph type="ftr" sz="quarter" idx="9"/>
          </p:nvPr>
        </p:nvSpPr>
        <p:spPr>
          <a:xfrm>
            <a:off x="342900" y="6394105"/>
            <a:ext cx="10259861" cy="365125"/>
          </a:xfrm>
        </p:spPr>
        <p:txBody>
          <a:bodyPr/>
          <a:lstStyle/>
          <a:p>
            <a:r>
              <a:rPr lang="en-US" sz="800" kern="1200">
                <a:latin typeface="+mn-lt"/>
                <a:ea typeface="+mn-ea"/>
                <a:cs typeface="+mn-cs"/>
              </a:rPr>
              <a:t>Recall that each High Five assessment is rated on a scale of 0–3 for functionality </a:t>
            </a:r>
            <a:r>
              <a:rPr lang="en-US">
                <a:solidFill>
                  <a:schemeClr val="accent5"/>
                </a:solidFill>
              </a:rPr>
              <a:t>(0</a:t>
            </a:r>
            <a:r>
              <a:rPr lang="en-US" sz="800" kern="1200">
                <a:solidFill>
                  <a:schemeClr val="accent5"/>
                </a:solidFill>
                <a:latin typeface="+mn-lt"/>
                <a:ea typeface="+mn-ea"/>
                <a:cs typeface="+mn-cs"/>
              </a:rPr>
              <a:t>= Pain). </a:t>
            </a:r>
          </a:p>
          <a:p>
            <a:pPr lvl="0"/>
            <a:endParaRPr lang="en-US"/>
          </a:p>
        </p:txBody>
      </p:sp>
      <p:sp>
        <p:nvSpPr>
          <p:cNvPr id="8" name="Slide Number Placeholder 7">
            <a:extLst>
              <a:ext uri="{FF2B5EF4-FFF2-40B4-BE49-F238E27FC236}">
                <a16:creationId xmlns:a16="http://schemas.microsoft.com/office/drawing/2014/main" id="{2FC460B5-2E18-F3DD-9972-282260648AF9}"/>
              </a:ext>
            </a:extLst>
          </p:cNvPr>
          <p:cNvSpPr txBox="1">
            <a:spLocks noGrp="1"/>
          </p:cNvSpPr>
          <p:nvPr>
            <p:ph type="sldNum" sz="quarter" idx="8"/>
          </p:nvPr>
        </p:nvSpPr>
        <p:spPr>
          <a:xfrm>
            <a:off x="11674225" y="5477347"/>
            <a:ext cx="305503" cy="306298"/>
          </a:xfrm>
        </p:spPr>
        <p:txBody>
          <a:bodyPr vert="horz" lIns="0" tIns="45720" rIns="0" bIns="45720" rtlCol="0" anchor="ctr">
            <a:normAutofit/>
          </a:bodyPr>
          <a:lstStyle/>
          <a:p>
            <a:pPr>
              <a:spcAft>
                <a:spcPts val="600"/>
              </a:spcAft>
            </a:pPr>
            <a:fld id="{A40B93B0-CD85-4965-9F46-A34006947191}" type="slidenum">
              <a:rPr lang="en-US" smtClean="0"/>
              <a:pPr>
                <a:spcAft>
                  <a:spcPts val="600"/>
                </a:spcAft>
              </a:pPr>
              <a:t>14</a:t>
            </a:fld>
            <a:endParaRPr lang="en-US"/>
          </a:p>
        </p:txBody>
      </p:sp>
      <p:sp>
        <p:nvSpPr>
          <p:cNvPr id="3" name="TextBox 2">
            <a:extLst>
              <a:ext uri="{FF2B5EF4-FFF2-40B4-BE49-F238E27FC236}">
                <a16:creationId xmlns:a16="http://schemas.microsoft.com/office/drawing/2014/main" id="{AFEAA955-38C6-1436-FF07-7AF903391B39}"/>
              </a:ext>
            </a:extLst>
          </p:cNvPr>
          <p:cNvSpPr txBox="1"/>
          <p:nvPr/>
        </p:nvSpPr>
        <p:spPr>
          <a:xfrm>
            <a:off x="4509454" y="1997243"/>
            <a:ext cx="6702003" cy="4396862"/>
          </a:xfrm>
          <a:prstGeom prst="rect">
            <a:avLst/>
          </a:prstGeom>
        </p:spPr>
        <p:txBody>
          <a:bodyPr vert="horz" lIns="182880" tIns="457200" rIns="274320" bIns="1188720" rtlCol="0" anchor="ctr" anchorCtr="1">
            <a:normAutofit fontScale="32500" lnSpcReduction="20000"/>
          </a:bodyPr>
          <a:lstStyle/>
          <a:p>
            <a:r>
              <a:rPr lang="en-US" sz="4800" b="1" dirty="0">
                <a:solidFill>
                  <a:srgbClr val="FF0000"/>
                </a:solidFill>
              </a:rPr>
              <a:t>Scores of 0 (Pain)</a:t>
            </a:r>
          </a:p>
          <a:p>
            <a:endParaRPr lang="en-US" sz="4800" dirty="0">
              <a:solidFill>
                <a:srgbClr val="FF0000"/>
              </a:solidFill>
            </a:endParaRPr>
          </a:p>
          <a:p>
            <a:pPr>
              <a:buFont typeface="Arial" panose="020B0604020202020204" pitchFamily="34" charset="0"/>
              <a:buChar char="•"/>
            </a:pPr>
            <a:r>
              <a:rPr lang="en-US" sz="4800" b="1" dirty="0"/>
              <a:t>Action:</a:t>
            </a:r>
            <a:r>
              <a:rPr lang="en-US" sz="4800" dirty="0"/>
              <a:t> This is a clear sign to refer out to a medical or rehab professional. Training should not proceed until the client has been cleared to continue. </a:t>
            </a:r>
          </a:p>
          <a:p>
            <a:pPr>
              <a:buFont typeface="Arial" panose="020B0604020202020204" pitchFamily="34" charset="0"/>
              <a:buChar char="•"/>
            </a:pPr>
            <a:endParaRPr lang="en-US" sz="4800" dirty="0"/>
          </a:p>
          <a:p>
            <a:pPr>
              <a:buFont typeface="Arial" panose="020B0604020202020204" pitchFamily="34" charset="0"/>
              <a:buChar char="•"/>
            </a:pPr>
            <a:r>
              <a:rPr lang="en-US" sz="4800" b="1" dirty="0"/>
              <a:t>Example:</a:t>
            </a:r>
            <a:r>
              <a:rPr lang="en-US" sz="4800" dirty="0"/>
              <a:t> Inability to complete the Overhead Squat and expressed pain during the movement. </a:t>
            </a:r>
          </a:p>
          <a:p>
            <a:pPr>
              <a:buFont typeface="Arial" panose="020B0604020202020204" pitchFamily="34" charset="0"/>
              <a:buChar char="•"/>
            </a:pPr>
            <a:endParaRPr lang="en-US" sz="4800" dirty="0"/>
          </a:p>
          <a:p>
            <a:pPr>
              <a:buFont typeface="Arial" panose="020B0604020202020204" pitchFamily="34" charset="0"/>
              <a:buChar char="•"/>
            </a:pPr>
            <a:r>
              <a:rPr lang="en-US" sz="4800" b="1" dirty="0"/>
              <a:t>Why It Matters:</a:t>
            </a:r>
            <a:r>
              <a:rPr lang="en-US" sz="4800" dirty="0"/>
              <a:t> If the member has pain, this doesn’t necessarily mean they can't train. In many cases, having a coach is the ideal scenario for them. The coach just needs the appropriate guidance from a healthcare professional to move forward.</a:t>
            </a:r>
          </a:p>
        </p:txBody>
      </p:sp>
      <p:graphicFrame>
        <p:nvGraphicFramePr>
          <p:cNvPr id="4" name="Table 3">
            <a:extLst>
              <a:ext uri="{FF2B5EF4-FFF2-40B4-BE49-F238E27FC236}">
                <a16:creationId xmlns:a16="http://schemas.microsoft.com/office/drawing/2014/main" id="{0AA060B0-CD3B-693A-5328-D6B619A0BE7A}"/>
              </a:ext>
            </a:extLst>
          </p:cNvPr>
          <p:cNvGraphicFramePr>
            <a:graphicFrameLocks noGrp="1"/>
          </p:cNvGraphicFramePr>
          <p:nvPr>
            <p:extLst>
              <p:ext uri="{D42A27DB-BD31-4B8C-83A1-F6EECF244321}">
                <p14:modId xmlns:p14="http://schemas.microsoft.com/office/powerpoint/2010/main" val="3524484202"/>
              </p:ext>
            </p:extLst>
          </p:nvPr>
        </p:nvGraphicFramePr>
        <p:xfrm>
          <a:off x="563090" y="1997243"/>
          <a:ext cx="3335140" cy="3486762"/>
        </p:xfrm>
        <a:graphic>
          <a:graphicData uri="http://schemas.openxmlformats.org/drawingml/2006/table">
            <a:tbl>
              <a:tblPr firstRow="1" bandRow="1">
                <a:tableStyleId>{9D7B26C5-4107-4FEC-AEDC-1716B250A1EF}</a:tableStyleId>
              </a:tblPr>
              <a:tblGrid>
                <a:gridCol w="833785">
                  <a:extLst>
                    <a:ext uri="{9D8B030D-6E8A-4147-A177-3AD203B41FA5}">
                      <a16:colId xmlns:a16="http://schemas.microsoft.com/office/drawing/2014/main" val="4199547234"/>
                    </a:ext>
                  </a:extLst>
                </a:gridCol>
                <a:gridCol w="833785">
                  <a:extLst>
                    <a:ext uri="{9D8B030D-6E8A-4147-A177-3AD203B41FA5}">
                      <a16:colId xmlns:a16="http://schemas.microsoft.com/office/drawing/2014/main" val="629891917"/>
                    </a:ext>
                  </a:extLst>
                </a:gridCol>
                <a:gridCol w="833785">
                  <a:extLst>
                    <a:ext uri="{9D8B030D-6E8A-4147-A177-3AD203B41FA5}">
                      <a16:colId xmlns:a16="http://schemas.microsoft.com/office/drawing/2014/main" val="1648704041"/>
                    </a:ext>
                  </a:extLst>
                </a:gridCol>
                <a:gridCol w="833785">
                  <a:extLst>
                    <a:ext uri="{9D8B030D-6E8A-4147-A177-3AD203B41FA5}">
                      <a16:colId xmlns:a16="http://schemas.microsoft.com/office/drawing/2014/main" val="3476756599"/>
                    </a:ext>
                  </a:extLst>
                </a:gridCol>
              </a:tblGrid>
              <a:tr h="425215">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3023423447"/>
                  </a:ext>
                </a:extLst>
              </a:tr>
              <a:tr h="425215">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T w="12700" cmpd="sng">
                      <a:noFill/>
                    </a:lnT>
                    <a:solidFill>
                      <a:schemeClr val="accent3">
                        <a:lumMod val="75000"/>
                      </a:schemeClr>
                    </a:solidFill>
                  </a:tcPr>
                </a:tc>
                <a:extLst>
                  <a:ext uri="{0D108BD9-81ED-4DB2-BD59-A6C34878D82A}">
                    <a16:rowId xmlns:a16="http://schemas.microsoft.com/office/drawing/2014/main" val="1695846024"/>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solidFill>
                      <a:schemeClr val="accent3">
                        <a:lumMod val="75000"/>
                      </a:schemeClr>
                    </a:solidFill>
                  </a:tcPr>
                </a:tc>
                <a:extLst>
                  <a:ext uri="{0D108BD9-81ED-4DB2-BD59-A6C34878D82A}">
                    <a16:rowId xmlns:a16="http://schemas.microsoft.com/office/drawing/2014/main" val="3707110929"/>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T>
                      <a:noFill/>
                    </a:lnT>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2750462855"/>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3599267446"/>
                  </a:ext>
                </a:extLst>
              </a:tr>
              <a:tr h="425215">
                <a:tc>
                  <a:txBody>
                    <a:bodyPr/>
                    <a:lstStyle/>
                    <a:p>
                      <a:endParaRPr lang="en-US" sz="1200"/>
                    </a:p>
                  </a:txBody>
                  <a:tcPr marL="88502" marR="88502" marT="44251" marB="44251">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solidFill>
                      <a:schemeClr val="accent3">
                        <a:lumMod val="40000"/>
                        <a:lumOff val="60000"/>
                      </a:schemeClr>
                    </a:solidFill>
                  </a:tcPr>
                </a:tc>
                <a:tc>
                  <a:txBody>
                    <a:bodyPr/>
                    <a:lstStyle/>
                    <a:p>
                      <a:endParaRPr lang="en-US" sz="1200"/>
                    </a:p>
                  </a:txBody>
                  <a:tcPr marL="88502" marR="88502" marT="44251" marB="44251">
                    <a:lnL w="12700" cap="flat" cmpd="sng" algn="ctr">
                      <a:noFill/>
                      <a:prstDash val="solid"/>
                      <a:round/>
                      <a:headEnd type="none" w="med" len="med"/>
                      <a:tailEnd type="none" w="med" len="med"/>
                    </a:lnL>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581235456"/>
                  </a:ext>
                </a:extLst>
              </a:tr>
              <a:tr h="425215">
                <a:tc>
                  <a:txBody>
                    <a:bodyPr/>
                    <a:lstStyle/>
                    <a:p>
                      <a:endParaRPr lang="en-US" sz="1200" dirty="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endParaRPr lang="en-US" sz="1200" dirty="0"/>
                    </a:p>
                  </a:txBody>
                  <a:tcPr marL="88502" marR="88502" marT="44251" marB="44251">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B w="12700" cap="flat" cmpd="sng" algn="ctr">
                      <a:noFill/>
                      <a:prstDash val="solid"/>
                      <a:round/>
                      <a:headEnd type="none" w="med" len="med"/>
                      <a:tailEnd type="none" w="med" len="med"/>
                    </a:lnB>
                    <a:solidFill>
                      <a:schemeClr val="accent3">
                        <a:lumMod val="40000"/>
                        <a:lumOff val="60000"/>
                      </a:schemeClr>
                    </a:solidFill>
                  </a:tcPr>
                </a:tc>
                <a:tc>
                  <a:txBody>
                    <a:bodyPr/>
                    <a:lstStyle/>
                    <a:p>
                      <a:endParaRPr lang="en-US" sz="1200"/>
                    </a:p>
                  </a:txBody>
                  <a:tcPr marL="88502" marR="88502" marT="44251" marB="44251">
                    <a:lnL w="12700" cap="flat" cmpd="sng" algn="ctr">
                      <a:noFill/>
                      <a:prstDash val="solid"/>
                      <a:round/>
                      <a:headEnd type="none" w="med" len="med"/>
                      <a:tailEnd type="none" w="med" len="med"/>
                    </a:lnL>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804367381"/>
                  </a:ext>
                </a:extLst>
              </a:tr>
              <a:tr h="510257">
                <a:tc>
                  <a:txBody>
                    <a:bodyPr/>
                    <a:lstStyle/>
                    <a:p>
                      <a:r>
                        <a:rPr lang="en-US" sz="1200"/>
                        <a:t>0</a:t>
                      </a:r>
                    </a:p>
                  </a:txBody>
                  <a:tcPr marL="88502" marR="88502" marT="44251" marB="44251">
                    <a:lnT w="12700" cap="flat" cmpd="sng" algn="ctr">
                      <a:solidFill>
                        <a:schemeClr val="tx1"/>
                      </a:solidFill>
                      <a:prstDash val="solid"/>
                      <a:round/>
                      <a:headEnd type="none" w="med" len="med"/>
                      <a:tailEnd type="none" w="med" len="med"/>
                    </a:lnT>
                    <a:solidFill>
                      <a:srgbClr val="B5E9E1">
                        <a:alpha val="20000"/>
                      </a:srgbClr>
                    </a:solidFill>
                  </a:tcPr>
                </a:tc>
                <a:tc>
                  <a:txBody>
                    <a:bodyPr/>
                    <a:lstStyle/>
                    <a:p>
                      <a:r>
                        <a:rPr lang="en-US" sz="1200"/>
                        <a:t>1</a:t>
                      </a:r>
                    </a:p>
                  </a:txBody>
                  <a:tcPr marL="88502" marR="88502" marT="44251" marB="44251">
                    <a:lnT w="12700" cap="flat" cmpd="sng" algn="ctr">
                      <a:noFill/>
                      <a:prstDash val="solid"/>
                      <a:round/>
                      <a:headEnd type="none" w="med" len="med"/>
                      <a:tailEnd type="none" w="med" len="med"/>
                    </a:lnT>
                    <a:solidFill>
                      <a:srgbClr val="B5E9E1">
                        <a:alpha val="20000"/>
                      </a:srgbClr>
                    </a:solidFill>
                  </a:tcPr>
                </a:tc>
                <a:tc>
                  <a:txBody>
                    <a:bodyPr/>
                    <a:lstStyle/>
                    <a:p>
                      <a:r>
                        <a:rPr lang="en-US" sz="1200"/>
                        <a:t>2</a:t>
                      </a:r>
                    </a:p>
                  </a:txBody>
                  <a:tcPr marL="88502" marR="88502" marT="44251" marB="44251">
                    <a:solidFill>
                      <a:srgbClr val="B5E9E1">
                        <a:alpha val="20000"/>
                      </a:srgbClr>
                    </a:solidFill>
                  </a:tcPr>
                </a:tc>
                <a:tc>
                  <a:txBody>
                    <a:bodyPr/>
                    <a:lstStyle/>
                    <a:p>
                      <a:r>
                        <a:rPr lang="en-US" sz="1200" dirty="0"/>
                        <a:t>3</a:t>
                      </a:r>
                    </a:p>
                  </a:txBody>
                  <a:tcPr marL="88502" marR="88502" marT="44251" marB="44251">
                    <a:solidFill>
                      <a:srgbClr val="B5E9E1">
                        <a:alpha val="20000"/>
                      </a:srgbClr>
                    </a:solidFill>
                  </a:tcPr>
                </a:tc>
                <a:extLst>
                  <a:ext uri="{0D108BD9-81ED-4DB2-BD59-A6C34878D82A}">
                    <a16:rowId xmlns:a16="http://schemas.microsoft.com/office/drawing/2014/main" val="3132363642"/>
                  </a:ext>
                </a:extLst>
              </a:tr>
            </a:tbl>
          </a:graphicData>
        </a:graphic>
      </p:graphicFrame>
      <p:sp>
        <p:nvSpPr>
          <p:cNvPr id="6" name="TextBox 5">
            <a:extLst>
              <a:ext uri="{FF2B5EF4-FFF2-40B4-BE49-F238E27FC236}">
                <a16:creationId xmlns:a16="http://schemas.microsoft.com/office/drawing/2014/main" id="{1DB838F4-D441-11C2-B07F-13BC00EF74AF}"/>
              </a:ext>
            </a:extLst>
          </p:cNvPr>
          <p:cNvSpPr txBox="1"/>
          <p:nvPr/>
        </p:nvSpPr>
        <p:spPr>
          <a:xfrm>
            <a:off x="563089" y="484527"/>
            <a:ext cx="10648367" cy="677108"/>
          </a:xfrm>
          <a:prstGeom prst="rect">
            <a:avLst/>
          </a:prstGeom>
          <a:noFill/>
        </p:spPr>
        <p:txBody>
          <a:bodyPr wrap="square" rtlCol="0">
            <a:spAutoFit/>
          </a:bodyPr>
          <a:lstStyle/>
          <a:p>
            <a:pPr algn="ctr"/>
            <a:r>
              <a:rPr lang="en-US" sz="2400" b="1" dirty="0">
                <a:solidFill>
                  <a:schemeClr val="accent4">
                    <a:lumMod val="60000"/>
                    <a:lumOff val="40000"/>
                  </a:schemeClr>
                </a:solidFill>
              </a:rPr>
              <a:t>Progression Continuum: Interpreting Scores &amp; Immediate Actions</a:t>
            </a:r>
          </a:p>
          <a:p>
            <a:pPr algn="l"/>
            <a:endParaRPr lang="en-US" sz="1400" dirty="0" err="1">
              <a:solidFill>
                <a:schemeClr val="bg1"/>
              </a:solidFill>
            </a:endParaRPr>
          </a:p>
        </p:txBody>
      </p:sp>
    </p:spTree>
    <p:extLst>
      <p:ext uri="{BB962C8B-B14F-4D97-AF65-F5344CB8AC3E}">
        <p14:creationId xmlns:p14="http://schemas.microsoft.com/office/powerpoint/2010/main" val="1831423728"/>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6FD88-BE4A-AD65-48E3-5F49BBD23925}"/>
            </a:ext>
          </a:extLst>
        </p:cNvPr>
        <p:cNvGrpSpPr/>
        <p:nvPr/>
      </p:nvGrpSpPr>
      <p:grpSpPr>
        <a:xfrm>
          <a:off x="0" y="0"/>
          <a:ext cx="0" cy="0"/>
          <a:chOff x="0" y="0"/>
          <a:chExt cx="0" cy="0"/>
        </a:xfrm>
      </p:grpSpPr>
      <p:sp>
        <p:nvSpPr>
          <p:cNvPr id="28" name="Footer Placeholder 1">
            <a:extLst>
              <a:ext uri="{FF2B5EF4-FFF2-40B4-BE49-F238E27FC236}">
                <a16:creationId xmlns:a16="http://schemas.microsoft.com/office/drawing/2014/main" id="{9326B558-1C95-3E4C-BD3A-8AB1E348F00B}"/>
              </a:ext>
            </a:extLst>
          </p:cNvPr>
          <p:cNvSpPr>
            <a:spLocks noGrp="1"/>
          </p:cNvSpPr>
          <p:nvPr>
            <p:ph type="ftr" sz="quarter" idx="9"/>
          </p:nvPr>
        </p:nvSpPr>
        <p:spPr>
          <a:xfrm>
            <a:off x="342900" y="6394105"/>
            <a:ext cx="10259861" cy="365125"/>
          </a:xfrm>
        </p:spPr>
        <p:txBody>
          <a:bodyPr/>
          <a:lstStyle/>
          <a:p>
            <a:r>
              <a:rPr lang="en-US" sz="800" kern="1200">
                <a:latin typeface="+mn-lt"/>
                <a:ea typeface="+mn-ea"/>
                <a:cs typeface="+mn-cs"/>
              </a:rPr>
              <a:t>Recall that each High Five assessment is rated on a scale of 0–3 for functionality </a:t>
            </a:r>
            <a:r>
              <a:rPr lang="en-US">
                <a:solidFill>
                  <a:schemeClr val="accent5"/>
                </a:solidFill>
              </a:rPr>
              <a:t>(0</a:t>
            </a:r>
            <a:r>
              <a:rPr lang="en-US" sz="800" kern="1200">
                <a:solidFill>
                  <a:schemeClr val="accent5"/>
                </a:solidFill>
                <a:latin typeface="+mn-lt"/>
                <a:ea typeface="+mn-ea"/>
                <a:cs typeface="+mn-cs"/>
              </a:rPr>
              <a:t>= Pain). </a:t>
            </a:r>
          </a:p>
          <a:p>
            <a:pPr lvl="0"/>
            <a:endParaRPr lang="en-US"/>
          </a:p>
        </p:txBody>
      </p:sp>
      <p:sp>
        <p:nvSpPr>
          <p:cNvPr id="8" name="Slide Number Placeholder 7">
            <a:extLst>
              <a:ext uri="{FF2B5EF4-FFF2-40B4-BE49-F238E27FC236}">
                <a16:creationId xmlns:a16="http://schemas.microsoft.com/office/drawing/2014/main" id="{FC087835-0524-C4AA-8A83-A03634073A2F}"/>
              </a:ext>
            </a:extLst>
          </p:cNvPr>
          <p:cNvSpPr txBox="1">
            <a:spLocks noGrp="1"/>
          </p:cNvSpPr>
          <p:nvPr>
            <p:ph type="sldNum" sz="quarter" idx="8"/>
          </p:nvPr>
        </p:nvSpPr>
        <p:spPr>
          <a:xfrm>
            <a:off x="11674225" y="5477347"/>
            <a:ext cx="305503" cy="306298"/>
          </a:xfrm>
        </p:spPr>
        <p:txBody>
          <a:bodyPr vert="horz" lIns="0" tIns="45720" rIns="0" bIns="45720" rtlCol="0" anchor="ctr">
            <a:normAutofit/>
          </a:bodyPr>
          <a:lstStyle/>
          <a:p>
            <a:pPr>
              <a:spcAft>
                <a:spcPts val="600"/>
              </a:spcAft>
            </a:pPr>
            <a:fld id="{A40B93B0-CD85-4965-9F46-A34006947191}" type="slidenum">
              <a:rPr lang="en-US" smtClean="0"/>
              <a:pPr>
                <a:spcAft>
                  <a:spcPts val="600"/>
                </a:spcAft>
              </a:pPr>
              <a:t>15</a:t>
            </a:fld>
            <a:endParaRPr lang="en-US"/>
          </a:p>
        </p:txBody>
      </p:sp>
      <p:sp>
        <p:nvSpPr>
          <p:cNvPr id="3" name="TextBox 2">
            <a:extLst>
              <a:ext uri="{FF2B5EF4-FFF2-40B4-BE49-F238E27FC236}">
                <a16:creationId xmlns:a16="http://schemas.microsoft.com/office/drawing/2014/main" id="{7E94146F-D97F-5A82-98B7-4E102025958D}"/>
              </a:ext>
            </a:extLst>
          </p:cNvPr>
          <p:cNvSpPr txBox="1"/>
          <p:nvPr/>
        </p:nvSpPr>
        <p:spPr>
          <a:xfrm>
            <a:off x="4509454" y="1997243"/>
            <a:ext cx="6702003" cy="4396862"/>
          </a:xfrm>
          <a:prstGeom prst="rect">
            <a:avLst/>
          </a:prstGeom>
        </p:spPr>
        <p:txBody>
          <a:bodyPr vert="horz" lIns="182880" tIns="457200" rIns="274320" bIns="1188720" rtlCol="0" anchor="ctr" anchorCtr="1">
            <a:normAutofit fontScale="32500" lnSpcReduction="20000"/>
          </a:bodyPr>
          <a:lstStyle/>
          <a:p>
            <a:r>
              <a:rPr lang="en-US" sz="4800" b="1" dirty="0">
                <a:solidFill>
                  <a:srgbClr val="FF0000"/>
                </a:solidFill>
              </a:rPr>
              <a:t>Scores of 1 (Dysfunction)</a:t>
            </a:r>
          </a:p>
          <a:p>
            <a:endParaRPr lang="en-US" sz="4800" dirty="0">
              <a:solidFill>
                <a:srgbClr val="FF0000"/>
              </a:solidFill>
            </a:endParaRPr>
          </a:p>
          <a:p>
            <a:pPr>
              <a:buFont typeface="Arial" panose="020B0604020202020204" pitchFamily="34" charset="0"/>
              <a:buChar char="•"/>
            </a:pPr>
            <a:r>
              <a:rPr lang="en-US" sz="4800" b="1" dirty="0"/>
              <a:t>Action:</a:t>
            </a:r>
            <a:r>
              <a:rPr lang="en-US" sz="4800" dirty="0"/>
              <a:t> Use a </a:t>
            </a:r>
            <a:r>
              <a:rPr lang="en-US" sz="4800" b="1" dirty="0"/>
              <a:t>regression</a:t>
            </a:r>
            <a:r>
              <a:rPr lang="en-US" sz="4800" dirty="0"/>
              <a:t> or </a:t>
            </a:r>
            <a:r>
              <a:rPr lang="en-US" sz="4800" b="1" dirty="0"/>
              <a:t>limited ROM</a:t>
            </a:r>
            <a:r>
              <a:rPr lang="en-US" sz="4800" dirty="0"/>
              <a:t> for that pattern.</a:t>
            </a:r>
          </a:p>
          <a:p>
            <a:pPr>
              <a:buFont typeface="Arial" panose="020B0604020202020204" pitchFamily="34" charset="0"/>
              <a:buChar char="•"/>
            </a:pPr>
            <a:endParaRPr lang="en-US" sz="4800" dirty="0"/>
          </a:p>
          <a:p>
            <a:pPr>
              <a:buFont typeface="Arial" panose="020B0604020202020204" pitchFamily="34" charset="0"/>
              <a:buChar char="•"/>
            </a:pPr>
            <a:r>
              <a:rPr lang="en-US" sz="4800" b="1" dirty="0"/>
              <a:t>Example:</a:t>
            </a:r>
            <a:r>
              <a:rPr lang="en-US" sz="4800" dirty="0"/>
              <a:t> If an Overhead Squat scores a </a:t>
            </a:r>
            <a:r>
              <a:rPr lang="en-US" sz="4800" b="1" dirty="0"/>
              <a:t>1</a:t>
            </a:r>
            <a:r>
              <a:rPr lang="en-US" sz="4800" dirty="0"/>
              <a:t>, modify to a </a:t>
            </a:r>
            <a:r>
              <a:rPr lang="en-US" sz="4800" b="1" dirty="0"/>
              <a:t>Box Squat or Goblet Squat to a higher box</a:t>
            </a:r>
            <a:r>
              <a:rPr lang="en-US" sz="4800" dirty="0"/>
              <a:t> to reduce strain.</a:t>
            </a:r>
          </a:p>
          <a:p>
            <a:pPr>
              <a:buFont typeface="Arial" panose="020B0604020202020204" pitchFamily="34" charset="0"/>
              <a:buChar char="•"/>
            </a:pPr>
            <a:endParaRPr lang="en-US" sz="4800" dirty="0"/>
          </a:p>
          <a:p>
            <a:pPr>
              <a:buFont typeface="Arial" panose="020B0604020202020204" pitchFamily="34" charset="0"/>
              <a:buChar char="•"/>
            </a:pPr>
            <a:r>
              <a:rPr lang="en-US" sz="4800" b="1" dirty="0"/>
              <a:t>Why It Matters:</a:t>
            </a:r>
            <a:r>
              <a:rPr lang="en-US" sz="4800" dirty="0"/>
              <a:t> Pain or an inability to complete the movement means focusing on </a:t>
            </a:r>
            <a:r>
              <a:rPr lang="en-US" sz="4800" b="1" dirty="0"/>
              <a:t>range, stability, and motor control</a:t>
            </a:r>
            <a:r>
              <a:rPr lang="en-US" sz="4800" dirty="0"/>
              <a:t> before adding complexity.</a:t>
            </a:r>
          </a:p>
        </p:txBody>
      </p:sp>
      <p:graphicFrame>
        <p:nvGraphicFramePr>
          <p:cNvPr id="4" name="Table 3">
            <a:extLst>
              <a:ext uri="{FF2B5EF4-FFF2-40B4-BE49-F238E27FC236}">
                <a16:creationId xmlns:a16="http://schemas.microsoft.com/office/drawing/2014/main" id="{5EC3C5FC-A87B-0FE1-EDE2-BEBF6CFE262E}"/>
              </a:ext>
            </a:extLst>
          </p:cNvPr>
          <p:cNvGraphicFramePr>
            <a:graphicFrameLocks noGrp="1"/>
          </p:cNvGraphicFramePr>
          <p:nvPr>
            <p:extLst>
              <p:ext uri="{D42A27DB-BD31-4B8C-83A1-F6EECF244321}">
                <p14:modId xmlns:p14="http://schemas.microsoft.com/office/powerpoint/2010/main" val="4113100535"/>
              </p:ext>
            </p:extLst>
          </p:nvPr>
        </p:nvGraphicFramePr>
        <p:xfrm>
          <a:off x="563090" y="1997243"/>
          <a:ext cx="3335140" cy="3486762"/>
        </p:xfrm>
        <a:graphic>
          <a:graphicData uri="http://schemas.openxmlformats.org/drawingml/2006/table">
            <a:tbl>
              <a:tblPr firstRow="1" bandRow="1">
                <a:tableStyleId>{9D7B26C5-4107-4FEC-AEDC-1716B250A1EF}</a:tableStyleId>
              </a:tblPr>
              <a:tblGrid>
                <a:gridCol w="833785">
                  <a:extLst>
                    <a:ext uri="{9D8B030D-6E8A-4147-A177-3AD203B41FA5}">
                      <a16:colId xmlns:a16="http://schemas.microsoft.com/office/drawing/2014/main" val="4199547234"/>
                    </a:ext>
                  </a:extLst>
                </a:gridCol>
                <a:gridCol w="833785">
                  <a:extLst>
                    <a:ext uri="{9D8B030D-6E8A-4147-A177-3AD203B41FA5}">
                      <a16:colId xmlns:a16="http://schemas.microsoft.com/office/drawing/2014/main" val="629891917"/>
                    </a:ext>
                  </a:extLst>
                </a:gridCol>
                <a:gridCol w="833785">
                  <a:extLst>
                    <a:ext uri="{9D8B030D-6E8A-4147-A177-3AD203B41FA5}">
                      <a16:colId xmlns:a16="http://schemas.microsoft.com/office/drawing/2014/main" val="1648704041"/>
                    </a:ext>
                  </a:extLst>
                </a:gridCol>
                <a:gridCol w="833785">
                  <a:extLst>
                    <a:ext uri="{9D8B030D-6E8A-4147-A177-3AD203B41FA5}">
                      <a16:colId xmlns:a16="http://schemas.microsoft.com/office/drawing/2014/main" val="3476756599"/>
                    </a:ext>
                  </a:extLst>
                </a:gridCol>
              </a:tblGrid>
              <a:tr h="425215">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3023423447"/>
                  </a:ext>
                </a:extLst>
              </a:tr>
              <a:tr h="425215">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T w="12700" cmpd="sng">
                      <a:noFill/>
                    </a:lnT>
                    <a:solidFill>
                      <a:schemeClr val="accent3">
                        <a:lumMod val="75000"/>
                      </a:schemeClr>
                    </a:solidFill>
                  </a:tcPr>
                </a:tc>
                <a:extLst>
                  <a:ext uri="{0D108BD9-81ED-4DB2-BD59-A6C34878D82A}">
                    <a16:rowId xmlns:a16="http://schemas.microsoft.com/office/drawing/2014/main" val="1695846024"/>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solidFill>
                      <a:schemeClr val="accent3">
                        <a:lumMod val="75000"/>
                      </a:schemeClr>
                    </a:solidFill>
                  </a:tcPr>
                </a:tc>
                <a:extLst>
                  <a:ext uri="{0D108BD9-81ED-4DB2-BD59-A6C34878D82A}">
                    <a16:rowId xmlns:a16="http://schemas.microsoft.com/office/drawing/2014/main" val="3707110929"/>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T>
                      <a:noFill/>
                    </a:lnT>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2750462855"/>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3599267446"/>
                  </a:ext>
                </a:extLst>
              </a:tr>
              <a:tr h="425215">
                <a:tc>
                  <a:txBody>
                    <a:bodyPr/>
                    <a:lstStyle/>
                    <a:p>
                      <a:endParaRPr lang="en-US" sz="1200"/>
                    </a:p>
                  </a:txBody>
                  <a:tcPr marL="88502" marR="88502" marT="44251" marB="44251">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accent3">
                        <a:lumMod val="40000"/>
                        <a:lumOff val="6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581235456"/>
                  </a:ext>
                </a:extLst>
              </a:tr>
              <a:tr h="425215">
                <a:tc>
                  <a:txBody>
                    <a:bodyPr/>
                    <a:lstStyle/>
                    <a:p>
                      <a:endParaRPr lang="en-US" sz="1200" dirty="0"/>
                    </a:p>
                  </a:txBody>
                  <a:tcPr marL="88502" marR="88502" marT="44251" marB="4425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5"/>
                    </a:solidFill>
                  </a:tcPr>
                </a:tc>
                <a:tc>
                  <a:txBody>
                    <a:bodyPr/>
                    <a:lstStyle/>
                    <a:p>
                      <a:endParaRPr lang="en-US" sz="1200" dirty="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solidFill>
                      <a:schemeClr val="accent3">
                        <a:lumMod val="60000"/>
                        <a:lumOff val="40000"/>
                      </a:schemeClr>
                    </a:solidFill>
                  </a:tcPr>
                </a:tc>
                <a:tc>
                  <a:txBody>
                    <a:bodyPr/>
                    <a:lstStyle/>
                    <a:p>
                      <a:endParaRPr lang="en-US" sz="1200" dirty="0"/>
                    </a:p>
                  </a:txBody>
                  <a:tcPr marL="88502" marR="88502" marT="44251" marB="44251">
                    <a:solidFill>
                      <a:schemeClr val="accent3">
                        <a:lumMod val="75000"/>
                      </a:schemeClr>
                    </a:solidFill>
                  </a:tcPr>
                </a:tc>
                <a:extLst>
                  <a:ext uri="{0D108BD9-81ED-4DB2-BD59-A6C34878D82A}">
                    <a16:rowId xmlns:a16="http://schemas.microsoft.com/office/drawing/2014/main" val="804367381"/>
                  </a:ext>
                </a:extLst>
              </a:tr>
              <a:tr h="510257">
                <a:tc>
                  <a:txBody>
                    <a:bodyPr/>
                    <a:lstStyle/>
                    <a:p>
                      <a:r>
                        <a:rPr lang="en-US" sz="1200"/>
                        <a:t>0</a:t>
                      </a:r>
                    </a:p>
                  </a:txBody>
                  <a:tcPr marL="88502" marR="88502" marT="44251" marB="44251">
                    <a:lnT w="12700" cap="flat" cmpd="sng" algn="ctr">
                      <a:noFill/>
                      <a:prstDash val="solid"/>
                      <a:round/>
                      <a:headEnd type="none" w="med" len="med"/>
                      <a:tailEnd type="none" w="med" len="med"/>
                    </a:lnT>
                    <a:solidFill>
                      <a:srgbClr val="B5E9E1">
                        <a:alpha val="20000"/>
                      </a:srgbClr>
                    </a:solidFill>
                  </a:tcPr>
                </a:tc>
                <a:tc>
                  <a:txBody>
                    <a:bodyPr/>
                    <a:lstStyle/>
                    <a:p>
                      <a:r>
                        <a:rPr lang="en-US" sz="1200"/>
                        <a:t>1</a:t>
                      </a:r>
                    </a:p>
                  </a:txBody>
                  <a:tcPr marL="88502" marR="88502" marT="44251" marB="44251">
                    <a:lnT w="12700" cap="flat" cmpd="sng" algn="ctr">
                      <a:solidFill>
                        <a:schemeClr val="tx1"/>
                      </a:solidFill>
                      <a:prstDash val="solid"/>
                      <a:round/>
                      <a:headEnd type="none" w="med" len="med"/>
                      <a:tailEnd type="none" w="med" len="med"/>
                    </a:lnT>
                    <a:solidFill>
                      <a:srgbClr val="B5E9E1">
                        <a:alpha val="20000"/>
                      </a:srgbClr>
                    </a:solidFill>
                  </a:tcPr>
                </a:tc>
                <a:tc>
                  <a:txBody>
                    <a:bodyPr/>
                    <a:lstStyle/>
                    <a:p>
                      <a:r>
                        <a:rPr lang="en-US" sz="1200"/>
                        <a:t>2</a:t>
                      </a:r>
                    </a:p>
                  </a:txBody>
                  <a:tcPr marL="88502" marR="88502" marT="44251" marB="44251">
                    <a:solidFill>
                      <a:srgbClr val="B5E9E1">
                        <a:alpha val="20000"/>
                      </a:srgbClr>
                    </a:solidFill>
                  </a:tcPr>
                </a:tc>
                <a:tc>
                  <a:txBody>
                    <a:bodyPr/>
                    <a:lstStyle/>
                    <a:p>
                      <a:r>
                        <a:rPr lang="en-US" sz="1200" dirty="0"/>
                        <a:t>3</a:t>
                      </a:r>
                    </a:p>
                  </a:txBody>
                  <a:tcPr marL="88502" marR="88502" marT="44251" marB="44251">
                    <a:solidFill>
                      <a:srgbClr val="B5E9E1">
                        <a:alpha val="20000"/>
                      </a:srgbClr>
                    </a:solidFill>
                  </a:tcPr>
                </a:tc>
                <a:extLst>
                  <a:ext uri="{0D108BD9-81ED-4DB2-BD59-A6C34878D82A}">
                    <a16:rowId xmlns:a16="http://schemas.microsoft.com/office/drawing/2014/main" val="3132363642"/>
                  </a:ext>
                </a:extLst>
              </a:tr>
            </a:tbl>
          </a:graphicData>
        </a:graphic>
      </p:graphicFrame>
      <p:sp>
        <p:nvSpPr>
          <p:cNvPr id="6" name="TextBox 5">
            <a:extLst>
              <a:ext uri="{FF2B5EF4-FFF2-40B4-BE49-F238E27FC236}">
                <a16:creationId xmlns:a16="http://schemas.microsoft.com/office/drawing/2014/main" id="{C0E49E2E-6D72-52A0-43DD-E0829BC2BB1E}"/>
              </a:ext>
            </a:extLst>
          </p:cNvPr>
          <p:cNvSpPr txBox="1"/>
          <p:nvPr/>
        </p:nvSpPr>
        <p:spPr>
          <a:xfrm>
            <a:off x="563089" y="484527"/>
            <a:ext cx="10648367" cy="677108"/>
          </a:xfrm>
          <a:prstGeom prst="rect">
            <a:avLst/>
          </a:prstGeom>
          <a:noFill/>
        </p:spPr>
        <p:txBody>
          <a:bodyPr wrap="square" rtlCol="0">
            <a:spAutoFit/>
          </a:bodyPr>
          <a:lstStyle/>
          <a:p>
            <a:pPr algn="ctr"/>
            <a:r>
              <a:rPr lang="en-US" sz="2400" b="1" dirty="0">
                <a:solidFill>
                  <a:schemeClr val="accent4">
                    <a:lumMod val="60000"/>
                    <a:lumOff val="40000"/>
                  </a:schemeClr>
                </a:solidFill>
              </a:rPr>
              <a:t>Progression Continuum: Interpreting Scores &amp; Immediate Actions</a:t>
            </a:r>
          </a:p>
          <a:p>
            <a:pPr algn="l"/>
            <a:endParaRPr lang="en-US" sz="1400" dirty="0" err="1">
              <a:solidFill>
                <a:schemeClr val="bg1"/>
              </a:solidFill>
            </a:endParaRPr>
          </a:p>
        </p:txBody>
      </p:sp>
    </p:spTree>
    <p:extLst>
      <p:ext uri="{BB962C8B-B14F-4D97-AF65-F5344CB8AC3E}">
        <p14:creationId xmlns:p14="http://schemas.microsoft.com/office/powerpoint/2010/main" val="109904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43FFE-154A-DE65-F323-1CC1F9F55552}"/>
            </a:ext>
          </a:extLst>
        </p:cNvPr>
        <p:cNvGrpSpPr/>
        <p:nvPr/>
      </p:nvGrpSpPr>
      <p:grpSpPr>
        <a:xfrm>
          <a:off x="0" y="0"/>
          <a:ext cx="0" cy="0"/>
          <a:chOff x="0" y="0"/>
          <a:chExt cx="0" cy="0"/>
        </a:xfrm>
      </p:grpSpPr>
      <p:sp>
        <p:nvSpPr>
          <p:cNvPr id="28" name="Footer Placeholder 1">
            <a:extLst>
              <a:ext uri="{FF2B5EF4-FFF2-40B4-BE49-F238E27FC236}">
                <a16:creationId xmlns:a16="http://schemas.microsoft.com/office/drawing/2014/main" id="{87780D3C-1FEF-D4E7-1798-CC7E11A3AD79}"/>
              </a:ext>
            </a:extLst>
          </p:cNvPr>
          <p:cNvSpPr>
            <a:spLocks noGrp="1"/>
          </p:cNvSpPr>
          <p:nvPr>
            <p:ph type="ftr" sz="quarter" idx="9"/>
          </p:nvPr>
        </p:nvSpPr>
        <p:spPr>
          <a:xfrm>
            <a:off x="342900" y="6394105"/>
            <a:ext cx="10259861" cy="365125"/>
          </a:xfrm>
        </p:spPr>
        <p:txBody>
          <a:bodyPr/>
          <a:lstStyle/>
          <a:p>
            <a:pPr lvl="0"/>
            <a:endParaRPr lang="en-US" dirty="0"/>
          </a:p>
        </p:txBody>
      </p:sp>
      <p:sp>
        <p:nvSpPr>
          <p:cNvPr id="8" name="Slide Number Placeholder 7">
            <a:extLst>
              <a:ext uri="{FF2B5EF4-FFF2-40B4-BE49-F238E27FC236}">
                <a16:creationId xmlns:a16="http://schemas.microsoft.com/office/drawing/2014/main" id="{11E3972D-BBCA-03A4-370D-6B3EFA019783}"/>
              </a:ext>
            </a:extLst>
          </p:cNvPr>
          <p:cNvSpPr txBox="1">
            <a:spLocks noGrp="1"/>
          </p:cNvSpPr>
          <p:nvPr>
            <p:ph type="sldNum" sz="quarter" idx="8"/>
          </p:nvPr>
        </p:nvSpPr>
        <p:spPr>
          <a:xfrm>
            <a:off x="11674225" y="5477347"/>
            <a:ext cx="305503" cy="306298"/>
          </a:xfrm>
        </p:spPr>
        <p:txBody>
          <a:bodyPr vert="horz" lIns="0" tIns="45720" rIns="0" bIns="45720" rtlCol="0" anchor="ctr">
            <a:normAutofit/>
          </a:bodyPr>
          <a:lstStyle/>
          <a:p>
            <a:pPr>
              <a:spcAft>
                <a:spcPts val="600"/>
              </a:spcAft>
            </a:pPr>
            <a:fld id="{A40B93B0-CD85-4965-9F46-A34006947191}" type="slidenum">
              <a:rPr lang="en-US" smtClean="0"/>
              <a:pPr>
                <a:spcAft>
                  <a:spcPts val="600"/>
                </a:spcAft>
              </a:pPr>
              <a:t>16</a:t>
            </a:fld>
            <a:endParaRPr lang="en-US"/>
          </a:p>
        </p:txBody>
      </p:sp>
      <p:sp>
        <p:nvSpPr>
          <p:cNvPr id="3" name="TextBox 2">
            <a:extLst>
              <a:ext uri="{FF2B5EF4-FFF2-40B4-BE49-F238E27FC236}">
                <a16:creationId xmlns:a16="http://schemas.microsoft.com/office/drawing/2014/main" id="{8022A712-AD12-BBFC-88F5-9EB4FA867F85}"/>
              </a:ext>
            </a:extLst>
          </p:cNvPr>
          <p:cNvSpPr txBox="1"/>
          <p:nvPr/>
        </p:nvSpPr>
        <p:spPr>
          <a:xfrm>
            <a:off x="4509454" y="1997243"/>
            <a:ext cx="6702003" cy="4396862"/>
          </a:xfrm>
          <a:prstGeom prst="rect">
            <a:avLst/>
          </a:prstGeom>
        </p:spPr>
        <p:txBody>
          <a:bodyPr vert="horz" lIns="182880" tIns="457200" rIns="274320" bIns="1188720" rtlCol="0" anchor="ctr" anchorCtr="1">
            <a:normAutofit fontScale="32500" lnSpcReduction="20000"/>
          </a:bodyPr>
          <a:lstStyle/>
          <a:p>
            <a:r>
              <a:rPr lang="en-US" sz="4800" b="1" dirty="0">
                <a:solidFill>
                  <a:schemeClr val="accent4"/>
                </a:solidFill>
              </a:rPr>
              <a:t>Scores of 2 (Functional with Compensation)</a:t>
            </a:r>
          </a:p>
          <a:p>
            <a:endParaRPr lang="en-US" sz="4800" dirty="0">
              <a:solidFill>
                <a:schemeClr val="accent4"/>
              </a:solidFill>
            </a:endParaRPr>
          </a:p>
          <a:p>
            <a:pPr>
              <a:buFont typeface="Arial" panose="020B0604020202020204" pitchFamily="34" charset="0"/>
              <a:buChar char="•"/>
            </a:pPr>
            <a:r>
              <a:rPr lang="en-US" sz="4800" b="1" dirty="0"/>
              <a:t>Action:</a:t>
            </a:r>
            <a:r>
              <a:rPr lang="en-US" sz="4800" dirty="0"/>
              <a:t> Use a </a:t>
            </a:r>
            <a:r>
              <a:rPr lang="en-US" sz="4800" b="1" dirty="0"/>
              <a:t>baseline</a:t>
            </a:r>
            <a:r>
              <a:rPr lang="en-US" sz="4800" dirty="0"/>
              <a:t> variation, but monitor form and adjust with minor tweaks.</a:t>
            </a:r>
          </a:p>
          <a:p>
            <a:pPr>
              <a:buFont typeface="Arial" panose="020B0604020202020204" pitchFamily="34" charset="0"/>
              <a:buChar char="•"/>
            </a:pPr>
            <a:endParaRPr lang="en-US" sz="4800" dirty="0"/>
          </a:p>
          <a:p>
            <a:pPr>
              <a:buFont typeface="Arial" panose="020B0604020202020204" pitchFamily="34" charset="0"/>
              <a:buChar char="•"/>
            </a:pPr>
            <a:r>
              <a:rPr lang="en-US" sz="4800" b="1" dirty="0"/>
              <a:t>Example:</a:t>
            </a:r>
            <a:r>
              <a:rPr lang="en-US" sz="4800" dirty="0"/>
              <a:t> A </a:t>
            </a:r>
            <a:r>
              <a:rPr lang="en-US" sz="4800" b="1" dirty="0"/>
              <a:t>heel lift for squats</a:t>
            </a:r>
            <a:r>
              <a:rPr lang="en-US" sz="4800" dirty="0"/>
              <a:t> can assist someone struggling with ankle mobility.</a:t>
            </a:r>
          </a:p>
          <a:p>
            <a:pPr>
              <a:buFont typeface="Arial" panose="020B0604020202020204" pitchFamily="34" charset="0"/>
              <a:buChar char="•"/>
            </a:pPr>
            <a:endParaRPr lang="en-US" sz="4800" dirty="0"/>
          </a:p>
          <a:p>
            <a:pPr>
              <a:buFont typeface="Arial" panose="020B0604020202020204" pitchFamily="34" charset="0"/>
              <a:buChar char="•"/>
            </a:pPr>
            <a:r>
              <a:rPr lang="en-US" sz="4800" b="1" dirty="0"/>
              <a:t>Why It Matters:</a:t>
            </a:r>
            <a:r>
              <a:rPr lang="en-US" sz="4800" dirty="0"/>
              <a:t> A </a:t>
            </a:r>
            <a:r>
              <a:rPr lang="en-US" sz="4800" b="1" dirty="0"/>
              <a:t>2</a:t>
            </a:r>
            <a:r>
              <a:rPr lang="en-US" sz="4800" dirty="0"/>
              <a:t> suggests the movement is possible but includes compensations (e.g., </a:t>
            </a:r>
            <a:r>
              <a:rPr lang="en-US" sz="4800" b="1" dirty="0"/>
              <a:t>knee valgus, slight torso collapse</a:t>
            </a:r>
            <a:r>
              <a:rPr lang="en-US" sz="4800" dirty="0"/>
              <a:t>). A mindful warm-up and </a:t>
            </a:r>
            <a:r>
              <a:rPr lang="en-US" sz="4800" b="1" dirty="0"/>
              <a:t>corrective work</a:t>
            </a:r>
            <a:r>
              <a:rPr lang="en-US" sz="4800" dirty="0"/>
              <a:t> can refine mechanics.</a:t>
            </a:r>
          </a:p>
        </p:txBody>
      </p:sp>
      <p:graphicFrame>
        <p:nvGraphicFramePr>
          <p:cNvPr id="4" name="Table 3">
            <a:extLst>
              <a:ext uri="{FF2B5EF4-FFF2-40B4-BE49-F238E27FC236}">
                <a16:creationId xmlns:a16="http://schemas.microsoft.com/office/drawing/2014/main" id="{414D01A7-AFCF-2924-07AB-4A7AF61BE9E5}"/>
              </a:ext>
            </a:extLst>
          </p:cNvPr>
          <p:cNvGraphicFramePr>
            <a:graphicFrameLocks noGrp="1"/>
          </p:cNvGraphicFramePr>
          <p:nvPr>
            <p:extLst>
              <p:ext uri="{D42A27DB-BD31-4B8C-83A1-F6EECF244321}">
                <p14:modId xmlns:p14="http://schemas.microsoft.com/office/powerpoint/2010/main" val="1276758063"/>
              </p:ext>
            </p:extLst>
          </p:nvPr>
        </p:nvGraphicFramePr>
        <p:xfrm>
          <a:off x="563090" y="1997243"/>
          <a:ext cx="3335140" cy="3486762"/>
        </p:xfrm>
        <a:graphic>
          <a:graphicData uri="http://schemas.openxmlformats.org/drawingml/2006/table">
            <a:tbl>
              <a:tblPr firstRow="1" bandRow="1">
                <a:tableStyleId>{9D7B26C5-4107-4FEC-AEDC-1716B250A1EF}</a:tableStyleId>
              </a:tblPr>
              <a:tblGrid>
                <a:gridCol w="833785">
                  <a:extLst>
                    <a:ext uri="{9D8B030D-6E8A-4147-A177-3AD203B41FA5}">
                      <a16:colId xmlns:a16="http://schemas.microsoft.com/office/drawing/2014/main" val="4199547234"/>
                    </a:ext>
                  </a:extLst>
                </a:gridCol>
                <a:gridCol w="833785">
                  <a:extLst>
                    <a:ext uri="{9D8B030D-6E8A-4147-A177-3AD203B41FA5}">
                      <a16:colId xmlns:a16="http://schemas.microsoft.com/office/drawing/2014/main" val="629891917"/>
                    </a:ext>
                  </a:extLst>
                </a:gridCol>
                <a:gridCol w="833785">
                  <a:extLst>
                    <a:ext uri="{9D8B030D-6E8A-4147-A177-3AD203B41FA5}">
                      <a16:colId xmlns:a16="http://schemas.microsoft.com/office/drawing/2014/main" val="1648704041"/>
                    </a:ext>
                  </a:extLst>
                </a:gridCol>
                <a:gridCol w="833785">
                  <a:extLst>
                    <a:ext uri="{9D8B030D-6E8A-4147-A177-3AD203B41FA5}">
                      <a16:colId xmlns:a16="http://schemas.microsoft.com/office/drawing/2014/main" val="3476756599"/>
                    </a:ext>
                  </a:extLst>
                </a:gridCol>
              </a:tblGrid>
              <a:tr h="425215">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3023423447"/>
                  </a:ext>
                </a:extLst>
              </a:tr>
              <a:tr h="425215">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T w="12700" cmpd="sng">
                      <a:noFill/>
                    </a:lnT>
                    <a:solidFill>
                      <a:schemeClr val="accent3">
                        <a:lumMod val="75000"/>
                      </a:schemeClr>
                    </a:solidFill>
                  </a:tcPr>
                </a:tc>
                <a:extLst>
                  <a:ext uri="{0D108BD9-81ED-4DB2-BD59-A6C34878D82A}">
                    <a16:rowId xmlns:a16="http://schemas.microsoft.com/office/drawing/2014/main" val="1695846024"/>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solidFill>
                      <a:schemeClr val="accent3">
                        <a:lumMod val="75000"/>
                      </a:schemeClr>
                    </a:solidFill>
                  </a:tcPr>
                </a:tc>
                <a:extLst>
                  <a:ext uri="{0D108BD9-81ED-4DB2-BD59-A6C34878D82A}">
                    <a16:rowId xmlns:a16="http://schemas.microsoft.com/office/drawing/2014/main" val="3707110929"/>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3">
                        <a:lumMod val="60000"/>
                        <a:lumOff val="4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solidFill>
                      <a:schemeClr val="accent3">
                        <a:lumMod val="75000"/>
                      </a:schemeClr>
                    </a:solidFill>
                  </a:tcPr>
                </a:tc>
                <a:extLst>
                  <a:ext uri="{0D108BD9-81ED-4DB2-BD59-A6C34878D82A}">
                    <a16:rowId xmlns:a16="http://schemas.microsoft.com/office/drawing/2014/main" val="2750462855"/>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3">
                        <a:lumMod val="60000"/>
                        <a:lumOff val="4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solidFill>
                      <a:schemeClr val="accent3">
                        <a:lumMod val="75000"/>
                      </a:schemeClr>
                    </a:solidFill>
                  </a:tcPr>
                </a:tc>
                <a:extLst>
                  <a:ext uri="{0D108BD9-81ED-4DB2-BD59-A6C34878D82A}">
                    <a16:rowId xmlns:a16="http://schemas.microsoft.com/office/drawing/2014/main" val="3599267446"/>
                  </a:ext>
                </a:extLst>
              </a:tr>
              <a:tr h="425215">
                <a:tc>
                  <a:txBody>
                    <a:bodyPr/>
                    <a:lstStyle/>
                    <a:p>
                      <a:endParaRPr lang="en-US" sz="1200"/>
                    </a:p>
                  </a:txBody>
                  <a:tcPr marL="88502" marR="88502" marT="44251" marB="44251">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accent3">
                        <a:lumMod val="40000"/>
                        <a:lumOff val="6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3">
                        <a:lumMod val="60000"/>
                        <a:lumOff val="4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solidFill>
                      <a:schemeClr val="accent3">
                        <a:lumMod val="75000"/>
                      </a:schemeClr>
                    </a:solidFill>
                  </a:tcPr>
                </a:tc>
                <a:extLst>
                  <a:ext uri="{0D108BD9-81ED-4DB2-BD59-A6C34878D82A}">
                    <a16:rowId xmlns:a16="http://schemas.microsoft.com/office/drawing/2014/main" val="581235456"/>
                  </a:ext>
                </a:extLst>
              </a:tr>
              <a:tr h="425215">
                <a:tc>
                  <a:txBody>
                    <a:bodyPr/>
                    <a:lstStyle/>
                    <a:p>
                      <a:endParaRPr lang="en-US" sz="1200"/>
                    </a:p>
                  </a:txBody>
                  <a:tcPr marL="88502" marR="88502" marT="44251" marB="44251">
                    <a:lnR w="12700" cap="flat" cmpd="sng" algn="ctr">
                      <a:noFill/>
                      <a:prstDash val="solid"/>
                      <a:round/>
                      <a:headEnd type="none" w="med" len="med"/>
                      <a:tailEnd type="none" w="med" len="med"/>
                    </a:lnR>
                    <a:lnT>
                      <a:noFill/>
                    </a:lnT>
                    <a:solidFill>
                      <a:schemeClr val="accent5"/>
                    </a:solidFill>
                  </a:tcPr>
                </a:tc>
                <a:tc>
                  <a:txBody>
                    <a:bodyPr/>
                    <a:lstStyle/>
                    <a:p>
                      <a:endParaRPr lang="en-US" sz="1200" dirty="0"/>
                    </a:p>
                  </a:txBody>
                  <a:tcPr marL="88502" marR="88502" marT="44251" marB="4425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endParaRPr lang="en-US" sz="1200" dirty="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solidFill>
                      <a:schemeClr val="accent3">
                        <a:lumMod val="75000"/>
                      </a:schemeClr>
                    </a:solidFill>
                  </a:tcPr>
                </a:tc>
                <a:extLst>
                  <a:ext uri="{0D108BD9-81ED-4DB2-BD59-A6C34878D82A}">
                    <a16:rowId xmlns:a16="http://schemas.microsoft.com/office/drawing/2014/main" val="804367381"/>
                  </a:ext>
                </a:extLst>
              </a:tr>
              <a:tr h="510257">
                <a:tc>
                  <a:txBody>
                    <a:bodyPr/>
                    <a:lstStyle/>
                    <a:p>
                      <a:r>
                        <a:rPr lang="en-US" sz="1200"/>
                        <a:t>0</a:t>
                      </a:r>
                    </a:p>
                  </a:txBody>
                  <a:tcPr marL="88502" marR="88502" marT="44251" marB="44251">
                    <a:solidFill>
                      <a:srgbClr val="B5E9E1">
                        <a:alpha val="20000"/>
                      </a:srgbClr>
                    </a:solidFill>
                  </a:tcPr>
                </a:tc>
                <a:tc>
                  <a:txBody>
                    <a:bodyPr/>
                    <a:lstStyle/>
                    <a:p>
                      <a:r>
                        <a:rPr lang="en-US" sz="1200"/>
                        <a:t>1</a:t>
                      </a:r>
                    </a:p>
                  </a:txBody>
                  <a:tcPr marL="88502" marR="88502" marT="44251" marB="44251">
                    <a:lnT w="12700" cap="flat" cmpd="sng" algn="ctr">
                      <a:noFill/>
                      <a:prstDash val="solid"/>
                      <a:round/>
                      <a:headEnd type="none" w="med" len="med"/>
                      <a:tailEnd type="none" w="med" len="med"/>
                    </a:lnT>
                    <a:solidFill>
                      <a:srgbClr val="B5E9E1">
                        <a:alpha val="20000"/>
                      </a:srgbClr>
                    </a:solidFill>
                  </a:tcPr>
                </a:tc>
                <a:tc>
                  <a:txBody>
                    <a:bodyPr/>
                    <a:lstStyle/>
                    <a:p>
                      <a:r>
                        <a:rPr lang="en-US" sz="1200"/>
                        <a:t>2</a:t>
                      </a:r>
                    </a:p>
                  </a:txBody>
                  <a:tcPr marL="88502" marR="88502" marT="44251" marB="44251">
                    <a:lnT w="12700" cap="flat" cmpd="sng" algn="ctr">
                      <a:solidFill>
                        <a:schemeClr val="tx1"/>
                      </a:solidFill>
                      <a:prstDash val="solid"/>
                      <a:round/>
                      <a:headEnd type="none" w="med" len="med"/>
                      <a:tailEnd type="none" w="med" len="med"/>
                    </a:lnT>
                    <a:solidFill>
                      <a:srgbClr val="B5E9E1">
                        <a:alpha val="20000"/>
                      </a:srgbClr>
                    </a:solidFill>
                  </a:tcPr>
                </a:tc>
                <a:tc>
                  <a:txBody>
                    <a:bodyPr/>
                    <a:lstStyle/>
                    <a:p>
                      <a:r>
                        <a:rPr lang="en-US" sz="1200" dirty="0"/>
                        <a:t>3</a:t>
                      </a:r>
                    </a:p>
                  </a:txBody>
                  <a:tcPr marL="88502" marR="88502" marT="44251" marB="44251">
                    <a:solidFill>
                      <a:srgbClr val="B5E9E1">
                        <a:alpha val="20000"/>
                      </a:srgbClr>
                    </a:solidFill>
                  </a:tcPr>
                </a:tc>
                <a:extLst>
                  <a:ext uri="{0D108BD9-81ED-4DB2-BD59-A6C34878D82A}">
                    <a16:rowId xmlns:a16="http://schemas.microsoft.com/office/drawing/2014/main" val="3132363642"/>
                  </a:ext>
                </a:extLst>
              </a:tr>
            </a:tbl>
          </a:graphicData>
        </a:graphic>
      </p:graphicFrame>
      <p:sp>
        <p:nvSpPr>
          <p:cNvPr id="6" name="TextBox 5">
            <a:extLst>
              <a:ext uri="{FF2B5EF4-FFF2-40B4-BE49-F238E27FC236}">
                <a16:creationId xmlns:a16="http://schemas.microsoft.com/office/drawing/2014/main" id="{08A26EA6-7CD4-9B09-4C95-B5BE2339992B}"/>
              </a:ext>
            </a:extLst>
          </p:cNvPr>
          <p:cNvSpPr txBox="1"/>
          <p:nvPr/>
        </p:nvSpPr>
        <p:spPr>
          <a:xfrm>
            <a:off x="563089" y="484527"/>
            <a:ext cx="10648367" cy="677108"/>
          </a:xfrm>
          <a:prstGeom prst="rect">
            <a:avLst/>
          </a:prstGeom>
          <a:noFill/>
        </p:spPr>
        <p:txBody>
          <a:bodyPr wrap="square" rtlCol="0">
            <a:spAutoFit/>
          </a:bodyPr>
          <a:lstStyle/>
          <a:p>
            <a:pPr algn="ctr"/>
            <a:r>
              <a:rPr lang="en-US" sz="2400" b="1" dirty="0">
                <a:solidFill>
                  <a:schemeClr val="accent4">
                    <a:lumMod val="60000"/>
                    <a:lumOff val="40000"/>
                  </a:schemeClr>
                </a:solidFill>
              </a:rPr>
              <a:t>Progression Continuum: Interpreting Scores &amp; Immediate Actions</a:t>
            </a:r>
          </a:p>
          <a:p>
            <a:pPr algn="l"/>
            <a:endParaRPr lang="en-US" sz="1400" dirty="0" err="1">
              <a:solidFill>
                <a:schemeClr val="bg1"/>
              </a:solidFill>
            </a:endParaRPr>
          </a:p>
        </p:txBody>
      </p:sp>
    </p:spTree>
    <p:extLst>
      <p:ext uri="{BB962C8B-B14F-4D97-AF65-F5344CB8AC3E}">
        <p14:creationId xmlns:p14="http://schemas.microsoft.com/office/powerpoint/2010/main" val="1000058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26E48-FD08-6179-B98B-66E47632B7D1}"/>
            </a:ext>
          </a:extLst>
        </p:cNvPr>
        <p:cNvGrpSpPr/>
        <p:nvPr/>
      </p:nvGrpSpPr>
      <p:grpSpPr>
        <a:xfrm>
          <a:off x="0" y="0"/>
          <a:ext cx="0" cy="0"/>
          <a:chOff x="0" y="0"/>
          <a:chExt cx="0" cy="0"/>
        </a:xfrm>
      </p:grpSpPr>
      <p:sp>
        <p:nvSpPr>
          <p:cNvPr id="28" name="Footer Placeholder 1">
            <a:extLst>
              <a:ext uri="{FF2B5EF4-FFF2-40B4-BE49-F238E27FC236}">
                <a16:creationId xmlns:a16="http://schemas.microsoft.com/office/drawing/2014/main" id="{42596BEE-D456-9ED7-63DB-656938FE66B9}"/>
              </a:ext>
            </a:extLst>
          </p:cNvPr>
          <p:cNvSpPr>
            <a:spLocks noGrp="1"/>
          </p:cNvSpPr>
          <p:nvPr>
            <p:ph type="ftr" sz="quarter" idx="9"/>
          </p:nvPr>
        </p:nvSpPr>
        <p:spPr>
          <a:xfrm>
            <a:off x="342900" y="6394105"/>
            <a:ext cx="10259861" cy="365125"/>
          </a:xfrm>
        </p:spPr>
        <p:txBody>
          <a:bodyPr/>
          <a:lstStyle/>
          <a:p>
            <a:pPr lvl="0"/>
            <a:endParaRPr lang="en-US" dirty="0"/>
          </a:p>
        </p:txBody>
      </p:sp>
      <p:sp>
        <p:nvSpPr>
          <p:cNvPr id="8" name="Slide Number Placeholder 7">
            <a:extLst>
              <a:ext uri="{FF2B5EF4-FFF2-40B4-BE49-F238E27FC236}">
                <a16:creationId xmlns:a16="http://schemas.microsoft.com/office/drawing/2014/main" id="{7C53972A-C52A-1BE6-81D1-C98AAFC820CE}"/>
              </a:ext>
            </a:extLst>
          </p:cNvPr>
          <p:cNvSpPr txBox="1">
            <a:spLocks noGrp="1"/>
          </p:cNvSpPr>
          <p:nvPr>
            <p:ph type="sldNum" sz="quarter" idx="8"/>
          </p:nvPr>
        </p:nvSpPr>
        <p:spPr>
          <a:xfrm>
            <a:off x="11674225" y="5477347"/>
            <a:ext cx="305503" cy="306298"/>
          </a:xfrm>
        </p:spPr>
        <p:txBody>
          <a:bodyPr vert="horz" lIns="0" tIns="45720" rIns="0" bIns="45720" rtlCol="0" anchor="ctr">
            <a:normAutofit/>
          </a:bodyPr>
          <a:lstStyle/>
          <a:p>
            <a:pPr>
              <a:spcAft>
                <a:spcPts val="600"/>
              </a:spcAft>
            </a:pPr>
            <a:fld id="{A40B93B0-CD85-4965-9F46-A34006947191}" type="slidenum">
              <a:rPr lang="en-US" smtClean="0"/>
              <a:pPr>
                <a:spcAft>
                  <a:spcPts val="600"/>
                </a:spcAft>
              </a:pPr>
              <a:t>17</a:t>
            </a:fld>
            <a:endParaRPr lang="en-US"/>
          </a:p>
        </p:txBody>
      </p:sp>
      <p:sp>
        <p:nvSpPr>
          <p:cNvPr id="3" name="TextBox 2">
            <a:extLst>
              <a:ext uri="{FF2B5EF4-FFF2-40B4-BE49-F238E27FC236}">
                <a16:creationId xmlns:a16="http://schemas.microsoft.com/office/drawing/2014/main" id="{A87222F3-7E47-2AC0-1FA1-275C33F4D822}"/>
              </a:ext>
            </a:extLst>
          </p:cNvPr>
          <p:cNvSpPr txBox="1"/>
          <p:nvPr/>
        </p:nvSpPr>
        <p:spPr>
          <a:xfrm>
            <a:off x="4509454" y="1997243"/>
            <a:ext cx="6702003" cy="4396862"/>
          </a:xfrm>
          <a:prstGeom prst="rect">
            <a:avLst/>
          </a:prstGeom>
        </p:spPr>
        <p:txBody>
          <a:bodyPr vert="horz" lIns="182880" tIns="457200" rIns="274320" bIns="1188720" rtlCol="0" anchor="ctr" anchorCtr="1">
            <a:normAutofit fontScale="32500" lnSpcReduction="20000"/>
          </a:bodyPr>
          <a:lstStyle/>
          <a:p>
            <a:r>
              <a:rPr lang="en-US" sz="4800" b="1" dirty="0">
                <a:solidFill>
                  <a:schemeClr val="accent3">
                    <a:lumMod val="60000"/>
                    <a:lumOff val="40000"/>
                  </a:schemeClr>
                </a:solidFill>
              </a:rPr>
              <a:t>Scores of 3 (Functional without Compensation)</a:t>
            </a:r>
          </a:p>
          <a:p>
            <a:endParaRPr lang="en-US" sz="4800" dirty="0">
              <a:solidFill>
                <a:schemeClr val="accent3">
                  <a:lumMod val="60000"/>
                  <a:lumOff val="40000"/>
                </a:schemeClr>
              </a:solidFill>
            </a:endParaRPr>
          </a:p>
          <a:p>
            <a:pPr>
              <a:buFont typeface="Arial" panose="020B0604020202020204" pitchFamily="34" charset="0"/>
              <a:buChar char="•"/>
            </a:pPr>
            <a:r>
              <a:rPr lang="en-US" sz="4800" b="1" dirty="0"/>
              <a:t>Action:</a:t>
            </a:r>
            <a:r>
              <a:rPr lang="en-US" sz="4800" dirty="0"/>
              <a:t> Introduce a </a:t>
            </a:r>
            <a:r>
              <a:rPr lang="en-US" sz="4800" b="1" dirty="0"/>
              <a:t>progression</a:t>
            </a:r>
            <a:r>
              <a:rPr lang="en-US" sz="4800" dirty="0"/>
              <a:t> if it fits their goals, or stay at baseline based on mesocycle planning.</a:t>
            </a:r>
          </a:p>
          <a:p>
            <a:pPr>
              <a:buFont typeface="Arial" panose="020B0604020202020204" pitchFamily="34" charset="0"/>
              <a:buChar char="•"/>
            </a:pPr>
            <a:endParaRPr lang="en-US" sz="4800" dirty="0"/>
          </a:p>
          <a:p>
            <a:pPr>
              <a:buFont typeface="Arial" panose="020B0604020202020204" pitchFamily="34" charset="0"/>
              <a:buChar char="•"/>
            </a:pPr>
            <a:r>
              <a:rPr lang="en-US" sz="4800" b="1" dirty="0"/>
              <a:t>Example:</a:t>
            </a:r>
            <a:r>
              <a:rPr lang="en-US" sz="4800" dirty="0"/>
              <a:t> Moving from a </a:t>
            </a:r>
            <a:r>
              <a:rPr lang="en-US" sz="4800" b="1" dirty="0"/>
              <a:t>Goblet Squat to a Front Squat</a:t>
            </a:r>
            <a:r>
              <a:rPr lang="en-US" sz="4800" dirty="0"/>
              <a:t> or from an </a:t>
            </a:r>
            <a:r>
              <a:rPr lang="en-US" sz="4800" b="1" dirty="0"/>
              <a:t>Incline Push-Up to a Standard/Weighted Push-Up</a:t>
            </a:r>
            <a:r>
              <a:rPr lang="en-US" sz="4800" dirty="0"/>
              <a:t>.</a:t>
            </a:r>
          </a:p>
          <a:p>
            <a:pPr>
              <a:buFont typeface="Arial" panose="020B0604020202020204" pitchFamily="34" charset="0"/>
              <a:buChar char="•"/>
            </a:pPr>
            <a:endParaRPr lang="en-US" sz="4800" dirty="0"/>
          </a:p>
          <a:p>
            <a:pPr>
              <a:buFont typeface="Arial" panose="020B0604020202020204" pitchFamily="34" charset="0"/>
              <a:buChar char="•"/>
            </a:pPr>
            <a:r>
              <a:rPr lang="en-US" sz="4800" b="1" dirty="0"/>
              <a:t>Why It Matters:</a:t>
            </a:r>
            <a:r>
              <a:rPr lang="en-US" sz="4800" dirty="0"/>
              <a:t> A </a:t>
            </a:r>
            <a:r>
              <a:rPr lang="en-US" sz="4800" b="1" dirty="0"/>
              <a:t>3</a:t>
            </a:r>
            <a:r>
              <a:rPr lang="en-US" sz="4800" dirty="0"/>
              <a:t> indicates readiness for </a:t>
            </a:r>
            <a:r>
              <a:rPr lang="en-US" sz="4800" b="1" dirty="0"/>
              <a:t>increased load or complexity</a:t>
            </a:r>
            <a:r>
              <a:rPr lang="en-US" sz="4800" dirty="0"/>
              <a:t> while maintaining movement integrity.</a:t>
            </a:r>
          </a:p>
        </p:txBody>
      </p:sp>
      <p:graphicFrame>
        <p:nvGraphicFramePr>
          <p:cNvPr id="4" name="Table 3">
            <a:extLst>
              <a:ext uri="{FF2B5EF4-FFF2-40B4-BE49-F238E27FC236}">
                <a16:creationId xmlns:a16="http://schemas.microsoft.com/office/drawing/2014/main" id="{9FE3D6A6-259B-5EF1-CE26-68DE74E59783}"/>
              </a:ext>
            </a:extLst>
          </p:cNvPr>
          <p:cNvGraphicFramePr>
            <a:graphicFrameLocks noGrp="1"/>
          </p:cNvGraphicFramePr>
          <p:nvPr>
            <p:extLst>
              <p:ext uri="{D42A27DB-BD31-4B8C-83A1-F6EECF244321}">
                <p14:modId xmlns:p14="http://schemas.microsoft.com/office/powerpoint/2010/main" val="2700155331"/>
              </p:ext>
            </p:extLst>
          </p:nvPr>
        </p:nvGraphicFramePr>
        <p:xfrm>
          <a:off x="563090" y="1997243"/>
          <a:ext cx="3335140" cy="3486762"/>
        </p:xfrm>
        <a:graphic>
          <a:graphicData uri="http://schemas.openxmlformats.org/drawingml/2006/table">
            <a:tbl>
              <a:tblPr firstRow="1" bandRow="1">
                <a:tableStyleId>{9D7B26C5-4107-4FEC-AEDC-1716B250A1EF}</a:tableStyleId>
              </a:tblPr>
              <a:tblGrid>
                <a:gridCol w="833785">
                  <a:extLst>
                    <a:ext uri="{9D8B030D-6E8A-4147-A177-3AD203B41FA5}">
                      <a16:colId xmlns:a16="http://schemas.microsoft.com/office/drawing/2014/main" val="4199547234"/>
                    </a:ext>
                  </a:extLst>
                </a:gridCol>
                <a:gridCol w="833785">
                  <a:extLst>
                    <a:ext uri="{9D8B030D-6E8A-4147-A177-3AD203B41FA5}">
                      <a16:colId xmlns:a16="http://schemas.microsoft.com/office/drawing/2014/main" val="629891917"/>
                    </a:ext>
                  </a:extLst>
                </a:gridCol>
                <a:gridCol w="833785">
                  <a:extLst>
                    <a:ext uri="{9D8B030D-6E8A-4147-A177-3AD203B41FA5}">
                      <a16:colId xmlns:a16="http://schemas.microsoft.com/office/drawing/2014/main" val="1648704041"/>
                    </a:ext>
                  </a:extLst>
                </a:gridCol>
                <a:gridCol w="833785">
                  <a:extLst>
                    <a:ext uri="{9D8B030D-6E8A-4147-A177-3AD203B41FA5}">
                      <a16:colId xmlns:a16="http://schemas.microsoft.com/office/drawing/2014/main" val="3476756599"/>
                    </a:ext>
                  </a:extLst>
                </a:gridCol>
              </a:tblGrid>
              <a:tr h="425215">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3023423447"/>
                  </a:ext>
                </a:extLst>
              </a:tr>
              <a:tr h="425215">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w="12700" cap="flat" cmpd="sng" algn="ctr">
                      <a:solidFill>
                        <a:schemeClr val="tx1"/>
                      </a:solidFill>
                      <a:prstDash val="solid"/>
                      <a:round/>
                      <a:headEnd type="none" w="med" len="med"/>
                      <a:tailEnd type="none" w="med" len="med"/>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solidFill>
                      <a:schemeClr val="accent3">
                        <a:lumMod val="75000"/>
                      </a:schemeClr>
                    </a:solidFill>
                  </a:tcPr>
                </a:tc>
                <a:extLst>
                  <a:ext uri="{0D108BD9-81ED-4DB2-BD59-A6C34878D82A}">
                    <a16:rowId xmlns:a16="http://schemas.microsoft.com/office/drawing/2014/main" val="1695846024"/>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3">
                        <a:lumMod val="75000"/>
                      </a:schemeClr>
                    </a:solidFill>
                  </a:tcPr>
                </a:tc>
                <a:extLst>
                  <a:ext uri="{0D108BD9-81ED-4DB2-BD59-A6C34878D82A}">
                    <a16:rowId xmlns:a16="http://schemas.microsoft.com/office/drawing/2014/main" val="3707110929"/>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w="12700" cap="flat" cmpd="sng" algn="ctr">
                      <a:solidFill>
                        <a:schemeClr val="tx1"/>
                      </a:solidFill>
                      <a:prstDash val="solid"/>
                      <a:round/>
                      <a:headEnd type="none" w="med" len="med"/>
                      <a:tailEnd type="none" w="med" len="med"/>
                    </a:lnR>
                    <a:lnT>
                      <a:noFill/>
                    </a:lnT>
                    <a:solidFill>
                      <a:schemeClr val="accent3">
                        <a:lumMod val="60000"/>
                        <a:lumOff val="4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3">
                        <a:lumMod val="75000"/>
                      </a:schemeClr>
                    </a:solidFill>
                  </a:tcPr>
                </a:tc>
                <a:extLst>
                  <a:ext uri="{0D108BD9-81ED-4DB2-BD59-A6C34878D82A}">
                    <a16:rowId xmlns:a16="http://schemas.microsoft.com/office/drawing/2014/main" val="2750462855"/>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w="12700" cap="flat" cmpd="sng" algn="ctr">
                      <a:solidFill>
                        <a:schemeClr val="tx1"/>
                      </a:solidFill>
                      <a:prstDash val="solid"/>
                      <a:round/>
                      <a:headEnd type="none" w="med" len="med"/>
                      <a:tailEnd type="none" w="med" len="med"/>
                    </a:lnR>
                    <a:solidFill>
                      <a:schemeClr val="accent3">
                        <a:lumMod val="60000"/>
                        <a:lumOff val="4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3">
                        <a:lumMod val="75000"/>
                      </a:schemeClr>
                    </a:solidFill>
                  </a:tcPr>
                </a:tc>
                <a:extLst>
                  <a:ext uri="{0D108BD9-81ED-4DB2-BD59-A6C34878D82A}">
                    <a16:rowId xmlns:a16="http://schemas.microsoft.com/office/drawing/2014/main" val="3599267446"/>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T>
                      <a:noFill/>
                    </a:lnT>
                    <a:solidFill>
                      <a:schemeClr val="accent3">
                        <a:lumMod val="40000"/>
                        <a:lumOff val="60000"/>
                      </a:schemeClr>
                    </a:solidFill>
                  </a:tcPr>
                </a:tc>
                <a:tc>
                  <a:txBody>
                    <a:bodyPr/>
                    <a:lstStyle/>
                    <a:p>
                      <a:endParaRPr lang="en-US" sz="1200"/>
                    </a:p>
                  </a:txBody>
                  <a:tcPr marL="88502" marR="88502" marT="44251" marB="44251">
                    <a:lnR w="12700" cap="flat" cmpd="sng" algn="ctr">
                      <a:solidFill>
                        <a:schemeClr val="tx1"/>
                      </a:solidFill>
                      <a:prstDash val="solid"/>
                      <a:round/>
                      <a:headEnd type="none" w="med" len="med"/>
                      <a:tailEnd type="none" w="med" len="med"/>
                    </a:lnR>
                    <a:solidFill>
                      <a:schemeClr val="accent3">
                        <a:lumMod val="60000"/>
                        <a:lumOff val="40000"/>
                      </a:schemeClr>
                    </a:solidFill>
                  </a:tcPr>
                </a:tc>
                <a:tc>
                  <a:txBody>
                    <a:bodyPr/>
                    <a:lstStyle/>
                    <a:p>
                      <a:endParaRPr lang="en-US" sz="120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3">
                        <a:lumMod val="75000"/>
                      </a:schemeClr>
                    </a:solidFill>
                  </a:tcPr>
                </a:tc>
                <a:extLst>
                  <a:ext uri="{0D108BD9-81ED-4DB2-BD59-A6C34878D82A}">
                    <a16:rowId xmlns:a16="http://schemas.microsoft.com/office/drawing/2014/main" val="581235456"/>
                  </a:ext>
                </a:extLst>
              </a:tr>
              <a:tr h="425215">
                <a:tc>
                  <a:txBody>
                    <a:bodyPr/>
                    <a:lstStyle/>
                    <a:p>
                      <a:endParaRPr lang="en-US" sz="1200"/>
                    </a:p>
                  </a:txBody>
                  <a:tcPr marL="88502" marR="88502" marT="44251" marB="44251">
                    <a:lnT>
                      <a:noFill/>
                    </a:lnT>
                    <a:solidFill>
                      <a:schemeClr val="accent5"/>
                    </a:solidFill>
                  </a:tcPr>
                </a:tc>
                <a:tc>
                  <a:txBody>
                    <a:bodyPr/>
                    <a:lstStyle/>
                    <a:p>
                      <a:endParaRPr lang="en-US" sz="1200"/>
                    </a:p>
                  </a:txBody>
                  <a:tcPr marL="88502" marR="88502" marT="44251" marB="44251">
                    <a:solidFill>
                      <a:schemeClr val="accent3">
                        <a:lumMod val="40000"/>
                        <a:lumOff val="60000"/>
                      </a:schemeClr>
                    </a:solidFill>
                  </a:tcPr>
                </a:tc>
                <a:tc>
                  <a:txBody>
                    <a:bodyPr/>
                    <a:lstStyle/>
                    <a:p>
                      <a:endParaRPr lang="en-US" sz="1200"/>
                    </a:p>
                  </a:txBody>
                  <a:tcPr marL="88502" marR="88502" marT="44251" marB="44251">
                    <a:lnR w="12700" cap="flat" cmpd="sng" algn="ctr">
                      <a:solidFill>
                        <a:schemeClr val="tx1"/>
                      </a:solidFill>
                      <a:prstDash val="solid"/>
                      <a:round/>
                      <a:headEnd type="none" w="med" len="med"/>
                      <a:tailEnd type="none" w="med" len="med"/>
                    </a:lnR>
                    <a:solidFill>
                      <a:schemeClr val="accent3">
                        <a:lumMod val="60000"/>
                        <a:lumOff val="40000"/>
                      </a:schemeClr>
                    </a:solidFill>
                  </a:tcPr>
                </a:tc>
                <a:tc>
                  <a:txBody>
                    <a:bodyPr/>
                    <a:lstStyle/>
                    <a:p>
                      <a:endParaRPr lang="en-US" sz="1200" dirty="0"/>
                    </a:p>
                  </a:txBody>
                  <a:tcPr marL="88502" marR="88502" marT="44251" marB="442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804367381"/>
                  </a:ext>
                </a:extLst>
              </a:tr>
              <a:tr h="510257">
                <a:tc>
                  <a:txBody>
                    <a:bodyPr/>
                    <a:lstStyle/>
                    <a:p>
                      <a:r>
                        <a:rPr lang="en-US" sz="1200"/>
                        <a:t>0</a:t>
                      </a:r>
                    </a:p>
                  </a:txBody>
                  <a:tcPr marL="88502" marR="88502" marT="44251" marB="44251">
                    <a:solidFill>
                      <a:srgbClr val="B5E9E1">
                        <a:alpha val="20000"/>
                      </a:srgbClr>
                    </a:solidFill>
                  </a:tcPr>
                </a:tc>
                <a:tc>
                  <a:txBody>
                    <a:bodyPr/>
                    <a:lstStyle/>
                    <a:p>
                      <a:r>
                        <a:rPr lang="en-US" sz="1200"/>
                        <a:t>1</a:t>
                      </a:r>
                    </a:p>
                  </a:txBody>
                  <a:tcPr marL="88502" marR="88502" marT="44251" marB="44251">
                    <a:solidFill>
                      <a:srgbClr val="B5E9E1">
                        <a:alpha val="20000"/>
                      </a:srgbClr>
                    </a:solidFill>
                  </a:tcPr>
                </a:tc>
                <a:tc>
                  <a:txBody>
                    <a:bodyPr/>
                    <a:lstStyle/>
                    <a:p>
                      <a:r>
                        <a:rPr lang="en-US" sz="1200"/>
                        <a:t>2</a:t>
                      </a:r>
                    </a:p>
                  </a:txBody>
                  <a:tcPr marL="88502" marR="88502" marT="44251" marB="44251">
                    <a:solidFill>
                      <a:srgbClr val="B5E9E1">
                        <a:alpha val="20000"/>
                      </a:srgbClr>
                    </a:solidFill>
                  </a:tcPr>
                </a:tc>
                <a:tc>
                  <a:txBody>
                    <a:bodyPr/>
                    <a:lstStyle/>
                    <a:p>
                      <a:r>
                        <a:rPr lang="en-US" sz="1200" dirty="0"/>
                        <a:t>3</a:t>
                      </a:r>
                    </a:p>
                  </a:txBody>
                  <a:tcPr marL="88502" marR="88502" marT="44251" marB="44251">
                    <a:lnT w="12700" cap="flat" cmpd="sng" algn="ctr">
                      <a:solidFill>
                        <a:schemeClr val="tx1"/>
                      </a:solidFill>
                      <a:prstDash val="solid"/>
                      <a:round/>
                      <a:headEnd type="none" w="med" len="med"/>
                      <a:tailEnd type="none" w="med" len="med"/>
                    </a:lnT>
                    <a:solidFill>
                      <a:srgbClr val="B5E9E1">
                        <a:alpha val="20000"/>
                      </a:srgbClr>
                    </a:solidFill>
                  </a:tcPr>
                </a:tc>
                <a:extLst>
                  <a:ext uri="{0D108BD9-81ED-4DB2-BD59-A6C34878D82A}">
                    <a16:rowId xmlns:a16="http://schemas.microsoft.com/office/drawing/2014/main" val="3132363642"/>
                  </a:ext>
                </a:extLst>
              </a:tr>
            </a:tbl>
          </a:graphicData>
        </a:graphic>
      </p:graphicFrame>
      <p:sp>
        <p:nvSpPr>
          <p:cNvPr id="6" name="TextBox 5">
            <a:extLst>
              <a:ext uri="{FF2B5EF4-FFF2-40B4-BE49-F238E27FC236}">
                <a16:creationId xmlns:a16="http://schemas.microsoft.com/office/drawing/2014/main" id="{F07D05FB-B372-E343-BC64-95607DAA1924}"/>
              </a:ext>
            </a:extLst>
          </p:cNvPr>
          <p:cNvSpPr txBox="1"/>
          <p:nvPr/>
        </p:nvSpPr>
        <p:spPr>
          <a:xfrm>
            <a:off x="563089" y="484527"/>
            <a:ext cx="10648367" cy="677108"/>
          </a:xfrm>
          <a:prstGeom prst="rect">
            <a:avLst/>
          </a:prstGeom>
          <a:noFill/>
        </p:spPr>
        <p:txBody>
          <a:bodyPr wrap="square" rtlCol="0">
            <a:spAutoFit/>
          </a:bodyPr>
          <a:lstStyle/>
          <a:p>
            <a:pPr algn="ctr"/>
            <a:r>
              <a:rPr lang="en-US" sz="2400" b="1" dirty="0">
                <a:solidFill>
                  <a:schemeClr val="accent4">
                    <a:lumMod val="60000"/>
                    <a:lumOff val="40000"/>
                  </a:schemeClr>
                </a:solidFill>
              </a:rPr>
              <a:t>Progression Continuum: Interpreting Scores &amp; Immediate Actions</a:t>
            </a:r>
          </a:p>
          <a:p>
            <a:pPr algn="l"/>
            <a:endParaRPr lang="en-US" sz="1400" dirty="0" err="1">
              <a:solidFill>
                <a:schemeClr val="bg1"/>
              </a:solidFill>
            </a:endParaRPr>
          </a:p>
        </p:txBody>
      </p:sp>
    </p:spTree>
    <p:extLst>
      <p:ext uri="{BB962C8B-B14F-4D97-AF65-F5344CB8AC3E}">
        <p14:creationId xmlns:p14="http://schemas.microsoft.com/office/powerpoint/2010/main" val="887971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5E0F3-CA03-EFE5-540F-451E6C2EF76C}"/>
            </a:ext>
          </a:extLst>
        </p:cNvPr>
        <p:cNvGrpSpPr/>
        <p:nvPr/>
      </p:nvGrpSpPr>
      <p:grpSpPr>
        <a:xfrm>
          <a:off x="0" y="0"/>
          <a:ext cx="0" cy="0"/>
          <a:chOff x="0" y="0"/>
          <a:chExt cx="0" cy="0"/>
        </a:xfrm>
      </p:grpSpPr>
      <p:sp>
        <p:nvSpPr>
          <p:cNvPr id="28" name="Footer Placeholder 1">
            <a:extLst>
              <a:ext uri="{FF2B5EF4-FFF2-40B4-BE49-F238E27FC236}">
                <a16:creationId xmlns:a16="http://schemas.microsoft.com/office/drawing/2014/main" id="{F2793020-3477-94AF-CA84-C009B62C6AAD}"/>
              </a:ext>
            </a:extLst>
          </p:cNvPr>
          <p:cNvSpPr>
            <a:spLocks noGrp="1"/>
          </p:cNvSpPr>
          <p:nvPr>
            <p:ph type="ftr" sz="quarter" idx="9"/>
          </p:nvPr>
        </p:nvSpPr>
        <p:spPr>
          <a:xfrm>
            <a:off x="342900" y="6394105"/>
            <a:ext cx="10259861" cy="365125"/>
          </a:xfrm>
        </p:spPr>
        <p:txBody>
          <a:bodyPr/>
          <a:lstStyle/>
          <a:p>
            <a:pPr lvl="0"/>
            <a:endParaRPr lang="en-US" dirty="0"/>
          </a:p>
        </p:txBody>
      </p:sp>
      <p:sp>
        <p:nvSpPr>
          <p:cNvPr id="8" name="Slide Number Placeholder 7">
            <a:extLst>
              <a:ext uri="{FF2B5EF4-FFF2-40B4-BE49-F238E27FC236}">
                <a16:creationId xmlns:a16="http://schemas.microsoft.com/office/drawing/2014/main" id="{C2809EFF-7EE6-ADDE-2011-59E13650F2FE}"/>
              </a:ext>
            </a:extLst>
          </p:cNvPr>
          <p:cNvSpPr txBox="1">
            <a:spLocks noGrp="1"/>
          </p:cNvSpPr>
          <p:nvPr>
            <p:ph type="sldNum" sz="quarter" idx="8"/>
          </p:nvPr>
        </p:nvSpPr>
        <p:spPr>
          <a:xfrm>
            <a:off x="11674225" y="5477347"/>
            <a:ext cx="305503" cy="306298"/>
          </a:xfrm>
        </p:spPr>
        <p:txBody>
          <a:bodyPr vert="horz" lIns="0" tIns="45720" rIns="0" bIns="45720" rtlCol="0" anchor="ctr">
            <a:normAutofit/>
          </a:bodyPr>
          <a:lstStyle/>
          <a:p>
            <a:pPr>
              <a:spcAft>
                <a:spcPts val="600"/>
              </a:spcAft>
            </a:pPr>
            <a:fld id="{A40B93B0-CD85-4965-9F46-A34006947191}" type="slidenum">
              <a:rPr lang="en-US" smtClean="0"/>
              <a:pPr>
                <a:spcAft>
                  <a:spcPts val="600"/>
                </a:spcAft>
              </a:pPr>
              <a:t>18</a:t>
            </a:fld>
            <a:endParaRPr lang="en-US"/>
          </a:p>
        </p:txBody>
      </p:sp>
      <p:sp>
        <p:nvSpPr>
          <p:cNvPr id="3" name="TextBox 2">
            <a:extLst>
              <a:ext uri="{FF2B5EF4-FFF2-40B4-BE49-F238E27FC236}">
                <a16:creationId xmlns:a16="http://schemas.microsoft.com/office/drawing/2014/main" id="{8B6CEC79-B953-F160-206B-6C4269EFD377}"/>
              </a:ext>
            </a:extLst>
          </p:cNvPr>
          <p:cNvSpPr txBox="1"/>
          <p:nvPr/>
        </p:nvSpPr>
        <p:spPr>
          <a:xfrm>
            <a:off x="4509454" y="1997243"/>
            <a:ext cx="6702003" cy="4396862"/>
          </a:xfrm>
          <a:prstGeom prst="rect">
            <a:avLst/>
          </a:prstGeom>
        </p:spPr>
        <p:txBody>
          <a:bodyPr vert="horz" lIns="182880" tIns="457200" rIns="274320" bIns="1188720" rtlCol="0" anchor="ctr" anchorCtr="1">
            <a:normAutofit fontScale="32500" lnSpcReduction="20000"/>
          </a:bodyPr>
          <a:lstStyle/>
          <a:p>
            <a:r>
              <a:rPr lang="en-US" sz="4800" b="1" dirty="0">
                <a:solidFill>
                  <a:schemeClr val="accent2"/>
                </a:solidFill>
              </a:rPr>
              <a:t>Blending Progressions &amp; Regressions in a Single Session</a:t>
            </a:r>
          </a:p>
          <a:p>
            <a:endParaRPr lang="en-US" sz="4800" b="1" dirty="0">
              <a:solidFill>
                <a:schemeClr val="accent2"/>
              </a:solidFill>
            </a:endParaRPr>
          </a:p>
          <a:p>
            <a:r>
              <a:rPr lang="en-US" sz="4800" dirty="0"/>
              <a:t>Clients may have </a:t>
            </a:r>
            <a:r>
              <a:rPr lang="en-US" sz="4800" b="1" dirty="0"/>
              <a:t>different scores across movement patterns</a:t>
            </a:r>
            <a:r>
              <a:rPr lang="en-US" sz="4800" dirty="0"/>
              <a:t>.</a:t>
            </a:r>
          </a:p>
          <a:p>
            <a:endParaRPr lang="en-US" sz="4800" dirty="0"/>
          </a:p>
          <a:p>
            <a:pPr>
              <a:buFont typeface="Arial" panose="020B0604020202020204" pitchFamily="34" charset="0"/>
              <a:buChar char="•"/>
            </a:pPr>
            <a:r>
              <a:rPr lang="en-US" sz="4800" dirty="0"/>
              <a:t>Example: A client scores a </a:t>
            </a:r>
            <a:r>
              <a:rPr lang="en-US" sz="4800" b="1" dirty="0"/>
              <a:t>3 on Bird Dog</a:t>
            </a:r>
            <a:r>
              <a:rPr lang="en-US" sz="4800" dirty="0"/>
              <a:t> (strong trunk control) but a </a:t>
            </a:r>
            <a:r>
              <a:rPr lang="en-US" sz="4800" b="1" dirty="0"/>
              <a:t>1 on Overhead Squat</a:t>
            </a:r>
            <a:r>
              <a:rPr lang="en-US" sz="4800" dirty="0"/>
              <a:t>.</a:t>
            </a:r>
          </a:p>
          <a:p>
            <a:pPr>
              <a:buFont typeface="Arial" panose="020B0604020202020204" pitchFamily="34" charset="0"/>
              <a:buChar char="•"/>
            </a:pPr>
            <a:endParaRPr lang="en-US" sz="4800" dirty="0"/>
          </a:p>
          <a:p>
            <a:pPr>
              <a:buFont typeface="Arial" panose="020B0604020202020204" pitchFamily="34" charset="0"/>
              <a:buChar char="•"/>
            </a:pPr>
            <a:r>
              <a:rPr lang="en-US" sz="4800" dirty="0"/>
              <a:t>Solution: </a:t>
            </a:r>
            <a:r>
              <a:rPr lang="en-US" sz="4800" b="1" dirty="0"/>
              <a:t>Progress their core work</a:t>
            </a:r>
            <a:r>
              <a:rPr lang="en-US" sz="4800" dirty="0"/>
              <a:t> while using a more conservative </a:t>
            </a:r>
            <a:r>
              <a:rPr lang="en-US" sz="4800" b="1" dirty="0"/>
              <a:t>squat variation</a:t>
            </a:r>
            <a:r>
              <a:rPr lang="en-US" sz="4800" dirty="0"/>
              <a:t>.</a:t>
            </a:r>
          </a:p>
          <a:p>
            <a:pPr>
              <a:buFont typeface="Arial" panose="020B0604020202020204" pitchFamily="34" charset="0"/>
              <a:buChar char="•"/>
            </a:pPr>
            <a:endParaRPr lang="en-US" sz="4800" dirty="0"/>
          </a:p>
          <a:p>
            <a:r>
              <a:rPr lang="en-US" sz="4800" b="1" dirty="0"/>
              <a:t>Why This Matters:</a:t>
            </a:r>
            <a:r>
              <a:rPr lang="en-US" sz="4800" dirty="0"/>
              <a:t> Progressions and regressions are </a:t>
            </a:r>
            <a:r>
              <a:rPr lang="en-US" sz="4800" b="1" dirty="0"/>
              <a:t>not fixed categories</a:t>
            </a:r>
            <a:r>
              <a:rPr lang="en-US" sz="4800" dirty="0"/>
              <a:t>—they adapt </a:t>
            </a:r>
            <a:r>
              <a:rPr lang="en-US" sz="4800" b="1" dirty="0"/>
              <a:t>day-to-day</a:t>
            </a:r>
            <a:r>
              <a:rPr lang="en-US" sz="4800" dirty="0"/>
              <a:t> based on movement readiness, ensuring </a:t>
            </a:r>
            <a:r>
              <a:rPr lang="en-US" sz="4800" b="1" dirty="0"/>
              <a:t>safe, scalable improvements for every client.</a:t>
            </a:r>
            <a:endParaRPr lang="en-US" sz="4800" dirty="0"/>
          </a:p>
        </p:txBody>
      </p:sp>
      <p:graphicFrame>
        <p:nvGraphicFramePr>
          <p:cNvPr id="4" name="Table 3">
            <a:extLst>
              <a:ext uri="{FF2B5EF4-FFF2-40B4-BE49-F238E27FC236}">
                <a16:creationId xmlns:a16="http://schemas.microsoft.com/office/drawing/2014/main" id="{D8C297CC-3D52-E9A1-D349-8A68179503B4}"/>
              </a:ext>
            </a:extLst>
          </p:cNvPr>
          <p:cNvGraphicFramePr>
            <a:graphicFrameLocks noGrp="1"/>
          </p:cNvGraphicFramePr>
          <p:nvPr>
            <p:extLst>
              <p:ext uri="{D42A27DB-BD31-4B8C-83A1-F6EECF244321}">
                <p14:modId xmlns:p14="http://schemas.microsoft.com/office/powerpoint/2010/main" val="1487814736"/>
              </p:ext>
            </p:extLst>
          </p:nvPr>
        </p:nvGraphicFramePr>
        <p:xfrm>
          <a:off x="658092" y="1896303"/>
          <a:ext cx="3335140" cy="3486762"/>
        </p:xfrm>
        <a:graphic>
          <a:graphicData uri="http://schemas.openxmlformats.org/drawingml/2006/table">
            <a:tbl>
              <a:tblPr firstRow="1" bandRow="1">
                <a:tableStyleId>{9D7B26C5-4107-4FEC-AEDC-1716B250A1EF}</a:tableStyleId>
              </a:tblPr>
              <a:tblGrid>
                <a:gridCol w="833785">
                  <a:extLst>
                    <a:ext uri="{9D8B030D-6E8A-4147-A177-3AD203B41FA5}">
                      <a16:colId xmlns:a16="http://schemas.microsoft.com/office/drawing/2014/main" val="4199547234"/>
                    </a:ext>
                  </a:extLst>
                </a:gridCol>
                <a:gridCol w="833785">
                  <a:extLst>
                    <a:ext uri="{9D8B030D-6E8A-4147-A177-3AD203B41FA5}">
                      <a16:colId xmlns:a16="http://schemas.microsoft.com/office/drawing/2014/main" val="629891917"/>
                    </a:ext>
                  </a:extLst>
                </a:gridCol>
                <a:gridCol w="833785">
                  <a:extLst>
                    <a:ext uri="{9D8B030D-6E8A-4147-A177-3AD203B41FA5}">
                      <a16:colId xmlns:a16="http://schemas.microsoft.com/office/drawing/2014/main" val="1648704041"/>
                    </a:ext>
                  </a:extLst>
                </a:gridCol>
                <a:gridCol w="833785">
                  <a:extLst>
                    <a:ext uri="{9D8B030D-6E8A-4147-A177-3AD203B41FA5}">
                      <a16:colId xmlns:a16="http://schemas.microsoft.com/office/drawing/2014/main" val="3476756599"/>
                    </a:ext>
                  </a:extLst>
                </a:gridCol>
              </a:tblGrid>
              <a:tr h="425215">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3023423447"/>
                  </a:ext>
                </a:extLst>
              </a:tr>
              <a:tr h="425215">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a:noFill/>
                    </a:lnL>
                    <a:lnT w="12700" cmpd="sng">
                      <a:noFill/>
                    </a:lnT>
                    <a:solidFill>
                      <a:schemeClr val="accent3">
                        <a:lumMod val="75000"/>
                      </a:schemeClr>
                    </a:solidFill>
                  </a:tcPr>
                </a:tc>
                <a:extLst>
                  <a:ext uri="{0D108BD9-81ED-4DB2-BD59-A6C34878D82A}">
                    <a16:rowId xmlns:a16="http://schemas.microsoft.com/office/drawing/2014/main" val="1695846024"/>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solidFill>
                      <a:schemeClr val="accent3">
                        <a:lumMod val="75000"/>
                      </a:schemeClr>
                    </a:solidFill>
                  </a:tcPr>
                </a:tc>
                <a:extLst>
                  <a:ext uri="{0D108BD9-81ED-4DB2-BD59-A6C34878D82A}">
                    <a16:rowId xmlns:a16="http://schemas.microsoft.com/office/drawing/2014/main" val="3707110929"/>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dirty="0"/>
                    </a:p>
                  </a:txBody>
                  <a:tcPr marL="88502" marR="88502" marT="44251" marB="44251">
                    <a:lnL>
                      <a:noFill/>
                    </a:lnL>
                    <a:lnT>
                      <a:noFill/>
                    </a:lnT>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2750462855"/>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3599267446"/>
                  </a:ext>
                </a:extLst>
              </a:tr>
              <a:tr h="425215">
                <a:tc>
                  <a:txBody>
                    <a:bodyPr/>
                    <a:lstStyle/>
                    <a:p>
                      <a:endParaRPr lang="en-US" sz="1200"/>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p>
                  </a:txBody>
                  <a:tcPr marL="88502" marR="88502" marT="44251" marB="44251">
                    <a:lnL>
                      <a:noFill/>
                    </a:lnL>
                    <a:lnT>
                      <a:noFill/>
                    </a:lnT>
                    <a:solidFill>
                      <a:schemeClr val="accent3">
                        <a:lumMod val="40000"/>
                        <a:lumOff val="60000"/>
                      </a:schemeClr>
                    </a:solidFill>
                  </a:tcPr>
                </a:tc>
                <a:tc>
                  <a:txBody>
                    <a:bodyPr/>
                    <a:lstStyle/>
                    <a:p>
                      <a:endParaRPr lang="en-US" sz="1200"/>
                    </a:p>
                  </a:txBody>
                  <a:tcPr marL="88502" marR="88502" marT="44251" marB="44251">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581235456"/>
                  </a:ext>
                </a:extLst>
              </a:tr>
              <a:tr h="425215">
                <a:tc>
                  <a:txBody>
                    <a:bodyPr/>
                    <a:lstStyle/>
                    <a:p>
                      <a:endParaRPr lang="en-US" sz="1200"/>
                    </a:p>
                  </a:txBody>
                  <a:tcPr marL="88502" marR="88502" marT="44251" marB="44251">
                    <a:lnT>
                      <a:noFill/>
                    </a:lnT>
                    <a:solidFill>
                      <a:schemeClr val="accent5"/>
                    </a:solidFill>
                  </a:tcPr>
                </a:tc>
                <a:tc>
                  <a:txBody>
                    <a:bodyPr/>
                    <a:lstStyle/>
                    <a:p>
                      <a:endParaRPr lang="en-US" sz="1200"/>
                    </a:p>
                  </a:txBody>
                  <a:tcPr marL="88502" marR="88502" marT="44251" marB="44251">
                    <a:solidFill>
                      <a:schemeClr val="accent3">
                        <a:lumMod val="40000"/>
                        <a:lumOff val="60000"/>
                      </a:schemeClr>
                    </a:solidFill>
                  </a:tcPr>
                </a:tc>
                <a:tc>
                  <a:txBody>
                    <a:bodyPr/>
                    <a:lstStyle/>
                    <a:p>
                      <a:endParaRPr lang="en-US" sz="1200"/>
                    </a:p>
                  </a:txBody>
                  <a:tcPr marL="88502" marR="88502" marT="44251" marB="44251">
                    <a:solidFill>
                      <a:schemeClr val="accent3">
                        <a:lumMod val="60000"/>
                        <a:lumOff val="40000"/>
                      </a:schemeClr>
                    </a:solidFill>
                  </a:tcPr>
                </a:tc>
                <a:tc>
                  <a:txBody>
                    <a:bodyPr/>
                    <a:lstStyle/>
                    <a:p>
                      <a:endParaRPr lang="en-US" sz="1200"/>
                    </a:p>
                  </a:txBody>
                  <a:tcPr marL="88502" marR="88502" marT="44251" marB="44251">
                    <a:solidFill>
                      <a:schemeClr val="accent3">
                        <a:lumMod val="75000"/>
                      </a:schemeClr>
                    </a:solidFill>
                  </a:tcPr>
                </a:tc>
                <a:extLst>
                  <a:ext uri="{0D108BD9-81ED-4DB2-BD59-A6C34878D82A}">
                    <a16:rowId xmlns:a16="http://schemas.microsoft.com/office/drawing/2014/main" val="804367381"/>
                  </a:ext>
                </a:extLst>
              </a:tr>
              <a:tr h="510257">
                <a:tc>
                  <a:txBody>
                    <a:bodyPr/>
                    <a:lstStyle/>
                    <a:p>
                      <a:r>
                        <a:rPr lang="en-US" sz="1200"/>
                        <a:t>0</a:t>
                      </a:r>
                    </a:p>
                  </a:txBody>
                  <a:tcPr marL="88502" marR="88502" marT="44251" marB="44251">
                    <a:solidFill>
                      <a:srgbClr val="B5E9E1">
                        <a:alpha val="20000"/>
                      </a:srgbClr>
                    </a:solidFill>
                  </a:tcPr>
                </a:tc>
                <a:tc>
                  <a:txBody>
                    <a:bodyPr/>
                    <a:lstStyle/>
                    <a:p>
                      <a:r>
                        <a:rPr lang="en-US" sz="1200"/>
                        <a:t>1</a:t>
                      </a:r>
                    </a:p>
                  </a:txBody>
                  <a:tcPr marL="88502" marR="88502" marT="44251" marB="44251">
                    <a:solidFill>
                      <a:srgbClr val="B5E9E1">
                        <a:alpha val="20000"/>
                      </a:srgbClr>
                    </a:solidFill>
                  </a:tcPr>
                </a:tc>
                <a:tc>
                  <a:txBody>
                    <a:bodyPr/>
                    <a:lstStyle/>
                    <a:p>
                      <a:r>
                        <a:rPr lang="en-US" sz="1200"/>
                        <a:t>2</a:t>
                      </a:r>
                    </a:p>
                  </a:txBody>
                  <a:tcPr marL="88502" marR="88502" marT="44251" marB="44251">
                    <a:solidFill>
                      <a:srgbClr val="B5E9E1">
                        <a:alpha val="20000"/>
                      </a:srgbClr>
                    </a:solidFill>
                  </a:tcPr>
                </a:tc>
                <a:tc>
                  <a:txBody>
                    <a:bodyPr/>
                    <a:lstStyle/>
                    <a:p>
                      <a:r>
                        <a:rPr lang="en-US" sz="1200" dirty="0"/>
                        <a:t>3</a:t>
                      </a:r>
                    </a:p>
                  </a:txBody>
                  <a:tcPr marL="88502" marR="88502" marT="44251" marB="44251">
                    <a:solidFill>
                      <a:srgbClr val="B5E9E1">
                        <a:alpha val="20000"/>
                      </a:srgbClr>
                    </a:solidFill>
                  </a:tcPr>
                </a:tc>
                <a:extLst>
                  <a:ext uri="{0D108BD9-81ED-4DB2-BD59-A6C34878D82A}">
                    <a16:rowId xmlns:a16="http://schemas.microsoft.com/office/drawing/2014/main" val="3132363642"/>
                  </a:ext>
                </a:extLst>
              </a:tr>
            </a:tbl>
          </a:graphicData>
        </a:graphic>
      </p:graphicFrame>
      <p:sp>
        <p:nvSpPr>
          <p:cNvPr id="6" name="TextBox 5">
            <a:extLst>
              <a:ext uri="{FF2B5EF4-FFF2-40B4-BE49-F238E27FC236}">
                <a16:creationId xmlns:a16="http://schemas.microsoft.com/office/drawing/2014/main" id="{700C6C2D-F619-3EE7-C682-2D96C798B72D}"/>
              </a:ext>
            </a:extLst>
          </p:cNvPr>
          <p:cNvSpPr txBox="1"/>
          <p:nvPr/>
        </p:nvSpPr>
        <p:spPr>
          <a:xfrm>
            <a:off x="563089" y="484527"/>
            <a:ext cx="10648367" cy="677108"/>
          </a:xfrm>
          <a:prstGeom prst="rect">
            <a:avLst/>
          </a:prstGeom>
          <a:noFill/>
        </p:spPr>
        <p:txBody>
          <a:bodyPr wrap="square" rtlCol="0">
            <a:spAutoFit/>
          </a:bodyPr>
          <a:lstStyle/>
          <a:p>
            <a:pPr algn="ctr"/>
            <a:r>
              <a:rPr lang="en-US" sz="2400" b="1" dirty="0">
                <a:solidFill>
                  <a:schemeClr val="accent4">
                    <a:lumMod val="60000"/>
                    <a:lumOff val="40000"/>
                  </a:schemeClr>
                </a:solidFill>
              </a:rPr>
              <a:t>Progression Continuum: Interpreting Scores &amp; Immediate Actions</a:t>
            </a:r>
          </a:p>
          <a:p>
            <a:pPr algn="l"/>
            <a:endParaRPr lang="en-US" sz="1400" dirty="0" err="1">
              <a:solidFill>
                <a:schemeClr val="bg1"/>
              </a:solidFill>
            </a:endParaRPr>
          </a:p>
        </p:txBody>
      </p:sp>
    </p:spTree>
    <p:extLst>
      <p:ext uri="{BB962C8B-B14F-4D97-AF65-F5344CB8AC3E}">
        <p14:creationId xmlns:p14="http://schemas.microsoft.com/office/powerpoint/2010/main" val="3177290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43408-A00F-06BD-5A17-6209F1D1E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FBCFD-D240-6805-0D93-41790200BEFE}"/>
              </a:ext>
            </a:extLst>
          </p:cNvPr>
          <p:cNvSpPr txBox="1">
            <a:spLocks noGrp="1"/>
          </p:cNvSpPr>
          <p:nvPr>
            <p:ph type="title"/>
          </p:nvPr>
        </p:nvSpPr>
        <p:spPr>
          <a:xfrm>
            <a:off x="838200" y="159647"/>
            <a:ext cx="10515600" cy="1032156"/>
          </a:xfrm>
          <a:prstGeom prst="rect">
            <a:avLst/>
          </a:prstGeom>
          <a:noFill/>
          <a:ln>
            <a:noFill/>
          </a:ln>
        </p:spPr>
        <p:txBody>
          <a:bodyPr vert="horz" wrap="square" lIns="0" tIns="0" rIns="0" bIns="0" anchor="ctr" anchorCtr="1" compatLnSpc="1">
            <a:noAutofit/>
          </a:bodyPr>
          <a:lstStyle/>
          <a:p>
            <a:r>
              <a:rPr lang="en-US" sz="4000" b="1" dirty="0"/>
              <a:t>Multiple </a:t>
            </a:r>
            <a:r>
              <a:rPr lang="en-US" sz="4000" dirty="0"/>
              <a:t>Clients, 1 Movement Pattern</a:t>
            </a:r>
            <a:endParaRPr lang="en-US" sz="4000" b="1" dirty="0"/>
          </a:p>
        </p:txBody>
      </p:sp>
      <p:sp>
        <p:nvSpPr>
          <p:cNvPr id="8" name="Slide Number Placeholder 7">
            <a:extLst>
              <a:ext uri="{FF2B5EF4-FFF2-40B4-BE49-F238E27FC236}">
                <a16:creationId xmlns:a16="http://schemas.microsoft.com/office/drawing/2014/main" id="{2C9ED54E-8E61-D205-AF45-CCC41AE6B166}"/>
              </a:ext>
            </a:extLst>
          </p:cNvPr>
          <p:cNvSpPr txBox="1">
            <a:spLocks noGrp="1"/>
          </p:cNvSpPr>
          <p:nvPr>
            <p:ph type="sldNum" sz="quarter" idx="8"/>
          </p:nvPr>
        </p:nvSpPr>
        <p:spPr/>
        <p:txBody>
          <a:bodyPr/>
          <a:lstStyle/>
          <a:p>
            <a:pPr lvl="0"/>
            <a:fld id="{A40B93B0-CD85-4965-9F46-A34006947191}" type="slidenum">
              <a:rPr lang="en-US"/>
              <a:t>19</a:t>
            </a:fld>
            <a:endParaRPr lang="en-US"/>
          </a:p>
        </p:txBody>
      </p:sp>
      <p:sp>
        <p:nvSpPr>
          <p:cNvPr id="4" name="TextBox 3">
            <a:extLst>
              <a:ext uri="{FF2B5EF4-FFF2-40B4-BE49-F238E27FC236}">
                <a16:creationId xmlns:a16="http://schemas.microsoft.com/office/drawing/2014/main" id="{BCACDF91-8DA0-76D9-6457-E434DE3E5B2D}"/>
              </a:ext>
            </a:extLst>
          </p:cNvPr>
          <p:cNvSpPr txBox="1"/>
          <p:nvPr/>
        </p:nvSpPr>
        <p:spPr>
          <a:xfrm>
            <a:off x="360459" y="1743150"/>
            <a:ext cx="4437009" cy="3893374"/>
          </a:xfrm>
          <a:prstGeom prst="rect">
            <a:avLst/>
          </a:prstGeom>
          <a:noFill/>
        </p:spPr>
        <p:txBody>
          <a:bodyPr wrap="square" rtlCol="0">
            <a:spAutoFit/>
          </a:bodyPr>
          <a:lstStyle/>
          <a:p>
            <a:r>
              <a:rPr lang="en-US" sz="1400" b="1" dirty="0">
                <a:solidFill>
                  <a:schemeClr val="accent3">
                    <a:lumMod val="60000"/>
                    <a:lumOff val="40000"/>
                  </a:schemeClr>
                </a:solidFill>
              </a:rPr>
              <a:t>Coach Demonstrates the Baseline Variation</a:t>
            </a:r>
          </a:p>
          <a:p>
            <a:endParaRPr lang="en-US" sz="1400" b="1" dirty="0">
              <a:solidFill>
                <a:schemeClr val="accent3">
                  <a:lumMod val="60000"/>
                  <a:lumOff val="40000"/>
                </a:schemeClr>
              </a:solidFill>
            </a:endParaRPr>
          </a:p>
          <a:p>
            <a:r>
              <a:rPr lang="en-US" sz="1200" dirty="0"/>
              <a:t>Start by demonstrating a </a:t>
            </a:r>
            <a:r>
              <a:rPr lang="en-US" sz="1200" b="1" dirty="0"/>
              <a:t>moderate-intensity movement</a:t>
            </a:r>
            <a:r>
              <a:rPr lang="en-US" sz="1200" dirty="0"/>
              <a:t> (e.g., Goblet or Landmine Squat).</a:t>
            </a:r>
          </a:p>
          <a:p>
            <a:endParaRPr lang="en-US" sz="1200" dirty="0">
              <a:solidFill>
                <a:schemeClr val="accent4">
                  <a:lumMod val="60000"/>
                  <a:lumOff val="40000"/>
                </a:schemeClr>
              </a:solidFill>
            </a:endParaRPr>
          </a:p>
          <a:p>
            <a:r>
              <a:rPr lang="en-US" sz="1200" dirty="0">
                <a:solidFill>
                  <a:schemeClr val="accent4">
                    <a:lumMod val="60000"/>
                    <a:lumOff val="40000"/>
                  </a:schemeClr>
                </a:solidFill>
              </a:rPr>
              <a:t>A single </a:t>
            </a:r>
            <a:r>
              <a:rPr lang="en-US" sz="1200" b="1" dirty="0">
                <a:solidFill>
                  <a:schemeClr val="accent4">
                    <a:lumMod val="60000"/>
                    <a:lumOff val="40000"/>
                  </a:schemeClr>
                </a:solidFill>
              </a:rPr>
              <a:t>progression continuum</a:t>
            </a:r>
            <a:r>
              <a:rPr lang="en-US" sz="1200" dirty="0">
                <a:solidFill>
                  <a:schemeClr val="accent4">
                    <a:lumMod val="60000"/>
                    <a:lumOff val="40000"/>
                  </a:schemeClr>
                </a:solidFill>
              </a:rPr>
              <a:t> allows every client to train at the right level while keeping the group </a:t>
            </a:r>
            <a:r>
              <a:rPr lang="en-US" sz="1200" b="1" dirty="0">
                <a:solidFill>
                  <a:schemeClr val="accent4">
                    <a:lumMod val="60000"/>
                    <a:lumOff val="40000"/>
                  </a:schemeClr>
                </a:solidFill>
              </a:rPr>
              <a:t>on the same page</a:t>
            </a:r>
            <a:r>
              <a:rPr lang="en-US" sz="1200" dirty="0">
                <a:solidFill>
                  <a:schemeClr val="accent4">
                    <a:lumMod val="60000"/>
                    <a:lumOff val="40000"/>
                  </a:schemeClr>
                </a:solidFill>
              </a:rPr>
              <a:t>. </a:t>
            </a:r>
          </a:p>
          <a:p>
            <a:endParaRPr lang="en-US" sz="1200" dirty="0">
              <a:solidFill>
                <a:schemeClr val="accent4">
                  <a:lumMod val="60000"/>
                  <a:lumOff val="40000"/>
                </a:schemeClr>
              </a:solidFill>
            </a:endParaRPr>
          </a:p>
          <a:p>
            <a:pPr marL="285750" indent="-285750">
              <a:buFont typeface="Arial" panose="020B0604020202020204" pitchFamily="34" charset="0"/>
              <a:buChar char="•"/>
            </a:pPr>
            <a:r>
              <a:rPr lang="en-US" sz="1100" dirty="0"/>
              <a:t>“Our goal is 10 Front Squats with a low box. If you struggled with the racked Front Squat position or would like to swap to a more stable position and heavier load, try a goblet or back squat with a 3-1-1 tempo. If you feel strong and stable with your front squats, remember that weight and lets use the 3-1-1 tempo for those 10 reps.”</a:t>
            </a:r>
          </a:p>
          <a:p>
            <a:endParaRPr lang="en-US" sz="1100" dirty="0"/>
          </a:p>
          <a:p>
            <a:pPr marL="285750" indent="-285750">
              <a:buFont typeface="Arial" panose="020B0604020202020204" pitchFamily="34" charset="0"/>
              <a:buChar char="•"/>
            </a:pPr>
            <a:endParaRPr lang="en-US" sz="1100" dirty="0"/>
          </a:p>
          <a:p>
            <a:pPr marL="742950" lvl="1" indent="-285750">
              <a:buFont typeface="Arial" panose="020B0604020202020204" pitchFamily="34" charset="0"/>
              <a:buChar char="•"/>
            </a:pPr>
            <a:endParaRPr lang="en-US" sz="1100" dirty="0"/>
          </a:p>
          <a:p>
            <a:r>
              <a:rPr lang="en-US" sz="1200" dirty="0"/>
              <a:t>This approach maintains </a:t>
            </a:r>
            <a:r>
              <a:rPr lang="en-US" sz="1200" b="1" dirty="0"/>
              <a:t>class flow, reduces confusion, and allows coaches to correct individuals effectively</a:t>
            </a:r>
            <a:r>
              <a:rPr lang="en-US" sz="1200" dirty="0"/>
              <a:t> without disrupting the session.</a:t>
            </a:r>
          </a:p>
        </p:txBody>
      </p:sp>
      <p:graphicFrame>
        <p:nvGraphicFramePr>
          <p:cNvPr id="5" name="Table 4">
            <a:extLst>
              <a:ext uri="{FF2B5EF4-FFF2-40B4-BE49-F238E27FC236}">
                <a16:creationId xmlns:a16="http://schemas.microsoft.com/office/drawing/2014/main" id="{7987D434-08BC-16CF-050C-EB43925D33BB}"/>
              </a:ext>
            </a:extLst>
          </p:cNvPr>
          <p:cNvGraphicFramePr>
            <a:graphicFrameLocks noGrp="1"/>
          </p:cNvGraphicFramePr>
          <p:nvPr>
            <p:extLst>
              <p:ext uri="{D42A27DB-BD31-4B8C-83A1-F6EECF244321}">
                <p14:modId xmlns:p14="http://schemas.microsoft.com/office/powerpoint/2010/main" val="423354434"/>
              </p:ext>
            </p:extLst>
          </p:nvPr>
        </p:nvGraphicFramePr>
        <p:xfrm>
          <a:off x="5041725" y="1700908"/>
          <a:ext cx="5999968" cy="4058296"/>
        </p:xfrm>
        <a:graphic>
          <a:graphicData uri="http://schemas.openxmlformats.org/drawingml/2006/table">
            <a:tbl>
              <a:tblPr firstRow="1" bandRow="1">
                <a:tableStyleId>{9D7B26C5-4107-4FEC-AEDC-1716B250A1EF}</a:tableStyleId>
              </a:tblPr>
              <a:tblGrid>
                <a:gridCol w="951979">
                  <a:extLst>
                    <a:ext uri="{9D8B030D-6E8A-4147-A177-3AD203B41FA5}">
                      <a16:colId xmlns:a16="http://schemas.microsoft.com/office/drawing/2014/main" val="3019292812"/>
                    </a:ext>
                  </a:extLst>
                </a:gridCol>
                <a:gridCol w="2048005">
                  <a:extLst>
                    <a:ext uri="{9D8B030D-6E8A-4147-A177-3AD203B41FA5}">
                      <a16:colId xmlns:a16="http://schemas.microsoft.com/office/drawing/2014/main" val="1783179597"/>
                    </a:ext>
                  </a:extLst>
                </a:gridCol>
                <a:gridCol w="1603332">
                  <a:extLst>
                    <a:ext uri="{9D8B030D-6E8A-4147-A177-3AD203B41FA5}">
                      <a16:colId xmlns:a16="http://schemas.microsoft.com/office/drawing/2014/main" val="1506833240"/>
                    </a:ext>
                  </a:extLst>
                </a:gridCol>
                <a:gridCol w="1396652">
                  <a:extLst>
                    <a:ext uri="{9D8B030D-6E8A-4147-A177-3AD203B41FA5}">
                      <a16:colId xmlns:a16="http://schemas.microsoft.com/office/drawing/2014/main" val="2695899721"/>
                    </a:ext>
                  </a:extLst>
                </a:gridCol>
              </a:tblGrid>
              <a:tr h="394544">
                <a:tc>
                  <a:txBody>
                    <a:bodyPr/>
                    <a:lstStyle/>
                    <a:p>
                      <a:endParaRPr lang="en-US" sz="1200">
                        <a:solidFill>
                          <a:schemeClr val="tx1"/>
                        </a:solidFill>
                      </a:endParaRPr>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r>
                        <a:rPr lang="en-US" sz="1200" b="0" dirty="0">
                          <a:solidFill>
                            <a:schemeClr val="tx1"/>
                          </a:solidFill>
                        </a:rPr>
                        <a:t>Single Leg Squat </a:t>
                      </a:r>
                    </a:p>
                  </a:txBody>
                  <a:tcPr marL="88502" marR="88502" marT="44251" marB="44251">
                    <a:lnL>
                      <a:noFill/>
                    </a:lnL>
                    <a:lnR>
                      <a:noFill/>
                    </a:lnR>
                    <a:lnT w="12700" cmpd="sng">
                      <a:noFill/>
                    </a:lnT>
                    <a:lnB w="12700" cmpd="sng">
                      <a:noFill/>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1478415439"/>
                  </a:ext>
                </a:extLst>
              </a:tr>
              <a:tr h="478458">
                <a:tc>
                  <a:txBody>
                    <a:bodyPr/>
                    <a:lstStyle/>
                    <a:p>
                      <a:endParaRPr lang="en-US" sz="1200">
                        <a:solidFill>
                          <a:schemeClr val="tx1"/>
                        </a:solidFill>
                      </a:endParaRPr>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r>
                        <a:rPr lang="en-US" sz="1200" dirty="0">
                          <a:solidFill>
                            <a:schemeClr val="tx1"/>
                          </a:solidFill>
                        </a:rPr>
                        <a:t>Smith Pause Squats</a:t>
                      </a:r>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3">
                        <a:lumMod val="75000"/>
                      </a:schemeClr>
                    </a:solidFill>
                  </a:tcPr>
                </a:tc>
                <a:extLst>
                  <a:ext uri="{0D108BD9-81ED-4DB2-BD59-A6C34878D82A}">
                    <a16:rowId xmlns:a16="http://schemas.microsoft.com/office/drawing/2014/main" val="897693337"/>
                  </a:ext>
                </a:extLst>
              </a:tr>
              <a:tr h="560856">
                <a:tc>
                  <a:txBody>
                    <a:bodyPr/>
                    <a:lstStyle/>
                    <a:p>
                      <a:endParaRPr lang="en-US" sz="1200">
                        <a:solidFill>
                          <a:schemeClr val="tx1"/>
                        </a:solidFill>
                      </a:endParaRPr>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r>
                        <a:rPr lang="en-US" sz="1200">
                          <a:solidFill>
                            <a:schemeClr val="tx1"/>
                          </a:solidFill>
                        </a:rPr>
                        <a:t>High/Low Bar</a:t>
                      </a:r>
                    </a:p>
                    <a:p>
                      <a:r>
                        <a:rPr lang="en-US" sz="1200">
                          <a:solidFill>
                            <a:schemeClr val="tx1"/>
                          </a:solidFill>
                        </a:rPr>
                        <a:t>Tempo </a:t>
                      </a:r>
                    </a:p>
                  </a:txBody>
                  <a:tcPr marL="88502" marR="88502" marT="44251" marB="44251">
                    <a:lnL>
                      <a:noFill/>
                    </a:lnL>
                    <a:lnT>
                      <a:noFill/>
                    </a:lnT>
                    <a:solidFill>
                      <a:schemeClr val="accent3">
                        <a:lumMod val="75000"/>
                      </a:schemeClr>
                    </a:solidFill>
                  </a:tcPr>
                </a:tc>
                <a:extLst>
                  <a:ext uri="{0D108BD9-81ED-4DB2-BD59-A6C34878D82A}">
                    <a16:rowId xmlns:a16="http://schemas.microsoft.com/office/drawing/2014/main" val="3999403648"/>
                  </a:ext>
                </a:extLst>
              </a:tr>
              <a:tr h="511395">
                <a:tc>
                  <a:txBody>
                    <a:bodyPr/>
                    <a:lstStyle/>
                    <a:p>
                      <a:endParaRPr lang="en-US" sz="1200" dirty="0">
                        <a:solidFill>
                          <a:schemeClr val="tx1"/>
                        </a:solidFill>
                      </a:endParaRPr>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200">
                          <a:solidFill>
                            <a:schemeClr val="tx1"/>
                          </a:solidFill>
                        </a:rPr>
                        <a:t>Barbell Back Squat </a:t>
                      </a:r>
                    </a:p>
                  </a:txBody>
                  <a:tcPr marL="88502" marR="88502" marT="44251" marB="44251">
                    <a:lnL>
                      <a:noFill/>
                    </a:lnL>
                    <a:solidFill>
                      <a:schemeClr val="accent3">
                        <a:lumMod val="75000"/>
                      </a:schemeClr>
                    </a:solidFill>
                  </a:tcPr>
                </a:tc>
                <a:extLst>
                  <a:ext uri="{0D108BD9-81ED-4DB2-BD59-A6C34878D82A}">
                    <a16:rowId xmlns:a16="http://schemas.microsoft.com/office/drawing/2014/main" val="248846052"/>
                  </a:ext>
                </a:extLst>
              </a:tr>
              <a:tr h="373823">
                <a:tc>
                  <a:txBody>
                    <a:bodyPr/>
                    <a:lstStyle/>
                    <a:p>
                      <a:endParaRPr lang="en-US" sz="1200">
                        <a:solidFill>
                          <a:schemeClr val="tx1"/>
                        </a:solidFill>
                      </a:endParaRPr>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200">
                          <a:solidFill>
                            <a:schemeClr val="tx1"/>
                          </a:solidFill>
                        </a:rPr>
                        <a:t>Unilateral Load</a:t>
                      </a:r>
                    </a:p>
                  </a:txBody>
                  <a:tcPr marL="88502" marR="88502" marT="44251" marB="44251">
                    <a:lnL>
                      <a:noFill/>
                    </a:lnL>
                    <a:lnT>
                      <a:noFill/>
                    </a:lnT>
                    <a:solidFill>
                      <a:schemeClr val="accent3">
                        <a:lumMod val="60000"/>
                        <a:lumOff val="40000"/>
                      </a:schemeClr>
                    </a:solidFill>
                  </a:tcPr>
                </a:tc>
                <a:tc>
                  <a:txBody>
                    <a:bodyPr/>
                    <a:lstStyle/>
                    <a:p>
                      <a:r>
                        <a:rPr lang="en-US" sz="1200">
                          <a:solidFill>
                            <a:schemeClr val="tx1"/>
                          </a:solidFill>
                        </a:rPr>
                        <a:t>1.5 Stance Squat </a:t>
                      </a:r>
                    </a:p>
                  </a:txBody>
                  <a:tcPr marL="88502" marR="88502" marT="44251" marB="44251">
                    <a:solidFill>
                      <a:schemeClr val="accent3">
                        <a:lumMod val="75000"/>
                      </a:schemeClr>
                    </a:solidFill>
                  </a:tcPr>
                </a:tc>
                <a:extLst>
                  <a:ext uri="{0D108BD9-81ED-4DB2-BD59-A6C34878D82A}">
                    <a16:rowId xmlns:a16="http://schemas.microsoft.com/office/drawing/2014/main" val="955461124"/>
                  </a:ext>
                </a:extLst>
              </a:tr>
              <a:tr h="364609">
                <a:tc>
                  <a:txBody>
                    <a:bodyPr/>
                    <a:lstStyle/>
                    <a:p>
                      <a:endParaRPr lang="en-US" sz="1200">
                        <a:solidFill>
                          <a:schemeClr val="tx1"/>
                        </a:solidFill>
                      </a:endParaRPr>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200">
                        <a:solidFill>
                          <a:schemeClr val="tx1"/>
                        </a:solidFill>
                      </a:endParaRPr>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200">
                          <a:solidFill>
                            <a:schemeClr val="tx1"/>
                          </a:solidFill>
                        </a:rPr>
                        <a:t>Landmine</a:t>
                      </a:r>
                    </a:p>
                  </a:txBody>
                  <a:tcPr marL="88502" marR="88502" marT="44251" marB="44251">
                    <a:lnL>
                      <a:noFill/>
                    </a:lnL>
                    <a:solidFill>
                      <a:schemeClr val="accent3">
                        <a:lumMod val="60000"/>
                        <a:lumOff val="40000"/>
                      </a:schemeClr>
                    </a:solidFill>
                  </a:tcPr>
                </a:tc>
                <a:tc>
                  <a:txBody>
                    <a:bodyPr/>
                    <a:lstStyle/>
                    <a:p>
                      <a:r>
                        <a:rPr lang="en-US" sz="1200" err="1">
                          <a:solidFill>
                            <a:schemeClr val="tx1"/>
                          </a:solidFill>
                        </a:rPr>
                        <a:t>Zercher</a:t>
                      </a:r>
                      <a:r>
                        <a:rPr lang="en-US" sz="1200">
                          <a:solidFill>
                            <a:schemeClr val="tx1"/>
                          </a:solidFill>
                        </a:rPr>
                        <a:t> Squat </a:t>
                      </a:r>
                    </a:p>
                  </a:txBody>
                  <a:tcPr marL="88502" marR="88502" marT="44251" marB="44251">
                    <a:solidFill>
                      <a:schemeClr val="accent3">
                        <a:lumMod val="75000"/>
                      </a:schemeClr>
                    </a:solidFill>
                  </a:tcPr>
                </a:tc>
                <a:extLst>
                  <a:ext uri="{0D108BD9-81ED-4DB2-BD59-A6C34878D82A}">
                    <a16:rowId xmlns:a16="http://schemas.microsoft.com/office/drawing/2014/main" val="2192911196"/>
                  </a:ext>
                </a:extLst>
              </a:tr>
              <a:tr h="511395">
                <a:tc>
                  <a:txBody>
                    <a:bodyPr/>
                    <a:lstStyle/>
                    <a:p>
                      <a:endParaRPr lang="en-US" sz="1200">
                        <a:solidFill>
                          <a:schemeClr val="tx1"/>
                        </a:solidFill>
                      </a:endParaRPr>
                    </a:p>
                  </a:txBody>
                  <a:tcPr marL="88502" marR="88502" marT="44251" marB="44251">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200" dirty="0">
                          <a:solidFill>
                            <a:schemeClr val="tx1"/>
                          </a:solidFill>
                        </a:rPr>
                        <a:t>Suspension/Assisted Squat </a:t>
                      </a:r>
                    </a:p>
                  </a:txBody>
                  <a:tcPr marL="88502" marR="88502" marT="44251" marB="44251">
                    <a:lnL>
                      <a:noFill/>
                    </a:lnL>
                    <a:lnT>
                      <a:noFill/>
                    </a:lnT>
                    <a:solidFill>
                      <a:schemeClr val="accent3">
                        <a:lumMod val="40000"/>
                        <a:lumOff val="60000"/>
                      </a:schemeClr>
                    </a:solidFill>
                  </a:tcPr>
                </a:tc>
                <a:tc>
                  <a:txBody>
                    <a:bodyPr/>
                    <a:lstStyle/>
                    <a:p>
                      <a:r>
                        <a:rPr lang="en-US" sz="1200" dirty="0">
                          <a:solidFill>
                            <a:schemeClr val="tx1"/>
                          </a:solidFill>
                        </a:rPr>
                        <a:t>Goblet/Landmine</a:t>
                      </a:r>
                    </a:p>
                  </a:txBody>
                  <a:tcPr marL="88502" marR="88502" marT="44251" marB="44251">
                    <a:solidFill>
                      <a:schemeClr val="accent3">
                        <a:lumMod val="60000"/>
                        <a:lumOff val="40000"/>
                      </a:schemeClr>
                    </a:solidFill>
                  </a:tcPr>
                </a:tc>
                <a:tc>
                  <a:txBody>
                    <a:bodyPr/>
                    <a:lstStyle/>
                    <a:p>
                      <a:r>
                        <a:rPr lang="en-US" sz="1200" dirty="0">
                          <a:solidFill>
                            <a:schemeClr val="tx1"/>
                          </a:solidFill>
                        </a:rPr>
                        <a:t>Front Squat </a:t>
                      </a:r>
                    </a:p>
                  </a:txBody>
                  <a:tcPr marL="88502" marR="88502" marT="44251" marB="44251">
                    <a:solidFill>
                      <a:schemeClr val="accent3">
                        <a:lumMod val="75000"/>
                      </a:schemeClr>
                    </a:solidFill>
                  </a:tcPr>
                </a:tc>
                <a:extLst>
                  <a:ext uri="{0D108BD9-81ED-4DB2-BD59-A6C34878D82A}">
                    <a16:rowId xmlns:a16="http://schemas.microsoft.com/office/drawing/2014/main" val="4056458"/>
                  </a:ext>
                </a:extLst>
              </a:tr>
              <a:tr h="511395">
                <a:tc>
                  <a:txBody>
                    <a:bodyPr/>
                    <a:lstStyle/>
                    <a:p>
                      <a:endParaRPr lang="en-US" sz="1200" dirty="0">
                        <a:solidFill>
                          <a:schemeClr val="tx1"/>
                        </a:solidFill>
                      </a:endParaRPr>
                    </a:p>
                  </a:txBody>
                  <a:tcPr marL="88502" marR="88502" marT="44251" marB="44251">
                    <a:lnT>
                      <a:noFill/>
                    </a:lnT>
                    <a:solidFill>
                      <a:schemeClr val="accent5"/>
                    </a:solidFill>
                  </a:tcPr>
                </a:tc>
                <a:tc>
                  <a:txBody>
                    <a:bodyPr/>
                    <a:lstStyle/>
                    <a:p>
                      <a:r>
                        <a:rPr lang="en-US" sz="1200" dirty="0">
                          <a:solidFill>
                            <a:schemeClr val="tx1"/>
                          </a:solidFill>
                        </a:rPr>
                        <a:t>Bodyweight/ Box Squat</a:t>
                      </a:r>
                    </a:p>
                  </a:txBody>
                  <a:tcPr marL="88502" marR="88502" marT="44251" marB="44251">
                    <a:solidFill>
                      <a:schemeClr val="accent3">
                        <a:lumMod val="40000"/>
                        <a:lumOff val="60000"/>
                      </a:schemeClr>
                    </a:solidFill>
                  </a:tcPr>
                </a:tc>
                <a:tc>
                  <a:txBody>
                    <a:bodyPr/>
                    <a:lstStyle/>
                    <a:p>
                      <a:r>
                        <a:rPr lang="en-US" sz="1200">
                          <a:solidFill>
                            <a:schemeClr val="tx1"/>
                          </a:solidFill>
                        </a:rPr>
                        <a:t>BW Squat </a:t>
                      </a:r>
                    </a:p>
                    <a:p>
                      <a:r>
                        <a:rPr lang="en-US" sz="1200">
                          <a:solidFill>
                            <a:schemeClr val="tx1"/>
                          </a:solidFill>
                        </a:rPr>
                        <a:t> Brace Squat </a:t>
                      </a:r>
                    </a:p>
                  </a:txBody>
                  <a:tcPr marL="88502" marR="88502" marT="44251" marB="44251">
                    <a:solidFill>
                      <a:schemeClr val="accent3">
                        <a:lumMod val="60000"/>
                        <a:lumOff val="40000"/>
                      </a:schemeClr>
                    </a:solidFill>
                  </a:tcPr>
                </a:tc>
                <a:tc>
                  <a:txBody>
                    <a:bodyPr/>
                    <a:lstStyle/>
                    <a:p>
                      <a:r>
                        <a:rPr lang="en-US" sz="1200">
                          <a:solidFill>
                            <a:schemeClr val="tx1"/>
                          </a:solidFill>
                        </a:rPr>
                        <a:t>Brace Squat(Tempo)</a:t>
                      </a:r>
                    </a:p>
                  </a:txBody>
                  <a:tcPr marL="88502" marR="88502" marT="44251" marB="44251">
                    <a:solidFill>
                      <a:schemeClr val="accent3">
                        <a:lumMod val="75000"/>
                      </a:schemeClr>
                    </a:solidFill>
                  </a:tcPr>
                </a:tc>
                <a:extLst>
                  <a:ext uri="{0D108BD9-81ED-4DB2-BD59-A6C34878D82A}">
                    <a16:rowId xmlns:a16="http://schemas.microsoft.com/office/drawing/2014/main" val="3024296067"/>
                  </a:ext>
                </a:extLst>
              </a:tr>
              <a:tr h="248441">
                <a:tc>
                  <a:txBody>
                    <a:bodyPr/>
                    <a:lstStyle/>
                    <a:p>
                      <a:r>
                        <a:rPr lang="en-US" sz="1200">
                          <a:solidFill>
                            <a:schemeClr val="tx1"/>
                          </a:solidFill>
                        </a:rPr>
                        <a:t>0</a:t>
                      </a:r>
                    </a:p>
                  </a:txBody>
                  <a:tcPr marL="88502" marR="88502" marT="44251" marB="44251">
                    <a:solidFill>
                      <a:srgbClr val="B5E9E1">
                        <a:alpha val="20000"/>
                      </a:srgbClr>
                    </a:solidFill>
                  </a:tcPr>
                </a:tc>
                <a:tc>
                  <a:txBody>
                    <a:bodyPr/>
                    <a:lstStyle/>
                    <a:p>
                      <a:r>
                        <a:rPr lang="en-US" sz="1200">
                          <a:solidFill>
                            <a:schemeClr val="tx1"/>
                          </a:solidFill>
                        </a:rPr>
                        <a:t>1</a:t>
                      </a:r>
                    </a:p>
                  </a:txBody>
                  <a:tcPr marL="88502" marR="88502" marT="44251" marB="44251">
                    <a:solidFill>
                      <a:srgbClr val="B5E9E1">
                        <a:alpha val="20000"/>
                      </a:srgbClr>
                    </a:solidFill>
                  </a:tcPr>
                </a:tc>
                <a:tc>
                  <a:txBody>
                    <a:bodyPr/>
                    <a:lstStyle/>
                    <a:p>
                      <a:r>
                        <a:rPr lang="en-US" sz="1200">
                          <a:solidFill>
                            <a:schemeClr val="tx1"/>
                          </a:solidFill>
                        </a:rPr>
                        <a:t>2</a:t>
                      </a:r>
                    </a:p>
                  </a:txBody>
                  <a:tcPr marL="88502" marR="88502" marT="44251" marB="44251">
                    <a:solidFill>
                      <a:srgbClr val="B5E9E1">
                        <a:alpha val="20000"/>
                      </a:srgbClr>
                    </a:solidFill>
                  </a:tcPr>
                </a:tc>
                <a:tc>
                  <a:txBody>
                    <a:bodyPr/>
                    <a:lstStyle/>
                    <a:p>
                      <a:r>
                        <a:rPr lang="en-US" sz="1200" dirty="0">
                          <a:solidFill>
                            <a:schemeClr val="tx1"/>
                          </a:solidFill>
                        </a:rPr>
                        <a:t>3</a:t>
                      </a:r>
                    </a:p>
                  </a:txBody>
                  <a:tcPr marL="88502" marR="88502" marT="44251" marB="44251">
                    <a:solidFill>
                      <a:srgbClr val="B5E9E1">
                        <a:alpha val="20000"/>
                      </a:srgbClr>
                    </a:solidFill>
                  </a:tcPr>
                </a:tc>
                <a:extLst>
                  <a:ext uri="{0D108BD9-81ED-4DB2-BD59-A6C34878D82A}">
                    <a16:rowId xmlns:a16="http://schemas.microsoft.com/office/drawing/2014/main" val="3424676208"/>
                  </a:ext>
                </a:extLst>
              </a:tr>
            </a:tbl>
          </a:graphicData>
        </a:graphic>
      </p:graphicFrame>
      <p:sp>
        <p:nvSpPr>
          <p:cNvPr id="7" name="TextBox 6">
            <a:extLst>
              <a:ext uri="{FF2B5EF4-FFF2-40B4-BE49-F238E27FC236}">
                <a16:creationId xmlns:a16="http://schemas.microsoft.com/office/drawing/2014/main" id="{F7C9238F-36CC-D978-460E-5F1961CDEB91}"/>
              </a:ext>
            </a:extLst>
          </p:cNvPr>
          <p:cNvSpPr txBox="1"/>
          <p:nvPr/>
        </p:nvSpPr>
        <p:spPr>
          <a:xfrm>
            <a:off x="81418" y="6519798"/>
            <a:ext cx="9478877" cy="230832"/>
          </a:xfrm>
          <a:prstGeom prst="rect">
            <a:avLst/>
          </a:prstGeom>
          <a:noFill/>
        </p:spPr>
        <p:txBody>
          <a:bodyPr wrap="none" rtlCol="0">
            <a:spAutoFit/>
          </a:bodyPr>
          <a:lstStyle/>
          <a:p>
            <a:r>
              <a:rPr lang="en-US" sz="900" dirty="0"/>
              <a:t>Although participants may perform different squat variations (Box vs. Goblet vs. Front Squat vs Tempo Front Box Squat), they are </a:t>
            </a:r>
            <a:r>
              <a:rPr lang="en-US" sz="900" b="1" dirty="0"/>
              <a:t>united by the same movement pattern</a:t>
            </a:r>
            <a:endParaRPr lang="en-US" sz="900" dirty="0"/>
          </a:p>
        </p:txBody>
      </p:sp>
    </p:spTree>
    <p:extLst>
      <p:ext uri="{BB962C8B-B14F-4D97-AF65-F5344CB8AC3E}">
        <p14:creationId xmlns:p14="http://schemas.microsoft.com/office/powerpoint/2010/main" val="3823635334"/>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CAE32-90B0-C87B-8E63-223E08326335}"/>
              </a:ext>
            </a:extLst>
          </p:cNvPr>
          <p:cNvSpPr>
            <a:spLocks noGrp="1"/>
          </p:cNvSpPr>
          <p:nvPr>
            <p:ph type="title"/>
          </p:nvPr>
        </p:nvSpPr>
        <p:spPr/>
        <p:txBody>
          <a:bodyPr/>
          <a:lstStyle/>
          <a:p>
            <a:r>
              <a:rPr lang="en-US"/>
              <a:t>BRINGING IT ALL TOGETHER</a:t>
            </a:r>
          </a:p>
        </p:txBody>
      </p:sp>
      <p:sp>
        <p:nvSpPr>
          <p:cNvPr id="3" name="Text Placeholder 2">
            <a:extLst>
              <a:ext uri="{FF2B5EF4-FFF2-40B4-BE49-F238E27FC236}">
                <a16:creationId xmlns:a16="http://schemas.microsoft.com/office/drawing/2014/main" id="{0A60E1D9-9873-0DBB-567C-E72C449AF8C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96124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11230-9489-F4BA-C613-65D507B531B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A02D7FB-CF10-7E32-B92A-77F93388BAAE}"/>
              </a:ext>
            </a:extLst>
          </p:cNvPr>
          <p:cNvSpPr txBox="1"/>
          <p:nvPr/>
        </p:nvSpPr>
        <p:spPr>
          <a:xfrm>
            <a:off x="876301" y="3119810"/>
            <a:ext cx="1546266" cy="3081337"/>
          </a:xfrm>
          <a:prstGeom prst="rect">
            <a:avLst/>
          </a:prstGeom>
        </p:spPr>
        <p:txBody>
          <a:bodyPr vert="horz" lIns="0" tIns="0" rIns="0" bIns="0" rtlCol="0">
            <a:normAutofit/>
          </a:bodyPr>
          <a:lstStyle/>
          <a:p>
            <a:pPr marL="171450" indent="-171450">
              <a:spcBef>
                <a:spcPts val="1000"/>
              </a:spcBef>
              <a:buClr>
                <a:schemeClr val="accent3"/>
              </a:buClr>
              <a:buFont typeface="Arial" panose="020B0604020202020204" pitchFamily="34" charset="0"/>
              <a:buChar char="•"/>
            </a:pPr>
            <a:endParaRPr lang="en-US" sz="1600" dirty="0"/>
          </a:p>
        </p:txBody>
      </p:sp>
      <p:sp>
        <p:nvSpPr>
          <p:cNvPr id="14" name="Footer Placeholder 1">
            <a:extLst>
              <a:ext uri="{FF2B5EF4-FFF2-40B4-BE49-F238E27FC236}">
                <a16:creationId xmlns:a16="http://schemas.microsoft.com/office/drawing/2014/main" id="{B7E8CD3E-158C-A44F-0ED0-8A0012F34CB1}"/>
              </a:ext>
            </a:extLst>
          </p:cNvPr>
          <p:cNvSpPr>
            <a:spLocks noGrp="1"/>
          </p:cNvSpPr>
          <p:nvPr>
            <p:ph type="ftr" sz="quarter" idx="17"/>
          </p:nvPr>
        </p:nvSpPr>
        <p:spPr>
          <a:xfrm>
            <a:off x="342900" y="6394105"/>
            <a:ext cx="10259861" cy="365125"/>
          </a:xfrm>
        </p:spPr>
        <p:txBody>
          <a:bodyPr vert="horz" lIns="0" tIns="45720" rIns="91440" bIns="45720" rtlCol="0" anchor="ctr">
            <a:noAutofit/>
          </a:bodyPr>
          <a:lstStyle/>
          <a:p>
            <a:pPr>
              <a:lnSpc>
                <a:spcPct val="90000"/>
              </a:lnSpc>
              <a:spcAft>
                <a:spcPts val="600"/>
              </a:spcAft>
            </a:pPr>
            <a:r>
              <a:rPr lang="en-US" sz="600" kern="1200">
                <a:latin typeface="+mn-lt"/>
                <a:ea typeface="+mn-ea"/>
                <a:cs typeface="+mn-cs"/>
              </a:rPr>
              <a:t>You can map each phase to the </a:t>
            </a:r>
            <a:r>
              <a:rPr lang="en-US" sz="600" b="1" kern="1200">
                <a:latin typeface="+mn-lt"/>
                <a:ea typeface="+mn-ea"/>
                <a:cs typeface="+mn-cs"/>
              </a:rPr>
              <a:t>progression continuum</a:t>
            </a:r>
            <a:r>
              <a:rPr lang="en-US" sz="600" kern="1200">
                <a:latin typeface="+mn-lt"/>
                <a:ea typeface="+mn-ea"/>
                <a:cs typeface="+mn-cs"/>
              </a:rPr>
              <a:t> as follows:</a:t>
            </a:r>
          </a:p>
          <a:p>
            <a:pPr>
              <a:lnSpc>
                <a:spcPct val="90000"/>
              </a:lnSpc>
              <a:spcAft>
                <a:spcPts val="600"/>
              </a:spcAft>
            </a:pPr>
            <a:r>
              <a:rPr lang="en-US" sz="600" kern="1200">
                <a:latin typeface="+mn-lt"/>
                <a:ea typeface="+mn-ea"/>
                <a:cs typeface="+mn-cs"/>
              </a:rPr>
              <a:t>This cyclical approach ensures </a:t>
            </a:r>
            <a:r>
              <a:rPr lang="en-US" sz="600" b="1" kern="1200">
                <a:latin typeface="+mn-lt"/>
                <a:ea typeface="+mn-ea"/>
                <a:cs typeface="+mn-cs"/>
              </a:rPr>
              <a:t>long-term, structured</a:t>
            </a:r>
            <a:r>
              <a:rPr lang="en-US" sz="600" kern="1200">
                <a:latin typeface="+mn-lt"/>
                <a:ea typeface="+mn-ea"/>
                <a:cs typeface="+mn-cs"/>
              </a:rPr>
              <a:t> progression without skipping essential fundamentals.</a:t>
            </a:r>
          </a:p>
          <a:p>
            <a:pPr lvl="0">
              <a:lnSpc>
                <a:spcPct val="90000"/>
              </a:lnSpc>
              <a:spcAft>
                <a:spcPts val="600"/>
              </a:spcAft>
            </a:pPr>
            <a:endParaRPr lang="en-US" sz="600" kern="1200">
              <a:latin typeface="+mn-lt"/>
              <a:ea typeface="+mn-ea"/>
              <a:cs typeface="+mn-cs"/>
            </a:endParaRPr>
          </a:p>
        </p:txBody>
      </p:sp>
      <p:sp>
        <p:nvSpPr>
          <p:cNvPr id="19" name="Slide Number Placeholder 4">
            <a:extLst>
              <a:ext uri="{FF2B5EF4-FFF2-40B4-BE49-F238E27FC236}">
                <a16:creationId xmlns:a16="http://schemas.microsoft.com/office/drawing/2014/main" id="{828901D7-B350-0525-4E16-4725ED8D5390}"/>
              </a:ext>
            </a:extLst>
          </p:cNvPr>
          <p:cNvSpPr>
            <a:spLocks noGrp="1"/>
          </p:cNvSpPr>
          <p:nvPr>
            <p:ph type="sldNum" sz="quarter" idx="18"/>
          </p:nvPr>
        </p:nvSpPr>
        <p:spPr>
          <a:xfrm>
            <a:off x="11674225" y="5477347"/>
            <a:ext cx="305503" cy="306298"/>
          </a:xfrm>
        </p:spPr>
        <p:txBody>
          <a:bodyPr/>
          <a:lstStyle/>
          <a:p>
            <a:pPr>
              <a:spcAft>
                <a:spcPts val="600"/>
              </a:spcAft>
            </a:pPr>
            <a:fld id="{545951DD-1C6A-495F-8185-4C73F8F8B75A}" type="slidenum">
              <a:rPr lang="en-US" smtClean="0"/>
              <a:pPr>
                <a:spcAft>
                  <a:spcPts val="600"/>
                </a:spcAft>
              </a:pPr>
              <a:t>21</a:t>
            </a:fld>
            <a:endParaRPr lang="en-US"/>
          </a:p>
        </p:txBody>
      </p:sp>
      <p:sp>
        <p:nvSpPr>
          <p:cNvPr id="3" name="Title 1">
            <a:extLst>
              <a:ext uri="{FF2B5EF4-FFF2-40B4-BE49-F238E27FC236}">
                <a16:creationId xmlns:a16="http://schemas.microsoft.com/office/drawing/2014/main" id="{9AB818A6-ED8F-AC0E-D373-358377657C18}"/>
              </a:ext>
            </a:extLst>
          </p:cNvPr>
          <p:cNvSpPr txBox="1">
            <a:spLocks/>
          </p:cNvSpPr>
          <p:nvPr/>
        </p:nvSpPr>
        <p:spPr>
          <a:xfrm>
            <a:off x="2574963" y="943478"/>
            <a:ext cx="1713973" cy="2006284"/>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a:lstStyle>
          <a:p>
            <a:endParaRPr lang="en-US" sz="1800" dirty="0"/>
          </a:p>
        </p:txBody>
      </p:sp>
      <p:sp>
        <p:nvSpPr>
          <p:cNvPr id="8" name="Title 1">
            <a:extLst>
              <a:ext uri="{FF2B5EF4-FFF2-40B4-BE49-F238E27FC236}">
                <a16:creationId xmlns:a16="http://schemas.microsoft.com/office/drawing/2014/main" id="{E2BF30BC-E30A-89B4-1CC6-E1CA2A75413C}"/>
              </a:ext>
            </a:extLst>
          </p:cNvPr>
          <p:cNvSpPr txBox="1">
            <a:spLocks/>
          </p:cNvSpPr>
          <p:nvPr/>
        </p:nvSpPr>
        <p:spPr>
          <a:xfrm>
            <a:off x="4033649" y="1113526"/>
            <a:ext cx="1713973" cy="2006284"/>
          </a:xfrm>
          <a:prstGeom prst="rect">
            <a:avLst/>
          </a:prstGeom>
        </p:spPr>
        <p:txBody>
          <a:bodyPr vert="horz" lIns="0" tIns="0" rIns="0" bIns="0" rtlCol="0" anchor="b">
            <a:normAutofit/>
          </a:bodyPr>
          <a:lst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a:lstStyle>
          <a:p>
            <a:endParaRPr lang="en-US" sz="1800" dirty="0"/>
          </a:p>
        </p:txBody>
      </p:sp>
      <p:graphicFrame>
        <p:nvGraphicFramePr>
          <p:cNvPr id="10" name="Table 9">
            <a:extLst>
              <a:ext uri="{FF2B5EF4-FFF2-40B4-BE49-F238E27FC236}">
                <a16:creationId xmlns:a16="http://schemas.microsoft.com/office/drawing/2014/main" id="{97F89EFC-22A1-672B-1DCF-0E81C2E0F01C}"/>
              </a:ext>
            </a:extLst>
          </p:cNvPr>
          <p:cNvGraphicFramePr>
            <a:graphicFrameLocks noGrp="1"/>
          </p:cNvGraphicFramePr>
          <p:nvPr>
            <p:extLst>
              <p:ext uri="{D42A27DB-BD31-4B8C-83A1-F6EECF244321}">
                <p14:modId xmlns:p14="http://schemas.microsoft.com/office/powerpoint/2010/main" val="1335885003"/>
              </p:ext>
            </p:extLst>
          </p:nvPr>
        </p:nvGraphicFramePr>
        <p:xfrm>
          <a:off x="935915" y="1975700"/>
          <a:ext cx="10301844" cy="731520"/>
        </p:xfrm>
        <a:graphic>
          <a:graphicData uri="http://schemas.openxmlformats.org/drawingml/2006/table">
            <a:tbl>
              <a:tblPr firstRow="1" bandRow="1">
                <a:tableStyleId>{9D7B26C5-4107-4FEC-AEDC-1716B250A1EF}</a:tableStyleId>
              </a:tblPr>
              <a:tblGrid>
                <a:gridCol w="3433948">
                  <a:extLst>
                    <a:ext uri="{9D8B030D-6E8A-4147-A177-3AD203B41FA5}">
                      <a16:colId xmlns:a16="http://schemas.microsoft.com/office/drawing/2014/main" val="2733940479"/>
                    </a:ext>
                  </a:extLst>
                </a:gridCol>
                <a:gridCol w="3433948">
                  <a:extLst>
                    <a:ext uri="{9D8B030D-6E8A-4147-A177-3AD203B41FA5}">
                      <a16:colId xmlns:a16="http://schemas.microsoft.com/office/drawing/2014/main" val="2500058278"/>
                    </a:ext>
                  </a:extLst>
                </a:gridCol>
                <a:gridCol w="3433948">
                  <a:extLst>
                    <a:ext uri="{9D8B030D-6E8A-4147-A177-3AD203B41FA5}">
                      <a16:colId xmlns:a16="http://schemas.microsoft.com/office/drawing/2014/main" val="3052168871"/>
                    </a:ext>
                  </a:extLst>
                </a:gridCol>
              </a:tblGrid>
              <a:tr h="441850">
                <a:tc>
                  <a:txBody>
                    <a:bodyPr/>
                    <a:lstStyle/>
                    <a:p>
                      <a:r>
                        <a:rPr lang="en-US" sz="1400" b="1" i="0" kern="1200" spc="0" dirty="0">
                          <a:solidFill>
                            <a:schemeClr val="tx1"/>
                          </a:solidFill>
                          <a:latin typeface="+mn-lt"/>
                          <a:ea typeface="+mn-ea"/>
                          <a:cs typeface="+mn-cs"/>
                        </a:rPr>
                        <a:t>WEEKS 1-2</a:t>
                      </a:r>
                      <a:br>
                        <a:rPr lang="en-US" sz="1400" b="1" i="0" kern="1200" spc="0" dirty="0">
                          <a:solidFill>
                            <a:schemeClr val="tx1"/>
                          </a:solidFill>
                          <a:latin typeface="+mn-lt"/>
                          <a:ea typeface="+mn-ea"/>
                          <a:cs typeface="+mn-cs"/>
                        </a:rPr>
                      </a:br>
                      <a:r>
                        <a:rPr lang="en-US" sz="1400" b="1" i="0" kern="1200" spc="0" dirty="0">
                          <a:solidFill>
                            <a:schemeClr val="tx1"/>
                          </a:solidFill>
                          <a:latin typeface="+mn-lt"/>
                          <a:ea typeface="+mn-ea"/>
                          <a:cs typeface="+mn-cs"/>
                        </a:rPr>
                        <a:t>BUILD THE FOUNDATION</a:t>
                      </a:r>
                      <a:endParaRPr lang="en-US" sz="1400" dirty="0"/>
                    </a:p>
                  </a:txBody>
                  <a:tcP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WEEKS 3-4</a:t>
                      </a:r>
                      <a:br>
                        <a:rPr lang="en-US" sz="1400" dirty="0"/>
                      </a:br>
                      <a:r>
                        <a:rPr lang="en-US" sz="1400" dirty="0"/>
                        <a:t>PROGRESS STRENGTH AND STABILITY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WEEKS 5-6</a:t>
                      </a:r>
                      <a:br>
                        <a:rPr lang="en-US" sz="1400" dirty="0"/>
                      </a:br>
                      <a:r>
                        <a:rPr lang="en-US" sz="1400" dirty="0"/>
                        <a:t>PROGRESS STRENGTH AND POWER + REASSESSMENT</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09308214"/>
                  </a:ext>
                </a:extLst>
              </a:tr>
            </a:tbl>
          </a:graphicData>
        </a:graphic>
      </p:graphicFrame>
      <p:graphicFrame>
        <p:nvGraphicFramePr>
          <p:cNvPr id="11" name="Table 10">
            <a:extLst>
              <a:ext uri="{FF2B5EF4-FFF2-40B4-BE49-F238E27FC236}">
                <a16:creationId xmlns:a16="http://schemas.microsoft.com/office/drawing/2014/main" id="{E55C9890-934B-8921-F04A-EBD530465B5D}"/>
              </a:ext>
            </a:extLst>
          </p:cNvPr>
          <p:cNvGraphicFramePr>
            <a:graphicFrameLocks noGrp="1"/>
          </p:cNvGraphicFramePr>
          <p:nvPr>
            <p:extLst>
              <p:ext uri="{D42A27DB-BD31-4B8C-83A1-F6EECF244321}">
                <p14:modId xmlns:p14="http://schemas.microsoft.com/office/powerpoint/2010/main" val="4039607801"/>
              </p:ext>
            </p:extLst>
          </p:nvPr>
        </p:nvGraphicFramePr>
        <p:xfrm>
          <a:off x="945078" y="4360727"/>
          <a:ext cx="10301844" cy="1757996"/>
        </p:xfrm>
        <a:graphic>
          <a:graphicData uri="http://schemas.openxmlformats.org/drawingml/2006/table">
            <a:tbl>
              <a:tblPr firstRow="1" bandRow="1">
                <a:tableStyleId>{9D7B26C5-4107-4FEC-AEDC-1716B250A1EF}</a:tableStyleId>
              </a:tblPr>
              <a:tblGrid>
                <a:gridCol w="3433948">
                  <a:extLst>
                    <a:ext uri="{9D8B030D-6E8A-4147-A177-3AD203B41FA5}">
                      <a16:colId xmlns:a16="http://schemas.microsoft.com/office/drawing/2014/main" val="193548727"/>
                    </a:ext>
                  </a:extLst>
                </a:gridCol>
                <a:gridCol w="3433948">
                  <a:extLst>
                    <a:ext uri="{9D8B030D-6E8A-4147-A177-3AD203B41FA5}">
                      <a16:colId xmlns:a16="http://schemas.microsoft.com/office/drawing/2014/main" val="2577364036"/>
                    </a:ext>
                  </a:extLst>
                </a:gridCol>
                <a:gridCol w="3433948">
                  <a:extLst>
                    <a:ext uri="{9D8B030D-6E8A-4147-A177-3AD203B41FA5}">
                      <a16:colId xmlns:a16="http://schemas.microsoft.com/office/drawing/2014/main" val="1937777780"/>
                    </a:ext>
                  </a:extLst>
                </a:gridCol>
              </a:tblGrid>
              <a:tr h="1757996">
                <a:tc>
                  <a:txBody>
                    <a:bodyPr/>
                    <a:lstStyle/>
                    <a:p>
                      <a:pPr marL="171450" indent="-171450">
                        <a:spcBef>
                          <a:spcPts val="1000"/>
                        </a:spcBef>
                        <a:buClr>
                          <a:schemeClr val="accent3"/>
                        </a:buClr>
                        <a:buFont typeface="Arial" panose="020B0604020202020204" pitchFamily="34" charset="0"/>
                        <a:buChar char="•"/>
                      </a:pPr>
                      <a:r>
                        <a:rPr lang="en-US" sz="1200" dirty="0"/>
                        <a:t>Each foundational movement (Squat, Hinge, Lunge, Push, Pull, Rotation) follows a </a:t>
                      </a:r>
                      <a:r>
                        <a:rPr lang="en-US" sz="1200" b="1" dirty="0"/>
                        <a:t>progression ladder that aligns with the mesocycle</a:t>
                      </a:r>
                      <a:r>
                        <a:rPr lang="en-US" sz="1200" dirty="0"/>
                        <a:t>.</a:t>
                      </a:r>
                    </a:p>
                    <a:p>
                      <a:pPr marL="171450" indent="-171450">
                        <a:spcBef>
                          <a:spcPts val="1000"/>
                        </a:spcBef>
                        <a:buClr>
                          <a:schemeClr val="accent3"/>
                        </a:buClr>
                        <a:buFont typeface="Arial" panose="020B0604020202020204" pitchFamily="34" charset="0"/>
                        <a:buChar char="•"/>
                      </a:pPr>
                      <a:r>
                        <a:rPr lang="en-US" sz="1200" dirty="0"/>
                        <a:t>Prioritize </a:t>
                      </a:r>
                      <a:r>
                        <a:rPr lang="en-US" sz="1200" b="1" dirty="0"/>
                        <a:t>technique, control, and stability</a:t>
                      </a:r>
                      <a:endParaRPr lang="en-US" sz="1200" dirty="0"/>
                    </a:p>
                    <a:p>
                      <a:pPr marL="171450" indent="-171450">
                        <a:spcBef>
                          <a:spcPts val="1000"/>
                        </a:spcBef>
                        <a:buClr>
                          <a:schemeClr val="accent3"/>
                        </a:buClr>
                        <a:buFont typeface="Arial" panose="020B0604020202020204" pitchFamily="34" charset="0"/>
                        <a:buChar char="•"/>
                      </a:pPr>
                      <a:r>
                        <a:rPr lang="en-US" sz="1200" b="1" dirty="0"/>
                        <a:t>High Five:</a:t>
                      </a:r>
                      <a:r>
                        <a:rPr lang="en-US" sz="1200" dirty="0"/>
                        <a:t> Clients scoring </a:t>
                      </a:r>
                      <a:r>
                        <a:rPr lang="en-US" sz="1200" b="1" dirty="0"/>
                        <a:t>1s &amp; 2s</a:t>
                      </a:r>
                      <a:r>
                        <a:rPr lang="en-US" sz="1200" dirty="0"/>
                        <a:t> should reinforce foundational patterns.</a:t>
                      </a:r>
                    </a:p>
                  </a:txBody>
                  <a:tcPr>
                    <a:lnR w="12700" cap="flat" cmpd="sng" algn="ctr">
                      <a:solidFill>
                        <a:schemeClr val="tx1"/>
                      </a:solidFill>
                      <a:prstDash val="solid"/>
                      <a:round/>
                      <a:headEnd type="none" w="med" len="med"/>
                      <a:tailEnd type="none" w="med" len="med"/>
                    </a:lnR>
                  </a:tcPr>
                </a:tc>
                <a:tc>
                  <a:txBody>
                    <a:bodyPr/>
                    <a:lstStyle/>
                    <a:p>
                      <a:pPr>
                        <a:buFont typeface="Arial" panose="020B0604020202020204" pitchFamily="34" charset="0"/>
                        <a:buChar char="•"/>
                      </a:pPr>
                      <a:endParaRPr lang="en-US" sz="1200" dirty="0"/>
                    </a:p>
                    <a:p>
                      <a:pPr marL="342900" indent="-342900">
                        <a:buFont typeface="Arial" panose="020B0604020202020204" pitchFamily="34" charset="0"/>
                        <a:buChar char="•"/>
                      </a:pPr>
                      <a:r>
                        <a:rPr lang="en-US" sz="1200" dirty="0"/>
                        <a:t>Increase </a:t>
                      </a:r>
                      <a:r>
                        <a:rPr lang="en-US" sz="1200" b="1" dirty="0"/>
                        <a:t>range, load, or tempo</a:t>
                      </a:r>
                      <a:r>
                        <a:rPr lang="en-US" sz="1200" dirty="0"/>
                        <a:t> while refining movement efficiency. If technique is solid, </a:t>
                      </a:r>
                      <a:r>
                        <a:rPr lang="en-US" sz="1200" b="1" dirty="0"/>
                        <a:t>invite them to try the next level</a:t>
                      </a:r>
                      <a:endParaRPr lang="en-US" sz="1200" dirty="0"/>
                    </a:p>
                    <a:p>
                      <a:pPr marL="342900" indent="-342900">
                        <a:buFont typeface="Arial" panose="020B0604020202020204" pitchFamily="34" charset="0"/>
                        <a:buChar char="•"/>
                      </a:pPr>
                      <a:endParaRPr lang="en-US" sz="1200" b="1" dirty="0"/>
                    </a:p>
                    <a:p>
                      <a:pPr marL="342900" indent="-342900">
                        <a:buFont typeface="Arial" panose="020B0604020202020204" pitchFamily="34" charset="0"/>
                        <a:buChar char="•"/>
                      </a:pPr>
                      <a:r>
                        <a:rPr lang="en-US" sz="1200" b="1" dirty="0"/>
                        <a:t>High Five:</a:t>
                      </a:r>
                      <a:r>
                        <a:rPr lang="en-US" sz="1200" dirty="0"/>
                        <a:t> Clients improving to </a:t>
                      </a:r>
                      <a:r>
                        <a:rPr lang="en-US" sz="1200" b="1" dirty="0"/>
                        <a:t>2s &amp; 3s</a:t>
                      </a:r>
                      <a:r>
                        <a:rPr lang="en-US" sz="1200" dirty="0"/>
                        <a:t> can advance to goblet squats, hinges, or split squats.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400" b="1" dirty="0">
                          <a:solidFill>
                            <a:schemeClr val="accent4">
                              <a:lumMod val="60000"/>
                              <a:lumOff val="40000"/>
                            </a:schemeClr>
                          </a:solidFill>
                        </a:rPr>
                        <a:t>Cycle Reset &amp; Reassessment</a:t>
                      </a:r>
                      <a:endParaRPr lang="en-US" sz="1400" dirty="0">
                        <a:solidFill>
                          <a:schemeClr val="accent4">
                            <a:lumMod val="60000"/>
                            <a:lumOff val="40000"/>
                          </a:schemeClr>
                        </a:solidFill>
                      </a:endParaRPr>
                    </a:p>
                    <a:p>
                      <a:pPr marL="342900" indent="-342900">
                        <a:buFont typeface="Arial" panose="020B0604020202020204" pitchFamily="34" charset="0"/>
                        <a:buChar char="•"/>
                      </a:pPr>
                      <a:r>
                        <a:rPr lang="en-US" sz="1200" b="1" dirty="0"/>
                        <a:t>Re-test using High Five and or In App Strength Assessment.</a:t>
                      </a:r>
                      <a:r>
                        <a:rPr lang="en-US" sz="1200" dirty="0"/>
                        <a:t> Improved scores → progress movement options.</a:t>
                      </a:r>
                    </a:p>
                    <a:p>
                      <a:pPr marL="342900" indent="-342900">
                        <a:buFont typeface="Arial" panose="020B0604020202020204" pitchFamily="34" charset="0"/>
                        <a:buChar char="•"/>
                      </a:pPr>
                      <a:endParaRPr lang="en-US" sz="1200" dirty="0"/>
                    </a:p>
                    <a:p>
                      <a:pPr marL="342900" indent="-342900">
                        <a:buFont typeface="Arial" panose="020B0604020202020204" pitchFamily="34" charset="0"/>
                        <a:buChar char="•"/>
                      </a:pPr>
                      <a:r>
                        <a:rPr lang="en-US" sz="1200" dirty="0"/>
                        <a:t>If movement remains limited, </a:t>
                      </a:r>
                      <a:r>
                        <a:rPr lang="en-US" sz="1200" b="1" dirty="0"/>
                        <a:t>adjust reps, tempo, or exercise selection</a:t>
                      </a:r>
                      <a:r>
                        <a:rPr lang="en-US" sz="1200" dirty="0"/>
                        <a:t> to reinforce control.</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98289599"/>
                  </a:ext>
                </a:extLst>
              </a:tr>
            </a:tbl>
          </a:graphicData>
        </a:graphic>
      </p:graphicFrame>
      <p:sp>
        <p:nvSpPr>
          <p:cNvPr id="12" name="TextBox 11">
            <a:extLst>
              <a:ext uri="{FF2B5EF4-FFF2-40B4-BE49-F238E27FC236}">
                <a16:creationId xmlns:a16="http://schemas.microsoft.com/office/drawing/2014/main" id="{E8807E05-2625-A2FB-0AC0-F98B5932E88D}"/>
              </a:ext>
            </a:extLst>
          </p:cNvPr>
          <p:cNvSpPr txBox="1"/>
          <p:nvPr/>
        </p:nvSpPr>
        <p:spPr>
          <a:xfrm>
            <a:off x="2049006" y="681565"/>
            <a:ext cx="8093988" cy="830997"/>
          </a:xfrm>
          <a:prstGeom prst="rect">
            <a:avLst/>
          </a:prstGeom>
          <a:noFill/>
        </p:spPr>
        <p:txBody>
          <a:bodyPr wrap="square" rtlCol="0">
            <a:spAutoFit/>
          </a:bodyPr>
          <a:lstStyle/>
          <a:p>
            <a:pPr algn="ctr"/>
            <a:r>
              <a:rPr lang="en-US" sz="2400" b="1" i="0" kern="1200" spc="0" dirty="0">
                <a:latin typeface="+mj-lt"/>
                <a:ea typeface="+mj-ea"/>
                <a:cs typeface="+mj-cs"/>
              </a:rPr>
              <a:t>ALIGNING THE </a:t>
            </a:r>
            <a:r>
              <a:rPr lang="en-US" sz="2400" b="1" i="0" kern="1200" spc="0" dirty="0">
                <a:solidFill>
                  <a:schemeClr val="accent6"/>
                </a:solidFill>
                <a:latin typeface="+mj-lt"/>
                <a:ea typeface="+mj-ea"/>
                <a:cs typeface="+mj-cs"/>
              </a:rPr>
              <a:t>MESOCYCLE </a:t>
            </a:r>
            <a:r>
              <a:rPr lang="en-US" sz="2400" b="1" i="0" kern="1200" spc="0" dirty="0">
                <a:latin typeface="+mj-lt"/>
                <a:ea typeface="+mj-ea"/>
                <a:cs typeface="+mj-cs"/>
              </a:rPr>
              <a:t>to the </a:t>
            </a:r>
            <a:r>
              <a:rPr lang="en-US" sz="2400" b="1" i="0" kern="1200" spc="0" dirty="0">
                <a:solidFill>
                  <a:schemeClr val="accent6"/>
                </a:solidFill>
                <a:latin typeface="+mj-lt"/>
                <a:ea typeface="+mj-ea"/>
                <a:cs typeface="+mj-cs"/>
              </a:rPr>
              <a:t>PROGRESSION CONTINUUM</a:t>
            </a:r>
            <a:endParaRPr lang="en-US" sz="2400" dirty="0">
              <a:solidFill>
                <a:schemeClr val="bg1"/>
              </a:solidFill>
            </a:endParaRPr>
          </a:p>
        </p:txBody>
      </p:sp>
      <p:pic>
        <p:nvPicPr>
          <p:cNvPr id="15" name="Graphic 14" descr="Mountains with solid fill">
            <a:extLst>
              <a:ext uri="{FF2B5EF4-FFF2-40B4-BE49-F238E27FC236}">
                <a16:creationId xmlns:a16="http://schemas.microsoft.com/office/drawing/2014/main" id="{812DDB56-A025-E2FD-1E3C-FD469199DC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12088" y="2564295"/>
            <a:ext cx="1853739" cy="1853739"/>
          </a:xfrm>
          <a:prstGeom prst="rect">
            <a:avLst/>
          </a:prstGeom>
        </p:spPr>
      </p:pic>
      <p:pic>
        <p:nvPicPr>
          <p:cNvPr id="17" name="Graphic 16" descr="Climbing with solid fill">
            <a:extLst>
              <a:ext uri="{FF2B5EF4-FFF2-40B4-BE49-F238E27FC236}">
                <a16:creationId xmlns:a16="http://schemas.microsoft.com/office/drawing/2014/main" id="{6BD42299-848F-2EE2-E10E-5C71BF08A10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03606" y="2835777"/>
            <a:ext cx="1366463" cy="1366463"/>
          </a:xfrm>
          <a:prstGeom prst="rect">
            <a:avLst/>
          </a:prstGeom>
        </p:spPr>
      </p:pic>
      <p:pic>
        <p:nvPicPr>
          <p:cNvPr id="20" name="Graphic 19" descr="Wreath with solid fill">
            <a:extLst>
              <a:ext uri="{FF2B5EF4-FFF2-40B4-BE49-F238E27FC236}">
                <a16:creationId xmlns:a16="http://schemas.microsoft.com/office/drawing/2014/main" id="{7A2F29DD-4E46-BC85-E3FE-ABFE0EF7A9D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33879" y="2744569"/>
            <a:ext cx="1549136" cy="1549136"/>
          </a:xfrm>
          <a:prstGeom prst="rect">
            <a:avLst/>
          </a:prstGeom>
        </p:spPr>
      </p:pic>
    </p:spTree>
    <p:extLst>
      <p:ext uri="{BB962C8B-B14F-4D97-AF65-F5344CB8AC3E}">
        <p14:creationId xmlns:p14="http://schemas.microsoft.com/office/powerpoint/2010/main" val="32765521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77988-B681-66EC-FF41-F33571056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A60457-3156-0357-CF6C-DCAD1AC0F731}"/>
              </a:ext>
            </a:extLst>
          </p:cNvPr>
          <p:cNvSpPr>
            <a:spLocks noGrp="1"/>
          </p:cNvSpPr>
          <p:nvPr>
            <p:ph type="title"/>
          </p:nvPr>
        </p:nvSpPr>
        <p:spPr>
          <a:xfrm>
            <a:off x="888626" y="688803"/>
            <a:ext cx="10414747" cy="706747"/>
          </a:xfrm>
        </p:spPr>
        <p:txBody>
          <a:bodyPr anchor="ctr">
            <a:normAutofit fontScale="90000"/>
          </a:bodyPr>
          <a:lstStyle/>
          <a:p>
            <a:r>
              <a:rPr lang="en-US" sz="3200" b="1" dirty="0">
                <a:solidFill>
                  <a:schemeClr val="accent6"/>
                </a:solidFill>
              </a:rPr>
              <a:t>DRIVING LONG-TERM SUCCESS THROUGH PROGRAMMING</a:t>
            </a:r>
          </a:p>
        </p:txBody>
      </p:sp>
      <p:sp>
        <p:nvSpPr>
          <p:cNvPr id="5" name="Text Placeholder 4">
            <a:extLst>
              <a:ext uri="{FF2B5EF4-FFF2-40B4-BE49-F238E27FC236}">
                <a16:creationId xmlns:a16="http://schemas.microsoft.com/office/drawing/2014/main" id="{2E4A05DF-3146-EE38-B722-1E6F7B36B7F9}"/>
              </a:ext>
            </a:extLst>
          </p:cNvPr>
          <p:cNvSpPr>
            <a:spLocks noGrp="1"/>
          </p:cNvSpPr>
          <p:nvPr>
            <p:ph idx="1"/>
          </p:nvPr>
        </p:nvSpPr>
        <p:spPr>
          <a:xfrm>
            <a:off x="-1998920" y="1136643"/>
            <a:ext cx="1605516" cy="4908588"/>
          </a:xfrm>
        </p:spPr>
        <p:txBody>
          <a:bodyPr>
            <a:normAutofit fontScale="40000" lnSpcReduction="20000"/>
          </a:bodyPr>
          <a:lstStyle/>
          <a:p>
            <a:r>
              <a:rPr lang="en-US" b="1">
                <a:solidFill>
                  <a:schemeClr val="accent3">
                    <a:lumMod val="60000"/>
                    <a:lumOff val="40000"/>
                  </a:schemeClr>
                </a:solidFill>
              </a:rPr>
              <a:t>1. Micro-Progressions: Adjusting Acute Variables</a:t>
            </a:r>
          </a:p>
          <a:p>
            <a:pPr>
              <a:buFont typeface="Arial" panose="020B0604020202020204" pitchFamily="34" charset="0"/>
              <a:buChar char="•"/>
            </a:pPr>
            <a:r>
              <a:rPr lang="en-US" sz="1400" b="1"/>
              <a:t>Load:</a:t>
            </a:r>
            <a:r>
              <a:rPr lang="en-US" sz="1400"/>
              <a:t> Increase resistance (kettlebell, dumbbell, barbell) without altering movement.</a:t>
            </a:r>
          </a:p>
          <a:p>
            <a:pPr>
              <a:buFont typeface="Arial" panose="020B0604020202020204" pitchFamily="34" charset="0"/>
              <a:buChar char="•"/>
            </a:pPr>
            <a:r>
              <a:rPr lang="en-US" sz="1400" b="1"/>
              <a:t>Volume:</a:t>
            </a:r>
            <a:r>
              <a:rPr lang="en-US" sz="1400"/>
              <a:t> Add reps or sets while maintaining movement quality.</a:t>
            </a:r>
          </a:p>
          <a:p>
            <a:pPr>
              <a:buFont typeface="Arial" panose="020B0604020202020204" pitchFamily="34" charset="0"/>
              <a:buChar char="•"/>
            </a:pPr>
            <a:r>
              <a:rPr lang="en-US" sz="1400" b="1"/>
              <a:t>Tempo:</a:t>
            </a:r>
            <a:r>
              <a:rPr lang="en-US" sz="1400"/>
              <a:t> Slow eccentrics or add pauses to build strength at the current level.</a:t>
            </a:r>
          </a:p>
          <a:p>
            <a:pPr>
              <a:buFont typeface="Arial" panose="020B0604020202020204" pitchFamily="34" charset="0"/>
              <a:buChar char="•"/>
            </a:pPr>
            <a:r>
              <a:rPr lang="en-US" sz="1400" b="1"/>
              <a:t>Range of Motion:</a:t>
            </a:r>
            <a:r>
              <a:rPr lang="en-US" sz="1400"/>
              <a:t> Gradually deepen squats or extend lunge/hinge distance as mobility improves.</a:t>
            </a:r>
          </a:p>
          <a:p>
            <a:pPr>
              <a:buFont typeface="Arial" panose="020B0604020202020204" pitchFamily="34" charset="0"/>
              <a:buChar char="•"/>
            </a:pPr>
            <a:endParaRPr lang="en-US" sz="1400"/>
          </a:p>
          <a:p>
            <a:r>
              <a:rPr lang="en-US" sz="1600" b="1">
                <a:solidFill>
                  <a:schemeClr val="accent3">
                    <a:lumMod val="60000"/>
                    <a:lumOff val="40000"/>
                  </a:schemeClr>
                </a:solidFill>
              </a:rPr>
              <a:t>2. Communication &amp; Coaching</a:t>
            </a:r>
          </a:p>
          <a:p>
            <a:pPr>
              <a:buFont typeface="Arial" panose="020B0604020202020204" pitchFamily="34" charset="0"/>
              <a:buChar char="•"/>
            </a:pPr>
            <a:r>
              <a:rPr lang="en-US" sz="1400" b="1"/>
              <a:t>Empower Clients:</a:t>
            </a:r>
            <a:r>
              <a:rPr lang="en-US" sz="1400"/>
              <a:t> Teach self-assessment (e.g., adjusting movements based on how they feel).</a:t>
            </a:r>
          </a:p>
          <a:p>
            <a:pPr>
              <a:buFont typeface="Arial" panose="020B0604020202020204" pitchFamily="34" charset="0"/>
              <a:buChar char="•"/>
            </a:pPr>
            <a:r>
              <a:rPr lang="en-US" sz="1400" b="1"/>
              <a:t>Coach Oversight:</a:t>
            </a:r>
            <a:r>
              <a:rPr lang="en-US" sz="1400"/>
              <a:t> Ensure </a:t>
            </a:r>
            <a:r>
              <a:rPr lang="en-US" sz="1400" b="1"/>
              <a:t>strict form</a:t>
            </a:r>
            <a:r>
              <a:rPr lang="en-US" sz="1400"/>
              <a:t> before progressing; hold borderline cases at their level.</a:t>
            </a:r>
          </a:p>
          <a:p>
            <a:pPr>
              <a:buFont typeface="Arial" panose="020B0604020202020204" pitchFamily="34" charset="0"/>
              <a:buChar char="•"/>
            </a:pPr>
            <a:r>
              <a:rPr lang="en-US" sz="1400" b="1"/>
              <a:t>Celebrate Small Wins:</a:t>
            </a:r>
            <a:r>
              <a:rPr lang="en-US" sz="1400"/>
              <a:t> Progress isn’t just new exercises—it’s mastery of existing ones.</a:t>
            </a:r>
          </a:p>
          <a:p>
            <a:pPr>
              <a:buFont typeface="Arial" panose="020B0604020202020204" pitchFamily="34" charset="0"/>
              <a:buChar char="•"/>
            </a:pPr>
            <a:endParaRPr lang="en-US" sz="1400"/>
          </a:p>
          <a:p>
            <a:r>
              <a:rPr lang="en-US" sz="1600" b="1">
                <a:solidFill>
                  <a:schemeClr val="accent3">
                    <a:lumMod val="60000"/>
                    <a:lumOff val="40000"/>
                  </a:schemeClr>
                </a:solidFill>
              </a:rPr>
              <a:t>3. Scaling in a Group Setting</a:t>
            </a:r>
          </a:p>
          <a:p>
            <a:pPr>
              <a:buFont typeface="Arial" panose="020B0604020202020204" pitchFamily="34" charset="0"/>
              <a:buChar char="•"/>
            </a:pPr>
            <a:r>
              <a:rPr lang="en-US" sz="1400" b="1"/>
              <a:t>One Theme, Multiple Levels:</a:t>
            </a:r>
            <a:r>
              <a:rPr lang="en-US" sz="1400"/>
              <a:t> Everyone is “squatting,” but one person may be at a Box Squat (Level 2) while another is at a Back Squat (Level 3).</a:t>
            </a:r>
          </a:p>
          <a:p>
            <a:pPr>
              <a:buFont typeface="Arial" panose="020B0604020202020204" pitchFamily="34" charset="0"/>
              <a:buChar char="•"/>
            </a:pPr>
            <a:r>
              <a:rPr lang="en-US" sz="1400" b="1"/>
              <a:t>Simple Flow:</a:t>
            </a:r>
            <a:r>
              <a:rPr lang="en-US" sz="1400"/>
              <a:t> Demo a </a:t>
            </a:r>
            <a:r>
              <a:rPr lang="en-US" sz="1400" b="1"/>
              <a:t>baseline movement</a:t>
            </a:r>
            <a:r>
              <a:rPr lang="en-US" sz="1400"/>
              <a:t>, a </a:t>
            </a:r>
            <a:r>
              <a:rPr lang="en-US" sz="1400" b="1"/>
              <a:t>regression</a:t>
            </a:r>
            <a:r>
              <a:rPr lang="en-US" sz="1400"/>
              <a:t>, and a </a:t>
            </a:r>
            <a:r>
              <a:rPr lang="en-US" sz="1400" b="1"/>
              <a:t>progression</a:t>
            </a:r>
            <a:r>
              <a:rPr lang="en-US" sz="1400"/>
              <a:t>, then guide choices based on daily readiness and High Five scores.</a:t>
            </a:r>
          </a:p>
          <a:p>
            <a:pPr>
              <a:lnSpc>
                <a:spcPct val="100000"/>
              </a:lnSpc>
            </a:pPr>
            <a:endParaRPr lang="en-US" sz="1200"/>
          </a:p>
        </p:txBody>
      </p:sp>
      <p:sp>
        <p:nvSpPr>
          <p:cNvPr id="10" name="Footer Placeholder 3">
            <a:extLst>
              <a:ext uri="{FF2B5EF4-FFF2-40B4-BE49-F238E27FC236}">
                <a16:creationId xmlns:a16="http://schemas.microsoft.com/office/drawing/2014/main" id="{1ABC7759-3DF5-8175-6097-4E0D2DF42A68}"/>
              </a:ext>
            </a:extLst>
          </p:cNvPr>
          <p:cNvSpPr>
            <a:spLocks noGrp="1"/>
          </p:cNvSpPr>
          <p:nvPr>
            <p:ph type="ftr" sz="quarter" idx="11"/>
          </p:nvPr>
        </p:nvSpPr>
        <p:spPr>
          <a:xfrm>
            <a:off x="342900" y="6394105"/>
            <a:ext cx="10259861" cy="365125"/>
          </a:xfrm>
        </p:spPr>
        <p:txBody>
          <a:bodyPr/>
          <a:lstStyle/>
          <a:p>
            <a:endParaRPr lang="en-US"/>
          </a:p>
        </p:txBody>
      </p:sp>
      <p:sp>
        <p:nvSpPr>
          <p:cNvPr id="3" name="Oval 2">
            <a:extLst>
              <a:ext uri="{FF2B5EF4-FFF2-40B4-BE49-F238E27FC236}">
                <a16:creationId xmlns:a16="http://schemas.microsoft.com/office/drawing/2014/main" id="{E246C05F-DAD3-AB51-17CB-96AB0AC4C95B}"/>
              </a:ext>
            </a:extLst>
          </p:cNvPr>
          <p:cNvSpPr/>
          <p:nvPr/>
        </p:nvSpPr>
        <p:spPr>
          <a:xfrm>
            <a:off x="778939" y="2173634"/>
            <a:ext cx="3433900" cy="34339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Micro-Progressions: Adjusting Acute Variables</a:t>
            </a:r>
          </a:p>
        </p:txBody>
      </p:sp>
      <p:sp>
        <p:nvSpPr>
          <p:cNvPr id="6" name="Oval 5">
            <a:extLst>
              <a:ext uri="{FF2B5EF4-FFF2-40B4-BE49-F238E27FC236}">
                <a16:creationId xmlns:a16="http://schemas.microsoft.com/office/drawing/2014/main" id="{A7B69667-8546-1F8B-E76E-66AF670E3AE6}"/>
              </a:ext>
            </a:extLst>
          </p:cNvPr>
          <p:cNvSpPr/>
          <p:nvPr/>
        </p:nvSpPr>
        <p:spPr>
          <a:xfrm>
            <a:off x="7869473" y="2173634"/>
            <a:ext cx="3433900" cy="34339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Scaling in a Group Setting</a:t>
            </a:r>
          </a:p>
        </p:txBody>
      </p:sp>
      <p:sp>
        <p:nvSpPr>
          <p:cNvPr id="7" name="Oval 6">
            <a:extLst>
              <a:ext uri="{FF2B5EF4-FFF2-40B4-BE49-F238E27FC236}">
                <a16:creationId xmlns:a16="http://schemas.microsoft.com/office/drawing/2014/main" id="{0B1572C3-2FF6-8CB8-0EB4-85E59814AF29}"/>
              </a:ext>
            </a:extLst>
          </p:cNvPr>
          <p:cNvSpPr/>
          <p:nvPr/>
        </p:nvSpPr>
        <p:spPr>
          <a:xfrm>
            <a:off x="4325889" y="2173634"/>
            <a:ext cx="3433900" cy="34339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a:t>Communication</a:t>
            </a:r>
            <a:r>
              <a:rPr lang="en-US" sz="2400" b="1"/>
              <a:t> &amp; Coaching</a:t>
            </a:r>
          </a:p>
        </p:txBody>
      </p:sp>
    </p:spTree>
    <p:extLst>
      <p:ext uri="{BB962C8B-B14F-4D97-AF65-F5344CB8AC3E}">
        <p14:creationId xmlns:p14="http://schemas.microsoft.com/office/powerpoint/2010/main" val="39802641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CC1906-DC94-5977-98FB-C64C895B0AF5}"/>
              </a:ext>
            </a:extLst>
          </p:cNvPr>
          <p:cNvSpPr>
            <a:spLocks noGrp="1"/>
          </p:cNvSpPr>
          <p:nvPr>
            <p:ph type="title"/>
          </p:nvPr>
        </p:nvSpPr>
        <p:spPr>
          <a:xfrm>
            <a:off x="766482" y="130271"/>
            <a:ext cx="10414747" cy="1147152"/>
          </a:xfrm>
        </p:spPr>
        <p:txBody>
          <a:bodyPr/>
          <a:lstStyle/>
          <a:p>
            <a:r>
              <a:rPr lang="en-US"/>
              <a:t>COMPLEXITY OF MOVEMENT</a:t>
            </a:r>
          </a:p>
        </p:txBody>
      </p:sp>
      <p:pic>
        <p:nvPicPr>
          <p:cNvPr id="7" name="Content Placeholder 6">
            <a:extLst>
              <a:ext uri="{FF2B5EF4-FFF2-40B4-BE49-F238E27FC236}">
                <a16:creationId xmlns:a16="http://schemas.microsoft.com/office/drawing/2014/main" id="{78922779-6532-0518-A039-4B267BB2635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28513" t="7278" r="1839" b="-7278"/>
          <a:stretch/>
        </p:blipFill>
        <p:spPr>
          <a:xfrm>
            <a:off x="-1485900" y="1075274"/>
            <a:ext cx="6565901" cy="6282252"/>
          </a:xfrm>
          <a:prstGeom prst="ellipse">
            <a:avLst/>
          </a:prstGeom>
        </p:spPr>
      </p:pic>
      <p:sp>
        <p:nvSpPr>
          <p:cNvPr id="8" name="Rectangle: Rounded Corners 7">
            <a:extLst>
              <a:ext uri="{FF2B5EF4-FFF2-40B4-BE49-F238E27FC236}">
                <a16:creationId xmlns:a16="http://schemas.microsoft.com/office/drawing/2014/main" id="{5CE09A67-FA03-D061-E908-C414CEECF33C}"/>
              </a:ext>
            </a:extLst>
          </p:cNvPr>
          <p:cNvSpPr/>
          <p:nvPr/>
        </p:nvSpPr>
        <p:spPr>
          <a:xfrm>
            <a:off x="6477000" y="1828800"/>
            <a:ext cx="7124700" cy="762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a:t>LOAD</a:t>
            </a:r>
          </a:p>
        </p:txBody>
      </p:sp>
      <p:sp>
        <p:nvSpPr>
          <p:cNvPr id="9" name="Rectangle: Rounded Corners 8">
            <a:extLst>
              <a:ext uri="{FF2B5EF4-FFF2-40B4-BE49-F238E27FC236}">
                <a16:creationId xmlns:a16="http://schemas.microsoft.com/office/drawing/2014/main" id="{6CB2BEA3-93AE-5BAB-0D86-B9CDF1ABD20D}"/>
              </a:ext>
            </a:extLst>
          </p:cNvPr>
          <p:cNvSpPr/>
          <p:nvPr/>
        </p:nvSpPr>
        <p:spPr>
          <a:xfrm>
            <a:off x="6477000" y="2832100"/>
            <a:ext cx="7124700" cy="762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a:t>TEMPO</a:t>
            </a:r>
          </a:p>
        </p:txBody>
      </p:sp>
      <p:sp>
        <p:nvSpPr>
          <p:cNvPr id="10" name="Rectangle: Rounded Corners 9">
            <a:extLst>
              <a:ext uri="{FF2B5EF4-FFF2-40B4-BE49-F238E27FC236}">
                <a16:creationId xmlns:a16="http://schemas.microsoft.com/office/drawing/2014/main" id="{814D4E4F-B774-219D-2788-C734A59774A3}"/>
              </a:ext>
            </a:extLst>
          </p:cNvPr>
          <p:cNvSpPr/>
          <p:nvPr/>
        </p:nvSpPr>
        <p:spPr>
          <a:xfrm>
            <a:off x="6477000" y="3835400"/>
            <a:ext cx="7124700" cy="762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a:t>RANGE OF MOTION</a:t>
            </a:r>
          </a:p>
        </p:txBody>
      </p:sp>
      <p:sp>
        <p:nvSpPr>
          <p:cNvPr id="11" name="Rectangle: Rounded Corners 10">
            <a:extLst>
              <a:ext uri="{FF2B5EF4-FFF2-40B4-BE49-F238E27FC236}">
                <a16:creationId xmlns:a16="http://schemas.microsoft.com/office/drawing/2014/main" id="{9AB7A016-E0EE-FF77-507F-0DF99D0EFDB1}"/>
              </a:ext>
            </a:extLst>
          </p:cNvPr>
          <p:cNvSpPr/>
          <p:nvPr/>
        </p:nvSpPr>
        <p:spPr>
          <a:xfrm>
            <a:off x="6477000" y="4762500"/>
            <a:ext cx="7124700" cy="76200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a:t>BODY POSITION</a:t>
            </a:r>
          </a:p>
        </p:txBody>
      </p:sp>
    </p:spTree>
    <p:extLst>
      <p:ext uri="{BB962C8B-B14F-4D97-AF65-F5344CB8AC3E}">
        <p14:creationId xmlns:p14="http://schemas.microsoft.com/office/powerpoint/2010/main" val="38798806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1040C-7A55-5AD8-1E4A-F582FA449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D5C01-B87C-75F5-1728-8095A75CC11E}"/>
              </a:ext>
            </a:extLst>
          </p:cNvPr>
          <p:cNvSpPr>
            <a:spLocks noGrp="1"/>
          </p:cNvSpPr>
          <p:nvPr>
            <p:ph type="title"/>
          </p:nvPr>
        </p:nvSpPr>
        <p:spPr>
          <a:xfrm>
            <a:off x="888626" y="429896"/>
            <a:ext cx="10414747" cy="706747"/>
          </a:xfrm>
        </p:spPr>
        <p:txBody>
          <a:bodyPr anchor="ctr">
            <a:normAutofit/>
          </a:bodyPr>
          <a:lstStyle/>
          <a:p>
            <a:r>
              <a:rPr lang="en-US" sz="3200" b="1">
                <a:solidFill>
                  <a:schemeClr val="accent6"/>
                </a:solidFill>
              </a:rPr>
              <a:t>DRIVING LONG TERM SUCCESS</a:t>
            </a:r>
          </a:p>
        </p:txBody>
      </p:sp>
      <p:sp>
        <p:nvSpPr>
          <p:cNvPr id="5" name="Text Placeholder 4">
            <a:extLst>
              <a:ext uri="{FF2B5EF4-FFF2-40B4-BE49-F238E27FC236}">
                <a16:creationId xmlns:a16="http://schemas.microsoft.com/office/drawing/2014/main" id="{8085CECF-5BFB-27AB-1AFA-C6BC922D0177}"/>
              </a:ext>
            </a:extLst>
          </p:cNvPr>
          <p:cNvSpPr>
            <a:spLocks noGrp="1"/>
          </p:cNvSpPr>
          <p:nvPr>
            <p:ph idx="1"/>
          </p:nvPr>
        </p:nvSpPr>
        <p:spPr>
          <a:xfrm>
            <a:off x="4795284" y="1275970"/>
            <a:ext cx="6571883" cy="4908588"/>
          </a:xfrm>
        </p:spPr>
        <p:txBody>
          <a:bodyPr>
            <a:normAutofit fontScale="92500"/>
          </a:bodyPr>
          <a:lstStyle/>
          <a:p>
            <a:pPr>
              <a:buFont typeface="Arial" panose="020B0604020202020204" pitchFamily="34" charset="0"/>
              <a:buChar char="•"/>
            </a:pPr>
            <a:r>
              <a:rPr lang="en-US" sz="2400" b="1" dirty="0"/>
              <a:t>Load:</a:t>
            </a:r>
            <a:r>
              <a:rPr lang="en-US" sz="2400" dirty="0"/>
              <a:t> Increase resistance (kettlebell, dumbbell, barbell) without altering movement.</a:t>
            </a:r>
          </a:p>
          <a:p>
            <a:pPr>
              <a:buFont typeface="Arial" panose="020B0604020202020204" pitchFamily="34" charset="0"/>
              <a:buChar char="•"/>
            </a:pPr>
            <a:r>
              <a:rPr lang="en-US" sz="2400" b="1" dirty="0"/>
              <a:t>Volume:</a:t>
            </a:r>
            <a:r>
              <a:rPr lang="en-US" sz="2400" dirty="0"/>
              <a:t> Add reps or sets while maintaining movement quality.</a:t>
            </a:r>
          </a:p>
          <a:p>
            <a:pPr>
              <a:buFont typeface="Arial" panose="020B0604020202020204" pitchFamily="34" charset="0"/>
              <a:buChar char="•"/>
            </a:pPr>
            <a:r>
              <a:rPr lang="en-US" sz="2400" b="1" dirty="0"/>
              <a:t>Tempo/Rest:</a:t>
            </a:r>
            <a:r>
              <a:rPr lang="en-US" sz="2400" dirty="0"/>
              <a:t> Slow eccentrics or add pauses to build strength at the current level. Increase or decrease rest periods to manipulate cardiovascular effort.</a:t>
            </a:r>
          </a:p>
          <a:p>
            <a:pPr>
              <a:buFont typeface="Arial" panose="020B0604020202020204" pitchFamily="34" charset="0"/>
              <a:buChar char="•"/>
            </a:pPr>
            <a:r>
              <a:rPr lang="en-US" sz="2400" b="1" dirty="0"/>
              <a:t>Range of Motion:</a:t>
            </a:r>
            <a:r>
              <a:rPr lang="en-US" sz="2400" dirty="0"/>
              <a:t> Gradually deepen squats or extend lunge/hinge distance as mobility improves. Add in partial/full/deficit reps for added intensity. </a:t>
            </a:r>
          </a:p>
          <a:p>
            <a:pPr>
              <a:buFont typeface="Arial" panose="020B0604020202020204" pitchFamily="34" charset="0"/>
              <a:buChar char="•"/>
            </a:pPr>
            <a:endParaRPr lang="en-US" sz="2400" dirty="0"/>
          </a:p>
        </p:txBody>
      </p:sp>
      <p:sp>
        <p:nvSpPr>
          <p:cNvPr id="10" name="Footer Placeholder 3">
            <a:extLst>
              <a:ext uri="{FF2B5EF4-FFF2-40B4-BE49-F238E27FC236}">
                <a16:creationId xmlns:a16="http://schemas.microsoft.com/office/drawing/2014/main" id="{4FC69829-B3B5-6EB7-3F9B-DB3A089FCE47}"/>
              </a:ext>
            </a:extLst>
          </p:cNvPr>
          <p:cNvSpPr>
            <a:spLocks noGrp="1"/>
          </p:cNvSpPr>
          <p:nvPr>
            <p:ph type="ftr" sz="quarter" idx="11"/>
          </p:nvPr>
        </p:nvSpPr>
        <p:spPr>
          <a:xfrm>
            <a:off x="342900" y="6394105"/>
            <a:ext cx="10259861" cy="365125"/>
          </a:xfrm>
        </p:spPr>
        <p:txBody>
          <a:bodyPr/>
          <a:lstStyle/>
          <a:p>
            <a:endParaRPr lang="en-US"/>
          </a:p>
        </p:txBody>
      </p:sp>
      <p:sp>
        <p:nvSpPr>
          <p:cNvPr id="3" name="Oval 2">
            <a:extLst>
              <a:ext uri="{FF2B5EF4-FFF2-40B4-BE49-F238E27FC236}">
                <a16:creationId xmlns:a16="http://schemas.microsoft.com/office/drawing/2014/main" id="{03581AC6-8F99-9B75-844E-C641A14C1A35}"/>
              </a:ext>
            </a:extLst>
          </p:cNvPr>
          <p:cNvSpPr/>
          <p:nvPr/>
        </p:nvSpPr>
        <p:spPr>
          <a:xfrm>
            <a:off x="824833" y="1449240"/>
            <a:ext cx="3433900" cy="34339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Micro-Progressions: Adjusting Acute Variables</a:t>
            </a:r>
          </a:p>
        </p:txBody>
      </p:sp>
      <p:sp>
        <p:nvSpPr>
          <p:cNvPr id="6" name="Oval 5">
            <a:extLst>
              <a:ext uri="{FF2B5EF4-FFF2-40B4-BE49-F238E27FC236}">
                <a16:creationId xmlns:a16="http://schemas.microsoft.com/office/drawing/2014/main" id="{526F0302-BCB8-52E2-63F4-EB2A1C95134E}"/>
              </a:ext>
            </a:extLst>
          </p:cNvPr>
          <p:cNvSpPr/>
          <p:nvPr/>
        </p:nvSpPr>
        <p:spPr>
          <a:xfrm>
            <a:off x="12488944" y="3153355"/>
            <a:ext cx="1460988" cy="146098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Scaling in a Group Setting</a:t>
            </a:r>
          </a:p>
        </p:txBody>
      </p:sp>
      <p:sp>
        <p:nvSpPr>
          <p:cNvPr id="7" name="Oval 6">
            <a:extLst>
              <a:ext uri="{FF2B5EF4-FFF2-40B4-BE49-F238E27FC236}">
                <a16:creationId xmlns:a16="http://schemas.microsoft.com/office/drawing/2014/main" id="{A9FDDC69-3929-736E-6BBA-28AB470B138D}"/>
              </a:ext>
            </a:extLst>
          </p:cNvPr>
          <p:cNvSpPr/>
          <p:nvPr/>
        </p:nvSpPr>
        <p:spPr>
          <a:xfrm>
            <a:off x="12585403" y="502608"/>
            <a:ext cx="1268070" cy="126807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a:t>Communication</a:t>
            </a:r>
            <a:r>
              <a:rPr lang="en-US" sz="2400" b="1"/>
              <a:t> &amp; Coaching</a:t>
            </a:r>
          </a:p>
        </p:txBody>
      </p:sp>
    </p:spTree>
    <p:extLst>
      <p:ext uri="{BB962C8B-B14F-4D97-AF65-F5344CB8AC3E}">
        <p14:creationId xmlns:p14="http://schemas.microsoft.com/office/powerpoint/2010/main" val="3148621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B03DF-A477-6F0B-8EB6-134E3CDA9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1F3FB-4DF9-F6CA-A63A-FCB542EF9370}"/>
              </a:ext>
            </a:extLst>
          </p:cNvPr>
          <p:cNvSpPr>
            <a:spLocks noGrp="1"/>
          </p:cNvSpPr>
          <p:nvPr>
            <p:ph type="title"/>
          </p:nvPr>
        </p:nvSpPr>
        <p:spPr>
          <a:xfrm>
            <a:off x="888626" y="429896"/>
            <a:ext cx="10414747" cy="706747"/>
          </a:xfrm>
        </p:spPr>
        <p:txBody>
          <a:bodyPr anchor="ctr">
            <a:normAutofit/>
          </a:bodyPr>
          <a:lstStyle/>
          <a:p>
            <a:r>
              <a:rPr lang="en-US" sz="3200" b="1">
                <a:solidFill>
                  <a:schemeClr val="accent6"/>
                </a:solidFill>
              </a:rPr>
              <a:t>DRIVING LONG TERM SUCCESS</a:t>
            </a:r>
          </a:p>
        </p:txBody>
      </p:sp>
      <p:sp>
        <p:nvSpPr>
          <p:cNvPr id="5" name="Text Placeholder 4">
            <a:extLst>
              <a:ext uri="{FF2B5EF4-FFF2-40B4-BE49-F238E27FC236}">
                <a16:creationId xmlns:a16="http://schemas.microsoft.com/office/drawing/2014/main" id="{9EE00CBD-8C07-2E55-E8BE-6F6FFEE47FCC}"/>
              </a:ext>
            </a:extLst>
          </p:cNvPr>
          <p:cNvSpPr>
            <a:spLocks noGrp="1"/>
          </p:cNvSpPr>
          <p:nvPr>
            <p:ph idx="1"/>
          </p:nvPr>
        </p:nvSpPr>
        <p:spPr>
          <a:xfrm>
            <a:off x="4795284" y="1672188"/>
            <a:ext cx="6571883" cy="4512369"/>
          </a:xfrm>
        </p:spPr>
        <p:txBody>
          <a:bodyPr>
            <a:normAutofit/>
          </a:bodyPr>
          <a:lstStyle/>
          <a:p>
            <a:pPr>
              <a:buFont typeface="Arial" panose="020B0604020202020204" pitchFamily="34" charset="0"/>
              <a:buChar char="•"/>
            </a:pPr>
            <a:r>
              <a:rPr lang="en-US" sz="2400" b="1" dirty="0"/>
              <a:t>Empower Clients:</a:t>
            </a:r>
            <a:r>
              <a:rPr lang="en-US" sz="2400" dirty="0"/>
              <a:t> Teach self-assessment (e.g., adjusting movements based on how they feel).</a:t>
            </a:r>
          </a:p>
          <a:p>
            <a:pPr>
              <a:buFont typeface="Arial" panose="020B0604020202020204" pitchFamily="34" charset="0"/>
              <a:buChar char="•"/>
            </a:pPr>
            <a:r>
              <a:rPr lang="en-US" sz="2400" b="1" dirty="0"/>
              <a:t>Coach Oversight:</a:t>
            </a:r>
            <a:r>
              <a:rPr lang="en-US" sz="2400" dirty="0"/>
              <a:t> Ensure </a:t>
            </a:r>
            <a:r>
              <a:rPr lang="en-US" sz="2400" b="1" dirty="0"/>
              <a:t>strict form</a:t>
            </a:r>
            <a:r>
              <a:rPr lang="en-US" sz="2400" dirty="0"/>
              <a:t> before progressing</a:t>
            </a:r>
          </a:p>
          <a:p>
            <a:pPr>
              <a:buFont typeface="Arial" panose="020B0604020202020204" pitchFamily="34" charset="0"/>
              <a:buChar char="•"/>
            </a:pPr>
            <a:r>
              <a:rPr lang="en-US" sz="2400" b="1" dirty="0"/>
              <a:t>Celebrate Small Wins:</a:t>
            </a:r>
            <a:r>
              <a:rPr lang="en-US" sz="2400" dirty="0"/>
              <a:t> Progress isn’t just new exercises—it’s mastery of existing ones.</a:t>
            </a:r>
          </a:p>
        </p:txBody>
      </p:sp>
      <p:sp>
        <p:nvSpPr>
          <p:cNvPr id="10" name="Footer Placeholder 3">
            <a:extLst>
              <a:ext uri="{FF2B5EF4-FFF2-40B4-BE49-F238E27FC236}">
                <a16:creationId xmlns:a16="http://schemas.microsoft.com/office/drawing/2014/main" id="{5F879B0B-F892-2899-B5BA-06FFF57FC337}"/>
              </a:ext>
            </a:extLst>
          </p:cNvPr>
          <p:cNvSpPr>
            <a:spLocks noGrp="1"/>
          </p:cNvSpPr>
          <p:nvPr>
            <p:ph type="ftr" sz="quarter" idx="11"/>
          </p:nvPr>
        </p:nvSpPr>
        <p:spPr>
          <a:xfrm>
            <a:off x="342900" y="6394105"/>
            <a:ext cx="10259861" cy="365125"/>
          </a:xfrm>
        </p:spPr>
        <p:txBody>
          <a:bodyPr/>
          <a:lstStyle/>
          <a:p>
            <a:endParaRPr lang="en-US"/>
          </a:p>
        </p:txBody>
      </p:sp>
      <p:sp>
        <p:nvSpPr>
          <p:cNvPr id="3" name="Oval 2">
            <a:extLst>
              <a:ext uri="{FF2B5EF4-FFF2-40B4-BE49-F238E27FC236}">
                <a16:creationId xmlns:a16="http://schemas.microsoft.com/office/drawing/2014/main" id="{C24AEBFD-73E1-6B81-2219-A5A094B6DECE}"/>
              </a:ext>
            </a:extLst>
          </p:cNvPr>
          <p:cNvSpPr/>
          <p:nvPr/>
        </p:nvSpPr>
        <p:spPr>
          <a:xfrm>
            <a:off x="-1503697" y="1502403"/>
            <a:ext cx="887009" cy="8870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t>Micro-Progressions: Adjusting Acute Variables</a:t>
            </a:r>
          </a:p>
        </p:txBody>
      </p:sp>
      <p:sp>
        <p:nvSpPr>
          <p:cNvPr id="6" name="Oval 5">
            <a:extLst>
              <a:ext uri="{FF2B5EF4-FFF2-40B4-BE49-F238E27FC236}">
                <a16:creationId xmlns:a16="http://schemas.microsoft.com/office/drawing/2014/main" id="{B292AED0-1D07-FA83-21D5-1E7D759FAC56}"/>
              </a:ext>
            </a:extLst>
          </p:cNvPr>
          <p:cNvSpPr/>
          <p:nvPr/>
        </p:nvSpPr>
        <p:spPr>
          <a:xfrm>
            <a:off x="12488944" y="3153355"/>
            <a:ext cx="1460988" cy="146098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Scaling in a Group Setting</a:t>
            </a:r>
          </a:p>
        </p:txBody>
      </p:sp>
      <p:sp>
        <p:nvSpPr>
          <p:cNvPr id="7" name="Oval 6">
            <a:extLst>
              <a:ext uri="{FF2B5EF4-FFF2-40B4-BE49-F238E27FC236}">
                <a16:creationId xmlns:a16="http://schemas.microsoft.com/office/drawing/2014/main" id="{B39521E3-AEF6-4DAD-CE9C-05BB0841BFAB}"/>
              </a:ext>
            </a:extLst>
          </p:cNvPr>
          <p:cNvSpPr/>
          <p:nvPr/>
        </p:nvSpPr>
        <p:spPr>
          <a:xfrm>
            <a:off x="888626" y="1672189"/>
            <a:ext cx="3459340" cy="345934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a:t>Communication</a:t>
            </a:r>
            <a:r>
              <a:rPr lang="en-US" sz="2400" b="1"/>
              <a:t> &amp; Coaching</a:t>
            </a:r>
          </a:p>
        </p:txBody>
      </p:sp>
    </p:spTree>
    <p:extLst>
      <p:ext uri="{BB962C8B-B14F-4D97-AF65-F5344CB8AC3E}">
        <p14:creationId xmlns:p14="http://schemas.microsoft.com/office/powerpoint/2010/main" val="300875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8B32C-42C0-D233-55F2-E1406E0F65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107014-3BFE-6145-2290-334C4DFD4044}"/>
              </a:ext>
            </a:extLst>
          </p:cNvPr>
          <p:cNvSpPr>
            <a:spLocks noGrp="1"/>
          </p:cNvSpPr>
          <p:nvPr>
            <p:ph type="title"/>
          </p:nvPr>
        </p:nvSpPr>
        <p:spPr>
          <a:xfrm>
            <a:off x="888626" y="429896"/>
            <a:ext cx="10414747" cy="706747"/>
          </a:xfrm>
        </p:spPr>
        <p:txBody>
          <a:bodyPr anchor="ctr">
            <a:normAutofit/>
          </a:bodyPr>
          <a:lstStyle/>
          <a:p>
            <a:r>
              <a:rPr lang="en-US" sz="3200" b="1">
                <a:solidFill>
                  <a:schemeClr val="accent6"/>
                </a:solidFill>
              </a:rPr>
              <a:t>DRIVING LONG TERM SUCCESS</a:t>
            </a:r>
          </a:p>
        </p:txBody>
      </p:sp>
      <p:sp>
        <p:nvSpPr>
          <p:cNvPr id="5" name="Text Placeholder 4">
            <a:extLst>
              <a:ext uri="{FF2B5EF4-FFF2-40B4-BE49-F238E27FC236}">
                <a16:creationId xmlns:a16="http://schemas.microsoft.com/office/drawing/2014/main" id="{08A0E108-A8E6-41D6-38CE-10FB0EF7E4F8}"/>
              </a:ext>
            </a:extLst>
          </p:cNvPr>
          <p:cNvSpPr>
            <a:spLocks noGrp="1"/>
          </p:cNvSpPr>
          <p:nvPr>
            <p:ph idx="1"/>
          </p:nvPr>
        </p:nvSpPr>
        <p:spPr>
          <a:xfrm>
            <a:off x="4795284" y="1913860"/>
            <a:ext cx="6571883" cy="4270698"/>
          </a:xfrm>
        </p:spPr>
        <p:txBody>
          <a:bodyPr>
            <a:normAutofit/>
          </a:bodyPr>
          <a:lstStyle/>
          <a:p>
            <a:pPr>
              <a:buFont typeface="Arial" panose="020B0604020202020204" pitchFamily="34" charset="0"/>
              <a:buChar char="•"/>
            </a:pPr>
            <a:r>
              <a:rPr lang="en-US" sz="2400" b="1" dirty="0"/>
              <a:t>One Pattern, Multiple Levels:</a:t>
            </a:r>
            <a:r>
              <a:rPr lang="en-US" sz="2400" dirty="0"/>
              <a:t> Everyone is “squatting,” but one person may be at a Box Squat while another is at a Back Squat.</a:t>
            </a:r>
          </a:p>
          <a:p>
            <a:pPr>
              <a:buFont typeface="Arial" panose="020B0604020202020204" pitchFamily="34" charset="0"/>
              <a:buChar char="•"/>
            </a:pPr>
            <a:r>
              <a:rPr lang="en-US" sz="2400" b="1" dirty="0"/>
              <a:t>Simple Flow:</a:t>
            </a:r>
            <a:r>
              <a:rPr lang="en-US" sz="2400" dirty="0"/>
              <a:t> Demo a </a:t>
            </a:r>
            <a:r>
              <a:rPr lang="en-US" sz="2400" b="1" dirty="0"/>
              <a:t>baseline movement</a:t>
            </a:r>
            <a:r>
              <a:rPr lang="en-US" sz="2400" dirty="0"/>
              <a:t>, a </a:t>
            </a:r>
            <a:r>
              <a:rPr lang="en-US" sz="2400" b="1" dirty="0"/>
              <a:t>regression</a:t>
            </a:r>
            <a:r>
              <a:rPr lang="en-US" sz="2400" dirty="0"/>
              <a:t>, and a </a:t>
            </a:r>
            <a:r>
              <a:rPr lang="en-US" sz="2400" b="1" dirty="0"/>
              <a:t>progression</a:t>
            </a:r>
            <a:r>
              <a:rPr lang="en-US" sz="2400" dirty="0"/>
              <a:t>, then guide choices based on daily readiness and High Five scores.</a:t>
            </a:r>
          </a:p>
        </p:txBody>
      </p:sp>
      <p:sp>
        <p:nvSpPr>
          <p:cNvPr id="10" name="Footer Placeholder 3">
            <a:extLst>
              <a:ext uri="{FF2B5EF4-FFF2-40B4-BE49-F238E27FC236}">
                <a16:creationId xmlns:a16="http://schemas.microsoft.com/office/drawing/2014/main" id="{17D738BF-412D-B972-53FF-0BC8548921E9}"/>
              </a:ext>
            </a:extLst>
          </p:cNvPr>
          <p:cNvSpPr>
            <a:spLocks noGrp="1"/>
          </p:cNvSpPr>
          <p:nvPr>
            <p:ph type="ftr" sz="quarter" idx="11"/>
          </p:nvPr>
        </p:nvSpPr>
        <p:spPr>
          <a:xfrm>
            <a:off x="342900" y="6394105"/>
            <a:ext cx="10259861" cy="365125"/>
          </a:xfrm>
        </p:spPr>
        <p:txBody>
          <a:bodyPr/>
          <a:lstStyle/>
          <a:p>
            <a:endParaRPr lang="en-US"/>
          </a:p>
        </p:txBody>
      </p:sp>
      <p:sp>
        <p:nvSpPr>
          <p:cNvPr id="3" name="Oval 2">
            <a:extLst>
              <a:ext uri="{FF2B5EF4-FFF2-40B4-BE49-F238E27FC236}">
                <a16:creationId xmlns:a16="http://schemas.microsoft.com/office/drawing/2014/main" id="{B907A46E-44BB-939A-F28C-23AFD86C77C7}"/>
              </a:ext>
            </a:extLst>
          </p:cNvPr>
          <p:cNvSpPr/>
          <p:nvPr/>
        </p:nvSpPr>
        <p:spPr>
          <a:xfrm>
            <a:off x="-1503697" y="1502403"/>
            <a:ext cx="887009" cy="88700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a:t>Micro-Progressions: Adjusting Acute Variables</a:t>
            </a:r>
          </a:p>
        </p:txBody>
      </p:sp>
      <p:sp>
        <p:nvSpPr>
          <p:cNvPr id="6" name="Oval 5">
            <a:extLst>
              <a:ext uri="{FF2B5EF4-FFF2-40B4-BE49-F238E27FC236}">
                <a16:creationId xmlns:a16="http://schemas.microsoft.com/office/drawing/2014/main" id="{0E5AF490-AD48-4AB3-B213-C84A0765DCEC}"/>
              </a:ext>
            </a:extLst>
          </p:cNvPr>
          <p:cNvSpPr/>
          <p:nvPr/>
        </p:nvSpPr>
        <p:spPr>
          <a:xfrm>
            <a:off x="978196" y="1717150"/>
            <a:ext cx="3423699" cy="34236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Scaling in a Group Setting</a:t>
            </a:r>
          </a:p>
        </p:txBody>
      </p:sp>
      <p:sp>
        <p:nvSpPr>
          <p:cNvPr id="7" name="Oval 6">
            <a:extLst>
              <a:ext uri="{FF2B5EF4-FFF2-40B4-BE49-F238E27FC236}">
                <a16:creationId xmlns:a16="http://schemas.microsoft.com/office/drawing/2014/main" id="{8D9CB4EE-4FA1-9A4C-13B4-B16AE28B1389}"/>
              </a:ext>
            </a:extLst>
          </p:cNvPr>
          <p:cNvSpPr/>
          <p:nvPr/>
        </p:nvSpPr>
        <p:spPr>
          <a:xfrm>
            <a:off x="-1677066" y="2819853"/>
            <a:ext cx="1060378" cy="10603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a:t>Communication</a:t>
            </a:r>
            <a:r>
              <a:rPr lang="en-US" sz="2400" b="1"/>
              <a:t> &amp; Coaching</a:t>
            </a:r>
          </a:p>
        </p:txBody>
      </p:sp>
    </p:spTree>
    <p:extLst>
      <p:ext uri="{BB962C8B-B14F-4D97-AF65-F5344CB8AC3E}">
        <p14:creationId xmlns:p14="http://schemas.microsoft.com/office/powerpoint/2010/main" val="33755019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E4DE353-B051-3DCB-513B-6418F470AAB0}"/>
              </a:ext>
            </a:extLst>
          </p:cNvPr>
          <p:cNvSpPr/>
          <p:nvPr/>
        </p:nvSpPr>
        <p:spPr>
          <a:xfrm>
            <a:off x="-991630" y="3429000"/>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Tracking Progress on the Continuum</a:t>
            </a:r>
            <a:endParaRPr lang="en-US" sz="2800"/>
          </a:p>
        </p:txBody>
      </p:sp>
      <p:sp>
        <p:nvSpPr>
          <p:cNvPr id="8" name="Rectangle: Rounded Corners 7">
            <a:extLst>
              <a:ext uri="{FF2B5EF4-FFF2-40B4-BE49-F238E27FC236}">
                <a16:creationId xmlns:a16="http://schemas.microsoft.com/office/drawing/2014/main" id="{0B323471-FD5E-2195-C384-47B1B16CEE54}"/>
              </a:ext>
            </a:extLst>
          </p:cNvPr>
          <p:cNvSpPr/>
          <p:nvPr/>
        </p:nvSpPr>
        <p:spPr>
          <a:xfrm>
            <a:off x="-991629" y="1386232"/>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One Continuum, Multiple Entry Points</a:t>
            </a:r>
            <a:endParaRPr lang="en-US" sz="2800"/>
          </a:p>
        </p:txBody>
      </p:sp>
      <p:sp>
        <p:nvSpPr>
          <p:cNvPr id="9" name="Rectangle: Rounded Corners 8">
            <a:extLst>
              <a:ext uri="{FF2B5EF4-FFF2-40B4-BE49-F238E27FC236}">
                <a16:creationId xmlns:a16="http://schemas.microsoft.com/office/drawing/2014/main" id="{08048800-FD70-7268-EB66-3CE1868F6595}"/>
              </a:ext>
            </a:extLst>
          </p:cNvPr>
          <p:cNvSpPr/>
          <p:nvPr/>
        </p:nvSpPr>
        <p:spPr>
          <a:xfrm>
            <a:off x="-991630" y="4438522"/>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Sustainable Growth &amp; Long-Term Success</a:t>
            </a:r>
            <a:endParaRPr lang="en-US" sz="2800"/>
          </a:p>
        </p:txBody>
      </p:sp>
      <p:sp>
        <p:nvSpPr>
          <p:cNvPr id="10" name="Rectangle: Rounded Corners 9">
            <a:extLst>
              <a:ext uri="{FF2B5EF4-FFF2-40B4-BE49-F238E27FC236}">
                <a16:creationId xmlns:a16="http://schemas.microsoft.com/office/drawing/2014/main" id="{EC57D66F-EBCB-DAEF-2F10-34EB5B5BFB3D}"/>
              </a:ext>
            </a:extLst>
          </p:cNvPr>
          <p:cNvSpPr/>
          <p:nvPr/>
        </p:nvSpPr>
        <p:spPr>
          <a:xfrm>
            <a:off x="-991629" y="2395754"/>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High Five Assessment as Your Compass</a:t>
            </a:r>
            <a:endParaRPr lang="en-US" sz="2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3D13C-5EA6-3F4E-240F-4A1C805F5BB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2FE89C-22EA-BE96-DF23-2513B0FC9B90}"/>
              </a:ext>
            </a:extLst>
          </p:cNvPr>
          <p:cNvSpPr txBox="1"/>
          <p:nvPr/>
        </p:nvSpPr>
        <p:spPr>
          <a:xfrm>
            <a:off x="2278825" y="3252917"/>
            <a:ext cx="8614231" cy="1323439"/>
          </a:xfrm>
          <a:prstGeom prst="rect">
            <a:avLst/>
          </a:prstGeom>
          <a:noFill/>
        </p:spPr>
        <p:txBody>
          <a:bodyPr wrap="square" rtlCol="0">
            <a:spAutoFit/>
          </a:bodyPr>
          <a:lstStyle/>
          <a:p>
            <a:pPr marL="285750" indent="-285750">
              <a:buFont typeface="Arial" panose="020B0604020202020204" pitchFamily="34" charset="0"/>
              <a:buChar char="•"/>
            </a:pPr>
            <a:r>
              <a:rPr lang="en-US" sz="2000"/>
              <a:t>Each movement pattern has a structured </a:t>
            </a:r>
            <a:r>
              <a:rPr lang="en-US" sz="2000" b="1"/>
              <a:t>progression/regression ladder</a:t>
            </a:r>
            <a:r>
              <a:rPr lang="en-US" sz="2000"/>
              <a:t>, making on-the-fly adjustments seamless.</a:t>
            </a:r>
          </a:p>
          <a:p>
            <a:pPr marL="285750" indent="-285750">
              <a:buFont typeface="Arial" panose="020B0604020202020204" pitchFamily="34" charset="0"/>
              <a:buChar char="•"/>
            </a:pPr>
            <a:r>
              <a:rPr lang="en-US" sz="2000"/>
              <a:t>Clients can move </a:t>
            </a:r>
            <a:r>
              <a:rPr lang="en-US" sz="2000" b="1"/>
              <a:t>up or down the ladder</a:t>
            </a:r>
            <a:r>
              <a:rPr lang="en-US" sz="2000"/>
              <a:t> based on readiness, ensuring appropriate challenge levels.</a:t>
            </a:r>
          </a:p>
        </p:txBody>
      </p:sp>
      <p:sp>
        <p:nvSpPr>
          <p:cNvPr id="7" name="Rectangle: Rounded Corners 6">
            <a:extLst>
              <a:ext uri="{FF2B5EF4-FFF2-40B4-BE49-F238E27FC236}">
                <a16:creationId xmlns:a16="http://schemas.microsoft.com/office/drawing/2014/main" id="{C6620406-13BC-A5FF-F0A5-3E34F22AB3D1}"/>
              </a:ext>
            </a:extLst>
          </p:cNvPr>
          <p:cNvSpPr/>
          <p:nvPr/>
        </p:nvSpPr>
        <p:spPr>
          <a:xfrm>
            <a:off x="-8795928" y="3566834"/>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Tracking Progress on the Continuum</a:t>
            </a:r>
            <a:endParaRPr lang="en-US" sz="2800"/>
          </a:p>
        </p:txBody>
      </p:sp>
      <p:sp>
        <p:nvSpPr>
          <p:cNvPr id="8" name="Rectangle: Rounded Corners 7">
            <a:extLst>
              <a:ext uri="{FF2B5EF4-FFF2-40B4-BE49-F238E27FC236}">
                <a16:creationId xmlns:a16="http://schemas.microsoft.com/office/drawing/2014/main" id="{FAAD86D6-B63B-7530-F9F9-06EDC545F65D}"/>
              </a:ext>
            </a:extLst>
          </p:cNvPr>
          <p:cNvSpPr/>
          <p:nvPr/>
        </p:nvSpPr>
        <p:spPr>
          <a:xfrm>
            <a:off x="-991629" y="1386232"/>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One Continuum, Multiple Entry Points</a:t>
            </a:r>
            <a:endParaRPr lang="en-US" sz="2800"/>
          </a:p>
        </p:txBody>
      </p:sp>
      <p:sp>
        <p:nvSpPr>
          <p:cNvPr id="9" name="Rectangle: Rounded Corners 8">
            <a:extLst>
              <a:ext uri="{FF2B5EF4-FFF2-40B4-BE49-F238E27FC236}">
                <a16:creationId xmlns:a16="http://schemas.microsoft.com/office/drawing/2014/main" id="{EF56B9BE-2B98-39D2-0181-0AD543F27C53}"/>
              </a:ext>
            </a:extLst>
          </p:cNvPr>
          <p:cNvSpPr/>
          <p:nvPr/>
        </p:nvSpPr>
        <p:spPr>
          <a:xfrm>
            <a:off x="-8795928" y="4576356"/>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Sustainable Growth &amp; Long-Term Success</a:t>
            </a:r>
            <a:endParaRPr lang="en-US" sz="2800"/>
          </a:p>
        </p:txBody>
      </p:sp>
      <p:sp>
        <p:nvSpPr>
          <p:cNvPr id="10" name="Rectangle: Rounded Corners 9">
            <a:extLst>
              <a:ext uri="{FF2B5EF4-FFF2-40B4-BE49-F238E27FC236}">
                <a16:creationId xmlns:a16="http://schemas.microsoft.com/office/drawing/2014/main" id="{B5EB2E6B-419C-C671-35F9-D8372C071529}"/>
              </a:ext>
            </a:extLst>
          </p:cNvPr>
          <p:cNvSpPr/>
          <p:nvPr/>
        </p:nvSpPr>
        <p:spPr>
          <a:xfrm>
            <a:off x="-8795927" y="2533588"/>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High Five Assessment as Your Compass</a:t>
            </a:r>
            <a:endParaRPr lang="en-US" sz="2800"/>
          </a:p>
        </p:txBody>
      </p:sp>
    </p:spTree>
    <p:extLst>
      <p:ext uri="{BB962C8B-B14F-4D97-AF65-F5344CB8AC3E}">
        <p14:creationId xmlns:p14="http://schemas.microsoft.com/office/powerpoint/2010/main" val="3242643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2ECC1-4A5E-719A-78AB-1314E4D7D5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D33638-5E1E-5CBE-B960-23627C6AECCF}"/>
              </a:ext>
            </a:extLst>
          </p:cNvPr>
          <p:cNvSpPr txBox="1"/>
          <p:nvPr/>
        </p:nvSpPr>
        <p:spPr>
          <a:xfrm>
            <a:off x="1604209" y="3610999"/>
            <a:ext cx="8983581" cy="1938992"/>
          </a:xfrm>
          <a:prstGeom prst="rect">
            <a:avLst/>
          </a:prstGeom>
          <a:noFill/>
        </p:spPr>
        <p:txBody>
          <a:bodyPr wrap="square" rtlCol="0">
            <a:spAutoFit/>
          </a:bodyPr>
          <a:lstStyle/>
          <a:p>
            <a:pPr marL="342900" indent="-342900">
              <a:buFont typeface="Arial" panose="020B0604020202020204" pitchFamily="34" charset="0"/>
              <a:buChar char="•"/>
            </a:pPr>
            <a:r>
              <a:rPr lang="en-US" sz="2400" b="1"/>
              <a:t>Establish Baseline:</a:t>
            </a:r>
            <a:r>
              <a:rPr lang="en-US" sz="2400"/>
              <a:t> Overhead Squat, Split Squat, Single-Leg Balance, Push-Up, Plank/Bird Dog guide daily movement capacity.</a:t>
            </a:r>
          </a:p>
          <a:p>
            <a:pPr marL="342900" indent="-342900">
              <a:buFont typeface="Arial" panose="020B0604020202020204" pitchFamily="34" charset="0"/>
              <a:buChar char="•"/>
            </a:pPr>
            <a:r>
              <a:rPr lang="en-US" sz="2400" b="1"/>
              <a:t>Immediate Adjustments:</a:t>
            </a:r>
            <a:r>
              <a:rPr lang="en-US" sz="2400"/>
              <a:t> Real-time feedback determines the </a:t>
            </a:r>
            <a:r>
              <a:rPr lang="en-US" sz="2400" b="1"/>
              <a:t>best movement variation</a:t>
            </a:r>
            <a:r>
              <a:rPr lang="en-US" sz="2400"/>
              <a:t> without rewriting workouts.</a:t>
            </a:r>
          </a:p>
        </p:txBody>
      </p:sp>
      <p:sp>
        <p:nvSpPr>
          <p:cNvPr id="7" name="Rectangle: Rounded Corners 6">
            <a:extLst>
              <a:ext uri="{FF2B5EF4-FFF2-40B4-BE49-F238E27FC236}">
                <a16:creationId xmlns:a16="http://schemas.microsoft.com/office/drawing/2014/main" id="{AB6F07BE-92CC-1B14-20B3-D0FFB21B1053}"/>
              </a:ext>
            </a:extLst>
          </p:cNvPr>
          <p:cNvSpPr/>
          <p:nvPr/>
        </p:nvSpPr>
        <p:spPr>
          <a:xfrm>
            <a:off x="-8916430" y="3624943"/>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Tracking Progress on the Continuum</a:t>
            </a:r>
            <a:endParaRPr lang="en-US" sz="2800"/>
          </a:p>
        </p:txBody>
      </p:sp>
      <p:sp>
        <p:nvSpPr>
          <p:cNvPr id="8" name="Rectangle: Rounded Corners 7">
            <a:extLst>
              <a:ext uri="{FF2B5EF4-FFF2-40B4-BE49-F238E27FC236}">
                <a16:creationId xmlns:a16="http://schemas.microsoft.com/office/drawing/2014/main" id="{92A9D876-1D71-D450-56F9-C954880BED8F}"/>
              </a:ext>
            </a:extLst>
          </p:cNvPr>
          <p:cNvSpPr/>
          <p:nvPr/>
        </p:nvSpPr>
        <p:spPr>
          <a:xfrm>
            <a:off x="-8916429" y="1582175"/>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One Continuum, Multiple Entry Points</a:t>
            </a:r>
            <a:endParaRPr lang="en-US" sz="2800"/>
          </a:p>
        </p:txBody>
      </p:sp>
      <p:sp>
        <p:nvSpPr>
          <p:cNvPr id="9" name="Rectangle: Rounded Corners 8">
            <a:extLst>
              <a:ext uri="{FF2B5EF4-FFF2-40B4-BE49-F238E27FC236}">
                <a16:creationId xmlns:a16="http://schemas.microsoft.com/office/drawing/2014/main" id="{CA0866B6-BE58-3C3D-5126-909B72B0A346}"/>
              </a:ext>
            </a:extLst>
          </p:cNvPr>
          <p:cNvSpPr/>
          <p:nvPr/>
        </p:nvSpPr>
        <p:spPr>
          <a:xfrm>
            <a:off x="-8916430" y="4634465"/>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Sustainable Growth &amp; Long-Term Success</a:t>
            </a:r>
            <a:endParaRPr lang="en-US" sz="2800"/>
          </a:p>
        </p:txBody>
      </p:sp>
      <p:sp>
        <p:nvSpPr>
          <p:cNvPr id="10" name="Rectangle: Rounded Corners 9">
            <a:extLst>
              <a:ext uri="{FF2B5EF4-FFF2-40B4-BE49-F238E27FC236}">
                <a16:creationId xmlns:a16="http://schemas.microsoft.com/office/drawing/2014/main" id="{55A3BBAE-5705-2F7C-E295-67385813C363}"/>
              </a:ext>
            </a:extLst>
          </p:cNvPr>
          <p:cNvSpPr/>
          <p:nvPr/>
        </p:nvSpPr>
        <p:spPr>
          <a:xfrm>
            <a:off x="-991629" y="2395754"/>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High Five Assessment as Your Compass</a:t>
            </a:r>
            <a:endParaRPr lang="en-US" sz="2800"/>
          </a:p>
        </p:txBody>
      </p:sp>
    </p:spTree>
    <p:extLst>
      <p:ext uri="{BB962C8B-B14F-4D97-AF65-F5344CB8AC3E}">
        <p14:creationId xmlns:p14="http://schemas.microsoft.com/office/powerpoint/2010/main" val="455978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DB024-D33B-90F3-1579-E04D1E187C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654DC5-6181-36FC-D4DA-88088C81AD03}"/>
              </a:ext>
            </a:extLst>
          </p:cNvPr>
          <p:cNvSpPr txBox="1"/>
          <p:nvPr/>
        </p:nvSpPr>
        <p:spPr>
          <a:xfrm>
            <a:off x="1413996" y="3217284"/>
            <a:ext cx="9630993" cy="1938992"/>
          </a:xfrm>
          <a:prstGeom prst="rect">
            <a:avLst/>
          </a:prstGeom>
          <a:noFill/>
        </p:spPr>
        <p:txBody>
          <a:bodyPr wrap="square" rtlCol="0">
            <a:spAutoFit/>
          </a:bodyPr>
          <a:lstStyle/>
          <a:p>
            <a:pPr marL="285750" indent="-285750">
              <a:buFont typeface="Arial" panose="020B0604020202020204" pitchFamily="34" charset="0"/>
              <a:buChar char="•"/>
            </a:pPr>
            <a:r>
              <a:rPr lang="en-US" sz="2400" b="1"/>
              <a:t>Celebrate Milestones:</a:t>
            </a:r>
            <a:r>
              <a:rPr lang="en-US" sz="2400"/>
              <a:t> Guide clients to recognize progress—e.g., moving from assisted to full push-ups or from a KB hinge to a barbell deadlift.</a:t>
            </a:r>
          </a:p>
          <a:p>
            <a:pPr marL="285750" indent="-285750">
              <a:buFont typeface="Arial" panose="020B0604020202020204" pitchFamily="34" charset="0"/>
              <a:buChar char="•"/>
            </a:pPr>
            <a:r>
              <a:rPr lang="en-US" sz="2400" b="1"/>
              <a:t>Adjust Acute Variables:</a:t>
            </a:r>
            <a:r>
              <a:rPr lang="en-US" sz="2400"/>
              <a:t> Volume, load, and tempo tweaks enhance progression even within the same movement.</a:t>
            </a:r>
          </a:p>
        </p:txBody>
      </p:sp>
      <p:sp>
        <p:nvSpPr>
          <p:cNvPr id="7" name="Rectangle: Rounded Corners 6">
            <a:extLst>
              <a:ext uri="{FF2B5EF4-FFF2-40B4-BE49-F238E27FC236}">
                <a16:creationId xmlns:a16="http://schemas.microsoft.com/office/drawing/2014/main" id="{18EED3AB-943F-FAC1-454A-30025FC6C563}"/>
              </a:ext>
            </a:extLst>
          </p:cNvPr>
          <p:cNvSpPr/>
          <p:nvPr/>
        </p:nvSpPr>
        <p:spPr>
          <a:xfrm>
            <a:off x="-979599" y="205571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Tracking Progress on the Continuum</a:t>
            </a:r>
            <a:endParaRPr lang="en-US" sz="2800"/>
          </a:p>
        </p:txBody>
      </p:sp>
      <p:sp>
        <p:nvSpPr>
          <p:cNvPr id="8" name="Rectangle: Rounded Corners 7">
            <a:extLst>
              <a:ext uri="{FF2B5EF4-FFF2-40B4-BE49-F238E27FC236}">
                <a16:creationId xmlns:a16="http://schemas.microsoft.com/office/drawing/2014/main" id="{9050D7D4-A725-1D1A-B1C4-FFDA63F64336}"/>
              </a:ext>
            </a:extLst>
          </p:cNvPr>
          <p:cNvSpPr/>
          <p:nvPr/>
        </p:nvSpPr>
        <p:spPr>
          <a:xfrm>
            <a:off x="-9004660" y="1292236"/>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One Continuum, Multiple Entry Points</a:t>
            </a:r>
            <a:endParaRPr lang="en-US" sz="2800"/>
          </a:p>
        </p:txBody>
      </p:sp>
      <p:sp>
        <p:nvSpPr>
          <p:cNvPr id="9" name="Rectangle: Rounded Corners 8">
            <a:extLst>
              <a:ext uri="{FF2B5EF4-FFF2-40B4-BE49-F238E27FC236}">
                <a16:creationId xmlns:a16="http://schemas.microsoft.com/office/drawing/2014/main" id="{A3D8ECA0-F4B9-D39E-27CE-241A6A2C672F}"/>
              </a:ext>
            </a:extLst>
          </p:cNvPr>
          <p:cNvSpPr/>
          <p:nvPr/>
        </p:nvSpPr>
        <p:spPr>
          <a:xfrm>
            <a:off x="-9004661" y="4344526"/>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Sustainable Growth &amp; Long-Term Success</a:t>
            </a:r>
            <a:endParaRPr lang="en-US" sz="2800"/>
          </a:p>
        </p:txBody>
      </p:sp>
      <p:sp>
        <p:nvSpPr>
          <p:cNvPr id="10" name="Rectangle: Rounded Corners 9">
            <a:extLst>
              <a:ext uri="{FF2B5EF4-FFF2-40B4-BE49-F238E27FC236}">
                <a16:creationId xmlns:a16="http://schemas.microsoft.com/office/drawing/2014/main" id="{85E24668-BC85-789B-C022-32416922A652}"/>
              </a:ext>
            </a:extLst>
          </p:cNvPr>
          <p:cNvSpPr/>
          <p:nvPr/>
        </p:nvSpPr>
        <p:spPr>
          <a:xfrm>
            <a:off x="-9004660" y="2301758"/>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High Five Assessment as Your Compass</a:t>
            </a:r>
            <a:endParaRPr lang="en-US" sz="2800"/>
          </a:p>
        </p:txBody>
      </p:sp>
    </p:spTree>
    <p:extLst>
      <p:ext uri="{BB962C8B-B14F-4D97-AF65-F5344CB8AC3E}">
        <p14:creationId xmlns:p14="http://schemas.microsoft.com/office/powerpoint/2010/main" val="17697696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407A6-EEF1-BF19-166D-3812634320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A33C36-30C6-45AD-9B3D-B0C54CAE9787}"/>
              </a:ext>
            </a:extLst>
          </p:cNvPr>
          <p:cNvSpPr txBox="1"/>
          <p:nvPr/>
        </p:nvSpPr>
        <p:spPr>
          <a:xfrm>
            <a:off x="1245554" y="3325711"/>
            <a:ext cx="9943815" cy="1938992"/>
          </a:xfrm>
          <a:prstGeom prst="rect">
            <a:avLst/>
          </a:prstGeom>
          <a:noFill/>
        </p:spPr>
        <p:txBody>
          <a:bodyPr wrap="square" rtlCol="0">
            <a:spAutoFit/>
          </a:bodyPr>
          <a:lstStyle/>
          <a:p>
            <a:pPr marL="285750" indent="-285750">
              <a:buFont typeface="Arial" panose="020B0604020202020204" pitchFamily="34" charset="0"/>
              <a:buChar char="•"/>
            </a:pPr>
            <a:r>
              <a:rPr lang="en-US" sz="2400" b="1"/>
              <a:t>Autoregulation:</a:t>
            </a:r>
            <a:r>
              <a:rPr lang="en-US" sz="2400"/>
              <a:t> A client excelling in Week 3 might need a </a:t>
            </a:r>
            <a:r>
              <a:rPr lang="en-US" sz="2400" b="1" err="1"/>
              <a:t>deload</a:t>
            </a:r>
            <a:r>
              <a:rPr lang="en-US" sz="2400" b="1"/>
              <a:t> in Week 5</a:t>
            </a:r>
            <a:r>
              <a:rPr lang="en-US" sz="2400"/>
              <a:t>—adjusting regressions </a:t>
            </a:r>
            <a:r>
              <a:rPr lang="en-US" sz="2400" b="1"/>
              <a:t>isn’t a setback; it’s smart coaching.</a:t>
            </a:r>
            <a:endParaRPr lang="en-US" sz="2400"/>
          </a:p>
          <a:p>
            <a:pPr marL="285750" indent="-285750">
              <a:buFont typeface="Arial" panose="020B0604020202020204" pitchFamily="34" charset="0"/>
              <a:buChar char="•"/>
            </a:pPr>
            <a:r>
              <a:rPr lang="en-US" sz="2400" b="1"/>
              <a:t>Peak Safely:</a:t>
            </a:r>
            <a:r>
              <a:rPr lang="en-US" sz="2400"/>
              <a:t> As the mesocycle progresses, keep clients engaged, safe, and progressing </a:t>
            </a:r>
            <a:r>
              <a:rPr lang="en-US" sz="2400" b="1"/>
              <a:t>without burnout.</a:t>
            </a:r>
            <a:endParaRPr lang="en-US" sz="2400"/>
          </a:p>
        </p:txBody>
      </p:sp>
      <p:sp>
        <p:nvSpPr>
          <p:cNvPr id="7" name="Rectangle: Rounded Corners 6">
            <a:extLst>
              <a:ext uri="{FF2B5EF4-FFF2-40B4-BE49-F238E27FC236}">
                <a16:creationId xmlns:a16="http://schemas.microsoft.com/office/drawing/2014/main" id="{10F85E5C-156D-A8C5-47F0-E03E7EFA9785}"/>
              </a:ext>
            </a:extLst>
          </p:cNvPr>
          <p:cNvSpPr/>
          <p:nvPr/>
        </p:nvSpPr>
        <p:spPr>
          <a:xfrm>
            <a:off x="-8860283" y="3452724"/>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Tracking Progress on the Continuum</a:t>
            </a:r>
            <a:endParaRPr lang="en-US" sz="2800"/>
          </a:p>
        </p:txBody>
      </p:sp>
      <p:sp>
        <p:nvSpPr>
          <p:cNvPr id="8" name="Rectangle: Rounded Corners 7">
            <a:extLst>
              <a:ext uri="{FF2B5EF4-FFF2-40B4-BE49-F238E27FC236}">
                <a16:creationId xmlns:a16="http://schemas.microsoft.com/office/drawing/2014/main" id="{D26693DF-E4C4-CF1A-3AD2-4BDB2AE9445A}"/>
              </a:ext>
            </a:extLst>
          </p:cNvPr>
          <p:cNvSpPr/>
          <p:nvPr/>
        </p:nvSpPr>
        <p:spPr>
          <a:xfrm>
            <a:off x="-8860282" y="1409956"/>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One Continuum, Multiple Entry Points</a:t>
            </a:r>
            <a:endParaRPr lang="en-US" sz="2800"/>
          </a:p>
        </p:txBody>
      </p:sp>
      <p:sp>
        <p:nvSpPr>
          <p:cNvPr id="9" name="Rectangle: Rounded Corners 8">
            <a:extLst>
              <a:ext uri="{FF2B5EF4-FFF2-40B4-BE49-F238E27FC236}">
                <a16:creationId xmlns:a16="http://schemas.microsoft.com/office/drawing/2014/main" id="{6F2462E3-0A2B-CFF9-41C9-50AF7BB34EB0}"/>
              </a:ext>
            </a:extLst>
          </p:cNvPr>
          <p:cNvSpPr/>
          <p:nvPr/>
        </p:nvSpPr>
        <p:spPr>
          <a:xfrm>
            <a:off x="-1059536" y="1961715"/>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Sustainable Growth &amp; Long-Term Success</a:t>
            </a:r>
            <a:endParaRPr lang="en-US" sz="2800"/>
          </a:p>
        </p:txBody>
      </p:sp>
      <p:sp>
        <p:nvSpPr>
          <p:cNvPr id="10" name="Rectangle: Rounded Corners 9">
            <a:extLst>
              <a:ext uri="{FF2B5EF4-FFF2-40B4-BE49-F238E27FC236}">
                <a16:creationId xmlns:a16="http://schemas.microsoft.com/office/drawing/2014/main" id="{2A98C7DC-5863-F673-55A4-633CCD9733CD}"/>
              </a:ext>
            </a:extLst>
          </p:cNvPr>
          <p:cNvSpPr/>
          <p:nvPr/>
        </p:nvSpPr>
        <p:spPr>
          <a:xfrm>
            <a:off x="-8860282" y="2419478"/>
            <a:ext cx="8614231" cy="915526"/>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High Five Assessment as Your Compass</a:t>
            </a:r>
            <a:endParaRPr lang="en-US" sz="2800"/>
          </a:p>
        </p:txBody>
      </p:sp>
    </p:spTree>
    <p:extLst>
      <p:ext uri="{BB962C8B-B14F-4D97-AF65-F5344CB8AC3E}">
        <p14:creationId xmlns:p14="http://schemas.microsoft.com/office/powerpoint/2010/main" val="35072537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546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FB138-A3AB-8D89-436E-B706F63EFCAC}"/>
              </a:ext>
            </a:extLst>
          </p:cNvPr>
          <p:cNvSpPr>
            <a:spLocks noGrp="1"/>
          </p:cNvSpPr>
          <p:nvPr>
            <p:ph type="title"/>
          </p:nvPr>
        </p:nvSpPr>
        <p:spPr>
          <a:xfrm>
            <a:off x="963561" y="2929554"/>
            <a:ext cx="10264877" cy="998891"/>
          </a:xfrm>
        </p:spPr>
        <p:txBody>
          <a:bodyPr/>
          <a:lstStyle/>
          <a:p>
            <a:r>
              <a:rPr lang="en-US" sz="4400"/>
              <a:t>AFT Movement Pattern Continuum</a:t>
            </a:r>
          </a:p>
        </p:txBody>
      </p:sp>
    </p:spTree>
    <p:extLst>
      <p:ext uri="{BB962C8B-B14F-4D97-AF65-F5344CB8AC3E}">
        <p14:creationId xmlns:p14="http://schemas.microsoft.com/office/powerpoint/2010/main" val="24222641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FE1FB-AD2D-17E8-4210-432E4F819E16}"/>
              </a:ext>
            </a:extLst>
          </p:cNvPr>
          <p:cNvSpPr>
            <a:spLocks noGrp="1"/>
          </p:cNvSpPr>
          <p:nvPr>
            <p:ph type="title"/>
          </p:nvPr>
        </p:nvSpPr>
        <p:spPr>
          <a:xfrm>
            <a:off x="880782" y="545914"/>
            <a:ext cx="10414747" cy="1147152"/>
          </a:xfrm>
        </p:spPr>
        <p:txBody>
          <a:bodyPr anchor="ctr">
            <a:normAutofit/>
          </a:bodyPr>
          <a:lstStyle/>
          <a:p>
            <a:r>
              <a:rPr lang="en-US"/>
              <a:t>Horizontal Push</a:t>
            </a:r>
          </a:p>
        </p:txBody>
      </p:sp>
      <p:sp>
        <p:nvSpPr>
          <p:cNvPr id="3" name="Footer Placeholder 2">
            <a:extLst>
              <a:ext uri="{FF2B5EF4-FFF2-40B4-BE49-F238E27FC236}">
                <a16:creationId xmlns:a16="http://schemas.microsoft.com/office/drawing/2014/main" id="{6E806B70-9BAA-031D-DF96-EF4FF108CD3E}"/>
              </a:ext>
            </a:extLst>
          </p:cNvPr>
          <p:cNvSpPr>
            <a:spLocks noGrp="1"/>
          </p:cNvSpPr>
          <p:nvPr>
            <p:ph type="ftr" sz="quarter" idx="11"/>
          </p:nvPr>
        </p:nvSpPr>
        <p:spPr>
          <a:xfrm>
            <a:off x="342900" y="6394105"/>
            <a:ext cx="10259861" cy="365125"/>
          </a:xfrm>
        </p:spPr>
        <p:txBody>
          <a:bodyPr anchor="ctr">
            <a:normAutofit/>
          </a:bodyPr>
          <a:lstStyle/>
          <a:p>
            <a:pPr>
              <a:spcAft>
                <a:spcPts val="600"/>
              </a:spcAft>
            </a:pPr>
            <a:r>
              <a:rPr lang="en-US" i="1"/>
              <a:t>If a client scores low on Bird Dog/Plank (1 or 2), they likely need a more stable pressing position like a bench press or incline push-up to reinforce core control.</a:t>
            </a:r>
            <a:r>
              <a:rPr lang="en-US"/>
              <a:t> </a:t>
            </a:r>
          </a:p>
        </p:txBody>
      </p:sp>
      <p:sp>
        <p:nvSpPr>
          <p:cNvPr id="4" name="Slide Number Placeholder 3">
            <a:extLst>
              <a:ext uri="{FF2B5EF4-FFF2-40B4-BE49-F238E27FC236}">
                <a16:creationId xmlns:a16="http://schemas.microsoft.com/office/drawing/2014/main" id="{2D1CF4F0-2972-E1C0-A860-E2A38787C3E0}"/>
              </a:ext>
            </a:extLst>
          </p:cNvPr>
          <p:cNvSpPr>
            <a:spLocks noGrp="1"/>
          </p:cNvSpPr>
          <p:nvPr>
            <p:ph type="sldNum" sz="quarter" idx="12"/>
          </p:nvPr>
        </p:nvSpPr>
        <p:spPr>
          <a:xfrm>
            <a:off x="11674225" y="5477347"/>
            <a:ext cx="305503" cy="306298"/>
          </a:xfrm>
        </p:spPr>
        <p:txBody>
          <a:bodyPr anchor="ctr">
            <a:normAutofit/>
          </a:bodyPr>
          <a:lstStyle/>
          <a:p>
            <a:pPr>
              <a:spcAft>
                <a:spcPts val="600"/>
              </a:spcAft>
            </a:pPr>
            <a:fld id="{545951DD-1C6A-495F-8185-4C73F8F8B75A}" type="slidenum">
              <a:rPr lang="en-US" smtClean="0"/>
              <a:pPr>
                <a:spcAft>
                  <a:spcPts val="600"/>
                </a:spcAft>
              </a:pPr>
              <a:t>34</a:t>
            </a:fld>
            <a:endParaRPr lang="en-US"/>
          </a:p>
        </p:txBody>
      </p:sp>
      <p:graphicFrame>
        <p:nvGraphicFramePr>
          <p:cNvPr id="6" name="Table 5">
            <a:extLst>
              <a:ext uri="{FF2B5EF4-FFF2-40B4-BE49-F238E27FC236}">
                <a16:creationId xmlns:a16="http://schemas.microsoft.com/office/drawing/2014/main" id="{FF7BB799-1A87-4FA3-63FC-025E3A2711BB}"/>
              </a:ext>
            </a:extLst>
          </p:cNvPr>
          <p:cNvGraphicFramePr>
            <a:graphicFrameLocks noGrp="1"/>
          </p:cNvGraphicFramePr>
          <p:nvPr>
            <p:extLst>
              <p:ext uri="{D42A27DB-BD31-4B8C-83A1-F6EECF244321}">
                <p14:modId xmlns:p14="http://schemas.microsoft.com/office/powerpoint/2010/main" val="2849631447"/>
              </p:ext>
            </p:extLst>
          </p:nvPr>
        </p:nvGraphicFramePr>
        <p:xfrm>
          <a:off x="880782" y="2188410"/>
          <a:ext cx="10414749" cy="3741126"/>
        </p:xfrm>
        <a:graphic>
          <a:graphicData uri="http://schemas.openxmlformats.org/drawingml/2006/table">
            <a:tbl>
              <a:tblPr firstRow="1" bandRow="1">
                <a:tableStyleId>{9D7B26C5-4107-4FEC-AEDC-1716B250A1EF}</a:tableStyleId>
              </a:tblPr>
              <a:tblGrid>
                <a:gridCol w="720002">
                  <a:extLst>
                    <a:ext uri="{9D8B030D-6E8A-4147-A177-3AD203B41FA5}">
                      <a16:colId xmlns:a16="http://schemas.microsoft.com/office/drawing/2014/main" val="3019292812"/>
                    </a:ext>
                  </a:extLst>
                </a:gridCol>
                <a:gridCol w="3054406">
                  <a:extLst>
                    <a:ext uri="{9D8B030D-6E8A-4147-A177-3AD203B41FA5}">
                      <a16:colId xmlns:a16="http://schemas.microsoft.com/office/drawing/2014/main" val="1783179597"/>
                    </a:ext>
                  </a:extLst>
                </a:gridCol>
                <a:gridCol w="2954959">
                  <a:extLst>
                    <a:ext uri="{9D8B030D-6E8A-4147-A177-3AD203B41FA5}">
                      <a16:colId xmlns:a16="http://schemas.microsoft.com/office/drawing/2014/main" val="1506833240"/>
                    </a:ext>
                  </a:extLst>
                </a:gridCol>
                <a:gridCol w="3685382">
                  <a:extLst>
                    <a:ext uri="{9D8B030D-6E8A-4147-A177-3AD203B41FA5}">
                      <a16:colId xmlns:a16="http://schemas.microsoft.com/office/drawing/2014/main" val="2695899721"/>
                    </a:ext>
                  </a:extLst>
                </a:gridCol>
              </a:tblGrid>
              <a:tr h="825702">
                <a:tc>
                  <a:txBody>
                    <a:bodyPr/>
                    <a:lstStyle/>
                    <a:p>
                      <a:endParaRPr lang="en-US" sz="1500">
                        <a:solidFill>
                          <a:schemeClr val="tx1"/>
                        </a:solidFill>
                      </a:endParaRPr>
                    </a:p>
                  </a:txBody>
                  <a:tcPr marL="109861" marR="109861" marT="54930" marB="5493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9861" marR="109861" marT="54930" marB="5493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9861" marR="109861" marT="54930" marB="5493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r>
                        <a:rPr lang="en-US" sz="1500" b="0" dirty="0">
                          <a:solidFill>
                            <a:schemeClr val="tx1"/>
                          </a:solidFill>
                        </a:rPr>
                        <a:t>Resistance (Chaos) </a:t>
                      </a:r>
                    </a:p>
                    <a:p>
                      <a:r>
                        <a:rPr lang="en-US" sz="1500" b="0" dirty="0">
                          <a:solidFill>
                            <a:schemeClr val="tx1"/>
                          </a:solidFill>
                        </a:rPr>
                        <a:t>Unilateral Load (Unstable)</a:t>
                      </a:r>
                    </a:p>
                    <a:p>
                      <a:r>
                        <a:rPr lang="en-US" sz="1500" b="0" dirty="0">
                          <a:solidFill>
                            <a:schemeClr val="tx1"/>
                          </a:solidFill>
                        </a:rPr>
                        <a:t>Add Rotation</a:t>
                      </a:r>
                    </a:p>
                  </a:txBody>
                  <a:tcPr marL="109861" marR="109861" marT="54930" marB="54930">
                    <a:lnL>
                      <a:noFill/>
                    </a:lnL>
                    <a:solidFill>
                      <a:schemeClr val="accent3">
                        <a:lumMod val="75000"/>
                      </a:schemeClr>
                    </a:solidFill>
                  </a:tcPr>
                </a:tc>
                <a:extLst>
                  <a:ext uri="{0D108BD9-81ED-4DB2-BD59-A6C34878D82A}">
                    <a16:rowId xmlns:a16="http://schemas.microsoft.com/office/drawing/2014/main" val="897693337"/>
                  </a:ext>
                </a:extLst>
              </a:tr>
              <a:tr h="372638">
                <a:tc>
                  <a:txBody>
                    <a:bodyPr/>
                    <a:lstStyle/>
                    <a:p>
                      <a:endParaRPr lang="en-US" sz="1500">
                        <a:solidFill>
                          <a:schemeClr val="tx1"/>
                        </a:solidFill>
                      </a:endParaRPr>
                    </a:p>
                  </a:txBody>
                  <a:tcPr marL="109861" marR="109861" marT="54930" marB="5493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9861" marR="109861" marT="54930" marB="5493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9861" marR="109861" marT="54930" marB="5493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Unilateral Load (Stable)</a:t>
                      </a:r>
                    </a:p>
                  </a:txBody>
                  <a:tcPr marL="109861" marR="109861" marT="54930" marB="54930">
                    <a:lnL>
                      <a:noFill/>
                    </a:lnL>
                    <a:solidFill>
                      <a:schemeClr val="accent3">
                        <a:lumMod val="75000"/>
                      </a:schemeClr>
                    </a:solidFill>
                  </a:tcPr>
                </a:tc>
                <a:extLst>
                  <a:ext uri="{0D108BD9-81ED-4DB2-BD59-A6C34878D82A}">
                    <a16:rowId xmlns:a16="http://schemas.microsoft.com/office/drawing/2014/main" val="248846052"/>
                  </a:ext>
                </a:extLst>
              </a:tr>
              <a:tr h="599170">
                <a:tc>
                  <a:txBody>
                    <a:bodyPr/>
                    <a:lstStyle/>
                    <a:p>
                      <a:endParaRPr lang="en-US" sz="1500">
                        <a:solidFill>
                          <a:schemeClr val="tx1"/>
                        </a:solidFill>
                      </a:endParaRPr>
                    </a:p>
                  </a:txBody>
                  <a:tcPr marL="109861" marR="109861" marT="54930" marB="54930">
                    <a:lnT>
                      <a:noFill/>
                    </a:lnT>
                    <a:solidFill>
                      <a:schemeClr val="accent4"/>
                    </a:solidFill>
                  </a:tcPr>
                </a:tc>
                <a:tc>
                  <a:txBody>
                    <a:bodyPr/>
                    <a:lstStyle/>
                    <a:p>
                      <a:endParaRPr lang="en-US" sz="1500">
                        <a:solidFill>
                          <a:schemeClr val="tx1"/>
                        </a:solidFill>
                      </a:endParaRPr>
                    </a:p>
                  </a:txBody>
                  <a:tcPr marL="109861" marR="109861" marT="54930" marB="54930">
                    <a:lnT>
                      <a:noFill/>
                    </a:lnT>
                    <a:solidFill>
                      <a:schemeClr val="accent4"/>
                    </a:solidFill>
                  </a:tcPr>
                </a:tc>
                <a:tc>
                  <a:txBody>
                    <a:bodyPr/>
                    <a:lstStyle/>
                    <a:p>
                      <a:r>
                        <a:rPr lang="en-US" sz="1500">
                          <a:solidFill>
                            <a:schemeClr val="tx1"/>
                          </a:solidFill>
                        </a:rPr>
                        <a:t>Unilateral Load</a:t>
                      </a:r>
                    </a:p>
                    <a:p>
                      <a:r>
                        <a:rPr lang="en-US" sz="1500">
                          <a:solidFill>
                            <a:schemeClr val="tx1"/>
                          </a:solidFill>
                        </a:rPr>
                        <a:t>(Stable)</a:t>
                      </a:r>
                    </a:p>
                  </a:txBody>
                  <a:tcPr marL="109861" marR="109861" marT="54930" marB="54930">
                    <a:lnT>
                      <a:noFill/>
                    </a:lnT>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rPr>
                        <a:t> Ring/Suspension Push Up</a:t>
                      </a:r>
                    </a:p>
                    <a:p>
                      <a:endParaRPr lang="en-US" sz="1500" dirty="0">
                        <a:solidFill>
                          <a:schemeClr val="tx1"/>
                        </a:solidFill>
                      </a:endParaRPr>
                    </a:p>
                  </a:txBody>
                  <a:tcPr marL="109861" marR="109861" marT="54930" marB="54930">
                    <a:solidFill>
                      <a:schemeClr val="accent3">
                        <a:lumMod val="75000"/>
                      </a:schemeClr>
                    </a:solidFill>
                  </a:tcPr>
                </a:tc>
                <a:extLst>
                  <a:ext uri="{0D108BD9-81ED-4DB2-BD59-A6C34878D82A}">
                    <a16:rowId xmlns:a16="http://schemas.microsoft.com/office/drawing/2014/main" val="955461124"/>
                  </a:ext>
                </a:extLst>
              </a:tr>
              <a:tr h="372638">
                <a:tc>
                  <a:txBody>
                    <a:bodyPr/>
                    <a:lstStyle/>
                    <a:p>
                      <a:endParaRPr lang="en-US" sz="1500">
                        <a:solidFill>
                          <a:schemeClr val="tx1"/>
                        </a:solidFill>
                      </a:endParaRPr>
                    </a:p>
                  </a:txBody>
                  <a:tcPr marL="109861" marR="109861" marT="54930" marB="54930">
                    <a:solidFill>
                      <a:schemeClr val="accent4"/>
                    </a:solidFill>
                  </a:tcPr>
                </a:tc>
                <a:tc>
                  <a:txBody>
                    <a:bodyPr/>
                    <a:lstStyle/>
                    <a:p>
                      <a:endParaRPr lang="en-US" sz="1500">
                        <a:solidFill>
                          <a:schemeClr val="tx1"/>
                        </a:solidFill>
                      </a:endParaRPr>
                    </a:p>
                  </a:txBody>
                  <a:tcPr marL="109861" marR="109861" marT="54930" marB="54930">
                    <a:solidFill>
                      <a:schemeClr val="accent4"/>
                    </a:solidFill>
                  </a:tcPr>
                </a:tc>
                <a:tc>
                  <a:txBody>
                    <a:bodyPr/>
                    <a:lstStyle/>
                    <a:p>
                      <a:r>
                        <a:rPr lang="en-US" sz="1500">
                          <a:solidFill>
                            <a:schemeClr val="tx1"/>
                          </a:solidFill>
                        </a:rPr>
                        <a:t>Barbell Bench Press</a:t>
                      </a:r>
                    </a:p>
                  </a:txBody>
                  <a:tcPr marL="109861" marR="109861" marT="54930" marB="54930">
                    <a:solidFill>
                      <a:schemeClr val="accent3">
                        <a:lumMod val="60000"/>
                        <a:lumOff val="40000"/>
                      </a:schemeClr>
                    </a:solidFill>
                  </a:tcPr>
                </a:tc>
                <a:tc>
                  <a:txBody>
                    <a:bodyPr/>
                    <a:lstStyle/>
                    <a:p>
                      <a:r>
                        <a:rPr lang="en-US" sz="1500" dirty="0">
                          <a:solidFill>
                            <a:schemeClr val="tx1"/>
                          </a:solidFill>
                        </a:rPr>
                        <a:t>Barbell Floor Press</a:t>
                      </a:r>
                    </a:p>
                  </a:txBody>
                  <a:tcPr marL="109861" marR="109861" marT="54930" marB="54930">
                    <a:solidFill>
                      <a:schemeClr val="accent3">
                        <a:lumMod val="75000"/>
                      </a:schemeClr>
                    </a:solidFill>
                  </a:tcPr>
                </a:tc>
                <a:extLst>
                  <a:ext uri="{0D108BD9-81ED-4DB2-BD59-A6C34878D82A}">
                    <a16:rowId xmlns:a16="http://schemas.microsoft.com/office/drawing/2014/main" val="2192911196"/>
                  </a:ext>
                </a:extLst>
              </a:tr>
              <a:tr h="599170">
                <a:tc>
                  <a:txBody>
                    <a:bodyPr/>
                    <a:lstStyle/>
                    <a:p>
                      <a:endParaRPr lang="en-US" sz="1500">
                        <a:solidFill>
                          <a:schemeClr val="tx1"/>
                        </a:solidFill>
                      </a:endParaRPr>
                    </a:p>
                  </a:txBody>
                  <a:tcPr marL="109861" marR="109861" marT="54930" marB="54930">
                    <a:solidFill>
                      <a:schemeClr val="accent4"/>
                    </a:solidFill>
                  </a:tcPr>
                </a:tc>
                <a:tc>
                  <a:txBody>
                    <a:bodyPr/>
                    <a:lstStyle/>
                    <a:p>
                      <a:r>
                        <a:rPr lang="en-US" sz="1500">
                          <a:solidFill>
                            <a:schemeClr val="tx1"/>
                          </a:solidFill>
                        </a:rPr>
                        <a:t>DB Chest Press </a:t>
                      </a:r>
                    </a:p>
                    <a:p>
                      <a:r>
                        <a:rPr lang="en-US" sz="1500">
                          <a:solidFill>
                            <a:schemeClr val="tx1"/>
                          </a:solidFill>
                        </a:rPr>
                        <a:t>Kneeling Push Up</a:t>
                      </a:r>
                    </a:p>
                  </a:txBody>
                  <a:tcPr marL="109861" marR="109861" marT="54930" marB="54930">
                    <a:solidFill>
                      <a:schemeClr val="accent3">
                        <a:lumMod val="40000"/>
                        <a:lumOff val="60000"/>
                      </a:schemeClr>
                    </a:solidFill>
                  </a:tcPr>
                </a:tc>
                <a:tc>
                  <a:txBody>
                    <a:bodyPr/>
                    <a:lstStyle/>
                    <a:p>
                      <a:r>
                        <a:rPr lang="en-US" sz="1500">
                          <a:solidFill>
                            <a:schemeClr val="tx1"/>
                          </a:solidFill>
                        </a:rPr>
                        <a:t>Dumbbell Chest Press</a:t>
                      </a:r>
                    </a:p>
                  </a:txBody>
                  <a:tcPr marL="109861" marR="109861" marT="54930" marB="54930">
                    <a:solidFill>
                      <a:schemeClr val="accent3">
                        <a:lumMod val="60000"/>
                        <a:lumOff val="40000"/>
                      </a:schemeClr>
                    </a:solidFill>
                  </a:tcPr>
                </a:tc>
                <a:tc>
                  <a:txBody>
                    <a:bodyPr/>
                    <a:lstStyle/>
                    <a:p>
                      <a:r>
                        <a:rPr lang="en-US" sz="1500" dirty="0">
                          <a:solidFill>
                            <a:schemeClr val="tx1"/>
                          </a:solidFill>
                        </a:rPr>
                        <a:t>SA Dumbbell Chest Press</a:t>
                      </a:r>
                    </a:p>
                  </a:txBody>
                  <a:tcPr marL="109861" marR="109861" marT="54930" marB="54930">
                    <a:solidFill>
                      <a:schemeClr val="accent3">
                        <a:lumMod val="75000"/>
                      </a:schemeClr>
                    </a:solidFill>
                  </a:tcPr>
                </a:tc>
                <a:extLst>
                  <a:ext uri="{0D108BD9-81ED-4DB2-BD59-A6C34878D82A}">
                    <a16:rowId xmlns:a16="http://schemas.microsoft.com/office/drawing/2014/main" val="4056458"/>
                  </a:ext>
                </a:extLst>
              </a:tr>
              <a:tr h="599170">
                <a:tc>
                  <a:txBody>
                    <a:bodyPr/>
                    <a:lstStyle/>
                    <a:p>
                      <a:endParaRPr lang="en-US" sz="1500" dirty="0">
                        <a:solidFill>
                          <a:schemeClr val="tx1"/>
                        </a:solidFill>
                      </a:endParaRPr>
                    </a:p>
                  </a:txBody>
                  <a:tcPr marL="109861" marR="109861" marT="54930" marB="54930">
                    <a:solidFill>
                      <a:schemeClr val="bg2"/>
                    </a:solidFill>
                  </a:tcPr>
                </a:tc>
                <a:tc>
                  <a:txBody>
                    <a:bodyPr/>
                    <a:lstStyle/>
                    <a:p>
                      <a:r>
                        <a:rPr lang="en-US" sz="1500" dirty="0">
                          <a:solidFill>
                            <a:schemeClr val="tx1"/>
                          </a:solidFill>
                        </a:rPr>
                        <a:t>Wall Push Up</a:t>
                      </a:r>
                    </a:p>
                    <a:p>
                      <a:r>
                        <a:rPr lang="en-US" sz="1500" dirty="0">
                          <a:solidFill>
                            <a:schemeClr val="tx1"/>
                          </a:solidFill>
                        </a:rPr>
                        <a:t>Incline Push Up</a:t>
                      </a:r>
                    </a:p>
                  </a:txBody>
                  <a:tcPr marL="109861" marR="109861" marT="54930" marB="54930">
                    <a:solidFill>
                      <a:schemeClr val="accent3">
                        <a:lumMod val="40000"/>
                        <a:lumOff val="60000"/>
                      </a:schemeClr>
                    </a:solidFill>
                  </a:tcPr>
                </a:tc>
                <a:tc>
                  <a:txBody>
                    <a:bodyPr/>
                    <a:lstStyle/>
                    <a:p>
                      <a:r>
                        <a:rPr lang="en-US" sz="1500" dirty="0">
                          <a:solidFill>
                            <a:schemeClr val="tx1"/>
                          </a:solidFill>
                        </a:rPr>
                        <a:t>Push Up</a:t>
                      </a:r>
                    </a:p>
                    <a:p>
                      <a:r>
                        <a:rPr lang="en-US" sz="1500" dirty="0">
                          <a:solidFill>
                            <a:schemeClr val="tx1"/>
                          </a:solidFill>
                        </a:rPr>
                        <a:t>Resistance Push Up </a:t>
                      </a:r>
                    </a:p>
                  </a:txBody>
                  <a:tcPr marL="109861" marR="109861" marT="54930" marB="54930">
                    <a:solidFill>
                      <a:schemeClr val="accent3">
                        <a:lumMod val="60000"/>
                        <a:lumOff val="40000"/>
                      </a:schemeClr>
                    </a:solidFill>
                  </a:tcPr>
                </a:tc>
                <a:tc>
                  <a:txBody>
                    <a:bodyPr/>
                    <a:lstStyle/>
                    <a:p>
                      <a:r>
                        <a:rPr lang="en-US" sz="1500" dirty="0">
                          <a:solidFill>
                            <a:schemeClr val="tx1"/>
                          </a:solidFill>
                        </a:rPr>
                        <a:t>Resistance Push Up</a:t>
                      </a:r>
                    </a:p>
                    <a:p>
                      <a:r>
                        <a:rPr lang="en-US" sz="1500" dirty="0">
                          <a:solidFill>
                            <a:schemeClr val="tx1"/>
                          </a:solidFill>
                        </a:rPr>
                        <a:t>Suspension Push Up (Tempo)</a:t>
                      </a:r>
                    </a:p>
                  </a:txBody>
                  <a:tcPr marL="109861" marR="109861" marT="54930" marB="54930">
                    <a:solidFill>
                      <a:schemeClr val="accent3">
                        <a:lumMod val="75000"/>
                      </a:schemeClr>
                    </a:solidFill>
                  </a:tcPr>
                </a:tc>
                <a:extLst>
                  <a:ext uri="{0D108BD9-81ED-4DB2-BD59-A6C34878D82A}">
                    <a16:rowId xmlns:a16="http://schemas.microsoft.com/office/drawing/2014/main" val="3024296067"/>
                  </a:ext>
                </a:extLst>
              </a:tr>
              <a:tr h="372638">
                <a:tc>
                  <a:txBody>
                    <a:bodyPr/>
                    <a:lstStyle/>
                    <a:p>
                      <a:r>
                        <a:rPr lang="en-US" sz="1500" dirty="0">
                          <a:solidFill>
                            <a:schemeClr val="tx1"/>
                          </a:solidFill>
                        </a:rPr>
                        <a:t>0</a:t>
                      </a:r>
                    </a:p>
                  </a:txBody>
                  <a:tcPr marL="109861" marR="109861" marT="54930" marB="54930">
                    <a:solidFill>
                      <a:srgbClr val="B5E9E1">
                        <a:alpha val="20000"/>
                      </a:srgbClr>
                    </a:solidFill>
                  </a:tcPr>
                </a:tc>
                <a:tc>
                  <a:txBody>
                    <a:bodyPr/>
                    <a:lstStyle/>
                    <a:p>
                      <a:r>
                        <a:rPr lang="en-US" sz="1500" dirty="0">
                          <a:solidFill>
                            <a:schemeClr val="tx1"/>
                          </a:solidFill>
                        </a:rPr>
                        <a:t>1</a:t>
                      </a:r>
                    </a:p>
                  </a:txBody>
                  <a:tcPr marL="109861" marR="109861" marT="54930" marB="54930">
                    <a:solidFill>
                      <a:srgbClr val="B5E9E1">
                        <a:alpha val="20000"/>
                      </a:srgbClr>
                    </a:solidFill>
                  </a:tcPr>
                </a:tc>
                <a:tc>
                  <a:txBody>
                    <a:bodyPr/>
                    <a:lstStyle/>
                    <a:p>
                      <a:r>
                        <a:rPr lang="en-US" sz="1500" dirty="0">
                          <a:solidFill>
                            <a:schemeClr val="tx1"/>
                          </a:solidFill>
                        </a:rPr>
                        <a:t>2</a:t>
                      </a:r>
                    </a:p>
                  </a:txBody>
                  <a:tcPr marL="109861" marR="109861" marT="54930" marB="54930">
                    <a:solidFill>
                      <a:srgbClr val="B5E9E1">
                        <a:alpha val="20000"/>
                      </a:srgbClr>
                    </a:solidFill>
                  </a:tcPr>
                </a:tc>
                <a:tc>
                  <a:txBody>
                    <a:bodyPr/>
                    <a:lstStyle/>
                    <a:p>
                      <a:r>
                        <a:rPr lang="en-US" sz="1500" dirty="0">
                          <a:solidFill>
                            <a:schemeClr val="tx1"/>
                          </a:solidFill>
                        </a:rPr>
                        <a:t>3</a:t>
                      </a:r>
                    </a:p>
                  </a:txBody>
                  <a:tcPr marL="109861" marR="109861" marT="54930" marB="54930">
                    <a:solidFill>
                      <a:srgbClr val="B5E9E1">
                        <a:alpha val="20000"/>
                      </a:srgbClr>
                    </a:solidFill>
                  </a:tcPr>
                </a:tc>
                <a:extLst>
                  <a:ext uri="{0D108BD9-81ED-4DB2-BD59-A6C34878D82A}">
                    <a16:rowId xmlns:a16="http://schemas.microsoft.com/office/drawing/2014/main" val="3424676208"/>
                  </a:ext>
                </a:extLst>
              </a:tr>
            </a:tbl>
          </a:graphicData>
        </a:graphic>
      </p:graphicFrame>
    </p:spTree>
    <p:extLst>
      <p:ext uri="{BB962C8B-B14F-4D97-AF65-F5344CB8AC3E}">
        <p14:creationId xmlns:p14="http://schemas.microsoft.com/office/powerpoint/2010/main" val="9631953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29F7E-051C-1810-AC61-080AAD38F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AF90B1-05AD-67D9-3DEC-718AEE2919B3}"/>
              </a:ext>
            </a:extLst>
          </p:cNvPr>
          <p:cNvSpPr>
            <a:spLocks noGrp="1"/>
          </p:cNvSpPr>
          <p:nvPr>
            <p:ph type="title"/>
          </p:nvPr>
        </p:nvSpPr>
        <p:spPr/>
        <p:txBody>
          <a:bodyPr/>
          <a:lstStyle/>
          <a:p>
            <a:r>
              <a:rPr lang="en-US"/>
              <a:t>HORIZONTAL PUSH </a:t>
            </a:r>
            <a:r>
              <a:rPr lang="en-US">
                <a:solidFill>
                  <a:schemeClr val="accent6"/>
                </a:solidFill>
              </a:rPr>
              <a:t>BENEFITS</a:t>
            </a:r>
          </a:p>
        </p:txBody>
      </p:sp>
      <p:sp>
        <p:nvSpPr>
          <p:cNvPr id="3" name="Footer Placeholder 2">
            <a:extLst>
              <a:ext uri="{FF2B5EF4-FFF2-40B4-BE49-F238E27FC236}">
                <a16:creationId xmlns:a16="http://schemas.microsoft.com/office/drawing/2014/main" id="{1BC44917-4C96-8FC1-B419-164952CD0AFD}"/>
              </a:ext>
            </a:extLst>
          </p:cNvPr>
          <p:cNvSpPr>
            <a:spLocks noGrp="1"/>
          </p:cNvSpPr>
          <p:nvPr>
            <p:ph type="ftr" sz="quarter" idx="11"/>
          </p:nvPr>
        </p:nvSpPr>
        <p:spPr/>
        <p:txBody>
          <a:bodyPr/>
          <a:lstStyle/>
          <a:p>
            <a:r>
              <a:rPr lang="en-US"/>
              <a:t>If a client scores low (1-2) on Overhead Squat or Bird Dog, they may lack the thoracic mobility or core control needed for strict pressing. Start them with </a:t>
            </a:r>
            <a:r>
              <a:rPr lang="en-US" b="1"/>
              <a:t>seated or kneeling variations.</a:t>
            </a:r>
            <a:endParaRPr lang="en-US"/>
          </a:p>
        </p:txBody>
      </p:sp>
      <p:sp>
        <p:nvSpPr>
          <p:cNvPr id="4" name="Slide Number Placeholder 3">
            <a:extLst>
              <a:ext uri="{FF2B5EF4-FFF2-40B4-BE49-F238E27FC236}">
                <a16:creationId xmlns:a16="http://schemas.microsoft.com/office/drawing/2014/main" id="{A3280893-BE52-42AE-4FFF-43E2DE58B08F}"/>
              </a:ext>
            </a:extLst>
          </p:cNvPr>
          <p:cNvSpPr>
            <a:spLocks noGrp="1"/>
          </p:cNvSpPr>
          <p:nvPr>
            <p:ph type="sldNum" sz="quarter" idx="12"/>
          </p:nvPr>
        </p:nvSpPr>
        <p:spPr/>
        <p:txBody>
          <a:bodyPr/>
          <a:lstStyle/>
          <a:p>
            <a:fld id="{545951DD-1C6A-495F-8185-4C73F8F8B75A}" type="slidenum">
              <a:rPr lang="en-US" smtClean="0"/>
              <a:pPr/>
              <a:t>35</a:t>
            </a:fld>
            <a:endParaRPr lang="en-US"/>
          </a:p>
        </p:txBody>
      </p:sp>
      <p:sp>
        <p:nvSpPr>
          <p:cNvPr id="5" name="Text Placeholder 4">
            <a:extLst>
              <a:ext uri="{FF2B5EF4-FFF2-40B4-BE49-F238E27FC236}">
                <a16:creationId xmlns:a16="http://schemas.microsoft.com/office/drawing/2014/main" id="{EC652D40-B47E-8ADE-C427-20ECAB3A0D19}"/>
              </a:ext>
            </a:extLst>
          </p:cNvPr>
          <p:cNvSpPr>
            <a:spLocks noGrp="1"/>
          </p:cNvSpPr>
          <p:nvPr>
            <p:ph type="body" idx="4294967295"/>
          </p:nvPr>
        </p:nvSpPr>
        <p:spPr>
          <a:xfrm>
            <a:off x="12748591" y="969823"/>
            <a:ext cx="3300620" cy="3172860"/>
          </a:xfrm>
        </p:spPr>
        <p:txBody>
          <a:bodyPr/>
          <a:lstStyle/>
          <a:p>
            <a:pPr marL="0" indent="0">
              <a:buNone/>
            </a:pPr>
            <a:r>
              <a:rPr lang="en-US" sz="1400" i="1"/>
              <a:t>objects onto shelves, stabilizing loads overhead, and maintaining strong, mobile shoulders. Proper execution prevents compensations that stress the lower back or rotator cuff.</a:t>
            </a:r>
            <a:endParaRPr lang="en-US" sz="1400" b="1">
              <a:ea typeface="+mn-lt"/>
              <a:cs typeface="+mn-lt"/>
            </a:endParaRPr>
          </a:p>
          <a:p>
            <a:pPr marL="0" indent="0">
              <a:buNone/>
            </a:pPr>
            <a:r>
              <a:rPr lang="en-US" sz="2000" b="1">
                <a:ea typeface="+mn-lt"/>
                <a:cs typeface="+mn-lt"/>
              </a:rPr>
              <a:t>PRIME MOVERS:</a:t>
            </a:r>
          </a:p>
          <a:p>
            <a:pPr marL="0" indent="0">
              <a:buNone/>
            </a:pPr>
            <a:r>
              <a:rPr lang="en-US" sz="1400"/>
              <a:t>Deltoids (especially anterior/lateral), upper trapezius (stabilizer), triceps brachii </a:t>
            </a:r>
            <a:endParaRPr lang="en-US" sz="1400" b="1"/>
          </a:p>
        </p:txBody>
      </p:sp>
      <p:sp>
        <p:nvSpPr>
          <p:cNvPr id="10" name="Rectangle: Rounded Corners 9">
            <a:extLst>
              <a:ext uri="{FF2B5EF4-FFF2-40B4-BE49-F238E27FC236}">
                <a16:creationId xmlns:a16="http://schemas.microsoft.com/office/drawing/2014/main" id="{022662BC-579C-3A9E-2D76-8C5F69F05AF1}"/>
              </a:ext>
            </a:extLst>
          </p:cNvPr>
          <p:cNvSpPr/>
          <p:nvPr/>
        </p:nvSpPr>
        <p:spPr>
          <a:xfrm>
            <a:off x="-1731859" y="4068279"/>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Improves scapular upward rotation</a:t>
            </a:r>
          </a:p>
        </p:txBody>
      </p:sp>
      <p:sp>
        <p:nvSpPr>
          <p:cNvPr id="11" name="Rectangle: Rounded Corners 10">
            <a:extLst>
              <a:ext uri="{FF2B5EF4-FFF2-40B4-BE49-F238E27FC236}">
                <a16:creationId xmlns:a16="http://schemas.microsoft.com/office/drawing/2014/main" id="{AE192037-825E-F289-DE03-C016454D1CF3}"/>
              </a:ext>
            </a:extLst>
          </p:cNvPr>
          <p:cNvSpPr/>
          <p:nvPr/>
        </p:nvSpPr>
        <p:spPr>
          <a:xfrm>
            <a:off x="-1731858" y="202551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Builds overhead strength</a:t>
            </a:r>
          </a:p>
        </p:txBody>
      </p:sp>
      <p:sp>
        <p:nvSpPr>
          <p:cNvPr id="12" name="Rectangle: Rounded Corners 11">
            <a:extLst>
              <a:ext uri="{FF2B5EF4-FFF2-40B4-BE49-F238E27FC236}">
                <a16:creationId xmlns:a16="http://schemas.microsoft.com/office/drawing/2014/main" id="{97923B4E-727D-5EEF-AB4A-59D4412153E9}"/>
              </a:ext>
            </a:extLst>
          </p:cNvPr>
          <p:cNvSpPr/>
          <p:nvPr/>
        </p:nvSpPr>
        <p:spPr>
          <a:xfrm>
            <a:off x="-1731859" y="507780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Reinforces core engagement</a:t>
            </a:r>
          </a:p>
        </p:txBody>
      </p:sp>
      <p:sp>
        <p:nvSpPr>
          <p:cNvPr id="13" name="Rectangle: Rounded Corners 12">
            <a:extLst>
              <a:ext uri="{FF2B5EF4-FFF2-40B4-BE49-F238E27FC236}">
                <a16:creationId xmlns:a16="http://schemas.microsoft.com/office/drawing/2014/main" id="{3B0B8914-0BEC-9573-4D2B-A2565A9AFB8D}"/>
              </a:ext>
            </a:extLst>
          </p:cNvPr>
          <p:cNvSpPr/>
          <p:nvPr/>
        </p:nvSpPr>
        <p:spPr>
          <a:xfrm>
            <a:off x="-1731858" y="3035033"/>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Builds should stability </a:t>
            </a:r>
          </a:p>
        </p:txBody>
      </p:sp>
      <p:sp>
        <p:nvSpPr>
          <p:cNvPr id="14" name="Text Placeholder 4">
            <a:extLst>
              <a:ext uri="{FF2B5EF4-FFF2-40B4-BE49-F238E27FC236}">
                <a16:creationId xmlns:a16="http://schemas.microsoft.com/office/drawing/2014/main" id="{BF7050F9-B7F7-A70E-3274-41E4EC1F3141}"/>
              </a:ext>
            </a:extLst>
          </p:cNvPr>
          <p:cNvSpPr txBox="1">
            <a:spLocks/>
          </p:cNvSpPr>
          <p:nvPr/>
        </p:nvSpPr>
        <p:spPr>
          <a:xfrm>
            <a:off x="7410837" y="2579411"/>
            <a:ext cx="3734922" cy="4278589"/>
          </a:xfrm>
          <a:prstGeom prst="rect">
            <a:avLst/>
          </a:prstGeom>
        </p:spPr>
        <p:txBody>
          <a:bodyPr vert="horz" lIns="0" tIns="0" rIns="0" bIns="0" rtlCol="0">
            <a:noAutofit/>
          </a:bodyPr>
          <a:lst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a:t>IN REAL LIFE: </a:t>
            </a:r>
          </a:p>
          <a:p>
            <a:pPr algn="ctr"/>
            <a:r>
              <a:rPr lang="en-US" sz="2000"/>
              <a:t>Putting objects onto shelves</a:t>
            </a:r>
          </a:p>
          <a:p>
            <a:pPr algn="ctr"/>
            <a:r>
              <a:rPr lang="en-US" sz="2000"/>
              <a:t>Stabilizing loads overhead</a:t>
            </a:r>
          </a:p>
          <a:p>
            <a:pPr algn="ctr"/>
            <a:r>
              <a:rPr lang="en-US" sz="2000"/>
              <a:t>Maintaining strong, mobile shoulders</a:t>
            </a:r>
            <a:endParaRPr lang="en-US" sz="2000" b="1"/>
          </a:p>
        </p:txBody>
      </p:sp>
    </p:spTree>
    <p:extLst>
      <p:ext uri="{BB962C8B-B14F-4D97-AF65-F5344CB8AC3E}">
        <p14:creationId xmlns:p14="http://schemas.microsoft.com/office/powerpoint/2010/main" val="1337311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8B244-1706-09AE-95D9-F1CE99F61B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72EF1-3F0A-BEB5-E2EC-048768E62364}"/>
              </a:ext>
            </a:extLst>
          </p:cNvPr>
          <p:cNvSpPr>
            <a:spLocks noGrp="1"/>
          </p:cNvSpPr>
          <p:nvPr>
            <p:ph type="title"/>
          </p:nvPr>
        </p:nvSpPr>
        <p:spPr/>
        <p:txBody>
          <a:bodyPr/>
          <a:lstStyle/>
          <a:p>
            <a:r>
              <a:rPr lang="en-US"/>
              <a:t>HORIZONTAL PUSH </a:t>
            </a:r>
            <a:r>
              <a:rPr lang="en-US">
                <a:solidFill>
                  <a:schemeClr val="accent6"/>
                </a:solidFill>
              </a:rPr>
              <a:t>PRIME MOVERS</a:t>
            </a:r>
          </a:p>
        </p:txBody>
      </p:sp>
      <p:sp>
        <p:nvSpPr>
          <p:cNvPr id="3" name="Footer Placeholder 2">
            <a:extLst>
              <a:ext uri="{FF2B5EF4-FFF2-40B4-BE49-F238E27FC236}">
                <a16:creationId xmlns:a16="http://schemas.microsoft.com/office/drawing/2014/main" id="{BB93F26F-DAD1-1154-419D-4C56392580CD}"/>
              </a:ext>
            </a:extLst>
          </p:cNvPr>
          <p:cNvSpPr>
            <a:spLocks noGrp="1"/>
          </p:cNvSpPr>
          <p:nvPr>
            <p:ph type="ftr" sz="quarter" idx="11"/>
          </p:nvPr>
        </p:nvSpPr>
        <p:spPr/>
        <p:txBody>
          <a:bodyPr/>
          <a:lstStyle/>
          <a:p>
            <a:r>
              <a:rPr lang="en-US"/>
              <a:t>If a client scores low (1-2) on Overhead Squat or Bird Dog, they may lack the thoracic mobility or core control needed for strict pressing. Start them with </a:t>
            </a:r>
            <a:r>
              <a:rPr lang="en-US" b="1"/>
              <a:t>seated or kneeling variations.</a:t>
            </a:r>
            <a:endParaRPr lang="en-US"/>
          </a:p>
        </p:txBody>
      </p:sp>
      <p:sp>
        <p:nvSpPr>
          <p:cNvPr id="4" name="Slide Number Placeholder 3">
            <a:extLst>
              <a:ext uri="{FF2B5EF4-FFF2-40B4-BE49-F238E27FC236}">
                <a16:creationId xmlns:a16="http://schemas.microsoft.com/office/drawing/2014/main" id="{A82D3124-47AC-96E3-E698-8D0346BF3650}"/>
              </a:ext>
            </a:extLst>
          </p:cNvPr>
          <p:cNvSpPr>
            <a:spLocks noGrp="1"/>
          </p:cNvSpPr>
          <p:nvPr>
            <p:ph type="sldNum" sz="quarter" idx="12"/>
          </p:nvPr>
        </p:nvSpPr>
        <p:spPr/>
        <p:txBody>
          <a:bodyPr/>
          <a:lstStyle/>
          <a:p>
            <a:fld id="{545951DD-1C6A-495F-8185-4C73F8F8B75A}" type="slidenum">
              <a:rPr lang="en-US" smtClean="0"/>
              <a:pPr/>
              <a:t>36</a:t>
            </a:fld>
            <a:endParaRPr lang="en-US"/>
          </a:p>
        </p:txBody>
      </p:sp>
      <p:sp>
        <p:nvSpPr>
          <p:cNvPr id="10" name="Rectangle: Rounded Corners 9">
            <a:extLst>
              <a:ext uri="{FF2B5EF4-FFF2-40B4-BE49-F238E27FC236}">
                <a16:creationId xmlns:a16="http://schemas.microsoft.com/office/drawing/2014/main" id="{242444EC-8D0E-24AD-29E5-38139B57D2F7}"/>
              </a:ext>
            </a:extLst>
          </p:cNvPr>
          <p:cNvSpPr/>
          <p:nvPr/>
        </p:nvSpPr>
        <p:spPr>
          <a:xfrm>
            <a:off x="-1325459" y="4106379"/>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TRICEPS BRACHII</a:t>
            </a:r>
          </a:p>
        </p:txBody>
      </p:sp>
      <p:sp>
        <p:nvSpPr>
          <p:cNvPr id="11" name="Rectangle: Rounded Corners 10">
            <a:extLst>
              <a:ext uri="{FF2B5EF4-FFF2-40B4-BE49-F238E27FC236}">
                <a16:creationId xmlns:a16="http://schemas.microsoft.com/office/drawing/2014/main" id="{AB6B86D5-AD61-18C9-9265-0B0DD21E552F}"/>
              </a:ext>
            </a:extLst>
          </p:cNvPr>
          <p:cNvSpPr/>
          <p:nvPr/>
        </p:nvSpPr>
        <p:spPr>
          <a:xfrm>
            <a:off x="-1325458" y="2063611"/>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DELTOIDS – anterior/lateral trapezius</a:t>
            </a:r>
          </a:p>
        </p:txBody>
      </p:sp>
      <p:sp>
        <p:nvSpPr>
          <p:cNvPr id="13" name="Rectangle: Rounded Corners 12">
            <a:extLst>
              <a:ext uri="{FF2B5EF4-FFF2-40B4-BE49-F238E27FC236}">
                <a16:creationId xmlns:a16="http://schemas.microsoft.com/office/drawing/2014/main" id="{61558F20-60CE-27A3-CBCE-65E71A5EB110}"/>
              </a:ext>
            </a:extLst>
          </p:cNvPr>
          <p:cNvSpPr/>
          <p:nvPr/>
        </p:nvSpPr>
        <p:spPr>
          <a:xfrm>
            <a:off x="-1325458" y="3073133"/>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UPPER TRAPEZIUS - stabilizer</a:t>
            </a:r>
          </a:p>
        </p:txBody>
      </p:sp>
    </p:spTree>
    <p:extLst>
      <p:ext uri="{BB962C8B-B14F-4D97-AF65-F5344CB8AC3E}">
        <p14:creationId xmlns:p14="http://schemas.microsoft.com/office/powerpoint/2010/main" val="15226369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18D42-19E5-21F0-5981-8943F5E11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46E53-40B9-0E7E-BC9F-2E549FC45934}"/>
              </a:ext>
            </a:extLst>
          </p:cNvPr>
          <p:cNvSpPr>
            <a:spLocks noGrp="1"/>
          </p:cNvSpPr>
          <p:nvPr>
            <p:ph type="title"/>
          </p:nvPr>
        </p:nvSpPr>
        <p:spPr>
          <a:xfrm>
            <a:off x="880782" y="545914"/>
            <a:ext cx="10414747" cy="1147152"/>
          </a:xfrm>
        </p:spPr>
        <p:txBody>
          <a:bodyPr anchor="ctr">
            <a:normAutofit/>
          </a:bodyPr>
          <a:lstStyle/>
          <a:p>
            <a:r>
              <a:rPr lang="en-US"/>
              <a:t>VERTICAL PUSH</a:t>
            </a:r>
          </a:p>
        </p:txBody>
      </p:sp>
      <p:sp>
        <p:nvSpPr>
          <p:cNvPr id="3" name="Footer Placeholder 2">
            <a:extLst>
              <a:ext uri="{FF2B5EF4-FFF2-40B4-BE49-F238E27FC236}">
                <a16:creationId xmlns:a16="http://schemas.microsoft.com/office/drawing/2014/main" id="{3A6DE5A0-D396-5ACA-54F1-5CFA54653306}"/>
              </a:ext>
            </a:extLst>
          </p:cNvPr>
          <p:cNvSpPr>
            <a:spLocks noGrp="1"/>
          </p:cNvSpPr>
          <p:nvPr>
            <p:ph type="ftr" sz="quarter" idx="11"/>
          </p:nvPr>
        </p:nvSpPr>
        <p:spPr>
          <a:xfrm>
            <a:off x="342900" y="6394105"/>
            <a:ext cx="10259861" cy="365125"/>
          </a:xfrm>
        </p:spPr>
        <p:txBody>
          <a:bodyPr anchor="ctr">
            <a:normAutofit/>
          </a:bodyPr>
          <a:lstStyle/>
          <a:p>
            <a:pPr>
              <a:spcAft>
                <a:spcPts val="600"/>
              </a:spcAft>
            </a:pPr>
            <a:r>
              <a:rPr lang="en-US"/>
              <a:t>If a client scores low (1-2) on Overhead Squat or Bird Dog, they may lack the thoracic mobility or core control needed for strict pressing. Start them with </a:t>
            </a:r>
            <a:r>
              <a:rPr lang="en-US" b="1"/>
              <a:t>seated or kneeling variations.</a:t>
            </a:r>
            <a:endParaRPr lang="en-US"/>
          </a:p>
        </p:txBody>
      </p:sp>
      <p:sp>
        <p:nvSpPr>
          <p:cNvPr id="4" name="Slide Number Placeholder 3">
            <a:extLst>
              <a:ext uri="{FF2B5EF4-FFF2-40B4-BE49-F238E27FC236}">
                <a16:creationId xmlns:a16="http://schemas.microsoft.com/office/drawing/2014/main" id="{0695666C-7FC3-91AD-06EA-C2F5DA9BE21C}"/>
              </a:ext>
            </a:extLst>
          </p:cNvPr>
          <p:cNvSpPr>
            <a:spLocks noGrp="1"/>
          </p:cNvSpPr>
          <p:nvPr>
            <p:ph type="sldNum" sz="quarter" idx="12"/>
          </p:nvPr>
        </p:nvSpPr>
        <p:spPr>
          <a:xfrm>
            <a:off x="11674225" y="5477347"/>
            <a:ext cx="305503" cy="306298"/>
          </a:xfrm>
        </p:spPr>
        <p:txBody>
          <a:bodyPr anchor="ctr">
            <a:normAutofit/>
          </a:bodyPr>
          <a:lstStyle/>
          <a:p>
            <a:pPr>
              <a:spcAft>
                <a:spcPts val="600"/>
              </a:spcAft>
            </a:pPr>
            <a:fld id="{545951DD-1C6A-495F-8185-4C73F8F8B75A}" type="slidenum">
              <a:rPr lang="en-US" smtClean="0"/>
              <a:pPr>
                <a:spcAft>
                  <a:spcPts val="600"/>
                </a:spcAft>
              </a:pPr>
              <a:t>37</a:t>
            </a:fld>
            <a:endParaRPr lang="en-US"/>
          </a:p>
        </p:txBody>
      </p:sp>
      <p:graphicFrame>
        <p:nvGraphicFramePr>
          <p:cNvPr id="6" name="Table 5">
            <a:extLst>
              <a:ext uri="{FF2B5EF4-FFF2-40B4-BE49-F238E27FC236}">
                <a16:creationId xmlns:a16="http://schemas.microsoft.com/office/drawing/2014/main" id="{5CC91DAB-CF62-5D4D-C9CF-A8B04930A1B4}"/>
              </a:ext>
            </a:extLst>
          </p:cNvPr>
          <p:cNvGraphicFramePr>
            <a:graphicFrameLocks noGrp="1"/>
          </p:cNvGraphicFramePr>
          <p:nvPr>
            <p:extLst>
              <p:ext uri="{D42A27DB-BD31-4B8C-83A1-F6EECF244321}">
                <p14:modId xmlns:p14="http://schemas.microsoft.com/office/powerpoint/2010/main" val="3441514282"/>
              </p:ext>
            </p:extLst>
          </p:nvPr>
        </p:nvGraphicFramePr>
        <p:xfrm>
          <a:off x="880782" y="2318405"/>
          <a:ext cx="10414748" cy="3481138"/>
        </p:xfrm>
        <a:graphic>
          <a:graphicData uri="http://schemas.openxmlformats.org/drawingml/2006/table">
            <a:tbl>
              <a:tblPr firstRow="1" bandRow="1">
                <a:effectLst>
                  <a:outerShdw blurRad="50800" dist="38100" dir="2700000" algn="tl" rotWithShape="0">
                    <a:prstClr val="black">
                      <a:alpha val="40000"/>
                    </a:prstClr>
                  </a:outerShdw>
                </a:effectLst>
                <a:tableStyleId>{9D7B26C5-4107-4FEC-AEDC-1716B250A1EF}</a:tableStyleId>
              </a:tblPr>
              <a:tblGrid>
                <a:gridCol w="688674">
                  <a:extLst>
                    <a:ext uri="{9D8B030D-6E8A-4147-A177-3AD203B41FA5}">
                      <a16:colId xmlns:a16="http://schemas.microsoft.com/office/drawing/2014/main" val="3019292812"/>
                    </a:ext>
                  </a:extLst>
                </a:gridCol>
                <a:gridCol w="2974089">
                  <a:extLst>
                    <a:ext uri="{9D8B030D-6E8A-4147-A177-3AD203B41FA5}">
                      <a16:colId xmlns:a16="http://schemas.microsoft.com/office/drawing/2014/main" val="1783179597"/>
                    </a:ext>
                  </a:extLst>
                </a:gridCol>
                <a:gridCol w="3034374">
                  <a:extLst>
                    <a:ext uri="{9D8B030D-6E8A-4147-A177-3AD203B41FA5}">
                      <a16:colId xmlns:a16="http://schemas.microsoft.com/office/drawing/2014/main" val="1506833240"/>
                    </a:ext>
                  </a:extLst>
                </a:gridCol>
                <a:gridCol w="3717611">
                  <a:extLst>
                    <a:ext uri="{9D8B030D-6E8A-4147-A177-3AD203B41FA5}">
                      <a16:colId xmlns:a16="http://schemas.microsoft.com/office/drawing/2014/main" val="2695899721"/>
                    </a:ext>
                  </a:extLst>
                </a:gridCol>
              </a:tblGrid>
              <a:tr h="568786">
                <a:tc>
                  <a:txBody>
                    <a:bodyPr/>
                    <a:lstStyle/>
                    <a:p>
                      <a:endParaRPr lang="en-US" sz="1400">
                        <a:solidFill>
                          <a:schemeClr val="tx1"/>
                        </a:solidFill>
                      </a:endParaRPr>
                    </a:p>
                  </a:txBody>
                  <a:tcPr marL="104469" marR="104469" marT="52235" marB="52235">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400">
                        <a:solidFill>
                          <a:schemeClr val="tx1"/>
                        </a:solidFill>
                      </a:endParaRPr>
                    </a:p>
                  </a:txBody>
                  <a:tcPr marL="104469" marR="104469" marT="52235" marB="52235">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400">
                        <a:solidFill>
                          <a:schemeClr val="tx1"/>
                        </a:solidFill>
                      </a:endParaRPr>
                    </a:p>
                  </a:txBody>
                  <a:tcPr marL="104469" marR="104469" marT="52235" marB="52235">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r>
                        <a:rPr lang="en-US" sz="1400" b="0">
                          <a:solidFill>
                            <a:schemeClr val="tx1"/>
                          </a:solidFill>
                        </a:rPr>
                        <a:t>Unilateral Load (Unstable) </a:t>
                      </a:r>
                    </a:p>
                    <a:p>
                      <a:r>
                        <a:rPr lang="en-US" sz="1400" b="0">
                          <a:solidFill>
                            <a:schemeClr val="tx1"/>
                          </a:solidFill>
                        </a:rPr>
                        <a:t>Add Rotation</a:t>
                      </a:r>
                    </a:p>
                  </a:txBody>
                  <a:tcPr marL="104469" marR="104469" marT="52235" marB="52235">
                    <a:lnL>
                      <a:noFill/>
                    </a:lnL>
                    <a:solidFill>
                      <a:schemeClr val="accent3">
                        <a:lumMod val="75000"/>
                      </a:schemeClr>
                    </a:solidFill>
                  </a:tcPr>
                </a:tc>
                <a:extLst>
                  <a:ext uri="{0D108BD9-81ED-4DB2-BD59-A6C34878D82A}">
                    <a16:rowId xmlns:a16="http://schemas.microsoft.com/office/drawing/2014/main" val="1478415439"/>
                  </a:ext>
                </a:extLst>
              </a:tr>
              <a:tr h="354956">
                <a:tc>
                  <a:txBody>
                    <a:bodyPr/>
                    <a:lstStyle/>
                    <a:p>
                      <a:endParaRPr lang="en-US" sz="1400">
                        <a:solidFill>
                          <a:schemeClr val="tx1"/>
                        </a:solidFill>
                      </a:endParaRPr>
                    </a:p>
                  </a:txBody>
                  <a:tcPr marL="104469" marR="104469" marT="52235" marB="52235">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400">
                        <a:solidFill>
                          <a:schemeClr val="tx1"/>
                        </a:solidFill>
                      </a:endParaRPr>
                    </a:p>
                  </a:txBody>
                  <a:tcPr marL="104469" marR="104469" marT="52235" marB="52235">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400">
                        <a:solidFill>
                          <a:schemeClr val="tx1"/>
                        </a:solidFill>
                      </a:endParaRPr>
                    </a:p>
                  </a:txBody>
                  <a:tcPr marL="104469" marR="104469" marT="52235" marB="52235">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r>
                        <a:rPr lang="en-US" sz="1400">
                          <a:solidFill>
                            <a:schemeClr val="tx1"/>
                          </a:solidFill>
                        </a:rPr>
                        <a:t>Unilateral Load (Stable)</a:t>
                      </a:r>
                    </a:p>
                  </a:txBody>
                  <a:tcPr marL="104469" marR="104469" marT="52235" marB="52235">
                    <a:lnL>
                      <a:noFill/>
                    </a:lnL>
                    <a:solidFill>
                      <a:schemeClr val="accent3">
                        <a:lumMod val="75000"/>
                      </a:schemeClr>
                    </a:solidFill>
                  </a:tcPr>
                </a:tc>
                <a:extLst>
                  <a:ext uri="{0D108BD9-81ED-4DB2-BD59-A6C34878D82A}">
                    <a16:rowId xmlns:a16="http://schemas.microsoft.com/office/drawing/2014/main" val="897693337"/>
                  </a:ext>
                </a:extLst>
              </a:tr>
              <a:tr h="354956">
                <a:tc>
                  <a:txBody>
                    <a:bodyPr/>
                    <a:lstStyle/>
                    <a:p>
                      <a:endParaRPr lang="en-US" sz="1400">
                        <a:solidFill>
                          <a:schemeClr val="tx1"/>
                        </a:solidFill>
                      </a:endParaRPr>
                    </a:p>
                  </a:txBody>
                  <a:tcPr marL="104469" marR="104469" marT="52235" marB="5223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400">
                        <a:solidFill>
                          <a:schemeClr val="tx1"/>
                        </a:solidFill>
                      </a:endParaRPr>
                    </a:p>
                  </a:txBody>
                  <a:tcPr marL="104469" marR="104469" marT="52235" marB="5223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400">
                        <a:solidFill>
                          <a:schemeClr val="tx1"/>
                        </a:solidFill>
                      </a:endParaRPr>
                    </a:p>
                  </a:txBody>
                  <a:tcPr marL="104469" marR="104469" marT="52235" marB="5223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400">
                          <a:solidFill>
                            <a:schemeClr val="tx1"/>
                          </a:solidFill>
                        </a:rPr>
                        <a:t>Handstand Push Up</a:t>
                      </a:r>
                    </a:p>
                  </a:txBody>
                  <a:tcPr marL="104469" marR="104469" marT="52235" marB="52235">
                    <a:lnL>
                      <a:noFill/>
                    </a:lnL>
                    <a:solidFill>
                      <a:schemeClr val="accent3">
                        <a:lumMod val="75000"/>
                      </a:schemeClr>
                    </a:solidFill>
                  </a:tcPr>
                </a:tc>
                <a:extLst>
                  <a:ext uri="{0D108BD9-81ED-4DB2-BD59-A6C34878D82A}">
                    <a16:rowId xmlns:a16="http://schemas.microsoft.com/office/drawing/2014/main" val="248846052"/>
                  </a:ext>
                </a:extLst>
              </a:tr>
              <a:tr h="568786">
                <a:tc>
                  <a:txBody>
                    <a:bodyPr/>
                    <a:lstStyle/>
                    <a:p>
                      <a:endParaRPr lang="en-US" sz="1400">
                        <a:solidFill>
                          <a:schemeClr val="tx1"/>
                        </a:solidFill>
                      </a:endParaRPr>
                    </a:p>
                  </a:txBody>
                  <a:tcPr marL="104469" marR="104469" marT="52235" marB="52235">
                    <a:lnT>
                      <a:noFill/>
                    </a:lnT>
                    <a:solidFill>
                      <a:schemeClr val="accent4"/>
                    </a:solidFill>
                  </a:tcPr>
                </a:tc>
                <a:tc>
                  <a:txBody>
                    <a:bodyPr/>
                    <a:lstStyle/>
                    <a:p>
                      <a:endParaRPr lang="en-US" sz="1400">
                        <a:solidFill>
                          <a:schemeClr val="tx1"/>
                        </a:solidFill>
                      </a:endParaRPr>
                    </a:p>
                  </a:txBody>
                  <a:tcPr marL="104469" marR="104469" marT="52235" marB="52235">
                    <a:lnT>
                      <a:noFill/>
                    </a:lnT>
                    <a:solidFill>
                      <a:schemeClr val="accent4"/>
                    </a:solidFill>
                  </a:tcPr>
                </a:tc>
                <a:tc>
                  <a:txBody>
                    <a:bodyPr/>
                    <a:lstStyle/>
                    <a:p>
                      <a:r>
                        <a:rPr lang="en-US" sz="1400">
                          <a:solidFill>
                            <a:schemeClr val="tx1"/>
                          </a:solidFill>
                        </a:rPr>
                        <a:t>Unilateral Load</a:t>
                      </a:r>
                    </a:p>
                    <a:p>
                      <a:r>
                        <a:rPr lang="en-US" sz="1400">
                          <a:solidFill>
                            <a:schemeClr val="tx1"/>
                          </a:solidFill>
                        </a:rPr>
                        <a:t>(Stable)</a:t>
                      </a:r>
                    </a:p>
                  </a:txBody>
                  <a:tcPr marL="104469" marR="104469" marT="52235" marB="52235">
                    <a:lnT>
                      <a:noFill/>
                    </a:lnT>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BB Strict Press</a:t>
                      </a:r>
                    </a:p>
                    <a:p>
                      <a:endParaRPr lang="en-US" sz="1400">
                        <a:solidFill>
                          <a:schemeClr val="tx1"/>
                        </a:solidFill>
                      </a:endParaRPr>
                    </a:p>
                  </a:txBody>
                  <a:tcPr marL="104469" marR="104469" marT="52235" marB="52235">
                    <a:solidFill>
                      <a:schemeClr val="accent3">
                        <a:lumMod val="75000"/>
                      </a:schemeClr>
                    </a:solidFill>
                  </a:tcPr>
                </a:tc>
                <a:extLst>
                  <a:ext uri="{0D108BD9-81ED-4DB2-BD59-A6C34878D82A}">
                    <a16:rowId xmlns:a16="http://schemas.microsoft.com/office/drawing/2014/main" val="955461124"/>
                  </a:ext>
                </a:extLst>
              </a:tr>
              <a:tr h="354956">
                <a:tc>
                  <a:txBody>
                    <a:bodyPr/>
                    <a:lstStyle/>
                    <a:p>
                      <a:endParaRPr lang="en-US" sz="1400">
                        <a:solidFill>
                          <a:schemeClr val="tx1"/>
                        </a:solidFill>
                      </a:endParaRPr>
                    </a:p>
                  </a:txBody>
                  <a:tcPr marL="104469" marR="104469" marT="52235" marB="52235">
                    <a:solidFill>
                      <a:schemeClr val="accent4"/>
                    </a:solidFill>
                  </a:tcPr>
                </a:tc>
                <a:tc>
                  <a:txBody>
                    <a:bodyPr/>
                    <a:lstStyle/>
                    <a:p>
                      <a:endParaRPr lang="en-US" sz="1400">
                        <a:solidFill>
                          <a:schemeClr val="tx1"/>
                        </a:solidFill>
                      </a:endParaRPr>
                    </a:p>
                  </a:txBody>
                  <a:tcPr marL="104469" marR="104469" marT="52235" marB="52235">
                    <a:solidFill>
                      <a:schemeClr val="accent4"/>
                    </a:solidFill>
                  </a:tcPr>
                </a:tc>
                <a:tc>
                  <a:txBody>
                    <a:bodyPr/>
                    <a:lstStyle/>
                    <a:p>
                      <a:r>
                        <a:rPr lang="en-US" sz="1400">
                          <a:solidFill>
                            <a:schemeClr val="tx1"/>
                          </a:solidFill>
                        </a:rPr>
                        <a:t>Standing SA OHP</a:t>
                      </a:r>
                    </a:p>
                  </a:txBody>
                  <a:tcPr marL="104469" marR="104469" marT="52235" marB="52235">
                    <a:solidFill>
                      <a:schemeClr val="accent3">
                        <a:lumMod val="60000"/>
                        <a:lumOff val="40000"/>
                      </a:schemeClr>
                    </a:solidFill>
                  </a:tcPr>
                </a:tc>
                <a:tc>
                  <a:txBody>
                    <a:bodyPr/>
                    <a:lstStyle/>
                    <a:p>
                      <a:r>
                        <a:rPr lang="en-US" sz="1400">
                          <a:solidFill>
                            <a:schemeClr val="tx1"/>
                          </a:solidFill>
                        </a:rPr>
                        <a:t>Barbell Push Press</a:t>
                      </a:r>
                    </a:p>
                  </a:txBody>
                  <a:tcPr marL="104469" marR="104469" marT="52235" marB="52235">
                    <a:solidFill>
                      <a:schemeClr val="accent3">
                        <a:lumMod val="75000"/>
                      </a:schemeClr>
                    </a:solidFill>
                  </a:tcPr>
                </a:tc>
                <a:extLst>
                  <a:ext uri="{0D108BD9-81ED-4DB2-BD59-A6C34878D82A}">
                    <a16:rowId xmlns:a16="http://schemas.microsoft.com/office/drawing/2014/main" val="2192911196"/>
                  </a:ext>
                </a:extLst>
              </a:tr>
              <a:tr h="354956">
                <a:tc>
                  <a:txBody>
                    <a:bodyPr/>
                    <a:lstStyle/>
                    <a:p>
                      <a:endParaRPr lang="en-US" sz="1400">
                        <a:solidFill>
                          <a:schemeClr val="tx1"/>
                        </a:solidFill>
                      </a:endParaRPr>
                    </a:p>
                  </a:txBody>
                  <a:tcPr marL="104469" marR="104469" marT="52235" marB="52235">
                    <a:solidFill>
                      <a:schemeClr val="accent4"/>
                    </a:solidFill>
                  </a:tcPr>
                </a:tc>
                <a:tc>
                  <a:txBody>
                    <a:bodyPr/>
                    <a:lstStyle/>
                    <a:p>
                      <a:r>
                        <a:rPr lang="en-US" sz="1400">
                          <a:solidFill>
                            <a:schemeClr val="tx1"/>
                          </a:solidFill>
                        </a:rPr>
                        <a:t>Seated DB Press</a:t>
                      </a:r>
                    </a:p>
                  </a:txBody>
                  <a:tcPr marL="104469" marR="104469" marT="52235" marB="52235">
                    <a:solidFill>
                      <a:schemeClr val="accent3">
                        <a:lumMod val="40000"/>
                        <a:lumOff val="60000"/>
                      </a:schemeClr>
                    </a:solidFill>
                  </a:tcPr>
                </a:tc>
                <a:tc>
                  <a:txBody>
                    <a:bodyPr/>
                    <a:lstStyle/>
                    <a:p>
                      <a:r>
                        <a:rPr lang="en-US" sz="1400">
                          <a:solidFill>
                            <a:schemeClr val="tx1"/>
                          </a:solidFill>
                        </a:rPr>
                        <a:t>Unilateral Load SS or CL)</a:t>
                      </a:r>
                    </a:p>
                  </a:txBody>
                  <a:tcPr marL="104469" marR="104469" marT="52235" marB="52235">
                    <a:solidFill>
                      <a:schemeClr val="accent3">
                        <a:lumMod val="60000"/>
                        <a:lumOff val="40000"/>
                      </a:schemeClr>
                    </a:solidFill>
                  </a:tcPr>
                </a:tc>
                <a:tc>
                  <a:txBody>
                    <a:bodyPr/>
                    <a:lstStyle/>
                    <a:p>
                      <a:r>
                        <a:rPr lang="en-US" sz="1400">
                          <a:solidFill>
                            <a:schemeClr val="tx1"/>
                          </a:solidFill>
                        </a:rPr>
                        <a:t>Landmine </a:t>
                      </a:r>
                    </a:p>
                  </a:txBody>
                  <a:tcPr marL="104469" marR="104469" marT="52235" marB="52235">
                    <a:solidFill>
                      <a:schemeClr val="accent3">
                        <a:lumMod val="75000"/>
                      </a:schemeClr>
                    </a:solidFill>
                  </a:tcPr>
                </a:tc>
                <a:extLst>
                  <a:ext uri="{0D108BD9-81ED-4DB2-BD59-A6C34878D82A}">
                    <a16:rowId xmlns:a16="http://schemas.microsoft.com/office/drawing/2014/main" val="4056458"/>
                  </a:ext>
                </a:extLst>
              </a:tr>
              <a:tr h="568786">
                <a:tc>
                  <a:txBody>
                    <a:bodyPr/>
                    <a:lstStyle/>
                    <a:p>
                      <a:endParaRPr lang="en-US" sz="1400">
                        <a:solidFill>
                          <a:schemeClr val="tx1"/>
                        </a:solidFill>
                      </a:endParaRPr>
                    </a:p>
                  </a:txBody>
                  <a:tcPr marL="104469" marR="104469" marT="52235" marB="52235">
                    <a:solidFill>
                      <a:schemeClr val="bg2"/>
                    </a:solidFill>
                  </a:tcPr>
                </a:tc>
                <a:tc>
                  <a:txBody>
                    <a:bodyPr/>
                    <a:lstStyle/>
                    <a:p>
                      <a:r>
                        <a:rPr lang="en-US" sz="1400">
                          <a:solidFill>
                            <a:schemeClr val="tx1"/>
                          </a:solidFill>
                        </a:rPr>
                        <a:t>Banded Overhead Press</a:t>
                      </a:r>
                    </a:p>
                    <a:p>
                      <a:r>
                        <a:rPr lang="en-US" sz="1400">
                          <a:solidFill>
                            <a:schemeClr val="tx1"/>
                          </a:solidFill>
                        </a:rPr>
                        <a:t>Wall Overhead Press  </a:t>
                      </a:r>
                    </a:p>
                  </a:txBody>
                  <a:tcPr marL="104469" marR="104469" marT="52235" marB="52235">
                    <a:solidFill>
                      <a:schemeClr val="accent3">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solidFill>
                            <a:schemeClr val="tx1"/>
                          </a:solidFill>
                        </a:rPr>
                        <a:t>HK/TK SA DB Press</a:t>
                      </a:r>
                    </a:p>
                  </a:txBody>
                  <a:tcPr marL="104469" marR="104469" marT="52235" marB="52235">
                    <a:solidFill>
                      <a:schemeClr val="accent3">
                        <a:lumMod val="60000"/>
                        <a:lumOff val="40000"/>
                      </a:schemeClr>
                    </a:solidFill>
                  </a:tcPr>
                </a:tc>
                <a:tc>
                  <a:txBody>
                    <a:bodyPr/>
                    <a:lstStyle/>
                    <a:p>
                      <a:r>
                        <a:rPr lang="en-US" sz="1400">
                          <a:solidFill>
                            <a:schemeClr val="tx1"/>
                          </a:solidFill>
                        </a:rPr>
                        <a:t>DBL DB OHP</a:t>
                      </a:r>
                    </a:p>
                  </a:txBody>
                  <a:tcPr marL="104469" marR="104469" marT="52235" marB="52235">
                    <a:solidFill>
                      <a:schemeClr val="accent3">
                        <a:lumMod val="75000"/>
                      </a:schemeClr>
                    </a:solidFill>
                  </a:tcPr>
                </a:tc>
                <a:extLst>
                  <a:ext uri="{0D108BD9-81ED-4DB2-BD59-A6C34878D82A}">
                    <a16:rowId xmlns:a16="http://schemas.microsoft.com/office/drawing/2014/main" val="3024296067"/>
                  </a:ext>
                </a:extLst>
              </a:tr>
              <a:tr h="354956">
                <a:tc>
                  <a:txBody>
                    <a:bodyPr/>
                    <a:lstStyle/>
                    <a:p>
                      <a:r>
                        <a:rPr lang="en-US" sz="1400" dirty="0">
                          <a:solidFill>
                            <a:schemeClr val="tx1"/>
                          </a:solidFill>
                        </a:rPr>
                        <a:t>0</a:t>
                      </a:r>
                    </a:p>
                  </a:txBody>
                  <a:tcPr marL="104469" marR="104469" marT="52235" marB="52235">
                    <a:solidFill>
                      <a:srgbClr val="B5E9E1">
                        <a:alpha val="20000"/>
                      </a:srgbClr>
                    </a:solidFill>
                  </a:tcPr>
                </a:tc>
                <a:tc>
                  <a:txBody>
                    <a:bodyPr/>
                    <a:lstStyle/>
                    <a:p>
                      <a:r>
                        <a:rPr lang="en-US" sz="1400" dirty="0">
                          <a:solidFill>
                            <a:schemeClr val="tx1"/>
                          </a:solidFill>
                        </a:rPr>
                        <a:t>1</a:t>
                      </a:r>
                    </a:p>
                  </a:txBody>
                  <a:tcPr marL="104469" marR="104469" marT="52235" marB="52235">
                    <a:solidFill>
                      <a:srgbClr val="B5E9E1">
                        <a:alpha val="20000"/>
                      </a:srgbClr>
                    </a:solidFill>
                  </a:tcPr>
                </a:tc>
                <a:tc>
                  <a:txBody>
                    <a:bodyPr/>
                    <a:lstStyle/>
                    <a:p>
                      <a:r>
                        <a:rPr lang="en-US" sz="1400" dirty="0">
                          <a:solidFill>
                            <a:schemeClr val="tx1"/>
                          </a:solidFill>
                        </a:rPr>
                        <a:t>2</a:t>
                      </a:r>
                    </a:p>
                  </a:txBody>
                  <a:tcPr marL="104469" marR="104469" marT="52235" marB="52235">
                    <a:solidFill>
                      <a:srgbClr val="B5E9E1">
                        <a:alpha val="20000"/>
                      </a:srgbClr>
                    </a:solidFill>
                  </a:tcPr>
                </a:tc>
                <a:tc>
                  <a:txBody>
                    <a:bodyPr/>
                    <a:lstStyle/>
                    <a:p>
                      <a:r>
                        <a:rPr lang="en-US" sz="1400" dirty="0">
                          <a:solidFill>
                            <a:schemeClr val="tx1"/>
                          </a:solidFill>
                        </a:rPr>
                        <a:t>3</a:t>
                      </a:r>
                    </a:p>
                  </a:txBody>
                  <a:tcPr marL="104469" marR="104469" marT="52235" marB="52235">
                    <a:solidFill>
                      <a:srgbClr val="B5E9E1">
                        <a:alpha val="20000"/>
                      </a:srgbClr>
                    </a:solidFill>
                  </a:tcPr>
                </a:tc>
                <a:extLst>
                  <a:ext uri="{0D108BD9-81ED-4DB2-BD59-A6C34878D82A}">
                    <a16:rowId xmlns:a16="http://schemas.microsoft.com/office/drawing/2014/main" val="3424676208"/>
                  </a:ext>
                </a:extLst>
              </a:tr>
            </a:tbl>
          </a:graphicData>
        </a:graphic>
      </p:graphicFrame>
    </p:spTree>
    <p:extLst>
      <p:ext uri="{BB962C8B-B14F-4D97-AF65-F5344CB8AC3E}">
        <p14:creationId xmlns:p14="http://schemas.microsoft.com/office/powerpoint/2010/main" val="29975428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307BB-70EF-9F80-C3E4-7D154399E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19092-937F-E12C-E395-D8911EA2FB21}"/>
              </a:ext>
            </a:extLst>
          </p:cNvPr>
          <p:cNvSpPr>
            <a:spLocks noGrp="1"/>
          </p:cNvSpPr>
          <p:nvPr>
            <p:ph type="title"/>
          </p:nvPr>
        </p:nvSpPr>
        <p:spPr/>
        <p:txBody>
          <a:bodyPr/>
          <a:lstStyle/>
          <a:p>
            <a:r>
              <a:rPr lang="en-US"/>
              <a:t>VERTICAL PUSH </a:t>
            </a:r>
            <a:r>
              <a:rPr lang="en-US">
                <a:solidFill>
                  <a:schemeClr val="accent6"/>
                </a:solidFill>
              </a:rPr>
              <a:t>BENEFITS</a:t>
            </a:r>
          </a:p>
        </p:txBody>
      </p:sp>
      <p:sp>
        <p:nvSpPr>
          <p:cNvPr id="4" name="Slide Number Placeholder 3">
            <a:extLst>
              <a:ext uri="{FF2B5EF4-FFF2-40B4-BE49-F238E27FC236}">
                <a16:creationId xmlns:a16="http://schemas.microsoft.com/office/drawing/2014/main" id="{6259807C-C1F1-9ABE-C28D-B5531866B2D8}"/>
              </a:ext>
            </a:extLst>
          </p:cNvPr>
          <p:cNvSpPr>
            <a:spLocks noGrp="1"/>
          </p:cNvSpPr>
          <p:nvPr>
            <p:ph type="sldNum" sz="quarter" idx="12"/>
          </p:nvPr>
        </p:nvSpPr>
        <p:spPr/>
        <p:txBody>
          <a:bodyPr/>
          <a:lstStyle/>
          <a:p>
            <a:fld id="{545951DD-1C6A-495F-8185-4C73F8F8B75A}" type="slidenum">
              <a:rPr lang="en-US" smtClean="0"/>
              <a:pPr/>
              <a:t>38</a:t>
            </a:fld>
            <a:endParaRPr lang="en-US"/>
          </a:p>
        </p:txBody>
      </p:sp>
      <p:sp>
        <p:nvSpPr>
          <p:cNvPr id="5" name="Text Placeholder 4">
            <a:extLst>
              <a:ext uri="{FF2B5EF4-FFF2-40B4-BE49-F238E27FC236}">
                <a16:creationId xmlns:a16="http://schemas.microsoft.com/office/drawing/2014/main" id="{0889F1D8-C141-A2E4-8BE8-B0958E9EA191}"/>
              </a:ext>
            </a:extLst>
          </p:cNvPr>
          <p:cNvSpPr>
            <a:spLocks noGrp="1"/>
          </p:cNvSpPr>
          <p:nvPr>
            <p:ph type="body" idx="4294967295"/>
          </p:nvPr>
        </p:nvSpPr>
        <p:spPr>
          <a:xfrm>
            <a:off x="12748591" y="969823"/>
            <a:ext cx="3300620" cy="3172860"/>
          </a:xfrm>
        </p:spPr>
        <p:txBody>
          <a:bodyPr/>
          <a:lstStyle/>
          <a:p>
            <a:pPr marL="0" indent="0">
              <a:buNone/>
            </a:pPr>
            <a:r>
              <a:rPr lang="en-US" sz="1400" i="1"/>
              <a:t>objects onto shelves, stabilizing loads overhead, and maintaining strong, mobile shoulders. Proper execution prevents compensations that stress the lower back or rotator cuff.</a:t>
            </a:r>
            <a:endParaRPr lang="en-US" sz="1400" b="1">
              <a:ea typeface="+mn-lt"/>
              <a:cs typeface="+mn-lt"/>
            </a:endParaRPr>
          </a:p>
          <a:p>
            <a:pPr marL="0" indent="0">
              <a:buNone/>
            </a:pPr>
            <a:r>
              <a:rPr lang="en-US" sz="2000" b="1">
                <a:ea typeface="+mn-lt"/>
                <a:cs typeface="+mn-lt"/>
              </a:rPr>
              <a:t>PRIME MOVERS:</a:t>
            </a:r>
          </a:p>
          <a:p>
            <a:pPr marL="0" indent="0">
              <a:buNone/>
            </a:pPr>
            <a:r>
              <a:rPr lang="en-US" sz="1400"/>
              <a:t>Deltoids (especially anterior/lateral), upper trapezius (stabilizer), triceps brachii </a:t>
            </a:r>
            <a:endParaRPr lang="en-US" sz="1400" b="1"/>
          </a:p>
        </p:txBody>
      </p:sp>
      <p:sp>
        <p:nvSpPr>
          <p:cNvPr id="10" name="Rectangle: Rounded Corners 9">
            <a:extLst>
              <a:ext uri="{FF2B5EF4-FFF2-40B4-BE49-F238E27FC236}">
                <a16:creationId xmlns:a16="http://schemas.microsoft.com/office/drawing/2014/main" id="{A7F5E68F-96D5-1415-5E1E-7C0442449509}"/>
              </a:ext>
            </a:extLst>
          </p:cNvPr>
          <p:cNvSpPr/>
          <p:nvPr/>
        </p:nvSpPr>
        <p:spPr>
          <a:xfrm>
            <a:off x="-1731859" y="4068279"/>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Improves scapular upward rotation</a:t>
            </a:r>
          </a:p>
        </p:txBody>
      </p:sp>
      <p:sp>
        <p:nvSpPr>
          <p:cNvPr id="11" name="Rectangle: Rounded Corners 10">
            <a:extLst>
              <a:ext uri="{FF2B5EF4-FFF2-40B4-BE49-F238E27FC236}">
                <a16:creationId xmlns:a16="http://schemas.microsoft.com/office/drawing/2014/main" id="{2C8A3660-6244-0103-6F6A-102D720A7AEB}"/>
              </a:ext>
            </a:extLst>
          </p:cNvPr>
          <p:cNvSpPr/>
          <p:nvPr/>
        </p:nvSpPr>
        <p:spPr>
          <a:xfrm>
            <a:off x="-1731858" y="202551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Upper Body Strength and Muscle Mass</a:t>
            </a:r>
            <a:endParaRPr lang="en-US" sz="2800"/>
          </a:p>
        </p:txBody>
      </p:sp>
      <p:sp>
        <p:nvSpPr>
          <p:cNvPr id="12" name="Rectangle: Rounded Corners 11">
            <a:extLst>
              <a:ext uri="{FF2B5EF4-FFF2-40B4-BE49-F238E27FC236}">
                <a16:creationId xmlns:a16="http://schemas.microsoft.com/office/drawing/2014/main" id="{5508FFED-166C-1341-7FC6-87F4357BB801}"/>
              </a:ext>
            </a:extLst>
          </p:cNvPr>
          <p:cNvSpPr/>
          <p:nvPr/>
        </p:nvSpPr>
        <p:spPr>
          <a:xfrm>
            <a:off x="-1731859" y="507780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Reinforces core engagement</a:t>
            </a:r>
          </a:p>
        </p:txBody>
      </p:sp>
      <p:sp>
        <p:nvSpPr>
          <p:cNvPr id="13" name="Rectangle: Rounded Corners 12">
            <a:extLst>
              <a:ext uri="{FF2B5EF4-FFF2-40B4-BE49-F238E27FC236}">
                <a16:creationId xmlns:a16="http://schemas.microsoft.com/office/drawing/2014/main" id="{47D66649-448E-E86F-3F1A-3DA24092BCE0}"/>
              </a:ext>
            </a:extLst>
          </p:cNvPr>
          <p:cNvSpPr/>
          <p:nvPr/>
        </p:nvSpPr>
        <p:spPr>
          <a:xfrm>
            <a:off x="-1731858" y="3035033"/>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Improved Shoulder Stability and Health</a:t>
            </a:r>
            <a:endParaRPr lang="en-US" sz="2800"/>
          </a:p>
        </p:txBody>
      </p:sp>
      <p:sp>
        <p:nvSpPr>
          <p:cNvPr id="14" name="Text Placeholder 4">
            <a:extLst>
              <a:ext uri="{FF2B5EF4-FFF2-40B4-BE49-F238E27FC236}">
                <a16:creationId xmlns:a16="http://schemas.microsoft.com/office/drawing/2014/main" id="{E367501C-DCCB-7D76-2C92-5EC27C1D7362}"/>
              </a:ext>
            </a:extLst>
          </p:cNvPr>
          <p:cNvSpPr txBox="1">
            <a:spLocks/>
          </p:cNvSpPr>
          <p:nvPr/>
        </p:nvSpPr>
        <p:spPr>
          <a:xfrm>
            <a:off x="7410837" y="2579411"/>
            <a:ext cx="3734922" cy="4278589"/>
          </a:xfrm>
          <a:prstGeom prst="rect">
            <a:avLst/>
          </a:prstGeom>
        </p:spPr>
        <p:txBody>
          <a:bodyPr vert="horz" lIns="0" tIns="0" rIns="0" bIns="0" rtlCol="0">
            <a:noAutofit/>
          </a:bodyPr>
          <a:lst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a:t>IN REAL LIFE: </a:t>
            </a:r>
          </a:p>
          <a:p>
            <a:pPr algn="ctr"/>
            <a:r>
              <a:rPr lang="en-US" sz="2000"/>
              <a:t>Putting objects onto shelves</a:t>
            </a:r>
          </a:p>
          <a:p>
            <a:pPr algn="ctr"/>
            <a:r>
              <a:rPr lang="en-US" sz="2000"/>
              <a:t>Stabilizing loads overhead</a:t>
            </a:r>
          </a:p>
          <a:p>
            <a:pPr algn="ctr"/>
            <a:r>
              <a:rPr lang="en-US" sz="2000"/>
              <a:t>Maintaining strong, mobile shoulders</a:t>
            </a:r>
            <a:endParaRPr lang="en-US" sz="2000" b="1"/>
          </a:p>
        </p:txBody>
      </p:sp>
    </p:spTree>
    <p:extLst>
      <p:ext uri="{BB962C8B-B14F-4D97-AF65-F5344CB8AC3E}">
        <p14:creationId xmlns:p14="http://schemas.microsoft.com/office/powerpoint/2010/main" val="8561392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1D86F-C64F-94EA-B81E-66AB808874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D3530-D80F-6D97-F771-874D11A285CD}"/>
              </a:ext>
            </a:extLst>
          </p:cNvPr>
          <p:cNvSpPr>
            <a:spLocks noGrp="1"/>
          </p:cNvSpPr>
          <p:nvPr>
            <p:ph type="title"/>
          </p:nvPr>
        </p:nvSpPr>
        <p:spPr/>
        <p:txBody>
          <a:bodyPr/>
          <a:lstStyle/>
          <a:p>
            <a:r>
              <a:rPr lang="en-US"/>
              <a:t>VERTICAL PUSH </a:t>
            </a:r>
            <a:r>
              <a:rPr lang="en-US">
                <a:solidFill>
                  <a:schemeClr val="accent6"/>
                </a:solidFill>
              </a:rPr>
              <a:t>PRIME MOVERS</a:t>
            </a:r>
          </a:p>
        </p:txBody>
      </p:sp>
      <p:sp>
        <p:nvSpPr>
          <p:cNvPr id="4" name="Slide Number Placeholder 3">
            <a:extLst>
              <a:ext uri="{FF2B5EF4-FFF2-40B4-BE49-F238E27FC236}">
                <a16:creationId xmlns:a16="http://schemas.microsoft.com/office/drawing/2014/main" id="{08738FDA-3F34-3AFB-82D8-B30A43AA5D04}"/>
              </a:ext>
            </a:extLst>
          </p:cNvPr>
          <p:cNvSpPr>
            <a:spLocks noGrp="1"/>
          </p:cNvSpPr>
          <p:nvPr>
            <p:ph type="sldNum" sz="quarter" idx="12"/>
          </p:nvPr>
        </p:nvSpPr>
        <p:spPr/>
        <p:txBody>
          <a:bodyPr/>
          <a:lstStyle/>
          <a:p>
            <a:fld id="{545951DD-1C6A-495F-8185-4C73F8F8B75A}" type="slidenum">
              <a:rPr lang="en-US" smtClean="0"/>
              <a:pPr/>
              <a:t>39</a:t>
            </a:fld>
            <a:endParaRPr lang="en-US"/>
          </a:p>
        </p:txBody>
      </p:sp>
      <p:sp>
        <p:nvSpPr>
          <p:cNvPr id="10" name="Rectangle: Rounded Corners 9">
            <a:extLst>
              <a:ext uri="{FF2B5EF4-FFF2-40B4-BE49-F238E27FC236}">
                <a16:creationId xmlns:a16="http://schemas.microsoft.com/office/drawing/2014/main" id="{07BF5832-2088-9E36-732B-C2C3798108D4}"/>
              </a:ext>
            </a:extLst>
          </p:cNvPr>
          <p:cNvSpPr/>
          <p:nvPr/>
        </p:nvSpPr>
        <p:spPr>
          <a:xfrm>
            <a:off x="-1325459" y="4106379"/>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TRICEPS BRACHII</a:t>
            </a:r>
          </a:p>
        </p:txBody>
      </p:sp>
      <p:sp>
        <p:nvSpPr>
          <p:cNvPr id="11" name="Rectangle: Rounded Corners 10">
            <a:extLst>
              <a:ext uri="{FF2B5EF4-FFF2-40B4-BE49-F238E27FC236}">
                <a16:creationId xmlns:a16="http://schemas.microsoft.com/office/drawing/2014/main" id="{62C8B112-8A27-76D9-D0C3-EB16CE438CBC}"/>
              </a:ext>
            </a:extLst>
          </p:cNvPr>
          <p:cNvSpPr/>
          <p:nvPr/>
        </p:nvSpPr>
        <p:spPr>
          <a:xfrm>
            <a:off x="-1325458" y="2063611"/>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DELTOIDS – anterior/lateral trapezius</a:t>
            </a:r>
          </a:p>
        </p:txBody>
      </p:sp>
      <p:sp>
        <p:nvSpPr>
          <p:cNvPr id="13" name="Rectangle: Rounded Corners 12">
            <a:extLst>
              <a:ext uri="{FF2B5EF4-FFF2-40B4-BE49-F238E27FC236}">
                <a16:creationId xmlns:a16="http://schemas.microsoft.com/office/drawing/2014/main" id="{63966532-933E-572F-7F21-8B13B48F3656}"/>
              </a:ext>
            </a:extLst>
          </p:cNvPr>
          <p:cNvSpPr/>
          <p:nvPr/>
        </p:nvSpPr>
        <p:spPr>
          <a:xfrm>
            <a:off x="-1325458" y="3073133"/>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UPPER TRAPEZIUS - stabilizer</a:t>
            </a:r>
          </a:p>
        </p:txBody>
      </p:sp>
    </p:spTree>
    <p:extLst>
      <p:ext uri="{BB962C8B-B14F-4D97-AF65-F5344CB8AC3E}">
        <p14:creationId xmlns:p14="http://schemas.microsoft.com/office/powerpoint/2010/main" val="40354346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72D42-84D7-18D3-1575-07B61A885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BFDEE-940A-9A73-9A17-90377A50954C}"/>
              </a:ext>
            </a:extLst>
          </p:cNvPr>
          <p:cNvSpPr>
            <a:spLocks noGrp="1"/>
          </p:cNvSpPr>
          <p:nvPr>
            <p:ph type="title"/>
          </p:nvPr>
        </p:nvSpPr>
        <p:spPr>
          <a:xfrm>
            <a:off x="880782" y="545914"/>
            <a:ext cx="10414747" cy="1147152"/>
          </a:xfrm>
        </p:spPr>
        <p:txBody>
          <a:bodyPr anchor="ctr">
            <a:normAutofit/>
          </a:bodyPr>
          <a:lstStyle/>
          <a:p>
            <a:r>
              <a:rPr lang="en-US"/>
              <a:t>HINGE</a:t>
            </a:r>
          </a:p>
        </p:txBody>
      </p:sp>
      <p:sp>
        <p:nvSpPr>
          <p:cNvPr id="3" name="Footer Placeholder 2">
            <a:extLst>
              <a:ext uri="{FF2B5EF4-FFF2-40B4-BE49-F238E27FC236}">
                <a16:creationId xmlns:a16="http://schemas.microsoft.com/office/drawing/2014/main" id="{A356E59E-9C0C-A48E-0E77-BB9231B3F986}"/>
              </a:ext>
            </a:extLst>
          </p:cNvPr>
          <p:cNvSpPr>
            <a:spLocks noGrp="1"/>
          </p:cNvSpPr>
          <p:nvPr>
            <p:ph type="ftr" sz="quarter" idx="11"/>
          </p:nvPr>
        </p:nvSpPr>
        <p:spPr>
          <a:xfrm>
            <a:off x="342900" y="6394105"/>
            <a:ext cx="10259861" cy="365125"/>
          </a:xfrm>
        </p:spPr>
        <p:txBody>
          <a:bodyPr anchor="ctr">
            <a:normAutofit/>
          </a:bodyPr>
          <a:lstStyle/>
          <a:p>
            <a:pPr>
              <a:spcAft>
                <a:spcPts val="600"/>
              </a:spcAft>
            </a:pPr>
            <a:r>
              <a:rPr lang="en-US" i="1"/>
              <a:t>A client scoring low (1-2) in Bird Dog or Plank may struggle with core bracing in hinge movements. They should start with </a:t>
            </a:r>
            <a:r>
              <a:rPr lang="en-US" b="1" i="1"/>
              <a:t>glute bridges, banded pull-throughs, or box-supported deadlifts</a:t>
            </a:r>
            <a:r>
              <a:rPr lang="en-US" i="1"/>
              <a:t> before progressing.</a:t>
            </a:r>
            <a:r>
              <a:rPr lang="en-US"/>
              <a:t> </a:t>
            </a:r>
          </a:p>
        </p:txBody>
      </p:sp>
      <p:sp>
        <p:nvSpPr>
          <p:cNvPr id="4" name="Slide Number Placeholder 3">
            <a:extLst>
              <a:ext uri="{FF2B5EF4-FFF2-40B4-BE49-F238E27FC236}">
                <a16:creationId xmlns:a16="http://schemas.microsoft.com/office/drawing/2014/main" id="{75B03888-B55B-01BD-6521-24D20C568473}"/>
              </a:ext>
            </a:extLst>
          </p:cNvPr>
          <p:cNvSpPr>
            <a:spLocks noGrp="1"/>
          </p:cNvSpPr>
          <p:nvPr>
            <p:ph type="sldNum" sz="quarter" idx="12"/>
          </p:nvPr>
        </p:nvSpPr>
        <p:spPr>
          <a:xfrm>
            <a:off x="11674225" y="5477347"/>
            <a:ext cx="305503" cy="306298"/>
          </a:xfrm>
        </p:spPr>
        <p:txBody>
          <a:bodyPr anchor="ctr">
            <a:normAutofit/>
          </a:bodyPr>
          <a:lstStyle/>
          <a:p>
            <a:pPr>
              <a:spcAft>
                <a:spcPts val="600"/>
              </a:spcAft>
            </a:pPr>
            <a:fld id="{545951DD-1C6A-495F-8185-4C73F8F8B75A}" type="slidenum">
              <a:rPr lang="en-US" smtClean="0"/>
              <a:pPr>
                <a:spcAft>
                  <a:spcPts val="600"/>
                </a:spcAft>
              </a:pPr>
              <a:t>40</a:t>
            </a:fld>
            <a:endParaRPr lang="en-US"/>
          </a:p>
        </p:txBody>
      </p:sp>
      <p:graphicFrame>
        <p:nvGraphicFramePr>
          <p:cNvPr id="6" name="Table 5">
            <a:extLst>
              <a:ext uri="{FF2B5EF4-FFF2-40B4-BE49-F238E27FC236}">
                <a16:creationId xmlns:a16="http://schemas.microsoft.com/office/drawing/2014/main" id="{D70C71E9-BE50-9B1B-B5FE-A0B033B2529D}"/>
              </a:ext>
            </a:extLst>
          </p:cNvPr>
          <p:cNvGraphicFramePr>
            <a:graphicFrameLocks noGrp="1"/>
          </p:cNvGraphicFramePr>
          <p:nvPr>
            <p:extLst>
              <p:ext uri="{D42A27DB-BD31-4B8C-83A1-F6EECF244321}">
                <p14:modId xmlns:p14="http://schemas.microsoft.com/office/powerpoint/2010/main" val="525107092"/>
              </p:ext>
            </p:extLst>
          </p:nvPr>
        </p:nvGraphicFramePr>
        <p:xfrm>
          <a:off x="1324152" y="1980280"/>
          <a:ext cx="9528008" cy="4157384"/>
        </p:xfrm>
        <a:graphic>
          <a:graphicData uri="http://schemas.openxmlformats.org/drawingml/2006/table">
            <a:tbl>
              <a:tblPr firstRow="1" bandRow="1">
                <a:tableStyleId>{9D7B26C5-4107-4FEC-AEDC-1716B250A1EF}</a:tableStyleId>
              </a:tblPr>
              <a:tblGrid>
                <a:gridCol w="713905">
                  <a:extLst>
                    <a:ext uri="{9D8B030D-6E8A-4147-A177-3AD203B41FA5}">
                      <a16:colId xmlns:a16="http://schemas.microsoft.com/office/drawing/2014/main" val="3019292812"/>
                    </a:ext>
                  </a:extLst>
                </a:gridCol>
                <a:gridCol w="2481192">
                  <a:extLst>
                    <a:ext uri="{9D8B030D-6E8A-4147-A177-3AD203B41FA5}">
                      <a16:colId xmlns:a16="http://schemas.microsoft.com/office/drawing/2014/main" val="1783179597"/>
                    </a:ext>
                  </a:extLst>
                </a:gridCol>
                <a:gridCol w="2484280">
                  <a:extLst>
                    <a:ext uri="{9D8B030D-6E8A-4147-A177-3AD203B41FA5}">
                      <a16:colId xmlns:a16="http://schemas.microsoft.com/office/drawing/2014/main" val="1506833240"/>
                    </a:ext>
                  </a:extLst>
                </a:gridCol>
                <a:gridCol w="3848631">
                  <a:extLst>
                    <a:ext uri="{9D8B030D-6E8A-4147-A177-3AD203B41FA5}">
                      <a16:colId xmlns:a16="http://schemas.microsoft.com/office/drawing/2014/main" val="2695899721"/>
                    </a:ext>
                  </a:extLst>
                </a:gridCol>
              </a:tblGrid>
              <a:tr h="369618">
                <a:tc>
                  <a:txBody>
                    <a:bodyPr/>
                    <a:lstStyle/>
                    <a:p>
                      <a:endParaRPr lang="en-US" sz="1500">
                        <a:solidFill>
                          <a:schemeClr val="bg1"/>
                        </a:solidFill>
                      </a:endParaRPr>
                    </a:p>
                  </a:txBody>
                  <a:tcPr marL="111679" marR="111679" marT="55840" marB="5584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1679" marR="111679" marT="55840" marB="5584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1679" marR="111679" marT="55840" marB="5584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r>
                        <a:rPr lang="en-US" sz="1500" dirty="0">
                          <a:solidFill>
                            <a:schemeClr val="tx1"/>
                          </a:solidFill>
                        </a:rPr>
                        <a:t>Add Rotation</a:t>
                      </a:r>
                    </a:p>
                  </a:txBody>
                  <a:tcPr marL="111679" marR="111679" marT="55840" marB="55840">
                    <a:lnL>
                      <a:noFill/>
                    </a:lnL>
                    <a:solidFill>
                      <a:schemeClr val="accent3">
                        <a:lumMod val="75000"/>
                      </a:schemeClr>
                    </a:solidFill>
                  </a:tcPr>
                </a:tc>
                <a:extLst>
                  <a:ext uri="{0D108BD9-81ED-4DB2-BD59-A6C34878D82A}">
                    <a16:rowId xmlns:a16="http://schemas.microsoft.com/office/drawing/2014/main" val="897693337"/>
                  </a:ext>
                </a:extLst>
              </a:tr>
              <a:tr h="593912">
                <a:tc>
                  <a:txBody>
                    <a:bodyPr/>
                    <a:lstStyle/>
                    <a:p>
                      <a:endParaRPr lang="en-US" sz="1500">
                        <a:solidFill>
                          <a:schemeClr val="bg1"/>
                        </a:solidFill>
                      </a:endParaRPr>
                    </a:p>
                  </a:txBody>
                  <a:tcPr marL="111679" marR="111679" marT="55840" marB="5584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1679" marR="111679" marT="55840" marB="5584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1679" marR="111679" marT="55840" marB="5584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chemeClr val="tx1"/>
                          </a:solidFill>
                        </a:rPr>
                        <a:t>Barbell Deadlift</a:t>
                      </a:r>
                    </a:p>
                    <a:p>
                      <a:endParaRPr lang="en-US" sz="1500">
                        <a:solidFill>
                          <a:schemeClr val="tx1"/>
                        </a:solidFill>
                      </a:endParaRPr>
                    </a:p>
                  </a:txBody>
                  <a:tcPr marL="111679" marR="111679" marT="55840" marB="55840">
                    <a:lnL>
                      <a:noFill/>
                    </a:lnL>
                    <a:solidFill>
                      <a:schemeClr val="accent3">
                        <a:lumMod val="75000"/>
                      </a:schemeClr>
                    </a:solidFill>
                  </a:tcPr>
                </a:tc>
                <a:extLst>
                  <a:ext uri="{0D108BD9-81ED-4DB2-BD59-A6C34878D82A}">
                    <a16:rowId xmlns:a16="http://schemas.microsoft.com/office/drawing/2014/main" val="248846052"/>
                  </a:ext>
                </a:extLst>
              </a:tr>
              <a:tr h="593912">
                <a:tc>
                  <a:txBody>
                    <a:bodyPr/>
                    <a:lstStyle/>
                    <a:p>
                      <a:endParaRPr lang="en-US" sz="1500">
                        <a:solidFill>
                          <a:schemeClr val="bg1"/>
                        </a:solidFill>
                      </a:endParaRPr>
                    </a:p>
                  </a:txBody>
                  <a:tcPr marL="111679" marR="111679" marT="55840" marB="5584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1679" marR="111679" marT="55840" marB="5584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Banded Hip Thrust </a:t>
                      </a:r>
                    </a:p>
                  </a:txBody>
                  <a:tcPr marL="111679" marR="111679" marT="55840" marB="55840">
                    <a:lnL>
                      <a:noFill/>
                    </a:lnL>
                    <a:lnT>
                      <a:noFill/>
                    </a:lnT>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chemeClr val="tx1"/>
                          </a:solidFill>
                        </a:rPr>
                        <a:t>Unilateral</a:t>
                      </a:r>
                    </a:p>
                    <a:p>
                      <a:r>
                        <a:rPr lang="en-US" sz="1500">
                          <a:solidFill>
                            <a:schemeClr val="tx1"/>
                          </a:solidFill>
                        </a:rPr>
                        <a:t>(Single Leg DL/Bridge)</a:t>
                      </a:r>
                    </a:p>
                  </a:txBody>
                  <a:tcPr marL="111679" marR="111679" marT="55840" marB="55840">
                    <a:solidFill>
                      <a:schemeClr val="accent3">
                        <a:lumMod val="75000"/>
                      </a:schemeClr>
                    </a:solidFill>
                  </a:tcPr>
                </a:tc>
                <a:extLst>
                  <a:ext uri="{0D108BD9-81ED-4DB2-BD59-A6C34878D82A}">
                    <a16:rowId xmlns:a16="http://schemas.microsoft.com/office/drawing/2014/main" val="955461124"/>
                  </a:ext>
                </a:extLst>
              </a:tr>
              <a:tr h="593912">
                <a:tc>
                  <a:txBody>
                    <a:bodyPr/>
                    <a:lstStyle/>
                    <a:p>
                      <a:endParaRPr lang="en-US" sz="1500">
                        <a:solidFill>
                          <a:schemeClr val="bg1"/>
                        </a:solidFill>
                      </a:endParaRPr>
                    </a:p>
                  </a:txBody>
                  <a:tcPr marL="111679" marR="111679" marT="55840" marB="5584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1679" marR="111679" marT="55840" marB="5584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chemeClr val="tx1"/>
                          </a:solidFill>
                        </a:rPr>
                        <a:t>KB Swing</a:t>
                      </a:r>
                    </a:p>
                    <a:p>
                      <a:endParaRPr lang="en-US" sz="1500">
                        <a:solidFill>
                          <a:schemeClr val="tx1"/>
                        </a:solidFill>
                      </a:endParaRPr>
                    </a:p>
                  </a:txBody>
                  <a:tcPr marL="111679" marR="111679" marT="55840" marB="55840">
                    <a:lnL>
                      <a:noFill/>
                    </a:lnL>
                    <a:solidFill>
                      <a:schemeClr val="accent3">
                        <a:lumMod val="60000"/>
                        <a:lumOff val="40000"/>
                      </a:schemeClr>
                    </a:solidFill>
                  </a:tcPr>
                </a:tc>
                <a:tc>
                  <a:txBody>
                    <a:bodyPr/>
                    <a:lstStyle/>
                    <a:p>
                      <a:r>
                        <a:rPr lang="en-US" sz="1500">
                          <a:solidFill>
                            <a:schemeClr val="tx1"/>
                          </a:solidFill>
                        </a:rPr>
                        <a:t>Goodmorning(Heavy) </a:t>
                      </a:r>
                    </a:p>
                  </a:txBody>
                  <a:tcPr marL="111679" marR="111679" marT="55840" marB="55840">
                    <a:solidFill>
                      <a:schemeClr val="accent3">
                        <a:lumMod val="75000"/>
                      </a:schemeClr>
                    </a:solidFill>
                  </a:tcPr>
                </a:tc>
                <a:extLst>
                  <a:ext uri="{0D108BD9-81ED-4DB2-BD59-A6C34878D82A}">
                    <a16:rowId xmlns:a16="http://schemas.microsoft.com/office/drawing/2014/main" val="2192911196"/>
                  </a:ext>
                </a:extLst>
              </a:tr>
              <a:tr h="818206">
                <a:tc>
                  <a:txBody>
                    <a:bodyPr/>
                    <a:lstStyle/>
                    <a:p>
                      <a:endParaRPr lang="en-US" sz="1500">
                        <a:solidFill>
                          <a:schemeClr val="bg1"/>
                        </a:solidFill>
                      </a:endParaRPr>
                    </a:p>
                  </a:txBody>
                  <a:tcPr marL="111679" marR="111679" marT="55840" marB="5584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Banded Pull Through</a:t>
                      </a:r>
                    </a:p>
                  </a:txBody>
                  <a:tcPr marL="111679" marR="111679" marT="55840" marB="55840">
                    <a:lnL>
                      <a:noFill/>
                    </a:lnL>
                    <a:lnT>
                      <a:noFill/>
                    </a:lnT>
                    <a:solidFill>
                      <a:schemeClr val="accent3">
                        <a:lumMod val="40000"/>
                        <a:lumOff val="60000"/>
                      </a:schemeClr>
                    </a:solidFill>
                  </a:tcPr>
                </a:tc>
                <a:tc>
                  <a:txBody>
                    <a:bodyPr/>
                    <a:lstStyle/>
                    <a:p>
                      <a:r>
                        <a:rPr lang="en-US" sz="1500">
                          <a:solidFill>
                            <a:schemeClr val="tx1"/>
                          </a:solidFill>
                        </a:rPr>
                        <a:t>Deadlift from Box</a:t>
                      </a:r>
                    </a:p>
                  </a:txBody>
                  <a:tcPr marL="111679" marR="111679" marT="55840" marB="55840">
                    <a:solidFill>
                      <a:schemeClr val="accent3">
                        <a:lumMod val="60000"/>
                        <a:lumOff val="40000"/>
                      </a:schemeClr>
                    </a:solidFill>
                  </a:tcPr>
                </a:tc>
                <a:tc>
                  <a:txBody>
                    <a:bodyPr/>
                    <a:lstStyle/>
                    <a:p>
                      <a:r>
                        <a:rPr lang="en-US" sz="1500" dirty="0">
                          <a:solidFill>
                            <a:schemeClr val="tx1"/>
                          </a:solidFill>
                        </a:rPr>
                        <a:t>Trap Bar</a:t>
                      </a:r>
                    </a:p>
                    <a:p>
                      <a:endParaRPr lang="en-US" sz="1500" dirty="0">
                        <a:solidFill>
                          <a:schemeClr val="tx1"/>
                        </a:solidFill>
                      </a:endParaRPr>
                    </a:p>
                    <a:p>
                      <a:r>
                        <a:rPr lang="en-US" sz="1500" dirty="0">
                          <a:solidFill>
                            <a:schemeClr val="tx1"/>
                          </a:solidFill>
                        </a:rPr>
                        <a:t>Sumo</a:t>
                      </a:r>
                    </a:p>
                  </a:txBody>
                  <a:tcPr marL="111679" marR="111679" marT="55840" marB="55840">
                    <a:solidFill>
                      <a:schemeClr val="accent3">
                        <a:lumMod val="75000"/>
                      </a:schemeClr>
                    </a:solidFill>
                  </a:tcPr>
                </a:tc>
                <a:extLst>
                  <a:ext uri="{0D108BD9-81ED-4DB2-BD59-A6C34878D82A}">
                    <a16:rowId xmlns:a16="http://schemas.microsoft.com/office/drawing/2014/main" val="4056458"/>
                  </a:ext>
                </a:extLst>
              </a:tr>
              <a:tr h="818206">
                <a:tc>
                  <a:txBody>
                    <a:bodyPr/>
                    <a:lstStyle/>
                    <a:p>
                      <a:endParaRPr lang="en-US" sz="1500">
                        <a:solidFill>
                          <a:schemeClr val="bg1"/>
                        </a:solidFill>
                      </a:endParaRPr>
                    </a:p>
                  </a:txBody>
                  <a:tcPr marL="111679" marR="111679" marT="55840" marB="55840">
                    <a:lnT>
                      <a:noFill/>
                    </a:lnT>
                    <a:solidFill>
                      <a:schemeClr val="bg2"/>
                    </a:solidFill>
                  </a:tcPr>
                </a:tc>
                <a:tc>
                  <a:txBody>
                    <a:bodyPr/>
                    <a:lstStyle/>
                    <a:p>
                      <a:r>
                        <a:rPr lang="en-US" sz="1500" dirty="0">
                          <a:solidFill>
                            <a:schemeClr val="tx1"/>
                          </a:solidFill>
                        </a:rPr>
                        <a:t>Glute Bridge (Supine on Floor)</a:t>
                      </a:r>
                    </a:p>
                  </a:txBody>
                  <a:tcPr marL="111679" marR="111679" marT="55840" marB="55840">
                    <a:solidFill>
                      <a:schemeClr val="accent3">
                        <a:lumMod val="40000"/>
                        <a:lumOff val="60000"/>
                      </a:schemeClr>
                    </a:solidFill>
                  </a:tcPr>
                </a:tc>
                <a:tc>
                  <a:txBody>
                    <a:bodyPr/>
                    <a:lstStyle/>
                    <a:p>
                      <a:r>
                        <a:rPr lang="en-US" sz="1500" dirty="0">
                          <a:solidFill>
                            <a:schemeClr val="tx1"/>
                          </a:solidFill>
                        </a:rPr>
                        <a:t>Goat Belly</a:t>
                      </a:r>
                    </a:p>
                    <a:p>
                      <a:r>
                        <a:rPr lang="en-US" sz="1500" dirty="0">
                          <a:solidFill>
                            <a:schemeClr val="tx1"/>
                          </a:solidFill>
                        </a:rPr>
                        <a:t>Banded Hip Thrust </a:t>
                      </a:r>
                    </a:p>
                  </a:txBody>
                  <a:tcPr marL="111679" marR="111679" marT="55840" marB="55840">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rPr>
                        <a:t>RDL</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dirty="0">
                          <a:solidFill>
                            <a:schemeClr val="tx1"/>
                          </a:solidFill>
                        </a:rPr>
                        <a:t>Conventional</a:t>
                      </a:r>
                    </a:p>
                    <a:p>
                      <a:endParaRPr lang="en-US" sz="1500" dirty="0">
                        <a:solidFill>
                          <a:schemeClr val="tx1"/>
                        </a:solidFill>
                      </a:endParaRPr>
                    </a:p>
                  </a:txBody>
                  <a:tcPr marL="111679" marR="111679" marT="55840" marB="55840">
                    <a:solidFill>
                      <a:schemeClr val="accent3">
                        <a:lumMod val="75000"/>
                      </a:schemeClr>
                    </a:solidFill>
                  </a:tcPr>
                </a:tc>
                <a:extLst>
                  <a:ext uri="{0D108BD9-81ED-4DB2-BD59-A6C34878D82A}">
                    <a16:rowId xmlns:a16="http://schemas.microsoft.com/office/drawing/2014/main" val="3024296067"/>
                  </a:ext>
                </a:extLst>
              </a:tr>
              <a:tr h="369618">
                <a:tc>
                  <a:txBody>
                    <a:bodyPr/>
                    <a:lstStyle/>
                    <a:p>
                      <a:r>
                        <a:rPr lang="en-US" sz="1500">
                          <a:solidFill>
                            <a:schemeClr val="tx1"/>
                          </a:solidFill>
                        </a:rPr>
                        <a:t>0</a:t>
                      </a:r>
                    </a:p>
                  </a:txBody>
                  <a:tcPr marL="111679" marR="111679" marT="55840" marB="55840">
                    <a:solidFill>
                      <a:srgbClr val="B5E9E1">
                        <a:alpha val="20000"/>
                      </a:srgbClr>
                    </a:solidFill>
                  </a:tcPr>
                </a:tc>
                <a:tc>
                  <a:txBody>
                    <a:bodyPr/>
                    <a:lstStyle/>
                    <a:p>
                      <a:r>
                        <a:rPr lang="en-US" sz="1500">
                          <a:solidFill>
                            <a:schemeClr val="tx1"/>
                          </a:solidFill>
                        </a:rPr>
                        <a:t>1</a:t>
                      </a:r>
                    </a:p>
                  </a:txBody>
                  <a:tcPr marL="111679" marR="111679" marT="55840" marB="55840">
                    <a:solidFill>
                      <a:srgbClr val="B5E9E1">
                        <a:alpha val="20000"/>
                      </a:srgbClr>
                    </a:solidFill>
                  </a:tcPr>
                </a:tc>
                <a:tc>
                  <a:txBody>
                    <a:bodyPr/>
                    <a:lstStyle/>
                    <a:p>
                      <a:r>
                        <a:rPr lang="en-US" sz="1500">
                          <a:solidFill>
                            <a:schemeClr val="tx1"/>
                          </a:solidFill>
                        </a:rPr>
                        <a:t>2</a:t>
                      </a:r>
                    </a:p>
                  </a:txBody>
                  <a:tcPr marL="111679" marR="111679" marT="55840" marB="55840">
                    <a:solidFill>
                      <a:srgbClr val="B5E9E1">
                        <a:alpha val="20000"/>
                      </a:srgbClr>
                    </a:solidFill>
                  </a:tcPr>
                </a:tc>
                <a:tc>
                  <a:txBody>
                    <a:bodyPr/>
                    <a:lstStyle/>
                    <a:p>
                      <a:r>
                        <a:rPr lang="en-US" sz="1500" dirty="0">
                          <a:solidFill>
                            <a:schemeClr val="tx1"/>
                          </a:solidFill>
                        </a:rPr>
                        <a:t>3</a:t>
                      </a:r>
                    </a:p>
                  </a:txBody>
                  <a:tcPr marL="111679" marR="111679" marT="55840" marB="55840">
                    <a:solidFill>
                      <a:srgbClr val="B5E9E1">
                        <a:alpha val="20000"/>
                      </a:srgbClr>
                    </a:solidFill>
                  </a:tcPr>
                </a:tc>
                <a:extLst>
                  <a:ext uri="{0D108BD9-81ED-4DB2-BD59-A6C34878D82A}">
                    <a16:rowId xmlns:a16="http://schemas.microsoft.com/office/drawing/2014/main" val="3424676208"/>
                  </a:ext>
                </a:extLst>
              </a:tr>
            </a:tbl>
          </a:graphicData>
        </a:graphic>
      </p:graphicFrame>
    </p:spTree>
    <p:extLst>
      <p:ext uri="{BB962C8B-B14F-4D97-AF65-F5344CB8AC3E}">
        <p14:creationId xmlns:p14="http://schemas.microsoft.com/office/powerpoint/2010/main" val="9252399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9EE51-3B42-0BE3-1436-4E160BF55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F6A8F1-1678-6712-B4B5-B688938B4DFF}"/>
              </a:ext>
            </a:extLst>
          </p:cNvPr>
          <p:cNvSpPr>
            <a:spLocks noGrp="1"/>
          </p:cNvSpPr>
          <p:nvPr>
            <p:ph type="title"/>
          </p:nvPr>
        </p:nvSpPr>
        <p:spPr/>
        <p:txBody>
          <a:bodyPr/>
          <a:lstStyle/>
          <a:p>
            <a:r>
              <a:rPr lang="en-US"/>
              <a:t>HINGE </a:t>
            </a:r>
            <a:r>
              <a:rPr lang="en-US">
                <a:solidFill>
                  <a:schemeClr val="accent6"/>
                </a:solidFill>
              </a:rPr>
              <a:t>BENEFITS</a:t>
            </a:r>
          </a:p>
        </p:txBody>
      </p:sp>
      <p:sp>
        <p:nvSpPr>
          <p:cNvPr id="4" name="Slide Number Placeholder 3">
            <a:extLst>
              <a:ext uri="{FF2B5EF4-FFF2-40B4-BE49-F238E27FC236}">
                <a16:creationId xmlns:a16="http://schemas.microsoft.com/office/drawing/2014/main" id="{F8F9D085-1DA3-40F5-F48E-B1BE0E21567E}"/>
              </a:ext>
            </a:extLst>
          </p:cNvPr>
          <p:cNvSpPr>
            <a:spLocks noGrp="1"/>
          </p:cNvSpPr>
          <p:nvPr>
            <p:ph type="sldNum" sz="quarter" idx="12"/>
          </p:nvPr>
        </p:nvSpPr>
        <p:spPr/>
        <p:txBody>
          <a:bodyPr/>
          <a:lstStyle/>
          <a:p>
            <a:fld id="{545951DD-1C6A-495F-8185-4C73F8F8B75A}" type="slidenum">
              <a:rPr lang="en-US" smtClean="0"/>
              <a:pPr/>
              <a:t>41</a:t>
            </a:fld>
            <a:endParaRPr lang="en-US"/>
          </a:p>
        </p:txBody>
      </p:sp>
      <p:sp>
        <p:nvSpPr>
          <p:cNvPr id="5" name="Text Placeholder 4">
            <a:extLst>
              <a:ext uri="{FF2B5EF4-FFF2-40B4-BE49-F238E27FC236}">
                <a16:creationId xmlns:a16="http://schemas.microsoft.com/office/drawing/2014/main" id="{2681D2B2-BD92-8138-CF04-E40A8CB302F7}"/>
              </a:ext>
            </a:extLst>
          </p:cNvPr>
          <p:cNvSpPr>
            <a:spLocks noGrp="1"/>
          </p:cNvSpPr>
          <p:nvPr>
            <p:ph type="body" idx="4294967295"/>
          </p:nvPr>
        </p:nvSpPr>
        <p:spPr>
          <a:xfrm>
            <a:off x="12748591" y="969823"/>
            <a:ext cx="3300620" cy="3172860"/>
          </a:xfrm>
        </p:spPr>
        <p:txBody>
          <a:bodyPr/>
          <a:lstStyle/>
          <a:p>
            <a:pPr marL="0" indent="0">
              <a:buNone/>
            </a:pPr>
            <a:r>
              <a:rPr lang="en-US" sz="1400" i="1"/>
              <a:t>objects onto shelves, stabilizing loads overhead, and maintaining strong, mobile shoulders. Proper execution prevents compensations that stress the lower back or rotator cuff.</a:t>
            </a:r>
            <a:endParaRPr lang="en-US" sz="1400" b="1">
              <a:ea typeface="+mn-lt"/>
              <a:cs typeface="+mn-lt"/>
            </a:endParaRPr>
          </a:p>
          <a:p>
            <a:pPr marL="0" indent="0">
              <a:buNone/>
            </a:pPr>
            <a:r>
              <a:rPr lang="en-US" sz="2000" b="1">
                <a:ea typeface="+mn-lt"/>
                <a:cs typeface="+mn-lt"/>
              </a:rPr>
              <a:t>PRIME MOVERS:</a:t>
            </a:r>
          </a:p>
          <a:p>
            <a:pPr marL="0" indent="0">
              <a:buNone/>
            </a:pPr>
            <a:r>
              <a:rPr lang="en-US" sz="1400"/>
              <a:t>Deltoids (especially anterior/lateral), upper trapezius (stabilizer), triceps brachii </a:t>
            </a:r>
            <a:endParaRPr lang="en-US" sz="1400" b="1"/>
          </a:p>
        </p:txBody>
      </p:sp>
      <p:sp>
        <p:nvSpPr>
          <p:cNvPr id="10" name="Rectangle: Rounded Corners 9">
            <a:extLst>
              <a:ext uri="{FF2B5EF4-FFF2-40B4-BE49-F238E27FC236}">
                <a16:creationId xmlns:a16="http://schemas.microsoft.com/office/drawing/2014/main" id="{3C4AA887-8E7C-3BCC-1699-374A2B8CDD10}"/>
              </a:ext>
            </a:extLst>
          </p:cNvPr>
          <p:cNvSpPr/>
          <p:nvPr/>
        </p:nvSpPr>
        <p:spPr>
          <a:xfrm>
            <a:off x="-1731859" y="4068279"/>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Improved Functional Movement</a:t>
            </a:r>
          </a:p>
        </p:txBody>
      </p:sp>
      <p:sp>
        <p:nvSpPr>
          <p:cNvPr id="11" name="Rectangle: Rounded Corners 10">
            <a:extLst>
              <a:ext uri="{FF2B5EF4-FFF2-40B4-BE49-F238E27FC236}">
                <a16:creationId xmlns:a16="http://schemas.microsoft.com/office/drawing/2014/main" id="{42984E3B-6EF7-D3E7-E25C-5672AAEEA585}"/>
              </a:ext>
            </a:extLst>
          </p:cNvPr>
          <p:cNvSpPr/>
          <p:nvPr/>
        </p:nvSpPr>
        <p:spPr>
          <a:xfrm>
            <a:off x="-1731858" y="202551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Strengthens Posterior Chain</a:t>
            </a:r>
          </a:p>
        </p:txBody>
      </p:sp>
      <p:sp>
        <p:nvSpPr>
          <p:cNvPr id="12" name="Rectangle: Rounded Corners 11">
            <a:extLst>
              <a:ext uri="{FF2B5EF4-FFF2-40B4-BE49-F238E27FC236}">
                <a16:creationId xmlns:a16="http://schemas.microsoft.com/office/drawing/2014/main" id="{AD6CF19C-7F45-CF87-C4A1-4D3193EE907E}"/>
              </a:ext>
            </a:extLst>
          </p:cNvPr>
          <p:cNvSpPr/>
          <p:nvPr/>
        </p:nvSpPr>
        <p:spPr>
          <a:xfrm>
            <a:off x="-1731859" y="507780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Better Athletic Performance</a:t>
            </a:r>
          </a:p>
        </p:txBody>
      </p:sp>
      <p:sp>
        <p:nvSpPr>
          <p:cNvPr id="13" name="Rectangle: Rounded Corners 12">
            <a:extLst>
              <a:ext uri="{FF2B5EF4-FFF2-40B4-BE49-F238E27FC236}">
                <a16:creationId xmlns:a16="http://schemas.microsoft.com/office/drawing/2014/main" id="{5F0C919E-527E-CF10-199C-5FB62E7A4073}"/>
              </a:ext>
            </a:extLst>
          </p:cNvPr>
          <p:cNvSpPr/>
          <p:nvPr/>
        </p:nvSpPr>
        <p:spPr>
          <a:xfrm>
            <a:off x="-1731858" y="3035033"/>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Prevents low-back injuries </a:t>
            </a:r>
          </a:p>
        </p:txBody>
      </p:sp>
      <p:sp>
        <p:nvSpPr>
          <p:cNvPr id="14" name="Text Placeholder 4">
            <a:extLst>
              <a:ext uri="{FF2B5EF4-FFF2-40B4-BE49-F238E27FC236}">
                <a16:creationId xmlns:a16="http://schemas.microsoft.com/office/drawing/2014/main" id="{4EE6D663-032C-4074-B57B-0176CD435650}"/>
              </a:ext>
            </a:extLst>
          </p:cNvPr>
          <p:cNvSpPr txBox="1">
            <a:spLocks/>
          </p:cNvSpPr>
          <p:nvPr/>
        </p:nvSpPr>
        <p:spPr>
          <a:xfrm>
            <a:off x="7410837" y="2579411"/>
            <a:ext cx="3734922" cy="4278589"/>
          </a:xfrm>
          <a:prstGeom prst="rect">
            <a:avLst/>
          </a:prstGeom>
        </p:spPr>
        <p:txBody>
          <a:bodyPr vert="horz" lIns="0" tIns="0" rIns="0" bIns="0" rtlCol="0">
            <a:noAutofit/>
          </a:bodyPr>
          <a:lst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a:t>IN REAL LIFE: </a:t>
            </a:r>
          </a:p>
          <a:p>
            <a:pPr algn="ctr"/>
            <a:r>
              <a:rPr lang="en-US" sz="2000"/>
              <a:t>Lifting objects off the ground</a:t>
            </a:r>
          </a:p>
          <a:p>
            <a:pPr algn="ctr"/>
            <a:r>
              <a:rPr lang="en-US" sz="2000"/>
              <a:t>Jumping, sprinting, explosiveness</a:t>
            </a:r>
          </a:p>
          <a:p>
            <a:pPr algn="ctr"/>
            <a:r>
              <a:rPr lang="en-US" sz="2000"/>
              <a:t>Enhances proper spinal alignment</a:t>
            </a:r>
          </a:p>
          <a:p>
            <a:pPr algn="ctr"/>
            <a:endParaRPr lang="en-US" sz="2000"/>
          </a:p>
        </p:txBody>
      </p:sp>
    </p:spTree>
    <p:extLst>
      <p:ext uri="{BB962C8B-B14F-4D97-AF65-F5344CB8AC3E}">
        <p14:creationId xmlns:p14="http://schemas.microsoft.com/office/powerpoint/2010/main" val="38618561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311B7-9C48-D2A7-1431-5C7C26137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43A53-20D9-91E0-FEAD-7423704318D9}"/>
              </a:ext>
            </a:extLst>
          </p:cNvPr>
          <p:cNvSpPr>
            <a:spLocks noGrp="1"/>
          </p:cNvSpPr>
          <p:nvPr>
            <p:ph type="title"/>
          </p:nvPr>
        </p:nvSpPr>
        <p:spPr/>
        <p:txBody>
          <a:bodyPr/>
          <a:lstStyle/>
          <a:p>
            <a:r>
              <a:rPr lang="en-US"/>
              <a:t>HINGE </a:t>
            </a:r>
            <a:r>
              <a:rPr lang="en-US">
                <a:solidFill>
                  <a:schemeClr val="accent6"/>
                </a:solidFill>
              </a:rPr>
              <a:t>PRIME MOVERS</a:t>
            </a:r>
          </a:p>
        </p:txBody>
      </p:sp>
      <p:sp>
        <p:nvSpPr>
          <p:cNvPr id="4" name="Slide Number Placeholder 3">
            <a:extLst>
              <a:ext uri="{FF2B5EF4-FFF2-40B4-BE49-F238E27FC236}">
                <a16:creationId xmlns:a16="http://schemas.microsoft.com/office/drawing/2014/main" id="{C94961E4-D305-DFC6-49C7-D1AD2648975E}"/>
              </a:ext>
            </a:extLst>
          </p:cNvPr>
          <p:cNvSpPr>
            <a:spLocks noGrp="1"/>
          </p:cNvSpPr>
          <p:nvPr>
            <p:ph type="sldNum" sz="quarter" idx="12"/>
          </p:nvPr>
        </p:nvSpPr>
        <p:spPr/>
        <p:txBody>
          <a:bodyPr/>
          <a:lstStyle/>
          <a:p>
            <a:fld id="{545951DD-1C6A-495F-8185-4C73F8F8B75A}" type="slidenum">
              <a:rPr lang="en-US" smtClean="0"/>
              <a:pPr/>
              <a:t>42</a:t>
            </a:fld>
            <a:endParaRPr lang="en-US"/>
          </a:p>
        </p:txBody>
      </p:sp>
      <p:sp>
        <p:nvSpPr>
          <p:cNvPr id="10" name="Rectangle: Rounded Corners 9">
            <a:extLst>
              <a:ext uri="{FF2B5EF4-FFF2-40B4-BE49-F238E27FC236}">
                <a16:creationId xmlns:a16="http://schemas.microsoft.com/office/drawing/2014/main" id="{1ADC4E63-D4C7-FDFF-EEC2-C470F6CDFCC1}"/>
              </a:ext>
            </a:extLst>
          </p:cNvPr>
          <p:cNvSpPr/>
          <p:nvPr/>
        </p:nvSpPr>
        <p:spPr>
          <a:xfrm>
            <a:off x="-1325459" y="4106379"/>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ERECTOR SPINAE- Core Stabilizer</a:t>
            </a:r>
          </a:p>
        </p:txBody>
      </p:sp>
      <p:sp>
        <p:nvSpPr>
          <p:cNvPr id="11" name="Rectangle: Rounded Corners 10">
            <a:extLst>
              <a:ext uri="{FF2B5EF4-FFF2-40B4-BE49-F238E27FC236}">
                <a16:creationId xmlns:a16="http://schemas.microsoft.com/office/drawing/2014/main" id="{C83D47D5-44B0-5D95-DABE-2A9F547FDF38}"/>
              </a:ext>
            </a:extLst>
          </p:cNvPr>
          <p:cNvSpPr/>
          <p:nvPr/>
        </p:nvSpPr>
        <p:spPr>
          <a:xfrm>
            <a:off x="-1325458" y="2063611"/>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GLUTEUS MAXIMUS</a:t>
            </a:r>
          </a:p>
        </p:txBody>
      </p:sp>
      <p:sp>
        <p:nvSpPr>
          <p:cNvPr id="13" name="Rectangle: Rounded Corners 12">
            <a:extLst>
              <a:ext uri="{FF2B5EF4-FFF2-40B4-BE49-F238E27FC236}">
                <a16:creationId xmlns:a16="http://schemas.microsoft.com/office/drawing/2014/main" id="{B88612C0-29F8-BBB3-508A-AB07A70AAC3B}"/>
              </a:ext>
            </a:extLst>
          </p:cNvPr>
          <p:cNvSpPr/>
          <p:nvPr/>
        </p:nvSpPr>
        <p:spPr>
          <a:xfrm>
            <a:off x="-1325458" y="3073133"/>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HAMSTRINGS</a:t>
            </a:r>
          </a:p>
        </p:txBody>
      </p:sp>
    </p:spTree>
    <p:extLst>
      <p:ext uri="{BB962C8B-B14F-4D97-AF65-F5344CB8AC3E}">
        <p14:creationId xmlns:p14="http://schemas.microsoft.com/office/powerpoint/2010/main" val="9492842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F891C-7E55-1464-E71E-87D16012A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C2EA8-CAF4-DA06-271F-32517FCE05CB}"/>
              </a:ext>
            </a:extLst>
          </p:cNvPr>
          <p:cNvSpPr>
            <a:spLocks noGrp="1"/>
          </p:cNvSpPr>
          <p:nvPr>
            <p:ph type="title"/>
          </p:nvPr>
        </p:nvSpPr>
        <p:spPr>
          <a:xfrm>
            <a:off x="880782" y="545914"/>
            <a:ext cx="10414747" cy="1147152"/>
          </a:xfrm>
        </p:spPr>
        <p:txBody>
          <a:bodyPr anchor="ctr">
            <a:normAutofit/>
          </a:bodyPr>
          <a:lstStyle/>
          <a:p>
            <a:r>
              <a:rPr lang="en-US"/>
              <a:t>Squat</a:t>
            </a:r>
          </a:p>
        </p:txBody>
      </p:sp>
      <p:sp>
        <p:nvSpPr>
          <p:cNvPr id="3" name="Footer Placeholder 2">
            <a:extLst>
              <a:ext uri="{FF2B5EF4-FFF2-40B4-BE49-F238E27FC236}">
                <a16:creationId xmlns:a16="http://schemas.microsoft.com/office/drawing/2014/main" id="{6D816C03-3D94-514A-C28D-49F4FA1D6E81}"/>
              </a:ext>
            </a:extLst>
          </p:cNvPr>
          <p:cNvSpPr>
            <a:spLocks noGrp="1"/>
          </p:cNvSpPr>
          <p:nvPr>
            <p:ph type="ftr" sz="quarter" idx="11"/>
          </p:nvPr>
        </p:nvSpPr>
        <p:spPr>
          <a:xfrm>
            <a:off x="342900" y="6394105"/>
            <a:ext cx="10259861" cy="365125"/>
          </a:xfrm>
        </p:spPr>
        <p:txBody>
          <a:bodyPr anchor="ctr">
            <a:normAutofit/>
          </a:bodyPr>
          <a:lstStyle/>
          <a:p>
            <a:pPr>
              <a:spcAft>
                <a:spcPts val="600"/>
              </a:spcAft>
            </a:pPr>
            <a:r>
              <a:rPr lang="en-US" i="1"/>
              <a:t>A client scoring low (1-2) on Overhead Squat may struggle with depth and stability. They should begin with a </a:t>
            </a:r>
            <a:r>
              <a:rPr lang="en-US" b="1" i="1"/>
              <a:t>box squat or brace squat</a:t>
            </a:r>
            <a:r>
              <a:rPr lang="en-US" i="1"/>
              <a:t> before progressing.</a:t>
            </a:r>
            <a:r>
              <a:rPr lang="en-US"/>
              <a:t> </a:t>
            </a:r>
          </a:p>
        </p:txBody>
      </p:sp>
      <p:sp>
        <p:nvSpPr>
          <p:cNvPr id="4" name="Slide Number Placeholder 3">
            <a:extLst>
              <a:ext uri="{FF2B5EF4-FFF2-40B4-BE49-F238E27FC236}">
                <a16:creationId xmlns:a16="http://schemas.microsoft.com/office/drawing/2014/main" id="{16ACE474-3F3F-45F4-451F-87519CECA14D}"/>
              </a:ext>
            </a:extLst>
          </p:cNvPr>
          <p:cNvSpPr>
            <a:spLocks noGrp="1"/>
          </p:cNvSpPr>
          <p:nvPr>
            <p:ph type="sldNum" sz="quarter" idx="12"/>
          </p:nvPr>
        </p:nvSpPr>
        <p:spPr>
          <a:xfrm>
            <a:off x="11674225" y="5477347"/>
            <a:ext cx="305503" cy="306298"/>
          </a:xfrm>
        </p:spPr>
        <p:txBody>
          <a:bodyPr anchor="ctr">
            <a:normAutofit/>
          </a:bodyPr>
          <a:lstStyle/>
          <a:p>
            <a:pPr>
              <a:spcAft>
                <a:spcPts val="600"/>
              </a:spcAft>
            </a:pPr>
            <a:fld id="{545951DD-1C6A-495F-8185-4C73F8F8B75A}" type="slidenum">
              <a:rPr lang="en-US" smtClean="0"/>
              <a:pPr>
                <a:spcAft>
                  <a:spcPts val="600"/>
                </a:spcAft>
              </a:pPr>
              <a:t>43</a:t>
            </a:fld>
            <a:endParaRPr lang="en-US"/>
          </a:p>
        </p:txBody>
      </p:sp>
      <p:graphicFrame>
        <p:nvGraphicFramePr>
          <p:cNvPr id="7" name="Table 6">
            <a:extLst>
              <a:ext uri="{FF2B5EF4-FFF2-40B4-BE49-F238E27FC236}">
                <a16:creationId xmlns:a16="http://schemas.microsoft.com/office/drawing/2014/main" id="{492D8221-0175-9698-1427-33A549254B33}"/>
              </a:ext>
            </a:extLst>
          </p:cNvPr>
          <p:cNvGraphicFramePr>
            <a:graphicFrameLocks noGrp="1"/>
          </p:cNvGraphicFramePr>
          <p:nvPr>
            <p:extLst>
              <p:ext uri="{D42A27DB-BD31-4B8C-83A1-F6EECF244321}">
                <p14:modId xmlns:p14="http://schemas.microsoft.com/office/powerpoint/2010/main" val="4231788682"/>
              </p:ext>
            </p:extLst>
          </p:nvPr>
        </p:nvGraphicFramePr>
        <p:xfrm>
          <a:off x="880782" y="2281651"/>
          <a:ext cx="10414748" cy="3554646"/>
        </p:xfrm>
        <a:graphic>
          <a:graphicData uri="http://schemas.openxmlformats.org/drawingml/2006/table">
            <a:tbl>
              <a:tblPr firstRow="1" bandRow="1">
                <a:tableStyleId>{9D7B26C5-4107-4FEC-AEDC-1716B250A1EF}</a:tableStyleId>
              </a:tblPr>
              <a:tblGrid>
                <a:gridCol w="695494">
                  <a:extLst>
                    <a:ext uri="{9D8B030D-6E8A-4147-A177-3AD203B41FA5}">
                      <a16:colId xmlns:a16="http://schemas.microsoft.com/office/drawing/2014/main" val="578100667"/>
                    </a:ext>
                  </a:extLst>
                </a:gridCol>
                <a:gridCol w="3596100">
                  <a:extLst>
                    <a:ext uri="{9D8B030D-6E8A-4147-A177-3AD203B41FA5}">
                      <a16:colId xmlns:a16="http://schemas.microsoft.com/office/drawing/2014/main" val="3492030474"/>
                    </a:ext>
                  </a:extLst>
                </a:gridCol>
                <a:gridCol w="3058216">
                  <a:extLst>
                    <a:ext uri="{9D8B030D-6E8A-4147-A177-3AD203B41FA5}">
                      <a16:colId xmlns:a16="http://schemas.microsoft.com/office/drawing/2014/main" val="3625462225"/>
                    </a:ext>
                  </a:extLst>
                </a:gridCol>
                <a:gridCol w="3064938">
                  <a:extLst>
                    <a:ext uri="{9D8B030D-6E8A-4147-A177-3AD203B41FA5}">
                      <a16:colId xmlns:a16="http://schemas.microsoft.com/office/drawing/2014/main" val="1103401940"/>
                    </a:ext>
                  </a:extLst>
                </a:gridCol>
              </a:tblGrid>
              <a:tr h="582490">
                <a:tc>
                  <a:txBody>
                    <a:bodyPr/>
                    <a:lstStyle/>
                    <a:p>
                      <a:endParaRPr lang="en-US" sz="1500">
                        <a:solidFill>
                          <a:schemeClr val="bg1"/>
                        </a:solidFill>
                      </a:endParaRPr>
                    </a:p>
                  </a:txBody>
                  <a:tcPr marL="105010" marR="105010" marT="52505" marB="52505">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5010" marR="105010" marT="52505" marB="52505">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5010" marR="105010" marT="52505" marB="52505">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Barbell Back Squat</a:t>
                      </a:r>
                    </a:p>
                    <a:p>
                      <a:r>
                        <a:rPr lang="en-US" sz="1500">
                          <a:solidFill>
                            <a:schemeClr val="tx1"/>
                          </a:solidFill>
                        </a:rPr>
                        <a:t>(High/Low Bar)</a:t>
                      </a:r>
                    </a:p>
                  </a:txBody>
                  <a:tcPr marL="105010" marR="105010" marT="52505" marB="52505">
                    <a:lnL>
                      <a:noFill/>
                    </a:lnL>
                    <a:solidFill>
                      <a:schemeClr val="accent3">
                        <a:lumMod val="75000"/>
                      </a:schemeClr>
                    </a:solidFill>
                  </a:tcPr>
                </a:tc>
                <a:extLst>
                  <a:ext uri="{0D108BD9-81ED-4DB2-BD59-A6C34878D82A}">
                    <a16:rowId xmlns:a16="http://schemas.microsoft.com/office/drawing/2014/main" val="570874207"/>
                  </a:ext>
                </a:extLst>
              </a:tr>
              <a:tr h="361435">
                <a:tc>
                  <a:txBody>
                    <a:bodyPr/>
                    <a:lstStyle/>
                    <a:p>
                      <a:endParaRPr lang="en-US" sz="1500">
                        <a:solidFill>
                          <a:schemeClr val="bg1"/>
                        </a:solidFill>
                      </a:endParaRPr>
                    </a:p>
                  </a:txBody>
                  <a:tcPr marL="105010" marR="105010" marT="52505" marB="52505">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5010" marR="105010" marT="52505" marB="52505">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5010" marR="105010" marT="52505" marB="52505">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Safety Bar (Tempo) </a:t>
                      </a:r>
                    </a:p>
                  </a:txBody>
                  <a:tcPr marL="105010" marR="105010" marT="52505" marB="52505">
                    <a:lnL>
                      <a:noFill/>
                    </a:lnL>
                    <a:solidFill>
                      <a:schemeClr val="accent3">
                        <a:lumMod val="75000"/>
                      </a:schemeClr>
                    </a:solidFill>
                  </a:tcPr>
                </a:tc>
                <a:extLst>
                  <a:ext uri="{0D108BD9-81ED-4DB2-BD59-A6C34878D82A}">
                    <a16:rowId xmlns:a16="http://schemas.microsoft.com/office/drawing/2014/main" val="749760594"/>
                  </a:ext>
                </a:extLst>
              </a:tr>
              <a:tr h="361435">
                <a:tc>
                  <a:txBody>
                    <a:bodyPr/>
                    <a:lstStyle/>
                    <a:p>
                      <a:endParaRPr lang="en-US" sz="1500">
                        <a:solidFill>
                          <a:schemeClr val="bg1"/>
                        </a:solidFill>
                      </a:endParaRPr>
                    </a:p>
                  </a:txBody>
                  <a:tcPr marL="105010" marR="105010" marT="52505" marB="5250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5010" marR="105010" marT="52505" marB="5250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5010" marR="105010" marT="52505" marB="5250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Smith Machine Pause</a:t>
                      </a:r>
                    </a:p>
                  </a:txBody>
                  <a:tcPr marL="105010" marR="105010" marT="52505" marB="52505">
                    <a:lnL>
                      <a:noFill/>
                    </a:lnL>
                    <a:solidFill>
                      <a:schemeClr val="accent3">
                        <a:lumMod val="75000"/>
                      </a:schemeClr>
                    </a:solidFill>
                  </a:tcPr>
                </a:tc>
                <a:extLst>
                  <a:ext uri="{0D108BD9-81ED-4DB2-BD59-A6C34878D82A}">
                    <a16:rowId xmlns:a16="http://schemas.microsoft.com/office/drawing/2014/main" val="3986133860"/>
                  </a:ext>
                </a:extLst>
              </a:tr>
              <a:tr h="361435">
                <a:tc>
                  <a:txBody>
                    <a:bodyPr/>
                    <a:lstStyle/>
                    <a:p>
                      <a:endParaRPr lang="en-US" sz="1500">
                        <a:solidFill>
                          <a:schemeClr val="bg1"/>
                        </a:solidFill>
                      </a:endParaRPr>
                    </a:p>
                  </a:txBody>
                  <a:tcPr marL="105010" marR="105010" marT="52505" marB="5250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5010" marR="105010" marT="52505" marB="5250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Unilateral Load</a:t>
                      </a:r>
                    </a:p>
                  </a:txBody>
                  <a:tcPr marL="105010" marR="105010" marT="52505" marB="52505">
                    <a:lnL>
                      <a:noFill/>
                    </a:lnL>
                    <a:lnT>
                      <a:noFill/>
                    </a:lnT>
                    <a:solidFill>
                      <a:schemeClr val="accent3">
                        <a:lumMod val="60000"/>
                        <a:lumOff val="40000"/>
                      </a:schemeClr>
                    </a:solidFill>
                  </a:tcPr>
                </a:tc>
                <a:tc>
                  <a:txBody>
                    <a:bodyPr/>
                    <a:lstStyle/>
                    <a:p>
                      <a:r>
                        <a:rPr lang="en-US" sz="1500">
                          <a:solidFill>
                            <a:schemeClr val="tx1"/>
                          </a:solidFill>
                        </a:rPr>
                        <a:t>1.5 Stance</a:t>
                      </a:r>
                    </a:p>
                  </a:txBody>
                  <a:tcPr marL="105010" marR="105010" marT="52505" marB="52505">
                    <a:solidFill>
                      <a:schemeClr val="accent3">
                        <a:lumMod val="75000"/>
                      </a:schemeClr>
                    </a:solidFill>
                  </a:tcPr>
                </a:tc>
                <a:extLst>
                  <a:ext uri="{0D108BD9-81ED-4DB2-BD59-A6C34878D82A}">
                    <a16:rowId xmlns:a16="http://schemas.microsoft.com/office/drawing/2014/main" val="3514245776"/>
                  </a:ext>
                </a:extLst>
              </a:tr>
              <a:tr h="361435">
                <a:tc>
                  <a:txBody>
                    <a:bodyPr/>
                    <a:lstStyle/>
                    <a:p>
                      <a:endParaRPr lang="en-US" sz="1500">
                        <a:solidFill>
                          <a:schemeClr val="bg1"/>
                        </a:solidFill>
                      </a:endParaRPr>
                    </a:p>
                  </a:txBody>
                  <a:tcPr marL="105010" marR="105010" marT="52505" marB="5250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5010" marR="105010" marT="52505" marB="5250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Landmine</a:t>
                      </a:r>
                    </a:p>
                  </a:txBody>
                  <a:tcPr marL="105010" marR="105010" marT="52505" marB="52505">
                    <a:lnL>
                      <a:noFill/>
                    </a:lnL>
                    <a:solidFill>
                      <a:schemeClr val="accent3">
                        <a:lumMod val="60000"/>
                        <a:lumOff val="40000"/>
                      </a:schemeClr>
                    </a:solidFill>
                  </a:tcPr>
                </a:tc>
                <a:tc>
                  <a:txBody>
                    <a:bodyPr/>
                    <a:lstStyle/>
                    <a:p>
                      <a:r>
                        <a:rPr lang="en-US" sz="1500">
                          <a:solidFill>
                            <a:schemeClr val="tx1"/>
                          </a:solidFill>
                        </a:rPr>
                        <a:t>Zercher/Trap Bar</a:t>
                      </a:r>
                    </a:p>
                  </a:txBody>
                  <a:tcPr marL="105010" marR="105010" marT="52505" marB="52505">
                    <a:solidFill>
                      <a:schemeClr val="accent3">
                        <a:lumMod val="75000"/>
                      </a:schemeClr>
                    </a:solidFill>
                  </a:tcPr>
                </a:tc>
                <a:extLst>
                  <a:ext uri="{0D108BD9-81ED-4DB2-BD59-A6C34878D82A}">
                    <a16:rowId xmlns:a16="http://schemas.microsoft.com/office/drawing/2014/main" val="3299508014"/>
                  </a:ext>
                </a:extLst>
              </a:tr>
              <a:tr h="361435">
                <a:tc>
                  <a:txBody>
                    <a:bodyPr/>
                    <a:lstStyle/>
                    <a:p>
                      <a:endParaRPr lang="en-US" sz="1500">
                        <a:solidFill>
                          <a:schemeClr val="bg1"/>
                        </a:solidFill>
                      </a:endParaRPr>
                    </a:p>
                  </a:txBody>
                  <a:tcPr marL="105010" marR="105010" marT="52505" marB="52505">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Suspension/Assisted Squat </a:t>
                      </a:r>
                    </a:p>
                  </a:txBody>
                  <a:tcPr marL="105010" marR="105010" marT="52505" marB="52505">
                    <a:lnL>
                      <a:noFill/>
                    </a:lnL>
                    <a:lnT>
                      <a:noFill/>
                    </a:lnT>
                    <a:solidFill>
                      <a:schemeClr val="accent3">
                        <a:lumMod val="40000"/>
                        <a:lumOff val="60000"/>
                      </a:schemeClr>
                    </a:solidFill>
                  </a:tcPr>
                </a:tc>
                <a:tc>
                  <a:txBody>
                    <a:bodyPr/>
                    <a:lstStyle/>
                    <a:p>
                      <a:r>
                        <a:rPr lang="en-US" sz="1500">
                          <a:solidFill>
                            <a:schemeClr val="tx1"/>
                          </a:solidFill>
                        </a:rPr>
                        <a:t>Goblet/Landmine</a:t>
                      </a:r>
                    </a:p>
                  </a:txBody>
                  <a:tcPr marL="105010" marR="105010" marT="52505" marB="52505">
                    <a:solidFill>
                      <a:schemeClr val="accent3">
                        <a:lumMod val="60000"/>
                        <a:lumOff val="40000"/>
                      </a:schemeClr>
                    </a:solidFill>
                  </a:tcPr>
                </a:tc>
                <a:tc>
                  <a:txBody>
                    <a:bodyPr/>
                    <a:lstStyle/>
                    <a:p>
                      <a:r>
                        <a:rPr lang="en-US" sz="1500">
                          <a:solidFill>
                            <a:schemeClr val="tx1"/>
                          </a:solidFill>
                        </a:rPr>
                        <a:t>Front Squat </a:t>
                      </a:r>
                    </a:p>
                  </a:txBody>
                  <a:tcPr marL="105010" marR="105010" marT="52505" marB="52505">
                    <a:solidFill>
                      <a:schemeClr val="accent3">
                        <a:lumMod val="75000"/>
                      </a:schemeClr>
                    </a:solidFill>
                  </a:tcPr>
                </a:tc>
                <a:extLst>
                  <a:ext uri="{0D108BD9-81ED-4DB2-BD59-A6C34878D82A}">
                    <a16:rowId xmlns:a16="http://schemas.microsoft.com/office/drawing/2014/main" val="3446697123"/>
                  </a:ext>
                </a:extLst>
              </a:tr>
              <a:tr h="803546">
                <a:tc>
                  <a:txBody>
                    <a:bodyPr/>
                    <a:lstStyle/>
                    <a:p>
                      <a:endParaRPr lang="en-US" sz="1500">
                        <a:solidFill>
                          <a:schemeClr val="bg1"/>
                        </a:solidFill>
                      </a:endParaRPr>
                    </a:p>
                  </a:txBody>
                  <a:tcPr marL="105010" marR="105010" marT="52505" marB="52505">
                    <a:lnT>
                      <a:noFill/>
                    </a:lnT>
                    <a:solidFill>
                      <a:schemeClr val="bg2"/>
                    </a:solidFill>
                  </a:tcPr>
                </a:tc>
                <a:tc>
                  <a:txBody>
                    <a:bodyPr/>
                    <a:lstStyle/>
                    <a:p>
                      <a:r>
                        <a:rPr lang="en-US" sz="1500" dirty="0">
                          <a:solidFill>
                            <a:schemeClr val="tx1"/>
                          </a:solidFill>
                        </a:rPr>
                        <a:t>Bodyweight/ Box Squat</a:t>
                      </a:r>
                    </a:p>
                  </a:txBody>
                  <a:tcPr marL="105010" marR="105010" marT="52505" marB="52505">
                    <a:solidFill>
                      <a:schemeClr val="accent3">
                        <a:lumMod val="40000"/>
                        <a:lumOff val="60000"/>
                      </a:schemeClr>
                    </a:solidFill>
                  </a:tcPr>
                </a:tc>
                <a:tc>
                  <a:txBody>
                    <a:bodyPr/>
                    <a:lstStyle/>
                    <a:p>
                      <a:r>
                        <a:rPr lang="en-US" sz="1500" dirty="0">
                          <a:solidFill>
                            <a:schemeClr val="tx1"/>
                          </a:solidFill>
                        </a:rPr>
                        <a:t>Brace </a:t>
                      </a:r>
                    </a:p>
                    <a:p>
                      <a:r>
                        <a:rPr lang="en-US" sz="1500" dirty="0">
                          <a:solidFill>
                            <a:schemeClr val="tx1"/>
                          </a:solidFill>
                        </a:rPr>
                        <a:t>Bodyweight </a:t>
                      </a:r>
                    </a:p>
                    <a:p>
                      <a:r>
                        <a:rPr lang="en-US" sz="1500" dirty="0">
                          <a:solidFill>
                            <a:schemeClr val="tx1"/>
                          </a:solidFill>
                        </a:rPr>
                        <a:t> </a:t>
                      </a:r>
                    </a:p>
                  </a:txBody>
                  <a:tcPr marL="105010" marR="105010" marT="52505" marB="52505">
                    <a:solidFill>
                      <a:schemeClr val="accent3">
                        <a:lumMod val="60000"/>
                        <a:lumOff val="40000"/>
                      </a:schemeClr>
                    </a:solidFill>
                  </a:tcPr>
                </a:tc>
                <a:tc>
                  <a:txBody>
                    <a:bodyPr/>
                    <a:lstStyle/>
                    <a:p>
                      <a:r>
                        <a:rPr lang="en-US" sz="1500" dirty="0">
                          <a:solidFill>
                            <a:schemeClr val="tx1"/>
                          </a:solidFill>
                        </a:rPr>
                        <a:t>Brace Squat(Tempo)</a:t>
                      </a:r>
                    </a:p>
                  </a:txBody>
                  <a:tcPr marL="105010" marR="105010" marT="52505" marB="52505">
                    <a:solidFill>
                      <a:schemeClr val="accent3">
                        <a:lumMod val="75000"/>
                      </a:schemeClr>
                    </a:solidFill>
                  </a:tcPr>
                </a:tc>
                <a:extLst>
                  <a:ext uri="{0D108BD9-81ED-4DB2-BD59-A6C34878D82A}">
                    <a16:rowId xmlns:a16="http://schemas.microsoft.com/office/drawing/2014/main" val="2747963358"/>
                  </a:ext>
                </a:extLst>
              </a:tr>
              <a:tr h="361435">
                <a:tc>
                  <a:txBody>
                    <a:bodyPr/>
                    <a:lstStyle/>
                    <a:p>
                      <a:r>
                        <a:rPr lang="en-US" sz="1500" dirty="0">
                          <a:solidFill>
                            <a:schemeClr val="tx1"/>
                          </a:solidFill>
                        </a:rPr>
                        <a:t>0</a:t>
                      </a:r>
                    </a:p>
                  </a:txBody>
                  <a:tcPr marL="105010" marR="105010" marT="52505" marB="52505">
                    <a:solidFill>
                      <a:srgbClr val="B5E9E1">
                        <a:alpha val="20000"/>
                      </a:srgbClr>
                    </a:solidFill>
                  </a:tcPr>
                </a:tc>
                <a:tc>
                  <a:txBody>
                    <a:bodyPr/>
                    <a:lstStyle/>
                    <a:p>
                      <a:r>
                        <a:rPr lang="en-US" sz="1500" dirty="0">
                          <a:solidFill>
                            <a:schemeClr val="tx1"/>
                          </a:solidFill>
                        </a:rPr>
                        <a:t>1</a:t>
                      </a:r>
                    </a:p>
                  </a:txBody>
                  <a:tcPr marL="105010" marR="105010" marT="52505" marB="52505">
                    <a:solidFill>
                      <a:srgbClr val="B5E9E1">
                        <a:alpha val="20000"/>
                      </a:srgbClr>
                    </a:solidFill>
                  </a:tcPr>
                </a:tc>
                <a:tc>
                  <a:txBody>
                    <a:bodyPr/>
                    <a:lstStyle/>
                    <a:p>
                      <a:r>
                        <a:rPr lang="en-US" sz="1500" dirty="0">
                          <a:solidFill>
                            <a:schemeClr val="tx1"/>
                          </a:solidFill>
                        </a:rPr>
                        <a:t>2</a:t>
                      </a:r>
                    </a:p>
                  </a:txBody>
                  <a:tcPr marL="105010" marR="105010" marT="52505" marB="52505">
                    <a:solidFill>
                      <a:srgbClr val="B5E9E1">
                        <a:alpha val="20000"/>
                      </a:srgbClr>
                    </a:solidFill>
                  </a:tcPr>
                </a:tc>
                <a:tc>
                  <a:txBody>
                    <a:bodyPr/>
                    <a:lstStyle/>
                    <a:p>
                      <a:r>
                        <a:rPr lang="en-US" sz="1500" dirty="0">
                          <a:solidFill>
                            <a:schemeClr val="tx1"/>
                          </a:solidFill>
                        </a:rPr>
                        <a:t>3</a:t>
                      </a:r>
                    </a:p>
                  </a:txBody>
                  <a:tcPr marL="105010" marR="105010" marT="52505" marB="52505">
                    <a:solidFill>
                      <a:srgbClr val="B5E9E1">
                        <a:alpha val="20000"/>
                      </a:srgbClr>
                    </a:solidFill>
                  </a:tcPr>
                </a:tc>
                <a:extLst>
                  <a:ext uri="{0D108BD9-81ED-4DB2-BD59-A6C34878D82A}">
                    <a16:rowId xmlns:a16="http://schemas.microsoft.com/office/drawing/2014/main" val="230385616"/>
                  </a:ext>
                </a:extLst>
              </a:tr>
            </a:tbl>
          </a:graphicData>
        </a:graphic>
      </p:graphicFrame>
    </p:spTree>
    <p:extLst>
      <p:ext uri="{BB962C8B-B14F-4D97-AF65-F5344CB8AC3E}">
        <p14:creationId xmlns:p14="http://schemas.microsoft.com/office/powerpoint/2010/main" val="16568687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827A7-F61E-AB75-DF8D-992A3EBA8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BFC0A-1D2D-F2DC-A477-F36422B958EA}"/>
              </a:ext>
            </a:extLst>
          </p:cNvPr>
          <p:cNvSpPr>
            <a:spLocks noGrp="1"/>
          </p:cNvSpPr>
          <p:nvPr>
            <p:ph type="title"/>
          </p:nvPr>
        </p:nvSpPr>
        <p:spPr/>
        <p:txBody>
          <a:bodyPr/>
          <a:lstStyle/>
          <a:p>
            <a:r>
              <a:rPr lang="en-US"/>
              <a:t>SQUAT </a:t>
            </a:r>
            <a:r>
              <a:rPr lang="en-US">
                <a:solidFill>
                  <a:schemeClr val="accent6"/>
                </a:solidFill>
              </a:rPr>
              <a:t>BENEFITS</a:t>
            </a:r>
          </a:p>
        </p:txBody>
      </p:sp>
      <p:sp>
        <p:nvSpPr>
          <p:cNvPr id="4" name="Slide Number Placeholder 3">
            <a:extLst>
              <a:ext uri="{FF2B5EF4-FFF2-40B4-BE49-F238E27FC236}">
                <a16:creationId xmlns:a16="http://schemas.microsoft.com/office/drawing/2014/main" id="{CFBFEAD4-B312-4520-1252-ABEF27ED7668}"/>
              </a:ext>
            </a:extLst>
          </p:cNvPr>
          <p:cNvSpPr>
            <a:spLocks noGrp="1"/>
          </p:cNvSpPr>
          <p:nvPr>
            <p:ph type="sldNum" sz="quarter" idx="12"/>
          </p:nvPr>
        </p:nvSpPr>
        <p:spPr/>
        <p:txBody>
          <a:bodyPr/>
          <a:lstStyle/>
          <a:p>
            <a:fld id="{545951DD-1C6A-495F-8185-4C73F8F8B75A}" type="slidenum">
              <a:rPr lang="en-US" smtClean="0"/>
              <a:pPr/>
              <a:t>44</a:t>
            </a:fld>
            <a:endParaRPr lang="en-US"/>
          </a:p>
        </p:txBody>
      </p:sp>
      <p:sp>
        <p:nvSpPr>
          <p:cNvPr id="5" name="Text Placeholder 4">
            <a:extLst>
              <a:ext uri="{FF2B5EF4-FFF2-40B4-BE49-F238E27FC236}">
                <a16:creationId xmlns:a16="http://schemas.microsoft.com/office/drawing/2014/main" id="{AF938373-DE6B-4921-6B5D-185FD9FA47E8}"/>
              </a:ext>
            </a:extLst>
          </p:cNvPr>
          <p:cNvSpPr>
            <a:spLocks noGrp="1"/>
          </p:cNvSpPr>
          <p:nvPr>
            <p:ph type="body" idx="4294967295"/>
          </p:nvPr>
        </p:nvSpPr>
        <p:spPr>
          <a:xfrm>
            <a:off x="12748591" y="969823"/>
            <a:ext cx="3300620" cy="3172860"/>
          </a:xfrm>
        </p:spPr>
        <p:txBody>
          <a:bodyPr/>
          <a:lstStyle/>
          <a:p>
            <a:pPr marL="0" indent="0">
              <a:buNone/>
            </a:pPr>
            <a:r>
              <a:rPr lang="en-US" sz="1400" i="1"/>
              <a:t>objects onto shelves, stabilizing loads overhead, and maintaining strong, mobile shoulders. Proper execution prevents compensations that stress the lower back or rotator cuff.</a:t>
            </a:r>
            <a:endParaRPr lang="en-US" sz="1400" b="1">
              <a:ea typeface="+mn-lt"/>
              <a:cs typeface="+mn-lt"/>
            </a:endParaRPr>
          </a:p>
          <a:p>
            <a:pPr marL="0" indent="0">
              <a:buNone/>
            </a:pPr>
            <a:r>
              <a:rPr lang="en-US" sz="2000" b="1">
                <a:ea typeface="+mn-lt"/>
                <a:cs typeface="+mn-lt"/>
              </a:rPr>
              <a:t>PRIME MOVERS:</a:t>
            </a:r>
          </a:p>
          <a:p>
            <a:pPr marL="0" indent="0">
              <a:buNone/>
            </a:pPr>
            <a:r>
              <a:rPr lang="en-US" sz="1400"/>
              <a:t>Deltoids (especially anterior/lateral), upper trapezius (stabilizer), triceps brachii </a:t>
            </a:r>
            <a:endParaRPr lang="en-US" sz="1400" b="1"/>
          </a:p>
        </p:txBody>
      </p:sp>
      <p:sp>
        <p:nvSpPr>
          <p:cNvPr id="10" name="Rectangle: Rounded Corners 9">
            <a:extLst>
              <a:ext uri="{FF2B5EF4-FFF2-40B4-BE49-F238E27FC236}">
                <a16:creationId xmlns:a16="http://schemas.microsoft.com/office/drawing/2014/main" id="{A5E92E09-CCE3-5019-2085-EFB036A807BC}"/>
              </a:ext>
            </a:extLst>
          </p:cNvPr>
          <p:cNvSpPr/>
          <p:nvPr/>
        </p:nvSpPr>
        <p:spPr>
          <a:xfrm>
            <a:off x="-1731859" y="4068279"/>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Increased Bone Density</a:t>
            </a:r>
            <a:endParaRPr lang="en-US" sz="2800"/>
          </a:p>
        </p:txBody>
      </p:sp>
      <p:sp>
        <p:nvSpPr>
          <p:cNvPr id="11" name="Rectangle: Rounded Corners 10">
            <a:extLst>
              <a:ext uri="{FF2B5EF4-FFF2-40B4-BE49-F238E27FC236}">
                <a16:creationId xmlns:a16="http://schemas.microsoft.com/office/drawing/2014/main" id="{610827AA-7C86-3FDB-104E-6E4040DEE566}"/>
              </a:ext>
            </a:extLst>
          </p:cNvPr>
          <p:cNvSpPr/>
          <p:nvPr/>
        </p:nvSpPr>
        <p:spPr>
          <a:xfrm>
            <a:off x="-1731858" y="202551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Enhanced Lower Body Strength</a:t>
            </a:r>
            <a:endParaRPr lang="en-US" sz="2800"/>
          </a:p>
        </p:txBody>
      </p:sp>
      <p:sp>
        <p:nvSpPr>
          <p:cNvPr id="12" name="Rectangle: Rounded Corners 11">
            <a:extLst>
              <a:ext uri="{FF2B5EF4-FFF2-40B4-BE49-F238E27FC236}">
                <a16:creationId xmlns:a16="http://schemas.microsoft.com/office/drawing/2014/main" id="{BFF13EAA-367E-ADDC-424E-F6D8E8258A72}"/>
              </a:ext>
            </a:extLst>
          </p:cNvPr>
          <p:cNvSpPr/>
          <p:nvPr/>
        </p:nvSpPr>
        <p:spPr>
          <a:xfrm>
            <a:off x="-1731859" y="507780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Core Strength and Stability</a:t>
            </a:r>
            <a:endParaRPr lang="en-US" sz="2800"/>
          </a:p>
        </p:txBody>
      </p:sp>
      <p:sp>
        <p:nvSpPr>
          <p:cNvPr id="13" name="Rectangle: Rounded Corners 12">
            <a:extLst>
              <a:ext uri="{FF2B5EF4-FFF2-40B4-BE49-F238E27FC236}">
                <a16:creationId xmlns:a16="http://schemas.microsoft.com/office/drawing/2014/main" id="{12CD1AE2-D46F-FF8C-A968-E1B5F41CE8AD}"/>
              </a:ext>
            </a:extLst>
          </p:cNvPr>
          <p:cNvSpPr/>
          <p:nvPr/>
        </p:nvSpPr>
        <p:spPr>
          <a:xfrm>
            <a:off x="-1731858" y="3035033"/>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Improved Mobility and Joint Function</a:t>
            </a:r>
            <a:endParaRPr lang="en-US" sz="2800"/>
          </a:p>
        </p:txBody>
      </p:sp>
      <p:sp>
        <p:nvSpPr>
          <p:cNvPr id="14" name="Text Placeholder 4">
            <a:extLst>
              <a:ext uri="{FF2B5EF4-FFF2-40B4-BE49-F238E27FC236}">
                <a16:creationId xmlns:a16="http://schemas.microsoft.com/office/drawing/2014/main" id="{0536E530-8DBB-8BF5-12EF-653BC7C8A573}"/>
              </a:ext>
            </a:extLst>
          </p:cNvPr>
          <p:cNvSpPr txBox="1">
            <a:spLocks/>
          </p:cNvSpPr>
          <p:nvPr/>
        </p:nvSpPr>
        <p:spPr>
          <a:xfrm>
            <a:off x="7410837" y="2579411"/>
            <a:ext cx="3734922" cy="4278589"/>
          </a:xfrm>
          <a:prstGeom prst="rect">
            <a:avLst/>
          </a:prstGeom>
        </p:spPr>
        <p:txBody>
          <a:bodyPr vert="horz" lIns="0" tIns="0" rIns="0" bIns="0" rtlCol="0">
            <a:noAutofit/>
          </a:bodyPr>
          <a:lst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a:t>IN REAL LIFE: </a:t>
            </a:r>
          </a:p>
          <a:p>
            <a:pPr algn="ctr"/>
            <a:r>
              <a:rPr lang="en-US" sz="2000"/>
              <a:t>Sitting and Standing</a:t>
            </a:r>
          </a:p>
          <a:p>
            <a:pPr algn="ctr"/>
            <a:r>
              <a:rPr lang="en-US" sz="2000"/>
              <a:t>Lifting and Carrying Objects</a:t>
            </a:r>
          </a:p>
          <a:p>
            <a:pPr algn="ctr"/>
            <a:r>
              <a:rPr lang="en-US" sz="2000"/>
              <a:t>Enhances athletic performance </a:t>
            </a:r>
            <a:endParaRPr lang="en-US" sz="2000" b="1"/>
          </a:p>
        </p:txBody>
      </p:sp>
    </p:spTree>
    <p:extLst>
      <p:ext uri="{BB962C8B-B14F-4D97-AF65-F5344CB8AC3E}">
        <p14:creationId xmlns:p14="http://schemas.microsoft.com/office/powerpoint/2010/main" val="17828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882F-19FE-6D17-C40A-124DCAC56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56D95-E111-3091-7AB5-6E3AC753DC9A}"/>
              </a:ext>
            </a:extLst>
          </p:cNvPr>
          <p:cNvSpPr>
            <a:spLocks noGrp="1"/>
          </p:cNvSpPr>
          <p:nvPr>
            <p:ph type="title"/>
          </p:nvPr>
        </p:nvSpPr>
        <p:spPr/>
        <p:txBody>
          <a:bodyPr/>
          <a:lstStyle/>
          <a:p>
            <a:r>
              <a:rPr lang="en-US"/>
              <a:t>SQUAT </a:t>
            </a:r>
            <a:r>
              <a:rPr lang="en-US">
                <a:solidFill>
                  <a:schemeClr val="accent6"/>
                </a:solidFill>
              </a:rPr>
              <a:t>PRIME MOVERS</a:t>
            </a:r>
          </a:p>
        </p:txBody>
      </p:sp>
      <p:sp>
        <p:nvSpPr>
          <p:cNvPr id="4" name="Slide Number Placeholder 3">
            <a:extLst>
              <a:ext uri="{FF2B5EF4-FFF2-40B4-BE49-F238E27FC236}">
                <a16:creationId xmlns:a16="http://schemas.microsoft.com/office/drawing/2014/main" id="{28C76944-034A-6239-5CD9-9F323878C7B3}"/>
              </a:ext>
            </a:extLst>
          </p:cNvPr>
          <p:cNvSpPr>
            <a:spLocks noGrp="1"/>
          </p:cNvSpPr>
          <p:nvPr>
            <p:ph type="sldNum" sz="quarter" idx="12"/>
          </p:nvPr>
        </p:nvSpPr>
        <p:spPr/>
        <p:txBody>
          <a:bodyPr/>
          <a:lstStyle/>
          <a:p>
            <a:fld id="{545951DD-1C6A-495F-8185-4C73F8F8B75A}" type="slidenum">
              <a:rPr lang="en-US" smtClean="0"/>
              <a:pPr/>
              <a:t>45</a:t>
            </a:fld>
            <a:endParaRPr lang="en-US"/>
          </a:p>
        </p:txBody>
      </p:sp>
      <p:sp>
        <p:nvSpPr>
          <p:cNvPr id="10" name="Rectangle: Rounded Corners 9">
            <a:extLst>
              <a:ext uri="{FF2B5EF4-FFF2-40B4-BE49-F238E27FC236}">
                <a16:creationId xmlns:a16="http://schemas.microsoft.com/office/drawing/2014/main" id="{BB6C0F59-712B-DFC1-F4B1-2E2639BB85C4}"/>
              </a:ext>
            </a:extLst>
          </p:cNvPr>
          <p:cNvSpPr/>
          <p:nvPr/>
        </p:nvSpPr>
        <p:spPr>
          <a:xfrm>
            <a:off x="-1325459" y="4106379"/>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ADDUCTORS</a:t>
            </a:r>
          </a:p>
        </p:txBody>
      </p:sp>
      <p:sp>
        <p:nvSpPr>
          <p:cNvPr id="11" name="Rectangle: Rounded Corners 10">
            <a:extLst>
              <a:ext uri="{FF2B5EF4-FFF2-40B4-BE49-F238E27FC236}">
                <a16:creationId xmlns:a16="http://schemas.microsoft.com/office/drawing/2014/main" id="{FF5F15B1-5B55-DDA4-8877-9B22856BF62E}"/>
              </a:ext>
            </a:extLst>
          </p:cNvPr>
          <p:cNvSpPr/>
          <p:nvPr/>
        </p:nvSpPr>
        <p:spPr>
          <a:xfrm>
            <a:off x="-1325458" y="2063611"/>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QUADRICEPS</a:t>
            </a:r>
          </a:p>
        </p:txBody>
      </p:sp>
      <p:sp>
        <p:nvSpPr>
          <p:cNvPr id="13" name="Rectangle: Rounded Corners 12">
            <a:extLst>
              <a:ext uri="{FF2B5EF4-FFF2-40B4-BE49-F238E27FC236}">
                <a16:creationId xmlns:a16="http://schemas.microsoft.com/office/drawing/2014/main" id="{03CE0219-D894-D5EE-3A03-F13C758C036E}"/>
              </a:ext>
            </a:extLst>
          </p:cNvPr>
          <p:cNvSpPr/>
          <p:nvPr/>
        </p:nvSpPr>
        <p:spPr>
          <a:xfrm>
            <a:off x="-1325458" y="3073133"/>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GLUTEUS MAXIMUS</a:t>
            </a:r>
          </a:p>
        </p:txBody>
      </p:sp>
    </p:spTree>
    <p:extLst>
      <p:ext uri="{BB962C8B-B14F-4D97-AF65-F5344CB8AC3E}">
        <p14:creationId xmlns:p14="http://schemas.microsoft.com/office/powerpoint/2010/main" val="9733914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468F9-4C60-C515-8844-019B601148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9FB5B-2881-E375-3367-6F9558E24F93}"/>
              </a:ext>
            </a:extLst>
          </p:cNvPr>
          <p:cNvSpPr>
            <a:spLocks noGrp="1"/>
          </p:cNvSpPr>
          <p:nvPr>
            <p:ph type="title"/>
          </p:nvPr>
        </p:nvSpPr>
        <p:spPr>
          <a:xfrm>
            <a:off x="880782" y="545914"/>
            <a:ext cx="10414747" cy="1147152"/>
          </a:xfrm>
        </p:spPr>
        <p:txBody>
          <a:bodyPr anchor="ctr">
            <a:normAutofit/>
          </a:bodyPr>
          <a:lstStyle/>
          <a:p>
            <a:r>
              <a:rPr lang="en-US"/>
              <a:t>Horizontal Pull</a:t>
            </a:r>
          </a:p>
        </p:txBody>
      </p:sp>
      <p:sp>
        <p:nvSpPr>
          <p:cNvPr id="3" name="Footer Placeholder 2">
            <a:extLst>
              <a:ext uri="{FF2B5EF4-FFF2-40B4-BE49-F238E27FC236}">
                <a16:creationId xmlns:a16="http://schemas.microsoft.com/office/drawing/2014/main" id="{078C561A-3612-D0AB-340B-52802C8350C0}"/>
              </a:ext>
            </a:extLst>
          </p:cNvPr>
          <p:cNvSpPr>
            <a:spLocks noGrp="1"/>
          </p:cNvSpPr>
          <p:nvPr>
            <p:ph type="ftr" sz="quarter" idx="11"/>
          </p:nvPr>
        </p:nvSpPr>
        <p:spPr>
          <a:xfrm>
            <a:off x="342900" y="6394105"/>
            <a:ext cx="10259861" cy="365125"/>
          </a:xfrm>
        </p:spPr>
        <p:txBody>
          <a:bodyPr anchor="ctr">
            <a:normAutofit/>
          </a:bodyPr>
          <a:lstStyle/>
          <a:p>
            <a:pPr>
              <a:spcAft>
                <a:spcPts val="600"/>
              </a:spcAft>
            </a:pPr>
            <a:r>
              <a:rPr lang="en-US" i="1"/>
              <a:t>A client scoring low (1-2) on Bird Dog or Plank may struggle with core bracing in unsupported rowing positions. They should begin with a </a:t>
            </a:r>
            <a:r>
              <a:rPr lang="en-US" b="1" i="1"/>
              <a:t>machine row or supported row</a:t>
            </a:r>
            <a:r>
              <a:rPr lang="en-US" i="1"/>
              <a:t> before progressing.</a:t>
            </a:r>
            <a:r>
              <a:rPr lang="en-US"/>
              <a:t> </a:t>
            </a:r>
          </a:p>
        </p:txBody>
      </p:sp>
      <p:sp>
        <p:nvSpPr>
          <p:cNvPr id="4" name="Slide Number Placeholder 3">
            <a:extLst>
              <a:ext uri="{FF2B5EF4-FFF2-40B4-BE49-F238E27FC236}">
                <a16:creationId xmlns:a16="http://schemas.microsoft.com/office/drawing/2014/main" id="{9B79E179-2B20-EDCF-E1C3-E3AA8E4EE482}"/>
              </a:ext>
            </a:extLst>
          </p:cNvPr>
          <p:cNvSpPr>
            <a:spLocks noGrp="1"/>
          </p:cNvSpPr>
          <p:nvPr>
            <p:ph type="sldNum" sz="quarter" idx="12"/>
          </p:nvPr>
        </p:nvSpPr>
        <p:spPr>
          <a:xfrm>
            <a:off x="11674225" y="5477347"/>
            <a:ext cx="305503" cy="306298"/>
          </a:xfrm>
        </p:spPr>
        <p:txBody>
          <a:bodyPr anchor="ctr">
            <a:normAutofit/>
          </a:bodyPr>
          <a:lstStyle/>
          <a:p>
            <a:pPr>
              <a:spcAft>
                <a:spcPts val="600"/>
              </a:spcAft>
            </a:pPr>
            <a:fld id="{545951DD-1C6A-495F-8185-4C73F8F8B75A}" type="slidenum">
              <a:rPr lang="en-US" smtClean="0"/>
              <a:pPr>
                <a:spcAft>
                  <a:spcPts val="600"/>
                </a:spcAft>
              </a:pPr>
              <a:t>46</a:t>
            </a:fld>
            <a:endParaRPr lang="en-US"/>
          </a:p>
        </p:txBody>
      </p:sp>
      <p:graphicFrame>
        <p:nvGraphicFramePr>
          <p:cNvPr id="7" name="Table 6">
            <a:extLst>
              <a:ext uri="{FF2B5EF4-FFF2-40B4-BE49-F238E27FC236}">
                <a16:creationId xmlns:a16="http://schemas.microsoft.com/office/drawing/2014/main" id="{910DB0F2-2565-086E-7135-2821E7C44FFF}"/>
              </a:ext>
            </a:extLst>
          </p:cNvPr>
          <p:cNvGraphicFramePr>
            <a:graphicFrameLocks noGrp="1"/>
          </p:cNvGraphicFramePr>
          <p:nvPr>
            <p:extLst>
              <p:ext uri="{D42A27DB-BD31-4B8C-83A1-F6EECF244321}">
                <p14:modId xmlns:p14="http://schemas.microsoft.com/office/powerpoint/2010/main" val="3403798924"/>
              </p:ext>
            </p:extLst>
          </p:nvPr>
        </p:nvGraphicFramePr>
        <p:xfrm>
          <a:off x="880782" y="2069784"/>
          <a:ext cx="10414749" cy="3978380"/>
        </p:xfrm>
        <a:graphic>
          <a:graphicData uri="http://schemas.openxmlformats.org/drawingml/2006/table">
            <a:tbl>
              <a:tblPr firstRow="1" bandRow="1">
                <a:tableStyleId>{9D7B26C5-4107-4FEC-AEDC-1716B250A1EF}</a:tableStyleId>
              </a:tblPr>
              <a:tblGrid>
                <a:gridCol w="726651">
                  <a:extLst>
                    <a:ext uri="{9D8B030D-6E8A-4147-A177-3AD203B41FA5}">
                      <a16:colId xmlns:a16="http://schemas.microsoft.com/office/drawing/2014/main" val="578100667"/>
                    </a:ext>
                  </a:extLst>
                </a:gridCol>
                <a:gridCol w="2977691">
                  <a:extLst>
                    <a:ext uri="{9D8B030D-6E8A-4147-A177-3AD203B41FA5}">
                      <a16:colId xmlns:a16="http://schemas.microsoft.com/office/drawing/2014/main" val="3492030474"/>
                    </a:ext>
                  </a:extLst>
                </a:gridCol>
                <a:gridCol w="3333596">
                  <a:extLst>
                    <a:ext uri="{9D8B030D-6E8A-4147-A177-3AD203B41FA5}">
                      <a16:colId xmlns:a16="http://schemas.microsoft.com/office/drawing/2014/main" val="3625462225"/>
                    </a:ext>
                  </a:extLst>
                </a:gridCol>
                <a:gridCol w="3376811">
                  <a:extLst>
                    <a:ext uri="{9D8B030D-6E8A-4147-A177-3AD203B41FA5}">
                      <a16:colId xmlns:a16="http://schemas.microsoft.com/office/drawing/2014/main" val="1103401940"/>
                    </a:ext>
                  </a:extLst>
                </a:gridCol>
              </a:tblGrid>
              <a:tr h="380171">
                <a:tc>
                  <a:txBody>
                    <a:bodyPr/>
                    <a:lstStyle/>
                    <a:p>
                      <a:endParaRPr lang="en-US" sz="1500">
                        <a:solidFill>
                          <a:schemeClr val="tx1"/>
                        </a:solidFill>
                      </a:endParaRPr>
                    </a:p>
                  </a:txBody>
                  <a:tcPr marL="110781" marR="110781" marT="55390" marB="5539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0781" marR="110781" marT="55390" marB="5539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0781" marR="110781" marT="55390" marB="5539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Pendlay Row</a:t>
                      </a:r>
                    </a:p>
                  </a:txBody>
                  <a:tcPr marL="110781" marR="110781" marT="55390" marB="55390">
                    <a:lnL>
                      <a:noFill/>
                    </a:lnL>
                    <a:solidFill>
                      <a:schemeClr val="accent3">
                        <a:lumMod val="75000"/>
                      </a:schemeClr>
                    </a:solidFill>
                  </a:tcPr>
                </a:tc>
                <a:extLst>
                  <a:ext uri="{0D108BD9-81ED-4DB2-BD59-A6C34878D82A}">
                    <a16:rowId xmlns:a16="http://schemas.microsoft.com/office/drawing/2014/main" val="570874207"/>
                  </a:ext>
                </a:extLst>
              </a:tr>
              <a:tr h="380171">
                <a:tc>
                  <a:txBody>
                    <a:bodyPr/>
                    <a:lstStyle/>
                    <a:p>
                      <a:endParaRPr lang="en-US" sz="1500">
                        <a:solidFill>
                          <a:schemeClr val="tx1"/>
                        </a:solidFill>
                      </a:endParaRPr>
                    </a:p>
                  </a:txBody>
                  <a:tcPr marL="110781" marR="110781" marT="55390" marB="5539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0781" marR="110781" marT="55390" marB="5539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0781" marR="110781" marT="55390" marB="5539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Barbell Bent Over Row</a:t>
                      </a:r>
                    </a:p>
                  </a:txBody>
                  <a:tcPr marL="110781" marR="110781" marT="55390" marB="55390">
                    <a:lnL>
                      <a:noFill/>
                    </a:lnL>
                    <a:solidFill>
                      <a:schemeClr val="accent3">
                        <a:lumMod val="75000"/>
                      </a:schemeClr>
                    </a:solidFill>
                  </a:tcPr>
                </a:tc>
                <a:extLst>
                  <a:ext uri="{0D108BD9-81ED-4DB2-BD59-A6C34878D82A}">
                    <a16:rowId xmlns:a16="http://schemas.microsoft.com/office/drawing/2014/main" val="749760594"/>
                  </a:ext>
                </a:extLst>
              </a:tr>
              <a:tr h="614424">
                <a:tc>
                  <a:txBody>
                    <a:bodyPr/>
                    <a:lstStyle/>
                    <a:p>
                      <a:endParaRPr lang="en-US" sz="1500">
                        <a:solidFill>
                          <a:schemeClr val="tx1"/>
                        </a:solidFill>
                      </a:endParaRPr>
                    </a:p>
                  </a:txBody>
                  <a:tcPr marL="110781" marR="110781" marT="55390" marB="5539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0781" marR="110781" marT="55390" marB="5539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0781" marR="110781" marT="55390" marB="5539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chemeClr val="tx1"/>
                          </a:solidFill>
                        </a:rPr>
                        <a:t>SA/SL Row </a:t>
                      </a:r>
                    </a:p>
                    <a:p>
                      <a:endParaRPr lang="en-US" sz="1500">
                        <a:solidFill>
                          <a:schemeClr val="tx1"/>
                        </a:solidFill>
                      </a:endParaRPr>
                    </a:p>
                  </a:txBody>
                  <a:tcPr marL="110781" marR="110781" marT="55390" marB="55390">
                    <a:lnL>
                      <a:noFill/>
                    </a:lnL>
                    <a:solidFill>
                      <a:schemeClr val="accent3">
                        <a:lumMod val="75000"/>
                      </a:schemeClr>
                    </a:solidFill>
                  </a:tcPr>
                </a:tc>
                <a:extLst>
                  <a:ext uri="{0D108BD9-81ED-4DB2-BD59-A6C34878D82A}">
                    <a16:rowId xmlns:a16="http://schemas.microsoft.com/office/drawing/2014/main" val="3986133860"/>
                  </a:ext>
                </a:extLst>
              </a:tr>
              <a:tr h="614424">
                <a:tc>
                  <a:txBody>
                    <a:bodyPr/>
                    <a:lstStyle/>
                    <a:p>
                      <a:endParaRPr lang="en-US" sz="1500">
                        <a:solidFill>
                          <a:schemeClr val="tx1"/>
                        </a:solidFill>
                      </a:endParaRPr>
                    </a:p>
                  </a:txBody>
                  <a:tcPr marL="110781" marR="110781" marT="55390" marB="5539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0781" marR="110781" marT="55390" marB="5539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2/3 Pt Row</a:t>
                      </a:r>
                    </a:p>
                  </a:txBody>
                  <a:tcPr marL="110781" marR="110781" marT="55390" marB="55390">
                    <a:lnL>
                      <a:noFill/>
                    </a:lnL>
                    <a:lnT>
                      <a:noFill/>
                    </a:lnT>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chemeClr val="tx1"/>
                          </a:solidFill>
                        </a:rPr>
                        <a:t>Seal Row  (Supported)</a:t>
                      </a:r>
                    </a:p>
                    <a:p>
                      <a:endParaRPr lang="en-US" sz="1500">
                        <a:solidFill>
                          <a:schemeClr val="tx1"/>
                        </a:solidFill>
                      </a:endParaRPr>
                    </a:p>
                  </a:txBody>
                  <a:tcPr marL="110781" marR="110781" marT="55390" marB="55390">
                    <a:solidFill>
                      <a:schemeClr val="accent3">
                        <a:lumMod val="75000"/>
                      </a:schemeClr>
                    </a:solidFill>
                  </a:tcPr>
                </a:tc>
                <a:extLst>
                  <a:ext uri="{0D108BD9-81ED-4DB2-BD59-A6C34878D82A}">
                    <a16:rowId xmlns:a16="http://schemas.microsoft.com/office/drawing/2014/main" val="3514245776"/>
                  </a:ext>
                </a:extLst>
              </a:tr>
              <a:tr h="380171">
                <a:tc>
                  <a:txBody>
                    <a:bodyPr/>
                    <a:lstStyle/>
                    <a:p>
                      <a:endParaRPr lang="en-US" sz="1500">
                        <a:solidFill>
                          <a:schemeClr val="tx1"/>
                        </a:solidFill>
                      </a:endParaRPr>
                    </a:p>
                  </a:txBody>
                  <a:tcPr marL="110781" marR="110781" marT="55390" marB="5539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10781" marR="110781" marT="55390" marB="5539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Low/ Mid- Angle Row </a:t>
                      </a:r>
                    </a:p>
                  </a:txBody>
                  <a:tcPr marL="110781" marR="110781" marT="55390" marB="55390">
                    <a:lnL>
                      <a:noFill/>
                    </a:lnL>
                    <a:solidFill>
                      <a:schemeClr val="accent3">
                        <a:lumMod val="60000"/>
                        <a:lumOff val="40000"/>
                      </a:schemeClr>
                    </a:solidFill>
                  </a:tcPr>
                </a:tc>
                <a:tc>
                  <a:txBody>
                    <a:bodyPr/>
                    <a:lstStyle/>
                    <a:p>
                      <a:r>
                        <a:rPr lang="en-US" sz="1500">
                          <a:solidFill>
                            <a:schemeClr val="tx1"/>
                          </a:solidFill>
                        </a:rPr>
                        <a:t>Landmine Row</a:t>
                      </a:r>
                    </a:p>
                  </a:txBody>
                  <a:tcPr marL="110781" marR="110781" marT="55390" marB="55390">
                    <a:solidFill>
                      <a:schemeClr val="accent3">
                        <a:lumMod val="75000"/>
                      </a:schemeClr>
                    </a:solidFill>
                  </a:tcPr>
                </a:tc>
                <a:extLst>
                  <a:ext uri="{0D108BD9-81ED-4DB2-BD59-A6C34878D82A}">
                    <a16:rowId xmlns:a16="http://schemas.microsoft.com/office/drawing/2014/main" val="3299508014"/>
                  </a:ext>
                </a:extLst>
              </a:tr>
              <a:tr h="614424">
                <a:tc>
                  <a:txBody>
                    <a:bodyPr/>
                    <a:lstStyle/>
                    <a:p>
                      <a:endParaRPr lang="en-US" sz="1500">
                        <a:solidFill>
                          <a:schemeClr val="tx1"/>
                        </a:solidFill>
                      </a:endParaRPr>
                    </a:p>
                  </a:txBody>
                  <a:tcPr marL="110781" marR="110781" marT="55390" marB="5539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Cable/ Banded Face Pulls  </a:t>
                      </a:r>
                    </a:p>
                  </a:txBody>
                  <a:tcPr marL="110781" marR="110781" marT="55390" marB="55390">
                    <a:lnL>
                      <a:noFill/>
                    </a:lnL>
                    <a:lnT>
                      <a:noFill/>
                    </a:lnT>
                    <a:solidFill>
                      <a:schemeClr val="accent3">
                        <a:lumMod val="40000"/>
                        <a:lumOff val="60000"/>
                      </a:schemeClr>
                    </a:solidFill>
                  </a:tcPr>
                </a:tc>
                <a:tc>
                  <a:txBody>
                    <a:bodyPr/>
                    <a:lstStyle/>
                    <a:p>
                      <a:r>
                        <a:rPr lang="en-US" sz="1500">
                          <a:solidFill>
                            <a:schemeClr val="tx1"/>
                          </a:solidFill>
                        </a:rPr>
                        <a:t>Sandbag Bent Over Row</a:t>
                      </a:r>
                    </a:p>
                    <a:p>
                      <a:r>
                        <a:rPr lang="en-US" sz="1500">
                          <a:solidFill>
                            <a:schemeClr val="tx1"/>
                          </a:solidFill>
                        </a:rPr>
                        <a:t>(Multiplanar)</a:t>
                      </a:r>
                    </a:p>
                  </a:txBody>
                  <a:tcPr marL="110781" marR="110781" marT="55390" marB="55390">
                    <a:solidFill>
                      <a:schemeClr val="accent3">
                        <a:lumMod val="60000"/>
                        <a:lumOff val="40000"/>
                      </a:schemeClr>
                    </a:solidFill>
                  </a:tcPr>
                </a:tc>
                <a:tc>
                  <a:txBody>
                    <a:bodyPr/>
                    <a:lstStyle/>
                    <a:p>
                      <a:r>
                        <a:rPr lang="en-US" sz="1500">
                          <a:solidFill>
                            <a:schemeClr val="tx1"/>
                          </a:solidFill>
                        </a:rPr>
                        <a:t>Inverted Row </a:t>
                      </a:r>
                    </a:p>
                    <a:p>
                      <a:r>
                        <a:rPr lang="en-US" sz="1500">
                          <a:solidFill>
                            <a:schemeClr val="tx1"/>
                          </a:solidFill>
                        </a:rPr>
                        <a:t>(Tempo)</a:t>
                      </a:r>
                    </a:p>
                  </a:txBody>
                  <a:tcPr marL="110781" marR="110781" marT="55390" marB="55390">
                    <a:solidFill>
                      <a:schemeClr val="accent3">
                        <a:lumMod val="75000"/>
                      </a:schemeClr>
                    </a:solidFill>
                  </a:tcPr>
                </a:tc>
                <a:extLst>
                  <a:ext uri="{0D108BD9-81ED-4DB2-BD59-A6C34878D82A}">
                    <a16:rowId xmlns:a16="http://schemas.microsoft.com/office/drawing/2014/main" val="3446697123"/>
                  </a:ext>
                </a:extLst>
              </a:tr>
              <a:tr h="614424">
                <a:tc>
                  <a:txBody>
                    <a:bodyPr/>
                    <a:lstStyle/>
                    <a:p>
                      <a:endParaRPr lang="en-US" sz="1500">
                        <a:solidFill>
                          <a:schemeClr val="tx1"/>
                        </a:solidFill>
                      </a:endParaRPr>
                    </a:p>
                  </a:txBody>
                  <a:tcPr marL="110781" marR="110781" marT="55390" marB="55390">
                    <a:lnT>
                      <a:noFill/>
                    </a:lnT>
                    <a:solidFill>
                      <a:schemeClr val="bg2"/>
                    </a:solidFill>
                  </a:tcPr>
                </a:tc>
                <a:tc>
                  <a:txBody>
                    <a:bodyPr/>
                    <a:lstStyle/>
                    <a:p>
                      <a:r>
                        <a:rPr lang="en-US" sz="1500">
                          <a:solidFill>
                            <a:schemeClr val="tx1"/>
                          </a:solidFill>
                        </a:rPr>
                        <a:t>Machine Seated Row (Back Support)</a:t>
                      </a:r>
                    </a:p>
                  </a:txBody>
                  <a:tcPr marL="110781" marR="110781" marT="55390" marB="55390">
                    <a:solidFill>
                      <a:schemeClr val="accent3">
                        <a:lumMod val="40000"/>
                        <a:lumOff val="60000"/>
                      </a:schemeClr>
                    </a:solidFill>
                  </a:tcPr>
                </a:tc>
                <a:tc>
                  <a:txBody>
                    <a:bodyPr/>
                    <a:lstStyle/>
                    <a:p>
                      <a:r>
                        <a:rPr lang="en-US" sz="1500">
                          <a:solidFill>
                            <a:schemeClr val="tx1"/>
                          </a:solidFill>
                        </a:rPr>
                        <a:t>Seated/ Suspension Row </a:t>
                      </a:r>
                    </a:p>
                  </a:txBody>
                  <a:tcPr marL="110781" marR="110781" marT="55390" marB="55390">
                    <a:solidFill>
                      <a:schemeClr val="accent3">
                        <a:lumMod val="60000"/>
                        <a:lumOff val="40000"/>
                      </a:schemeClr>
                    </a:solidFill>
                  </a:tcPr>
                </a:tc>
                <a:tc>
                  <a:txBody>
                    <a:bodyPr/>
                    <a:lstStyle/>
                    <a:p>
                      <a:r>
                        <a:rPr lang="en-US" sz="1500" dirty="0">
                          <a:solidFill>
                            <a:schemeClr val="tx1"/>
                          </a:solidFill>
                        </a:rPr>
                        <a:t>Unilateral DB/KB Bent Over Row (Unsupported)</a:t>
                      </a:r>
                    </a:p>
                  </a:txBody>
                  <a:tcPr marL="110781" marR="110781" marT="55390" marB="55390">
                    <a:solidFill>
                      <a:schemeClr val="accent3">
                        <a:lumMod val="75000"/>
                      </a:schemeClr>
                    </a:solidFill>
                  </a:tcPr>
                </a:tc>
                <a:extLst>
                  <a:ext uri="{0D108BD9-81ED-4DB2-BD59-A6C34878D82A}">
                    <a16:rowId xmlns:a16="http://schemas.microsoft.com/office/drawing/2014/main" val="2747963358"/>
                  </a:ext>
                </a:extLst>
              </a:tr>
              <a:tr h="380171">
                <a:tc>
                  <a:txBody>
                    <a:bodyPr/>
                    <a:lstStyle/>
                    <a:p>
                      <a:r>
                        <a:rPr lang="en-US" sz="1500">
                          <a:solidFill>
                            <a:schemeClr val="tx1"/>
                          </a:solidFill>
                        </a:rPr>
                        <a:t>0</a:t>
                      </a:r>
                    </a:p>
                  </a:txBody>
                  <a:tcPr marL="110781" marR="110781" marT="55390" marB="55390">
                    <a:solidFill>
                      <a:srgbClr val="B5E9E1">
                        <a:alpha val="20000"/>
                      </a:srgbClr>
                    </a:solidFill>
                  </a:tcPr>
                </a:tc>
                <a:tc>
                  <a:txBody>
                    <a:bodyPr/>
                    <a:lstStyle/>
                    <a:p>
                      <a:r>
                        <a:rPr lang="en-US" sz="1500">
                          <a:solidFill>
                            <a:schemeClr val="tx1"/>
                          </a:solidFill>
                        </a:rPr>
                        <a:t>1</a:t>
                      </a:r>
                    </a:p>
                  </a:txBody>
                  <a:tcPr marL="110781" marR="110781" marT="55390" marB="55390">
                    <a:solidFill>
                      <a:srgbClr val="B5E9E1">
                        <a:alpha val="20000"/>
                      </a:srgbClr>
                    </a:solidFill>
                  </a:tcPr>
                </a:tc>
                <a:tc>
                  <a:txBody>
                    <a:bodyPr/>
                    <a:lstStyle/>
                    <a:p>
                      <a:r>
                        <a:rPr lang="en-US" sz="1500">
                          <a:solidFill>
                            <a:schemeClr val="tx1"/>
                          </a:solidFill>
                        </a:rPr>
                        <a:t>2</a:t>
                      </a:r>
                    </a:p>
                  </a:txBody>
                  <a:tcPr marL="110781" marR="110781" marT="55390" marB="55390">
                    <a:solidFill>
                      <a:srgbClr val="B5E9E1">
                        <a:alpha val="20000"/>
                      </a:srgbClr>
                    </a:solidFill>
                  </a:tcPr>
                </a:tc>
                <a:tc>
                  <a:txBody>
                    <a:bodyPr/>
                    <a:lstStyle/>
                    <a:p>
                      <a:r>
                        <a:rPr lang="en-US" sz="1500">
                          <a:solidFill>
                            <a:schemeClr val="tx1"/>
                          </a:solidFill>
                        </a:rPr>
                        <a:t>3</a:t>
                      </a:r>
                    </a:p>
                  </a:txBody>
                  <a:tcPr marL="110781" marR="110781" marT="55390" marB="55390">
                    <a:solidFill>
                      <a:srgbClr val="B5E9E1">
                        <a:alpha val="20000"/>
                      </a:srgbClr>
                    </a:solidFill>
                  </a:tcPr>
                </a:tc>
                <a:extLst>
                  <a:ext uri="{0D108BD9-81ED-4DB2-BD59-A6C34878D82A}">
                    <a16:rowId xmlns:a16="http://schemas.microsoft.com/office/drawing/2014/main" val="230385616"/>
                  </a:ext>
                </a:extLst>
              </a:tr>
            </a:tbl>
          </a:graphicData>
        </a:graphic>
      </p:graphicFrame>
    </p:spTree>
    <p:extLst>
      <p:ext uri="{BB962C8B-B14F-4D97-AF65-F5344CB8AC3E}">
        <p14:creationId xmlns:p14="http://schemas.microsoft.com/office/powerpoint/2010/main" val="103351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22670-4402-988C-5E05-0905DE360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E5B6E1-D675-37B2-E532-81BCD27B999E}"/>
              </a:ext>
            </a:extLst>
          </p:cNvPr>
          <p:cNvSpPr>
            <a:spLocks noGrp="1"/>
          </p:cNvSpPr>
          <p:nvPr>
            <p:ph type="title"/>
          </p:nvPr>
        </p:nvSpPr>
        <p:spPr/>
        <p:txBody>
          <a:bodyPr/>
          <a:lstStyle/>
          <a:p>
            <a:r>
              <a:rPr lang="en-US"/>
              <a:t>HORIZONTAL PULL </a:t>
            </a:r>
            <a:r>
              <a:rPr lang="en-US">
                <a:solidFill>
                  <a:schemeClr val="accent6"/>
                </a:solidFill>
              </a:rPr>
              <a:t>BENEFITS</a:t>
            </a:r>
          </a:p>
        </p:txBody>
      </p:sp>
      <p:sp>
        <p:nvSpPr>
          <p:cNvPr id="4" name="Slide Number Placeholder 3">
            <a:extLst>
              <a:ext uri="{FF2B5EF4-FFF2-40B4-BE49-F238E27FC236}">
                <a16:creationId xmlns:a16="http://schemas.microsoft.com/office/drawing/2014/main" id="{10C39DD5-1791-E86B-CD07-7B31F1F54113}"/>
              </a:ext>
            </a:extLst>
          </p:cNvPr>
          <p:cNvSpPr>
            <a:spLocks noGrp="1"/>
          </p:cNvSpPr>
          <p:nvPr>
            <p:ph type="sldNum" sz="quarter" idx="12"/>
          </p:nvPr>
        </p:nvSpPr>
        <p:spPr/>
        <p:txBody>
          <a:bodyPr/>
          <a:lstStyle/>
          <a:p>
            <a:fld id="{545951DD-1C6A-495F-8185-4C73F8F8B75A}" type="slidenum">
              <a:rPr lang="en-US" smtClean="0"/>
              <a:pPr/>
              <a:t>47</a:t>
            </a:fld>
            <a:endParaRPr lang="en-US"/>
          </a:p>
        </p:txBody>
      </p:sp>
      <p:sp>
        <p:nvSpPr>
          <p:cNvPr id="5" name="Text Placeholder 4">
            <a:extLst>
              <a:ext uri="{FF2B5EF4-FFF2-40B4-BE49-F238E27FC236}">
                <a16:creationId xmlns:a16="http://schemas.microsoft.com/office/drawing/2014/main" id="{615B8C5B-6C54-2DC6-57F6-C7BA6B7C5A71}"/>
              </a:ext>
            </a:extLst>
          </p:cNvPr>
          <p:cNvSpPr>
            <a:spLocks noGrp="1"/>
          </p:cNvSpPr>
          <p:nvPr>
            <p:ph type="body" idx="4294967295"/>
          </p:nvPr>
        </p:nvSpPr>
        <p:spPr>
          <a:xfrm>
            <a:off x="12748591" y="969823"/>
            <a:ext cx="3300620" cy="3172860"/>
          </a:xfrm>
        </p:spPr>
        <p:txBody>
          <a:bodyPr/>
          <a:lstStyle/>
          <a:p>
            <a:pPr marL="0" indent="0">
              <a:buNone/>
            </a:pPr>
            <a:r>
              <a:rPr lang="en-US" sz="1400" i="1"/>
              <a:t>objects onto shelves, stabilizing loads overhead, and maintaining strong, mobile shoulders. Proper execution prevents compensations that stress the lower back or rotator cuff.</a:t>
            </a:r>
            <a:endParaRPr lang="en-US" sz="1400" b="1">
              <a:ea typeface="+mn-lt"/>
              <a:cs typeface="+mn-lt"/>
            </a:endParaRPr>
          </a:p>
          <a:p>
            <a:pPr marL="0" indent="0">
              <a:buNone/>
            </a:pPr>
            <a:r>
              <a:rPr lang="en-US" sz="2000" b="1">
                <a:ea typeface="+mn-lt"/>
                <a:cs typeface="+mn-lt"/>
              </a:rPr>
              <a:t>PRIME MOVERS:</a:t>
            </a:r>
          </a:p>
          <a:p>
            <a:pPr marL="0" indent="0">
              <a:buNone/>
            </a:pPr>
            <a:r>
              <a:rPr lang="en-US" sz="1400"/>
              <a:t>Deltoids (especially anterior/lateral), upper trapezius (stabilizer), triceps brachii </a:t>
            </a:r>
            <a:endParaRPr lang="en-US" sz="1400" b="1"/>
          </a:p>
        </p:txBody>
      </p:sp>
      <p:sp>
        <p:nvSpPr>
          <p:cNvPr id="10" name="Rectangle: Rounded Corners 9">
            <a:extLst>
              <a:ext uri="{FF2B5EF4-FFF2-40B4-BE49-F238E27FC236}">
                <a16:creationId xmlns:a16="http://schemas.microsoft.com/office/drawing/2014/main" id="{4D677574-0C19-F051-56AD-E4332A4A0BC1}"/>
              </a:ext>
            </a:extLst>
          </p:cNvPr>
          <p:cNvSpPr/>
          <p:nvPr/>
        </p:nvSpPr>
        <p:spPr>
          <a:xfrm>
            <a:off x="-1731859" y="4068279"/>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Increased Shoulder Stability</a:t>
            </a:r>
          </a:p>
        </p:txBody>
      </p:sp>
      <p:sp>
        <p:nvSpPr>
          <p:cNvPr id="11" name="Rectangle: Rounded Corners 10">
            <a:extLst>
              <a:ext uri="{FF2B5EF4-FFF2-40B4-BE49-F238E27FC236}">
                <a16:creationId xmlns:a16="http://schemas.microsoft.com/office/drawing/2014/main" id="{1F3057AC-EB9B-F9EC-23CC-0F3375BDD586}"/>
              </a:ext>
            </a:extLst>
          </p:cNvPr>
          <p:cNvSpPr/>
          <p:nvPr/>
        </p:nvSpPr>
        <p:spPr>
          <a:xfrm>
            <a:off x="-1731858" y="202551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Improved Posture</a:t>
            </a:r>
          </a:p>
        </p:txBody>
      </p:sp>
      <p:sp>
        <p:nvSpPr>
          <p:cNvPr id="12" name="Rectangle: Rounded Corners 11">
            <a:extLst>
              <a:ext uri="{FF2B5EF4-FFF2-40B4-BE49-F238E27FC236}">
                <a16:creationId xmlns:a16="http://schemas.microsoft.com/office/drawing/2014/main" id="{2028E19C-60F1-8F89-0CE8-6FE220AA5B18}"/>
              </a:ext>
            </a:extLst>
          </p:cNvPr>
          <p:cNvSpPr/>
          <p:nvPr/>
        </p:nvSpPr>
        <p:spPr>
          <a:xfrm>
            <a:off x="-1731859" y="507780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Enhanced Grip Strength</a:t>
            </a:r>
          </a:p>
        </p:txBody>
      </p:sp>
      <p:sp>
        <p:nvSpPr>
          <p:cNvPr id="13" name="Rectangle: Rounded Corners 12">
            <a:extLst>
              <a:ext uri="{FF2B5EF4-FFF2-40B4-BE49-F238E27FC236}">
                <a16:creationId xmlns:a16="http://schemas.microsoft.com/office/drawing/2014/main" id="{474CAA9C-B59D-AD6B-5B99-5B75B9E12F49}"/>
              </a:ext>
            </a:extLst>
          </p:cNvPr>
          <p:cNvSpPr/>
          <p:nvPr/>
        </p:nvSpPr>
        <p:spPr>
          <a:xfrm>
            <a:off x="-1731858" y="3035033"/>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Prevents Muscle Imbalances</a:t>
            </a:r>
          </a:p>
        </p:txBody>
      </p:sp>
      <p:sp>
        <p:nvSpPr>
          <p:cNvPr id="14" name="Text Placeholder 4">
            <a:extLst>
              <a:ext uri="{FF2B5EF4-FFF2-40B4-BE49-F238E27FC236}">
                <a16:creationId xmlns:a16="http://schemas.microsoft.com/office/drawing/2014/main" id="{AA59120C-D2EA-C447-987B-A0F7069F9BAC}"/>
              </a:ext>
            </a:extLst>
          </p:cNvPr>
          <p:cNvSpPr txBox="1">
            <a:spLocks/>
          </p:cNvSpPr>
          <p:nvPr/>
        </p:nvSpPr>
        <p:spPr>
          <a:xfrm>
            <a:off x="7410837" y="2579411"/>
            <a:ext cx="3734922" cy="4278589"/>
          </a:xfrm>
          <a:prstGeom prst="rect">
            <a:avLst/>
          </a:prstGeom>
        </p:spPr>
        <p:txBody>
          <a:bodyPr vert="horz" lIns="0" tIns="0" rIns="0" bIns="0" rtlCol="0">
            <a:noAutofit/>
          </a:bodyPr>
          <a:lst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a:t>IN REAL LIFE: </a:t>
            </a:r>
          </a:p>
          <a:p>
            <a:pPr algn="ctr"/>
            <a:r>
              <a:rPr lang="en-US" sz="2000"/>
              <a:t>Pulling/Opening heavy doors</a:t>
            </a:r>
          </a:p>
          <a:p>
            <a:pPr algn="ctr"/>
            <a:r>
              <a:rPr lang="en-US" sz="2000"/>
              <a:t>Lifting and moving heavy objects</a:t>
            </a:r>
          </a:p>
          <a:p>
            <a:pPr algn="ctr"/>
            <a:r>
              <a:rPr lang="en-US" sz="2000"/>
              <a:t>Increased comfort and postural endurance</a:t>
            </a:r>
            <a:endParaRPr lang="en-US" sz="2000" b="1"/>
          </a:p>
        </p:txBody>
      </p:sp>
    </p:spTree>
    <p:extLst>
      <p:ext uri="{BB962C8B-B14F-4D97-AF65-F5344CB8AC3E}">
        <p14:creationId xmlns:p14="http://schemas.microsoft.com/office/powerpoint/2010/main" val="13017357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FCAF9-1D92-E8DE-A302-0A6920356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223F5-4D92-4DFE-9196-28FE0360110A}"/>
              </a:ext>
            </a:extLst>
          </p:cNvPr>
          <p:cNvSpPr>
            <a:spLocks noGrp="1"/>
          </p:cNvSpPr>
          <p:nvPr>
            <p:ph type="title"/>
          </p:nvPr>
        </p:nvSpPr>
        <p:spPr/>
        <p:txBody>
          <a:bodyPr/>
          <a:lstStyle/>
          <a:p>
            <a:r>
              <a:rPr lang="en-US"/>
              <a:t>HORIZONTAL PULL </a:t>
            </a:r>
            <a:r>
              <a:rPr lang="en-US">
                <a:solidFill>
                  <a:schemeClr val="accent6"/>
                </a:solidFill>
              </a:rPr>
              <a:t>PRIME MOVERS</a:t>
            </a:r>
          </a:p>
        </p:txBody>
      </p:sp>
      <p:sp>
        <p:nvSpPr>
          <p:cNvPr id="4" name="Slide Number Placeholder 3">
            <a:extLst>
              <a:ext uri="{FF2B5EF4-FFF2-40B4-BE49-F238E27FC236}">
                <a16:creationId xmlns:a16="http://schemas.microsoft.com/office/drawing/2014/main" id="{1D775FB4-1738-5F9B-8A3F-741D48DE07C2}"/>
              </a:ext>
            </a:extLst>
          </p:cNvPr>
          <p:cNvSpPr>
            <a:spLocks noGrp="1"/>
          </p:cNvSpPr>
          <p:nvPr>
            <p:ph type="sldNum" sz="quarter" idx="12"/>
          </p:nvPr>
        </p:nvSpPr>
        <p:spPr/>
        <p:txBody>
          <a:bodyPr/>
          <a:lstStyle/>
          <a:p>
            <a:fld id="{545951DD-1C6A-495F-8185-4C73F8F8B75A}" type="slidenum">
              <a:rPr lang="en-US" smtClean="0"/>
              <a:pPr/>
              <a:t>48</a:t>
            </a:fld>
            <a:endParaRPr lang="en-US"/>
          </a:p>
        </p:txBody>
      </p:sp>
      <p:sp>
        <p:nvSpPr>
          <p:cNvPr id="10" name="Rectangle: Rounded Corners 9">
            <a:extLst>
              <a:ext uri="{FF2B5EF4-FFF2-40B4-BE49-F238E27FC236}">
                <a16:creationId xmlns:a16="http://schemas.microsoft.com/office/drawing/2014/main" id="{46BC49B8-669F-9662-2DD0-44AE8B73C115}"/>
              </a:ext>
            </a:extLst>
          </p:cNvPr>
          <p:cNvSpPr/>
          <p:nvPr/>
        </p:nvSpPr>
        <p:spPr>
          <a:xfrm>
            <a:off x="-1325459" y="4106379"/>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TRAPEZIUS &amp; POSTERIOR DELTOID</a:t>
            </a:r>
          </a:p>
        </p:txBody>
      </p:sp>
      <p:sp>
        <p:nvSpPr>
          <p:cNvPr id="11" name="Rectangle: Rounded Corners 10">
            <a:extLst>
              <a:ext uri="{FF2B5EF4-FFF2-40B4-BE49-F238E27FC236}">
                <a16:creationId xmlns:a16="http://schemas.microsoft.com/office/drawing/2014/main" id="{DE9D790A-4AD4-B25B-46B9-10C8A82EE7CE}"/>
              </a:ext>
            </a:extLst>
          </p:cNvPr>
          <p:cNvSpPr/>
          <p:nvPr/>
        </p:nvSpPr>
        <p:spPr>
          <a:xfrm>
            <a:off x="-1325458" y="2063611"/>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LATISSIMUS DORSI</a:t>
            </a:r>
          </a:p>
        </p:txBody>
      </p:sp>
      <p:sp>
        <p:nvSpPr>
          <p:cNvPr id="13" name="Rectangle: Rounded Corners 12">
            <a:extLst>
              <a:ext uri="{FF2B5EF4-FFF2-40B4-BE49-F238E27FC236}">
                <a16:creationId xmlns:a16="http://schemas.microsoft.com/office/drawing/2014/main" id="{4E3A6202-BDD5-C555-E584-123CCF2096D9}"/>
              </a:ext>
            </a:extLst>
          </p:cNvPr>
          <p:cNvSpPr/>
          <p:nvPr/>
        </p:nvSpPr>
        <p:spPr>
          <a:xfrm>
            <a:off x="-1325458" y="3073133"/>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RHOMBOIDS</a:t>
            </a:r>
          </a:p>
        </p:txBody>
      </p:sp>
    </p:spTree>
    <p:extLst>
      <p:ext uri="{BB962C8B-B14F-4D97-AF65-F5344CB8AC3E}">
        <p14:creationId xmlns:p14="http://schemas.microsoft.com/office/powerpoint/2010/main" val="30689565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3F512-C855-8DD7-7297-B0FB79A7B6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7AD4D-09D2-1B6A-B2C3-E2BBEF718718}"/>
              </a:ext>
            </a:extLst>
          </p:cNvPr>
          <p:cNvSpPr>
            <a:spLocks noGrp="1"/>
          </p:cNvSpPr>
          <p:nvPr>
            <p:ph type="title"/>
          </p:nvPr>
        </p:nvSpPr>
        <p:spPr>
          <a:xfrm>
            <a:off x="880782" y="545914"/>
            <a:ext cx="10414747" cy="1147152"/>
          </a:xfrm>
        </p:spPr>
        <p:txBody>
          <a:bodyPr anchor="ctr">
            <a:normAutofit/>
          </a:bodyPr>
          <a:lstStyle/>
          <a:p>
            <a:r>
              <a:rPr lang="en-US"/>
              <a:t>Vertical Pull</a:t>
            </a:r>
          </a:p>
        </p:txBody>
      </p:sp>
      <p:sp>
        <p:nvSpPr>
          <p:cNvPr id="12" name="Footer Placeholder 3">
            <a:extLst>
              <a:ext uri="{FF2B5EF4-FFF2-40B4-BE49-F238E27FC236}">
                <a16:creationId xmlns:a16="http://schemas.microsoft.com/office/drawing/2014/main" id="{615BC502-75BF-B42B-21C2-DC412E182664}"/>
              </a:ext>
            </a:extLst>
          </p:cNvPr>
          <p:cNvSpPr>
            <a:spLocks noGrp="1"/>
          </p:cNvSpPr>
          <p:nvPr>
            <p:ph type="ftr" sz="quarter" idx="11"/>
          </p:nvPr>
        </p:nvSpPr>
        <p:spPr>
          <a:xfrm>
            <a:off x="342900" y="6394105"/>
            <a:ext cx="10259861" cy="365125"/>
          </a:xfrm>
        </p:spPr>
        <p:txBody>
          <a:bodyPr/>
          <a:lstStyle/>
          <a:p>
            <a:endParaRPr lang="en-US"/>
          </a:p>
        </p:txBody>
      </p:sp>
      <p:sp>
        <p:nvSpPr>
          <p:cNvPr id="4" name="Slide Number Placeholder 3">
            <a:extLst>
              <a:ext uri="{FF2B5EF4-FFF2-40B4-BE49-F238E27FC236}">
                <a16:creationId xmlns:a16="http://schemas.microsoft.com/office/drawing/2014/main" id="{491467BF-1C95-6CC9-C1B4-541EEEF8D865}"/>
              </a:ext>
            </a:extLst>
          </p:cNvPr>
          <p:cNvSpPr>
            <a:spLocks noGrp="1"/>
          </p:cNvSpPr>
          <p:nvPr>
            <p:ph type="sldNum" sz="quarter" idx="12"/>
          </p:nvPr>
        </p:nvSpPr>
        <p:spPr>
          <a:xfrm>
            <a:off x="11674225" y="5477347"/>
            <a:ext cx="305503" cy="306298"/>
          </a:xfrm>
        </p:spPr>
        <p:txBody>
          <a:bodyPr anchor="ctr">
            <a:normAutofit/>
          </a:bodyPr>
          <a:lstStyle/>
          <a:p>
            <a:pPr>
              <a:spcAft>
                <a:spcPts val="600"/>
              </a:spcAft>
            </a:pPr>
            <a:fld id="{545951DD-1C6A-495F-8185-4C73F8F8B75A}" type="slidenum">
              <a:rPr lang="en-US" smtClean="0"/>
              <a:pPr>
                <a:spcAft>
                  <a:spcPts val="600"/>
                </a:spcAft>
              </a:pPr>
              <a:t>49</a:t>
            </a:fld>
            <a:endParaRPr lang="en-US"/>
          </a:p>
        </p:txBody>
      </p:sp>
      <p:graphicFrame>
        <p:nvGraphicFramePr>
          <p:cNvPr id="7" name="Table 6">
            <a:extLst>
              <a:ext uri="{FF2B5EF4-FFF2-40B4-BE49-F238E27FC236}">
                <a16:creationId xmlns:a16="http://schemas.microsoft.com/office/drawing/2014/main" id="{848FA5A4-3684-5EFE-44C1-FEED838736F3}"/>
              </a:ext>
            </a:extLst>
          </p:cNvPr>
          <p:cNvGraphicFramePr>
            <a:graphicFrameLocks noGrp="1"/>
          </p:cNvGraphicFramePr>
          <p:nvPr>
            <p:extLst>
              <p:ext uri="{D42A27DB-BD31-4B8C-83A1-F6EECF244321}">
                <p14:modId xmlns:p14="http://schemas.microsoft.com/office/powerpoint/2010/main" val="2148944392"/>
              </p:ext>
            </p:extLst>
          </p:nvPr>
        </p:nvGraphicFramePr>
        <p:xfrm>
          <a:off x="880782" y="2124575"/>
          <a:ext cx="10414748" cy="3868796"/>
        </p:xfrm>
        <a:graphic>
          <a:graphicData uri="http://schemas.openxmlformats.org/drawingml/2006/table">
            <a:tbl>
              <a:tblPr firstRow="1" bandRow="1">
                <a:tableStyleId>{9D7B26C5-4107-4FEC-AEDC-1716B250A1EF}</a:tableStyleId>
              </a:tblPr>
              <a:tblGrid>
                <a:gridCol w="797536">
                  <a:extLst>
                    <a:ext uri="{9D8B030D-6E8A-4147-A177-3AD203B41FA5}">
                      <a16:colId xmlns:a16="http://schemas.microsoft.com/office/drawing/2014/main" val="578100667"/>
                    </a:ext>
                  </a:extLst>
                </a:gridCol>
                <a:gridCol w="2818544">
                  <a:extLst>
                    <a:ext uri="{9D8B030D-6E8A-4147-A177-3AD203B41FA5}">
                      <a16:colId xmlns:a16="http://schemas.microsoft.com/office/drawing/2014/main" val="3492030474"/>
                    </a:ext>
                  </a:extLst>
                </a:gridCol>
                <a:gridCol w="3064333">
                  <a:extLst>
                    <a:ext uri="{9D8B030D-6E8A-4147-A177-3AD203B41FA5}">
                      <a16:colId xmlns:a16="http://schemas.microsoft.com/office/drawing/2014/main" val="3625462225"/>
                    </a:ext>
                  </a:extLst>
                </a:gridCol>
                <a:gridCol w="3734335">
                  <a:extLst>
                    <a:ext uri="{9D8B030D-6E8A-4147-A177-3AD203B41FA5}">
                      <a16:colId xmlns:a16="http://schemas.microsoft.com/office/drawing/2014/main" val="1103401940"/>
                    </a:ext>
                  </a:extLst>
                </a:gridCol>
              </a:tblGrid>
              <a:tr h="418530">
                <a:tc>
                  <a:txBody>
                    <a:bodyPr/>
                    <a:lstStyle/>
                    <a:p>
                      <a:endParaRPr lang="en-US" sz="1700">
                        <a:solidFill>
                          <a:schemeClr val="bg1"/>
                        </a:solidFill>
                      </a:endParaRPr>
                    </a:p>
                  </a:txBody>
                  <a:tcPr marL="123548" marR="123548" marT="61774" marB="61774">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700">
                        <a:solidFill>
                          <a:schemeClr val="tx1"/>
                        </a:solidFill>
                      </a:endParaRPr>
                    </a:p>
                  </a:txBody>
                  <a:tcPr marL="123548" marR="123548" marT="61774" marB="61774">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700">
                        <a:solidFill>
                          <a:schemeClr val="tx1"/>
                        </a:solidFill>
                      </a:endParaRPr>
                    </a:p>
                  </a:txBody>
                  <a:tcPr marL="123548" marR="123548" marT="61774" marB="61774">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r>
                        <a:rPr lang="en-US" sz="1700">
                          <a:solidFill>
                            <a:schemeClr val="tx1"/>
                          </a:solidFill>
                        </a:rPr>
                        <a:t>Unassisted Pull Up</a:t>
                      </a:r>
                    </a:p>
                  </a:txBody>
                  <a:tcPr marL="123548" marR="123548" marT="61774" marB="61774">
                    <a:lnL>
                      <a:noFill/>
                    </a:lnL>
                    <a:solidFill>
                      <a:schemeClr val="accent3">
                        <a:lumMod val="75000"/>
                      </a:schemeClr>
                    </a:solidFill>
                  </a:tcPr>
                </a:tc>
                <a:extLst>
                  <a:ext uri="{0D108BD9-81ED-4DB2-BD59-A6C34878D82A}">
                    <a16:rowId xmlns:a16="http://schemas.microsoft.com/office/drawing/2014/main" val="570874207"/>
                  </a:ext>
                </a:extLst>
              </a:tr>
              <a:tr h="678808">
                <a:tc>
                  <a:txBody>
                    <a:bodyPr/>
                    <a:lstStyle/>
                    <a:p>
                      <a:endParaRPr lang="en-US" sz="1700">
                        <a:solidFill>
                          <a:schemeClr val="bg1"/>
                        </a:solidFill>
                      </a:endParaRPr>
                    </a:p>
                  </a:txBody>
                  <a:tcPr marL="123548" marR="123548" marT="61774" marB="61774">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700">
                        <a:solidFill>
                          <a:schemeClr val="tx1"/>
                        </a:solidFill>
                      </a:endParaRPr>
                    </a:p>
                  </a:txBody>
                  <a:tcPr marL="123548" marR="123548" marT="61774" marB="61774">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700">
                        <a:solidFill>
                          <a:schemeClr val="tx1"/>
                        </a:solidFill>
                      </a:endParaRPr>
                    </a:p>
                  </a:txBody>
                  <a:tcPr marL="123548" marR="123548" marT="61774" marB="61774">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r>
                        <a:rPr lang="en-US" sz="1700">
                          <a:solidFill>
                            <a:schemeClr val="tx1"/>
                          </a:solidFill>
                        </a:rPr>
                        <a:t>Chin Up/</a:t>
                      </a:r>
                    </a:p>
                    <a:p>
                      <a:r>
                        <a:rPr lang="en-US" sz="1700">
                          <a:solidFill>
                            <a:schemeClr val="tx1"/>
                          </a:solidFill>
                        </a:rPr>
                        <a:t>Assisted Pull Up </a:t>
                      </a:r>
                    </a:p>
                  </a:txBody>
                  <a:tcPr marL="123548" marR="123548" marT="61774" marB="61774">
                    <a:lnL>
                      <a:noFill/>
                    </a:lnL>
                    <a:solidFill>
                      <a:schemeClr val="accent3">
                        <a:lumMod val="75000"/>
                      </a:schemeClr>
                    </a:solidFill>
                  </a:tcPr>
                </a:tc>
                <a:extLst>
                  <a:ext uri="{0D108BD9-81ED-4DB2-BD59-A6C34878D82A}">
                    <a16:rowId xmlns:a16="http://schemas.microsoft.com/office/drawing/2014/main" val="749760594"/>
                  </a:ext>
                </a:extLst>
              </a:tr>
              <a:tr h="418530">
                <a:tc>
                  <a:txBody>
                    <a:bodyPr/>
                    <a:lstStyle/>
                    <a:p>
                      <a:endParaRPr lang="en-US" sz="1700">
                        <a:solidFill>
                          <a:schemeClr val="bg1"/>
                        </a:solidFill>
                      </a:endParaRPr>
                    </a:p>
                  </a:txBody>
                  <a:tcPr marL="123548" marR="123548" marT="61774" marB="61774">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700">
                        <a:solidFill>
                          <a:schemeClr val="tx1"/>
                        </a:solidFill>
                      </a:endParaRPr>
                    </a:p>
                  </a:txBody>
                  <a:tcPr marL="123548" marR="123548" marT="61774" marB="61774">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700">
                        <a:solidFill>
                          <a:schemeClr val="tx1"/>
                        </a:solidFill>
                      </a:endParaRPr>
                    </a:p>
                  </a:txBody>
                  <a:tcPr marL="123548" marR="123548" marT="61774" marB="61774">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a:solidFill>
                            <a:schemeClr val="tx1"/>
                          </a:solidFill>
                        </a:rPr>
                        <a:t>Negative Chin Up</a:t>
                      </a:r>
                    </a:p>
                  </a:txBody>
                  <a:tcPr marL="123548" marR="123548" marT="61774" marB="61774">
                    <a:lnL>
                      <a:noFill/>
                    </a:lnL>
                    <a:solidFill>
                      <a:schemeClr val="accent3">
                        <a:lumMod val="75000"/>
                      </a:schemeClr>
                    </a:solidFill>
                  </a:tcPr>
                </a:tc>
                <a:extLst>
                  <a:ext uri="{0D108BD9-81ED-4DB2-BD59-A6C34878D82A}">
                    <a16:rowId xmlns:a16="http://schemas.microsoft.com/office/drawing/2014/main" val="3986133860"/>
                  </a:ext>
                </a:extLst>
              </a:tr>
              <a:tr h="418530">
                <a:tc>
                  <a:txBody>
                    <a:bodyPr/>
                    <a:lstStyle/>
                    <a:p>
                      <a:endParaRPr lang="en-US" sz="1700">
                        <a:solidFill>
                          <a:schemeClr val="bg1"/>
                        </a:solidFill>
                      </a:endParaRPr>
                    </a:p>
                  </a:txBody>
                  <a:tcPr marL="123548" marR="123548" marT="61774" marB="61774">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700">
                        <a:solidFill>
                          <a:schemeClr val="tx1"/>
                        </a:solidFill>
                      </a:endParaRPr>
                    </a:p>
                  </a:txBody>
                  <a:tcPr marL="123548" marR="123548" marT="61774" marB="61774">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700" kern="1200">
                        <a:solidFill>
                          <a:schemeClr val="tx1"/>
                        </a:solidFill>
                        <a:latin typeface="+mn-lt"/>
                        <a:ea typeface="+mn-ea"/>
                        <a:cs typeface="+mn-cs"/>
                      </a:endParaRPr>
                    </a:p>
                  </a:txBody>
                  <a:tcPr marL="123548" marR="123548" marT="61774" marB="61774">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a:solidFill>
                            <a:schemeClr val="tx1"/>
                          </a:solidFill>
                        </a:rPr>
                        <a:t>Upright Row </a:t>
                      </a:r>
                    </a:p>
                  </a:txBody>
                  <a:tcPr marL="123548" marR="123548" marT="61774" marB="61774">
                    <a:lnL>
                      <a:noFill/>
                    </a:lnL>
                    <a:solidFill>
                      <a:schemeClr val="accent3">
                        <a:lumMod val="75000"/>
                      </a:schemeClr>
                    </a:solidFill>
                  </a:tcPr>
                </a:tc>
                <a:extLst>
                  <a:ext uri="{0D108BD9-81ED-4DB2-BD59-A6C34878D82A}">
                    <a16:rowId xmlns:a16="http://schemas.microsoft.com/office/drawing/2014/main" val="3514245776"/>
                  </a:ext>
                </a:extLst>
              </a:tr>
              <a:tr h="418530">
                <a:tc>
                  <a:txBody>
                    <a:bodyPr/>
                    <a:lstStyle/>
                    <a:p>
                      <a:endParaRPr lang="en-US" sz="1700">
                        <a:solidFill>
                          <a:schemeClr val="bg1"/>
                        </a:solidFill>
                      </a:endParaRPr>
                    </a:p>
                  </a:txBody>
                  <a:tcPr marL="123548" marR="123548" marT="61774" marB="61774">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700">
                        <a:solidFill>
                          <a:schemeClr val="tx1"/>
                        </a:solidFill>
                      </a:endParaRPr>
                    </a:p>
                  </a:txBody>
                  <a:tcPr marL="123548" marR="123548" marT="61774" marB="61774">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700">
                          <a:solidFill>
                            <a:schemeClr val="tx1"/>
                          </a:solidFill>
                        </a:rPr>
                        <a:t>Assisted Pull Ups</a:t>
                      </a:r>
                    </a:p>
                  </a:txBody>
                  <a:tcPr marL="123548" marR="123548" marT="61774" marB="61774">
                    <a:lnL>
                      <a:noFill/>
                    </a:lnL>
                    <a:lnT>
                      <a:noFill/>
                    </a:lnT>
                    <a:solidFill>
                      <a:schemeClr val="accent3">
                        <a:lumMod val="60000"/>
                        <a:lumOff val="40000"/>
                      </a:schemeClr>
                    </a:solidFill>
                  </a:tcPr>
                </a:tc>
                <a:tc>
                  <a:txBody>
                    <a:bodyPr/>
                    <a:lstStyle/>
                    <a:p>
                      <a:r>
                        <a:rPr lang="en-US" sz="1700">
                          <a:solidFill>
                            <a:schemeClr val="tx1"/>
                          </a:solidFill>
                        </a:rPr>
                        <a:t>Pull Overs (Tempo)</a:t>
                      </a:r>
                    </a:p>
                  </a:txBody>
                  <a:tcPr marL="123548" marR="123548" marT="61774" marB="61774">
                    <a:solidFill>
                      <a:schemeClr val="accent3">
                        <a:lumMod val="75000"/>
                      </a:schemeClr>
                    </a:solidFill>
                  </a:tcPr>
                </a:tc>
                <a:extLst>
                  <a:ext uri="{0D108BD9-81ED-4DB2-BD59-A6C34878D82A}">
                    <a16:rowId xmlns:a16="http://schemas.microsoft.com/office/drawing/2014/main" val="3299508014"/>
                  </a:ext>
                </a:extLst>
              </a:tr>
              <a:tr h="678808">
                <a:tc>
                  <a:txBody>
                    <a:bodyPr/>
                    <a:lstStyle/>
                    <a:p>
                      <a:endParaRPr lang="en-US" sz="1700">
                        <a:solidFill>
                          <a:schemeClr val="bg1"/>
                        </a:solidFill>
                      </a:endParaRPr>
                    </a:p>
                  </a:txBody>
                  <a:tcPr marL="123548" marR="123548" marT="61774" marB="61774">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700">
                          <a:solidFill>
                            <a:schemeClr val="tx1"/>
                          </a:solidFill>
                        </a:rPr>
                        <a:t>Pull Downs</a:t>
                      </a:r>
                    </a:p>
                    <a:p>
                      <a:r>
                        <a:rPr lang="en-US" sz="1700">
                          <a:solidFill>
                            <a:schemeClr val="tx1"/>
                          </a:solidFill>
                        </a:rPr>
                        <a:t>(Tempo)</a:t>
                      </a:r>
                    </a:p>
                  </a:txBody>
                  <a:tcPr marL="123548" marR="123548" marT="61774" marB="61774">
                    <a:lnL>
                      <a:noFill/>
                    </a:lnL>
                    <a:lnT>
                      <a:noFill/>
                    </a:lnT>
                    <a:solidFill>
                      <a:schemeClr val="accent3">
                        <a:lumMod val="40000"/>
                        <a:lumOff val="60000"/>
                      </a:schemeClr>
                    </a:solidFill>
                  </a:tcPr>
                </a:tc>
                <a:tc>
                  <a:txBody>
                    <a:bodyPr/>
                    <a:lstStyle/>
                    <a:p>
                      <a:r>
                        <a:rPr lang="en-US" sz="1700">
                          <a:solidFill>
                            <a:schemeClr val="tx1"/>
                          </a:solidFill>
                        </a:rPr>
                        <a:t>Pull Overs</a:t>
                      </a:r>
                    </a:p>
                  </a:txBody>
                  <a:tcPr marL="123548" marR="123548" marT="61774" marB="61774">
                    <a:solidFill>
                      <a:schemeClr val="accent3">
                        <a:lumMod val="60000"/>
                        <a:lumOff val="40000"/>
                      </a:schemeClr>
                    </a:solidFill>
                  </a:tcPr>
                </a:tc>
                <a:tc>
                  <a:txBody>
                    <a:bodyPr/>
                    <a:lstStyle/>
                    <a:p>
                      <a:r>
                        <a:rPr lang="en-US" sz="1700">
                          <a:solidFill>
                            <a:schemeClr val="tx1"/>
                          </a:solidFill>
                        </a:rPr>
                        <a:t>Lat Pull Downs (Heavy + Tempo)</a:t>
                      </a:r>
                    </a:p>
                  </a:txBody>
                  <a:tcPr marL="123548" marR="123548" marT="61774" marB="61774">
                    <a:solidFill>
                      <a:schemeClr val="accent3">
                        <a:lumMod val="75000"/>
                      </a:schemeClr>
                    </a:solidFill>
                  </a:tcPr>
                </a:tc>
                <a:extLst>
                  <a:ext uri="{0D108BD9-81ED-4DB2-BD59-A6C34878D82A}">
                    <a16:rowId xmlns:a16="http://schemas.microsoft.com/office/drawing/2014/main" val="3446697123"/>
                  </a:ext>
                </a:extLst>
              </a:tr>
              <a:tr h="418530">
                <a:tc>
                  <a:txBody>
                    <a:bodyPr/>
                    <a:lstStyle/>
                    <a:p>
                      <a:endParaRPr lang="en-US" sz="1700">
                        <a:solidFill>
                          <a:schemeClr val="bg1"/>
                        </a:solidFill>
                      </a:endParaRPr>
                    </a:p>
                  </a:txBody>
                  <a:tcPr marL="123548" marR="123548" marT="61774" marB="61774">
                    <a:lnT>
                      <a:noFill/>
                    </a:lnT>
                    <a:solidFill>
                      <a:schemeClr val="bg2"/>
                    </a:solidFill>
                  </a:tcPr>
                </a:tc>
                <a:tc>
                  <a:txBody>
                    <a:bodyPr/>
                    <a:lstStyle/>
                    <a:p>
                      <a:r>
                        <a:rPr lang="en-US" sz="1700" dirty="0">
                          <a:solidFill>
                            <a:schemeClr val="tx1"/>
                          </a:solidFill>
                        </a:rPr>
                        <a:t>High Angle Cable Row </a:t>
                      </a:r>
                    </a:p>
                  </a:txBody>
                  <a:tcPr marL="123548" marR="123548" marT="61774" marB="61774">
                    <a:solidFill>
                      <a:schemeClr val="accent3">
                        <a:lumMod val="40000"/>
                        <a:lumOff val="60000"/>
                      </a:schemeClr>
                    </a:solidFill>
                  </a:tcPr>
                </a:tc>
                <a:tc>
                  <a:txBody>
                    <a:bodyPr/>
                    <a:lstStyle/>
                    <a:p>
                      <a:r>
                        <a:rPr lang="en-US" sz="1700" dirty="0">
                          <a:solidFill>
                            <a:schemeClr val="tx1"/>
                          </a:solidFill>
                        </a:rPr>
                        <a:t>Lat Pull Down</a:t>
                      </a:r>
                    </a:p>
                  </a:txBody>
                  <a:tcPr marL="123548" marR="123548" marT="61774" marB="61774">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700" dirty="0">
                          <a:solidFill>
                            <a:schemeClr val="tx1"/>
                          </a:solidFill>
                        </a:rPr>
                        <a:t>Scapular Pull Up</a:t>
                      </a:r>
                    </a:p>
                  </a:txBody>
                  <a:tcPr marL="123548" marR="123548" marT="61774" marB="61774">
                    <a:solidFill>
                      <a:schemeClr val="accent3">
                        <a:lumMod val="75000"/>
                      </a:schemeClr>
                    </a:solidFill>
                  </a:tcPr>
                </a:tc>
                <a:extLst>
                  <a:ext uri="{0D108BD9-81ED-4DB2-BD59-A6C34878D82A}">
                    <a16:rowId xmlns:a16="http://schemas.microsoft.com/office/drawing/2014/main" val="2747963358"/>
                  </a:ext>
                </a:extLst>
              </a:tr>
              <a:tr h="418530">
                <a:tc>
                  <a:txBody>
                    <a:bodyPr/>
                    <a:lstStyle/>
                    <a:p>
                      <a:r>
                        <a:rPr lang="en-US" sz="1700">
                          <a:solidFill>
                            <a:schemeClr val="tx1"/>
                          </a:solidFill>
                        </a:rPr>
                        <a:t>0</a:t>
                      </a:r>
                    </a:p>
                  </a:txBody>
                  <a:tcPr marL="123548" marR="123548" marT="61774" marB="61774">
                    <a:solidFill>
                      <a:srgbClr val="B5E9E1">
                        <a:alpha val="20000"/>
                      </a:srgbClr>
                    </a:solidFill>
                  </a:tcPr>
                </a:tc>
                <a:tc>
                  <a:txBody>
                    <a:bodyPr/>
                    <a:lstStyle/>
                    <a:p>
                      <a:r>
                        <a:rPr lang="en-US" sz="1700">
                          <a:solidFill>
                            <a:schemeClr val="tx1"/>
                          </a:solidFill>
                        </a:rPr>
                        <a:t>1</a:t>
                      </a:r>
                    </a:p>
                  </a:txBody>
                  <a:tcPr marL="123548" marR="123548" marT="61774" marB="61774">
                    <a:solidFill>
                      <a:srgbClr val="B5E9E1">
                        <a:alpha val="20000"/>
                      </a:srgbClr>
                    </a:solidFill>
                  </a:tcPr>
                </a:tc>
                <a:tc>
                  <a:txBody>
                    <a:bodyPr/>
                    <a:lstStyle/>
                    <a:p>
                      <a:r>
                        <a:rPr lang="en-US" sz="1700">
                          <a:solidFill>
                            <a:schemeClr val="tx1"/>
                          </a:solidFill>
                        </a:rPr>
                        <a:t>2</a:t>
                      </a:r>
                    </a:p>
                  </a:txBody>
                  <a:tcPr marL="123548" marR="123548" marT="61774" marB="61774">
                    <a:solidFill>
                      <a:srgbClr val="B5E9E1">
                        <a:alpha val="20000"/>
                      </a:srgbClr>
                    </a:solidFill>
                  </a:tcPr>
                </a:tc>
                <a:tc>
                  <a:txBody>
                    <a:bodyPr/>
                    <a:lstStyle/>
                    <a:p>
                      <a:r>
                        <a:rPr lang="en-US" sz="1700" dirty="0">
                          <a:solidFill>
                            <a:schemeClr val="tx1"/>
                          </a:solidFill>
                        </a:rPr>
                        <a:t>3</a:t>
                      </a:r>
                    </a:p>
                  </a:txBody>
                  <a:tcPr marL="123548" marR="123548" marT="61774" marB="61774">
                    <a:solidFill>
                      <a:srgbClr val="B5E9E1">
                        <a:alpha val="20000"/>
                      </a:srgbClr>
                    </a:solidFill>
                  </a:tcPr>
                </a:tc>
                <a:extLst>
                  <a:ext uri="{0D108BD9-81ED-4DB2-BD59-A6C34878D82A}">
                    <a16:rowId xmlns:a16="http://schemas.microsoft.com/office/drawing/2014/main" val="230385616"/>
                  </a:ext>
                </a:extLst>
              </a:tr>
            </a:tbl>
          </a:graphicData>
        </a:graphic>
      </p:graphicFrame>
    </p:spTree>
    <p:extLst>
      <p:ext uri="{BB962C8B-B14F-4D97-AF65-F5344CB8AC3E}">
        <p14:creationId xmlns:p14="http://schemas.microsoft.com/office/powerpoint/2010/main" val="3090415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952FB-B1C5-BD5B-FCE7-4FBCD1C59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8EA6D-18EB-0F5E-953F-B88250DB8B77}"/>
              </a:ext>
            </a:extLst>
          </p:cNvPr>
          <p:cNvSpPr>
            <a:spLocks noGrp="1"/>
          </p:cNvSpPr>
          <p:nvPr>
            <p:ph type="title"/>
          </p:nvPr>
        </p:nvSpPr>
        <p:spPr/>
        <p:txBody>
          <a:bodyPr/>
          <a:lstStyle/>
          <a:p>
            <a:r>
              <a:rPr lang="en-US"/>
              <a:t>VERTICAL PULL </a:t>
            </a:r>
            <a:r>
              <a:rPr lang="en-US">
                <a:solidFill>
                  <a:schemeClr val="accent6"/>
                </a:solidFill>
              </a:rPr>
              <a:t>BENEFITS</a:t>
            </a:r>
          </a:p>
        </p:txBody>
      </p:sp>
      <p:sp>
        <p:nvSpPr>
          <p:cNvPr id="3" name="Footer Placeholder 2">
            <a:extLst>
              <a:ext uri="{FF2B5EF4-FFF2-40B4-BE49-F238E27FC236}">
                <a16:creationId xmlns:a16="http://schemas.microsoft.com/office/drawing/2014/main" id="{62F93696-C284-725A-BDF0-6E97D1F6ACBC}"/>
              </a:ext>
            </a:extLst>
          </p:cNvPr>
          <p:cNvSpPr>
            <a:spLocks noGrp="1"/>
          </p:cNvSpPr>
          <p:nvPr>
            <p:ph type="ftr" sz="quarter" idx="11"/>
          </p:nvPr>
        </p:nvSpPr>
        <p:spPr/>
        <p:txBody>
          <a:bodyPr/>
          <a:lstStyle/>
          <a:p>
            <a:r>
              <a:rPr lang="en-US"/>
              <a:t>If a client scores low (1-2) on Overhead Squat or Bird Dog, they may lack the thoracic mobility or core control needed for strict pressing. Start them with </a:t>
            </a:r>
            <a:r>
              <a:rPr lang="en-US" b="1"/>
              <a:t>seated or kneeling variations.</a:t>
            </a:r>
            <a:endParaRPr lang="en-US"/>
          </a:p>
        </p:txBody>
      </p:sp>
      <p:sp>
        <p:nvSpPr>
          <p:cNvPr id="4" name="Slide Number Placeholder 3">
            <a:extLst>
              <a:ext uri="{FF2B5EF4-FFF2-40B4-BE49-F238E27FC236}">
                <a16:creationId xmlns:a16="http://schemas.microsoft.com/office/drawing/2014/main" id="{C7FE9400-BEC9-90F1-BBD6-34D5573F6F63}"/>
              </a:ext>
            </a:extLst>
          </p:cNvPr>
          <p:cNvSpPr>
            <a:spLocks noGrp="1"/>
          </p:cNvSpPr>
          <p:nvPr>
            <p:ph type="sldNum" sz="quarter" idx="12"/>
          </p:nvPr>
        </p:nvSpPr>
        <p:spPr/>
        <p:txBody>
          <a:bodyPr/>
          <a:lstStyle/>
          <a:p>
            <a:fld id="{545951DD-1C6A-495F-8185-4C73F8F8B75A}" type="slidenum">
              <a:rPr lang="en-US" smtClean="0"/>
              <a:pPr/>
              <a:t>50</a:t>
            </a:fld>
            <a:endParaRPr lang="en-US"/>
          </a:p>
        </p:txBody>
      </p:sp>
      <p:sp>
        <p:nvSpPr>
          <p:cNvPr id="5" name="Text Placeholder 4">
            <a:extLst>
              <a:ext uri="{FF2B5EF4-FFF2-40B4-BE49-F238E27FC236}">
                <a16:creationId xmlns:a16="http://schemas.microsoft.com/office/drawing/2014/main" id="{97EE3180-4CB0-65B5-6192-EBF60E4C07DB}"/>
              </a:ext>
            </a:extLst>
          </p:cNvPr>
          <p:cNvSpPr>
            <a:spLocks noGrp="1"/>
          </p:cNvSpPr>
          <p:nvPr>
            <p:ph type="body" idx="4294967295"/>
          </p:nvPr>
        </p:nvSpPr>
        <p:spPr>
          <a:xfrm>
            <a:off x="12748591" y="969823"/>
            <a:ext cx="3300620" cy="3172860"/>
          </a:xfrm>
        </p:spPr>
        <p:txBody>
          <a:bodyPr/>
          <a:lstStyle/>
          <a:p>
            <a:pPr marL="0" indent="0">
              <a:buNone/>
            </a:pPr>
            <a:r>
              <a:rPr lang="en-US" sz="1400" i="1"/>
              <a:t>objects onto shelves, stabilizing loads overhead, and maintaining strong, mobile shoulders. Proper execution prevents compensations that stress the lower back or rotator cuff.</a:t>
            </a:r>
            <a:endParaRPr lang="en-US" sz="1400" b="1">
              <a:ea typeface="+mn-lt"/>
              <a:cs typeface="+mn-lt"/>
            </a:endParaRPr>
          </a:p>
          <a:p>
            <a:pPr marL="0" indent="0">
              <a:buNone/>
            </a:pPr>
            <a:r>
              <a:rPr lang="en-US" sz="2000" b="1">
                <a:ea typeface="+mn-lt"/>
                <a:cs typeface="+mn-lt"/>
              </a:rPr>
              <a:t>PRIME MOVERS:</a:t>
            </a:r>
          </a:p>
          <a:p>
            <a:pPr marL="0" indent="0">
              <a:buNone/>
            </a:pPr>
            <a:r>
              <a:rPr lang="en-US" sz="1400"/>
              <a:t>Deltoids (especially anterior/lateral), upper trapezius (stabilizer), triceps brachii </a:t>
            </a:r>
            <a:endParaRPr lang="en-US" sz="1400" b="1"/>
          </a:p>
        </p:txBody>
      </p:sp>
      <p:sp>
        <p:nvSpPr>
          <p:cNvPr id="10" name="Rectangle: Rounded Corners 9">
            <a:extLst>
              <a:ext uri="{FF2B5EF4-FFF2-40B4-BE49-F238E27FC236}">
                <a16:creationId xmlns:a16="http://schemas.microsoft.com/office/drawing/2014/main" id="{508D2B68-BA61-7650-3EF1-843CECCB6AA8}"/>
              </a:ext>
            </a:extLst>
          </p:cNvPr>
          <p:cNvSpPr/>
          <p:nvPr/>
        </p:nvSpPr>
        <p:spPr>
          <a:xfrm>
            <a:off x="-1731859" y="4068279"/>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Increased Back/Arm Strength</a:t>
            </a:r>
          </a:p>
        </p:txBody>
      </p:sp>
      <p:sp>
        <p:nvSpPr>
          <p:cNvPr id="11" name="Rectangle: Rounded Corners 10">
            <a:extLst>
              <a:ext uri="{FF2B5EF4-FFF2-40B4-BE49-F238E27FC236}">
                <a16:creationId xmlns:a16="http://schemas.microsoft.com/office/drawing/2014/main" id="{79C31DB0-F6D5-BD81-0242-34FF51D1D3AE}"/>
              </a:ext>
            </a:extLst>
          </p:cNvPr>
          <p:cNvSpPr/>
          <p:nvPr/>
        </p:nvSpPr>
        <p:spPr>
          <a:xfrm>
            <a:off x="-1731858" y="202551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Enhanced Posture and Spinal Alignment</a:t>
            </a:r>
          </a:p>
        </p:txBody>
      </p:sp>
      <p:sp>
        <p:nvSpPr>
          <p:cNvPr id="12" name="Rectangle: Rounded Corners 11">
            <a:extLst>
              <a:ext uri="{FF2B5EF4-FFF2-40B4-BE49-F238E27FC236}">
                <a16:creationId xmlns:a16="http://schemas.microsoft.com/office/drawing/2014/main" id="{1495B07E-0612-EDB4-5330-ED7119C9BDEB}"/>
              </a:ext>
            </a:extLst>
          </p:cNvPr>
          <p:cNvSpPr/>
          <p:nvPr/>
        </p:nvSpPr>
        <p:spPr>
          <a:xfrm>
            <a:off x="-1731859" y="507780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Enhanced Forearm Strength</a:t>
            </a:r>
          </a:p>
        </p:txBody>
      </p:sp>
      <p:sp>
        <p:nvSpPr>
          <p:cNvPr id="13" name="Rectangle: Rounded Corners 12">
            <a:extLst>
              <a:ext uri="{FF2B5EF4-FFF2-40B4-BE49-F238E27FC236}">
                <a16:creationId xmlns:a16="http://schemas.microsoft.com/office/drawing/2014/main" id="{11BAD6A8-75C8-930C-4FB1-F4C574924C21}"/>
              </a:ext>
            </a:extLst>
          </p:cNvPr>
          <p:cNvSpPr/>
          <p:nvPr/>
        </p:nvSpPr>
        <p:spPr>
          <a:xfrm>
            <a:off x="-1731858" y="3035033"/>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Better Shoulder Mobility</a:t>
            </a:r>
          </a:p>
        </p:txBody>
      </p:sp>
      <p:sp>
        <p:nvSpPr>
          <p:cNvPr id="14" name="Text Placeholder 4">
            <a:extLst>
              <a:ext uri="{FF2B5EF4-FFF2-40B4-BE49-F238E27FC236}">
                <a16:creationId xmlns:a16="http://schemas.microsoft.com/office/drawing/2014/main" id="{2EFD0651-191C-2533-3982-FBD43B810785}"/>
              </a:ext>
            </a:extLst>
          </p:cNvPr>
          <p:cNvSpPr txBox="1">
            <a:spLocks/>
          </p:cNvSpPr>
          <p:nvPr/>
        </p:nvSpPr>
        <p:spPr>
          <a:xfrm>
            <a:off x="7410837" y="2579411"/>
            <a:ext cx="3734922" cy="4278589"/>
          </a:xfrm>
          <a:prstGeom prst="rect">
            <a:avLst/>
          </a:prstGeom>
        </p:spPr>
        <p:txBody>
          <a:bodyPr vert="horz" lIns="0" tIns="0" rIns="0" bIns="0" rtlCol="0">
            <a:noAutofit/>
          </a:bodyPr>
          <a:lst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a:t>IN REAL LIFE: </a:t>
            </a:r>
          </a:p>
          <a:p>
            <a:pPr algn="ctr"/>
            <a:r>
              <a:rPr lang="en-US" sz="2000"/>
              <a:t>Pulling yourself up</a:t>
            </a:r>
          </a:p>
          <a:p>
            <a:pPr algn="ctr"/>
            <a:r>
              <a:rPr lang="en-US" sz="2000"/>
              <a:t>Carrying heavy objects</a:t>
            </a:r>
          </a:p>
          <a:p>
            <a:pPr algn="ctr"/>
            <a:r>
              <a:rPr lang="en-US" sz="2000"/>
              <a:t>Stability when lifting overhead</a:t>
            </a:r>
            <a:endParaRPr lang="en-US" sz="2000" b="1"/>
          </a:p>
        </p:txBody>
      </p:sp>
    </p:spTree>
    <p:extLst>
      <p:ext uri="{BB962C8B-B14F-4D97-AF65-F5344CB8AC3E}">
        <p14:creationId xmlns:p14="http://schemas.microsoft.com/office/powerpoint/2010/main" val="1842114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9EA6B-DF27-969B-3853-B857EE69C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D4A6F-0346-BD58-9D81-1AD98C60D3F1}"/>
              </a:ext>
            </a:extLst>
          </p:cNvPr>
          <p:cNvSpPr>
            <a:spLocks noGrp="1"/>
          </p:cNvSpPr>
          <p:nvPr>
            <p:ph type="title"/>
          </p:nvPr>
        </p:nvSpPr>
        <p:spPr/>
        <p:txBody>
          <a:bodyPr/>
          <a:lstStyle/>
          <a:p>
            <a:r>
              <a:rPr lang="en-US"/>
              <a:t>VERTICAL PULL </a:t>
            </a:r>
            <a:r>
              <a:rPr lang="en-US">
                <a:solidFill>
                  <a:schemeClr val="accent6"/>
                </a:solidFill>
              </a:rPr>
              <a:t>PRIME MOVERS</a:t>
            </a:r>
          </a:p>
        </p:txBody>
      </p:sp>
      <p:sp>
        <p:nvSpPr>
          <p:cNvPr id="4" name="Slide Number Placeholder 3">
            <a:extLst>
              <a:ext uri="{FF2B5EF4-FFF2-40B4-BE49-F238E27FC236}">
                <a16:creationId xmlns:a16="http://schemas.microsoft.com/office/drawing/2014/main" id="{C9B827D9-CF57-DB66-79A9-B3D6CB554B28}"/>
              </a:ext>
            </a:extLst>
          </p:cNvPr>
          <p:cNvSpPr>
            <a:spLocks noGrp="1"/>
          </p:cNvSpPr>
          <p:nvPr>
            <p:ph type="sldNum" sz="quarter" idx="12"/>
          </p:nvPr>
        </p:nvSpPr>
        <p:spPr/>
        <p:txBody>
          <a:bodyPr/>
          <a:lstStyle/>
          <a:p>
            <a:fld id="{545951DD-1C6A-495F-8185-4C73F8F8B75A}" type="slidenum">
              <a:rPr lang="en-US" smtClean="0"/>
              <a:pPr/>
              <a:t>51</a:t>
            </a:fld>
            <a:endParaRPr lang="en-US"/>
          </a:p>
        </p:txBody>
      </p:sp>
      <p:sp>
        <p:nvSpPr>
          <p:cNvPr id="10" name="Rectangle: Rounded Corners 9">
            <a:extLst>
              <a:ext uri="{FF2B5EF4-FFF2-40B4-BE49-F238E27FC236}">
                <a16:creationId xmlns:a16="http://schemas.microsoft.com/office/drawing/2014/main" id="{08A4594E-87DF-3957-1925-4DF0AEF11FD2}"/>
              </a:ext>
            </a:extLst>
          </p:cNvPr>
          <p:cNvSpPr/>
          <p:nvPr/>
        </p:nvSpPr>
        <p:spPr>
          <a:xfrm>
            <a:off x="-1325459" y="4106379"/>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RHOMBOIDS &amp; LOWER TRAPS</a:t>
            </a:r>
          </a:p>
        </p:txBody>
      </p:sp>
      <p:sp>
        <p:nvSpPr>
          <p:cNvPr id="11" name="Rectangle: Rounded Corners 10">
            <a:extLst>
              <a:ext uri="{FF2B5EF4-FFF2-40B4-BE49-F238E27FC236}">
                <a16:creationId xmlns:a16="http://schemas.microsoft.com/office/drawing/2014/main" id="{8FB6224C-0670-EF27-6BBE-9207E01A980B}"/>
              </a:ext>
            </a:extLst>
          </p:cNvPr>
          <p:cNvSpPr/>
          <p:nvPr/>
        </p:nvSpPr>
        <p:spPr>
          <a:xfrm>
            <a:off x="-1325458" y="2063611"/>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LATISSIMUS DORSI</a:t>
            </a:r>
          </a:p>
        </p:txBody>
      </p:sp>
      <p:sp>
        <p:nvSpPr>
          <p:cNvPr id="13" name="Rectangle: Rounded Corners 12">
            <a:extLst>
              <a:ext uri="{FF2B5EF4-FFF2-40B4-BE49-F238E27FC236}">
                <a16:creationId xmlns:a16="http://schemas.microsoft.com/office/drawing/2014/main" id="{E6F357A8-1D9F-D585-0ACF-6285AFDC9B4B}"/>
              </a:ext>
            </a:extLst>
          </p:cNvPr>
          <p:cNvSpPr/>
          <p:nvPr/>
        </p:nvSpPr>
        <p:spPr>
          <a:xfrm>
            <a:off x="-1325458" y="3073133"/>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BICEPS BRACHII</a:t>
            </a:r>
          </a:p>
        </p:txBody>
      </p:sp>
    </p:spTree>
    <p:extLst>
      <p:ext uri="{BB962C8B-B14F-4D97-AF65-F5344CB8AC3E}">
        <p14:creationId xmlns:p14="http://schemas.microsoft.com/office/powerpoint/2010/main" val="8400387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10760-21B1-E71A-C058-661544CA8D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2A365E-02AB-688B-B965-3CD42CDD9DAA}"/>
              </a:ext>
            </a:extLst>
          </p:cNvPr>
          <p:cNvSpPr>
            <a:spLocks noGrp="1"/>
          </p:cNvSpPr>
          <p:nvPr>
            <p:ph type="title"/>
          </p:nvPr>
        </p:nvSpPr>
        <p:spPr>
          <a:xfrm>
            <a:off x="880782" y="545914"/>
            <a:ext cx="10414747" cy="1147152"/>
          </a:xfrm>
        </p:spPr>
        <p:txBody>
          <a:bodyPr anchor="ctr">
            <a:normAutofit/>
          </a:bodyPr>
          <a:lstStyle/>
          <a:p>
            <a:r>
              <a:rPr lang="en-US"/>
              <a:t>Lunge</a:t>
            </a:r>
          </a:p>
        </p:txBody>
      </p:sp>
      <p:sp>
        <p:nvSpPr>
          <p:cNvPr id="3" name="Footer Placeholder 2">
            <a:extLst>
              <a:ext uri="{FF2B5EF4-FFF2-40B4-BE49-F238E27FC236}">
                <a16:creationId xmlns:a16="http://schemas.microsoft.com/office/drawing/2014/main" id="{5AB2BB53-E5EE-6983-B376-A0195BA776F1}"/>
              </a:ext>
            </a:extLst>
          </p:cNvPr>
          <p:cNvSpPr>
            <a:spLocks noGrp="1"/>
          </p:cNvSpPr>
          <p:nvPr>
            <p:ph type="ftr" sz="quarter" idx="11"/>
          </p:nvPr>
        </p:nvSpPr>
        <p:spPr>
          <a:xfrm>
            <a:off x="342900" y="6394105"/>
            <a:ext cx="10259861" cy="365125"/>
          </a:xfrm>
        </p:spPr>
        <p:txBody>
          <a:bodyPr anchor="ctr">
            <a:normAutofit/>
          </a:bodyPr>
          <a:lstStyle/>
          <a:p>
            <a:pPr>
              <a:spcAft>
                <a:spcPts val="600"/>
              </a:spcAft>
            </a:pPr>
            <a:r>
              <a:rPr lang="en-US" i="1"/>
              <a:t>A client scoring low (1-2) on Single-Leg Balance Reach may struggle with stability in a lunge. They should begin with </a:t>
            </a:r>
            <a:r>
              <a:rPr lang="en-US" b="1" i="1"/>
              <a:t>assisted split squats or reverse lunges</a:t>
            </a:r>
            <a:r>
              <a:rPr lang="en-US" i="1"/>
              <a:t> before progressing.</a:t>
            </a:r>
            <a:r>
              <a:rPr lang="en-US"/>
              <a:t> </a:t>
            </a:r>
          </a:p>
        </p:txBody>
      </p:sp>
      <p:sp>
        <p:nvSpPr>
          <p:cNvPr id="4" name="Slide Number Placeholder 3">
            <a:extLst>
              <a:ext uri="{FF2B5EF4-FFF2-40B4-BE49-F238E27FC236}">
                <a16:creationId xmlns:a16="http://schemas.microsoft.com/office/drawing/2014/main" id="{3D2D1321-1BB1-0BB4-19A2-62179D5EC2C9}"/>
              </a:ext>
            </a:extLst>
          </p:cNvPr>
          <p:cNvSpPr>
            <a:spLocks noGrp="1"/>
          </p:cNvSpPr>
          <p:nvPr>
            <p:ph type="sldNum" sz="quarter" idx="12"/>
          </p:nvPr>
        </p:nvSpPr>
        <p:spPr>
          <a:xfrm>
            <a:off x="11674225" y="5477347"/>
            <a:ext cx="305503" cy="306298"/>
          </a:xfrm>
        </p:spPr>
        <p:txBody>
          <a:bodyPr anchor="ctr">
            <a:normAutofit/>
          </a:bodyPr>
          <a:lstStyle/>
          <a:p>
            <a:pPr>
              <a:spcAft>
                <a:spcPts val="600"/>
              </a:spcAft>
            </a:pPr>
            <a:fld id="{545951DD-1C6A-495F-8185-4C73F8F8B75A}" type="slidenum">
              <a:rPr lang="en-US" smtClean="0"/>
              <a:pPr>
                <a:spcAft>
                  <a:spcPts val="600"/>
                </a:spcAft>
              </a:pPr>
              <a:t>52</a:t>
            </a:fld>
            <a:endParaRPr lang="en-US"/>
          </a:p>
        </p:txBody>
      </p:sp>
      <p:graphicFrame>
        <p:nvGraphicFramePr>
          <p:cNvPr id="7" name="Table 6">
            <a:extLst>
              <a:ext uri="{FF2B5EF4-FFF2-40B4-BE49-F238E27FC236}">
                <a16:creationId xmlns:a16="http://schemas.microsoft.com/office/drawing/2014/main" id="{253C065B-E89D-B35E-A14A-706633FF9ADA}"/>
              </a:ext>
            </a:extLst>
          </p:cNvPr>
          <p:cNvGraphicFramePr>
            <a:graphicFrameLocks noGrp="1"/>
          </p:cNvGraphicFramePr>
          <p:nvPr>
            <p:extLst>
              <p:ext uri="{D42A27DB-BD31-4B8C-83A1-F6EECF244321}">
                <p14:modId xmlns:p14="http://schemas.microsoft.com/office/powerpoint/2010/main" val="1567102684"/>
              </p:ext>
            </p:extLst>
          </p:nvPr>
        </p:nvGraphicFramePr>
        <p:xfrm>
          <a:off x="880782" y="2331713"/>
          <a:ext cx="10414749" cy="3454520"/>
        </p:xfrm>
        <a:graphic>
          <a:graphicData uri="http://schemas.openxmlformats.org/drawingml/2006/table">
            <a:tbl>
              <a:tblPr firstRow="1" bandRow="1">
                <a:tableStyleId>{9D7B26C5-4107-4FEC-AEDC-1716B250A1EF}</a:tableStyleId>
              </a:tblPr>
              <a:tblGrid>
                <a:gridCol w="649125">
                  <a:extLst>
                    <a:ext uri="{9D8B030D-6E8A-4147-A177-3AD203B41FA5}">
                      <a16:colId xmlns:a16="http://schemas.microsoft.com/office/drawing/2014/main" val="578100667"/>
                    </a:ext>
                  </a:extLst>
                </a:gridCol>
                <a:gridCol w="2907485">
                  <a:extLst>
                    <a:ext uri="{9D8B030D-6E8A-4147-A177-3AD203B41FA5}">
                      <a16:colId xmlns:a16="http://schemas.microsoft.com/office/drawing/2014/main" val="3492030474"/>
                    </a:ext>
                  </a:extLst>
                </a:gridCol>
                <a:gridCol w="3309183">
                  <a:extLst>
                    <a:ext uri="{9D8B030D-6E8A-4147-A177-3AD203B41FA5}">
                      <a16:colId xmlns:a16="http://schemas.microsoft.com/office/drawing/2014/main" val="3625462225"/>
                    </a:ext>
                  </a:extLst>
                </a:gridCol>
                <a:gridCol w="3548956">
                  <a:extLst>
                    <a:ext uri="{9D8B030D-6E8A-4147-A177-3AD203B41FA5}">
                      <a16:colId xmlns:a16="http://schemas.microsoft.com/office/drawing/2014/main" val="1103401940"/>
                    </a:ext>
                  </a:extLst>
                </a:gridCol>
              </a:tblGrid>
              <a:tr h="332407">
                <a:tc>
                  <a:txBody>
                    <a:bodyPr/>
                    <a:lstStyle/>
                    <a:p>
                      <a:endParaRPr lang="en-US" sz="1300">
                        <a:solidFill>
                          <a:schemeClr val="tx1"/>
                        </a:solidFill>
                      </a:endParaRPr>
                    </a:p>
                  </a:txBody>
                  <a:tcPr marL="96885" marR="96885" marT="48443" marB="48443">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300">
                        <a:solidFill>
                          <a:schemeClr val="tx1"/>
                        </a:solidFill>
                      </a:endParaRPr>
                    </a:p>
                  </a:txBody>
                  <a:tcPr marL="96885" marR="96885" marT="48443" marB="48443">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300">
                        <a:solidFill>
                          <a:schemeClr val="tx1"/>
                        </a:solidFill>
                      </a:endParaRPr>
                    </a:p>
                  </a:txBody>
                  <a:tcPr marL="96885" marR="96885" marT="48443" marB="48443">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r>
                        <a:rPr lang="en-US" sz="1300">
                          <a:solidFill>
                            <a:schemeClr val="tx1"/>
                          </a:solidFill>
                        </a:rPr>
                        <a:t>Assisted SL Squat/ Pistol Squat </a:t>
                      </a:r>
                    </a:p>
                  </a:txBody>
                  <a:tcPr marL="96885" marR="96885" marT="48443" marB="48443">
                    <a:lnL>
                      <a:noFill/>
                    </a:lnL>
                    <a:solidFill>
                      <a:schemeClr val="accent3">
                        <a:lumMod val="75000"/>
                      </a:schemeClr>
                    </a:solidFill>
                  </a:tcPr>
                </a:tc>
                <a:extLst>
                  <a:ext uri="{0D108BD9-81ED-4DB2-BD59-A6C34878D82A}">
                    <a16:rowId xmlns:a16="http://schemas.microsoft.com/office/drawing/2014/main" val="570874207"/>
                  </a:ext>
                </a:extLst>
              </a:tr>
              <a:tr h="332407">
                <a:tc>
                  <a:txBody>
                    <a:bodyPr/>
                    <a:lstStyle/>
                    <a:p>
                      <a:endParaRPr lang="en-US" sz="1300">
                        <a:solidFill>
                          <a:schemeClr val="tx1"/>
                        </a:solidFill>
                      </a:endParaRPr>
                    </a:p>
                  </a:txBody>
                  <a:tcPr marL="96885" marR="96885" marT="48443" marB="48443">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300">
                        <a:solidFill>
                          <a:schemeClr val="tx1"/>
                        </a:solidFill>
                      </a:endParaRPr>
                    </a:p>
                  </a:txBody>
                  <a:tcPr marL="96885" marR="96885" marT="48443" marB="48443">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300">
                        <a:solidFill>
                          <a:schemeClr val="tx1"/>
                        </a:solidFill>
                      </a:endParaRPr>
                    </a:p>
                  </a:txBody>
                  <a:tcPr marL="96885" marR="96885" marT="48443" marB="48443">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r>
                        <a:rPr lang="en-US" sz="1300">
                          <a:solidFill>
                            <a:schemeClr val="tx1"/>
                          </a:solidFill>
                        </a:rPr>
                        <a:t>Single Leg Box Squat (Loaded)</a:t>
                      </a:r>
                    </a:p>
                  </a:txBody>
                  <a:tcPr marL="96885" marR="96885" marT="48443" marB="48443">
                    <a:lnL>
                      <a:noFill/>
                    </a:lnL>
                    <a:solidFill>
                      <a:schemeClr val="accent3">
                        <a:lumMod val="75000"/>
                      </a:schemeClr>
                    </a:solidFill>
                  </a:tcPr>
                </a:tc>
                <a:extLst>
                  <a:ext uri="{0D108BD9-81ED-4DB2-BD59-A6C34878D82A}">
                    <a16:rowId xmlns:a16="http://schemas.microsoft.com/office/drawing/2014/main" val="749760594"/>
                  </a:ext>
                </a:extLst>
              </a:tr>
              <a:tr h="531223">
                <a:tc>
                  <a:txBody>
                    <a:bodyPr/>
                    <a:lstStyle/>
                    <a:p>
                      <a:endParaRPr lang="en-US" sz="1300">
                        <a:solidFill>
                          <a:schemeClr val="tx1"/>
                        </a:solidFill>
                      </a:endParaRPr>
                    </a:p>
                  </a:txBody>
                  <a:tcPr marL="96885" marR="96885" marT="48443" marB="48443">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300">
                        <a:solidFill>
                          <a:schemeClr val="tx1"/>
                        </a:solidFill>
                      </a:endParaRPr>
                    </a:p>
                  </a:txBody>
                  <a:tcPr marL="96885" marR="96885" marT="48443" marB="48443">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300">
                        <a:solidFill>
                          <a:schemeClr val="tx1"/>
                        </a:solidFill>
                      </a:endParaRPr>
                    </a:p>
                  </a:txBody>
                  <a:tcPr marL="96885" marR="96885" marT="48443" marB="48443">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a:solidFill>
                            <a:schemeClr val="tx1"/>
                          </a:solidFill>
                        </a:rPr>
                        <a:t>BW Single Leg Squat</a:t>
                      </a:r>
                    </a:p>
                    <a:p>
                      <a:endParaRPr lang="en-US" sz="1300">
                        <a:solidFill>
                          <a:schemeClr val="tx1"/>
                        </a:solidFill>
                      </a:endParaRPr>
                    </a:p>
                  </a:txBody>
                  <a:tcPr marL="96885" marR="96885" marT="48443" marB="48443">
                    <a:lnL>
                      <a:noFill/>
                    </a:lnL>
                    <a:solidFill>
                      <a:schemeClr val="accent3">
                        <a:lumMod val="75000"/>
                      </a:schemeClr>
                    </a:solidFill>
                  </a:tcPr>
                </a:tc>
                <a:extLst>
                  <a:ext uri="{0D108BD9-81ED-4DB2-BD59-A6C34878D82A}">
                    <a16:rowId xmlns:a16="http://schemas.microsoft.com/office/drawing/2014/main" val="3986133860"/>
                  </a:ext>
                </a:extLst>
              </a:tr>
              <a:tr h="531223">
                <a:tc>
                  <a:txBody>
                    <a:bodyPr/>
                    <a:lstStyle/>
                    <a:p>
                      <a:endParaRPr lang="en-US" sz="1300">
                        <a:solidFill>
                          <a:schemeClr val="tx1"/>
                        </a:solidFill>
                      </a:endParaRPr>
                    </a:p>
                  </a:txBody>
                  <a:tcPr marL="96885" marR="96885" marT="48443" marB="48443">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300">
                        <a:solidFill>
                          <a:schemeClr val="tx1"/>
                        </a:solidFill>
                      </a:endParaRPr>
                    </a:p>
                  </a:txBody>
                  <a:tcPr marL="96885" marR="96885" marT="48443" marB="48443">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300">
                          <a:solidFill>
                            <a:schemeClr val="tx1"/>
                          </a:solidFill>
                        </a:rPr>
                        <a:t>Forward/ Walking Lunge </a:t>
                      </a:r>
                    </a:p>
                  </a:txBody>
                  <a:tcPr marL="96885" marR="96885" marT="48443" marB="48443">
                    <a:lnL>
                      <a:noFill/>
                    </a:lnL>
                    <a:lnT>
                      <a:noFill/>
                    </a:lnT>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a:solidFill>
                            <a:schemeClr val="tx1"/>
                          </a:solidFill>
                        </a:rPr>
                        <a:t>Goblet SS/ Reverse Lunge (Heavy)</a:t>
                      </a:r>
                    </a:p>
                    <a:p>
                      <a:endParaRPr lang="en-US" sz="1300">
                        <a:solidFill>
                          <a:schemeClr val="tx1"/>
                        </a:solidFill>
                      </a:endParaRPr>
                    </a:p>
                  </a:txBody>
                  <a:tcPr marL="96885" marR="96885" marT="48443" marB="48443">
                    <a:solidFill>
                      <a:schemeClr val="accent3">
                        <a:lumMod val="75000"/>
                      </a:schemeClr>
                    </a:solidFill>
                  </a:tcPr>
                </a:tc>
                <a:extLst>
                  <a:ext uri="{0D108BD9-81ED-4DB2-BD59-A6C34878D82A}">
                    <a16:rowId xmlns:a16="http://schemas.microsoft.com/office/drawing/2014/main" val="3514245776"/>
                  </a:ext>
                </a:extLst>
              </a:tr>
              <a:tr h="531223">
                <a:tc>
                  <a:txBody>
                    <a:bodyPr/>
                    <a:lstStyle/>
                    <a:p>
                      <a:endParaRPr lang="en-US" sz="1300">
                        <a:solidFill>
                          <a:schemeClr val="tx1"/>
                        </a:solidFill>
                      </a:endParaRPr>
                    </a:p>
                  </a:txBody>
                  <a:tcPr marL="96885" marR="96885" marT="48443" marB="48443">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300">
                        <a:solidFill>
                          <a:schemeClr val="tx1"/>
                        </a:solidFill>
                      </a:endParaRPr>
                    </a:p>
                  </a:txBody>
                  <a:tcPr marL="96885" marR="96885" marT="48443" marB="48443">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300">
                          <a:solidFill>
                            <a:schemeClr val="tx1"/>
                          </a:solidFill>
                        </a:rPr>
                        <a:t>Goblet SS/ Reverse Lunge (Light + Tempo)</a:t>
                      </a:r>
                    </a:p>
                  </a:txBody>
                  <a:tcPr marL="96885" marR="96885" marT="48443" marB="48443">
                    <a:lnL>
                      <a:noFill/>
                    </a:lnL>
                    <a:solidFill>
                      <a:schemeClr val="accent3">
                        <a:lumMod val="60000"/>
                        <a:lumOff val="40000"/>
                      </a:schemeClr>
                    </a:solidFill>
                  </a:tcPr>
                </a:tc>
                <a:tc>
                  <a:txBody>
                    <a:bodyPr/>
                    <a:lstStyle/>
                    <a:p>
                      <a:r>
                        <a:rPr lang="en-US" sz="1300">
                          <a:solidFill>
                            <a:schemeClr val="tx1"/>
                          </a:solidFill>
                        </a:rPr>
                        <a:t>Front Foot Elevated SS </a:t>
                      </a:r>
                    </a:p>
                  </a:txBody>
                  <a:tcPr marL="96885" marR="96885" marT="48443" marB="48443">
                    <a:solidFill>
                      <a:schemeClr val="accent3">
                        <a:lumMod val="75000"/>
                      </a:schemeClr>
                    </a:solidFill>
                  </a:tcPr>
                </a:tc>
                <a:extLst>
                  <a:ext uri="{0D108BD9-81ED-4DB2-BD59-A6C34878D82A}">
                    <a16:rowId xmlns:a16="http://schemas.microsoft.com/office/drawing/2014/main" val="3299508014"/>
                  </a:ext>
                </a:extLst>
              </a:tr>
              <a:tr h="531223">
                <a:tc>
                  <a:txBody>
                    <a:bodyPr/>
                    <a:lstStyle/>
                    <a:p>
                      <a:endParaRPr lang="en-US" sz="1300">
                        <a:solidFill>
                          <a:schemeClr val="tx1"/>
                        </a:solidFill>
                      </a:endParaRPr>
                    </a:p>
                  </a:txBody>
                  <a:tcPr marL="96885" marR="96885" marT="48443" marB="48443">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300">
                          <a:solidFill>
                            <a:schemeClr val="tx1"/>
                          </a:solidFill>
                        </a:rPr>
                        <a:t>Assisted Reverse Lunge </a:t>
                      </a:r>
                    </a:p>
                  </a:txBody>
                  <a:tcPr marL="96885" marR="96885" marT="48443" marB="48443">
                    <a:lnL>
                      <a:noFill/>
                    </a:lnL>
                    <a:lnT>
                      <a:noFill/>
                    </a:lnT>
                    <a:solidFill>
                      <a:schemeClr val="accent3">
                        <a:lumMod val="40000"/>
                        <a:lumOff val="60000"/>
                      </a:schemeClr>
                    </a:solidFill>
                  </a:tcPr>
                </a:tc>
                <a:tc>
                  <a:txBody>
                    <a:bodyPr/>
                    <a:lstStyle/>
                    <a:p>
                      <a:r>
                        <a:rPr lang="en-US" sz="1300">
                          <a:solidFill>
                            <a:schemeClr val="tx1"/>
                          </a:solidFill>
                        </a:rPr>
                        <a:t>BW Reverse Lunge </a:t>
                      </a:r>
                    </a:p>
                  </a:txBody>
                  <a:tcPr marL="96885" marR="96885" marT="48443" marB="48443">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300">
                          <a:solidFill>
                            <a:schemeClr val="tx1"/>
                          </a:solidFill>
                        </a:rPr>
                        <a:t>Goblet SS/ Reverse Lunge (Heavy)</a:t>
                      </a:r>
                    </a:p>
                    <a:p>
                      <a:endParaRPr lang="en-US" sz="1300">
                        <a:solidFill>
                          <a:schemeClr val="tx1"/>
                        </a:solidFill>
                      </a:endParaRPr>
                    </a:p>
                  </a:txBody>
                  <a:tcPr marL="96885" marR="96885" marT="48443" marB="48443">
                    <a:solidFill>
                      <a:schemeClr val="accent3">
                        <a:lumMod val="75000"/>
                      </a:schemeClr>
                    </a:solidFill>
                  </a:tcPr>
                </a:tc>
                <a:extLst>
                  <a:ext uri="{0D108BD9-81ED-4DB2-BD59-A6C34878D82A}">
                    <a16:rowId xmlns:a16="http://schemas.microsoft.com/office/drawing/2014/main" val="3446697123"/>
                  </a:ext>
                </a:extLst>
              </a:tr>
              <a:tr h="332407">
                <a:tc>
                  <a:txBody>
                    <a:bodyPr/>
                    <a:lstStyle/>
                    <a:p>
                      <a:endParaRPr lang="en-US" sz="1300" dirty="0">
                        <a:solidFill>
                          <a:schemeClr val="tx1"/>
                        </a:solidFill>
                      </a:endParaRPr>
                    </a:p>
                  </a:txBody>
                  <a:tcPr marL="96885" marR="96885" marT="48443" marB="48443">
                    <a:lnT>
                      <a:noFill/>
                    </a:lnT>
                    <a:solidFill>
                      <a:schemeClr val="bg2"/>
                    </a:solidFill>
                  </a:tcPr>
                </a:tc>
                <a:tc>
                  <a:txBody>
                    <a:bodyPr/>
                    <a:lstStyle/>
                    <a:p>
                      <a:r>
                        <a:rPr lang="en-US" sz="1300" dirty="0">
                          <a:solidFill>
                            <a:schemeClr val="tx1"/>
                          </a:solidFill>
                        </a:rPr>
                        <a:t>Assisted Split Squat </a:t>
                      </a:r>
                    </a:p>
                  </a:txBody>
                  <a:tcPr marL="96885" marR="96885" marT="48443" marB="48443">
                    <a:solidFill>
                      <a:schemeClr val="accent3">
                        <a:lumMod val="40000"/>
                        <a:lumOff val="60000"/>
                      </a:schemeClr>
                    </a:solidFill>
                  </a:tcPr>
                </a:tc>
                <a:tc>
                  <a:txBody>
                    <a:bodyPr/>
                    <a:lstStyle/>
                    <a:p>
                      <a:r>
                        <a:rPr lang="en-US" sz="1300" dirty="0">
                          <a:solidFill>
                            <a:schemeClr val="tx1"/>
                          </a:solidFill>
                        </a:rPr>
                        <a:t>BW Split Squat </a:t>
                      </a:r>
                    </a:p>
                  </a:txBody>
                  <a:tcPr marL="96885" marR="96885" marT="48443" marB="48443">
                    <a:solidFill>
                      <a:schemeClr val="accent3">
                        <a:lumMod val="60000"/>
                        <a:lumOff val="40000"/>
                      </a:schemeClr>
                    </a:solidFill>
                  </a:tcPr>
                </a:tc>
                <a:tc>
                  <a:txBody>
                    <a:bodyPr/>
                    <a:lstStyle/>
                    <a:p>
                      <a:r>
                        <a:rPr lang="en-US" sz="1300" dirty="0">
                          <a:solidFill>
                            <a:schemeClr val="tx1"/>
                          </a:solidFill>
                        </a:rPr>
                        <a:t>Bulgarian SS</a:t>
                      </a:r>
                    </a:p>
                  </a:txBody>
                  <a:tcPr marL="96885" marR="96885" marT="48443" marB="48443">
                    <a:solidFill>
                      <a:schemeClr val="accent3">
                        <a:lumMod val="75000"/>
                      </a:schemeClr>
                    </a:solidFill>
                  </a:tcPr>
                </a:tc>
                <a:extLst>
                  <a:ext uri="{0D108BD9-81ED-4DB2-BD59-A6C34878D82A}">
                    <a16:rowId xmlns:a16="http://schemas.microsoft.com/office/drawing/2014/main" val="2747963358"/>
                  </a:ext>
                </a:extLst>
              </a:tr>
              <a:tr h="332407">
                <a:tc>
                  <a:txBody>
                    <a:bodyPr/>
                    <a:lstStyle/>
                    <a:p>
                      <a:r>
                        <a:rPr lang="en-US" sz="1300" dirty="0">
                          <a:solidFill>
                            <a:schemeClr val="tx1"/>
                          </a:solidFill>
                        </a:rPr>
                        <a:t>0</a:t>
                      </a:r>
                    </a:p>
                  </a:txBody>
                  <a:tcPr marL="96885" marR="96885" marT="48443" marB="48443">
                    <a:solidFill>
                      <a:srgbClr val="B5E9E1">
                        <a:alpha val="20000"/>
                      </a:srgbClr>
                    </a:solidFill>
                  </a:tcPr>
                </a:tc>
                <a:tc>
                  <a:txBody>
                    <a:bodyPr/>
                    <a:lstStyle/>
                    <a:p>
                      <a:r>
                        <a:rPr lang="en-US" sz="1300" dirty="0">
                          <a:solidFill>
                            <a:schemeClr val="tx1"/>
                          </a:solidFill>
                        </a:rPr>
                        <a:t>1</a:t>
                      </a:r>
                    </a:p>
                  </a:txBody>
                  <a:tcPr marL="96885" marR="96885" marT="48443" marB="48443">
                    <a:solidFill>
                      <a:srgbClr val="B5E9E1">
                        <a:alpha val="20000"/>
                      </a:srgbClr>
                    </a:solidFill>
                  </a:tcPr>
                </a:tc>
                <a:tc>
                  <a:txBody>
                    <a:bodyPr/>
                    <a:lstStyle/>
                    <a:p>
                      <a:r>
                        <a:rPr lang="en-US" sz="1300" dirty="0">
                          <a:solidFill>
                            <a:schemeClr val="tx1"/>
                          </a:solidFill>
                        </a:rPr>
                        <a:t>2</a:t>
                      </a:r>
                    </a:p>
                  </a:txBody>
                  <a:tcPr marL="96885" marR="96885" marT="48443" marB="48443">
                    <a:solidFill>
                      <a:srgbClr val="B5E9E1">
                        <a:alpha val="20000"/>
                      </a:srgbClr>
                    </a:solidFill>
                  </a:tcPr>
                </a:tc>
                <a:tc>
                  <a:txBody>
                    <a:bodyPr/>
                    <a:lstStyle/>
                    <a:p>
                      <a:r>
                        <a:rPr lang="en-US" sz="1300" dirty="0">
                          <a:solidFill>
                            <a:schemeClr val="tx1"/>
                          </a:solidFill>
                        </a:rPr>
                        <a:t>3</a:t>
                      </a:r>
                    </a:p>
                  </a:txBody>
                  <a:tcPr marL="96885" marR="96885" marT="48443" marB="48443">
                    <a:solidFill>
                      <a:srgbClr val="B5E9E1">
                        <a:alpha val="20000"/>
                      </a:srgbClr>
                    </a:solidFill>
                  </a:tcPr>
                </a:tc>
                <a:extLst>
                  <a:ext uri="{0D108BD9-81ED-4DB2-BD59-A6C34878D82A}">
                    <a16:rowId xmlns:a16="http://schemas.microsoft.com/office/drawing/2014/main" val="230385616"/>
                  </a:ext>
                </a:extLst>
              </a:tr>
            </a:tbl>
          </a:graphicData>
        </a:graphic>
      </p:graphicFrame>
    </p:spTree>
    <p:extLst>
      <p:ext uri="{BB962C8B-B14F-4D97-AF65-F5344CB8AC3E}">
        <p14:creationId xmlns:p14="http://schemas.microsoft.com/office/powerpoint/2010/main" val="30453920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711FE-4423-1FC0-70FF-6C560AD28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151D-80E1-1D63-CE1D-BB0ABAAD74D4}"/>
              </a:ext>
            </a:extLst>
          </p:cNvPr>
          <p:cNvSpPr>
            <a:spLocks noGrp="1"/>
          </p:cNvSpPr>
          <p:nvPr>
            <p:ph type="title"/>
          </p:nvPr>
        </p:nvSpPr>
        <p:spPr/>
        <p:txBody>
          <a:bodyPr/>
          <a:lstStyle/>
          <a:p>
            <a:r>
              <a:rPr lang="en-US"/>
              <a:t>LUNGE </a:t>
            </a:r>
            <a:r>
              <a:rPr lang="en-US">
                <a:solidFill>
                  <a:schemeClr val="accent6"/>
                </a:solidFill>
              </a:rPr>
              <a:t>BENEFITS</a:t>
            </a:r>
          </a:p>
        </p:txBody>
      </p:sp>
      <p:sp>
        <p:nvSpPr>
          <p:cNvPr id="4" name="Slide Number Placeholder 3">
            <a:extLst>
              <a:ext uri="{FF2B5EF4-FFF2-40B4-BE49-F238E27FC236}">
                <a16:creationId xmlns:a16="http://schemas.microsoft.com/office/drawing/2014/main" id="{63EACED0-8CBC-53A5-7ED2-8938053A1735}"/>
              </a:ext>
            </a:extLst>
          </p:cNvPr>
          <p:cNvSpPr>
            <a:spLocks noGrp="1"/>
          </p:cNvSpPr>
          <p:nvPr>
            <p:ph type="sldNum" sz="quarter" idx="12"/>
          </p:nvPr>
        </p:nvSpPr>
        <p:spPr/>
        <p:txBody>
          <a:bodyPr/>
          <a:lstStyle/>
          <a:p>
            <a:fld id="{545951DD-1C6A-495F-8185-4C73F8F8B75A}" type="slidenum">
              <a:rPr lang="en-US" smtClean="0"/>
              <a:pPr/>
              <a:t>53</a:t>
            </a:fld>
            <a:endParaRPr lang="en-US"/>
          </a:p>
        </p:txBody>
      </p:sp>
      <p:sp>
        <p:nvSpPr>
          <p:cNvPr id="5" name="Text Placeholder 4">
            <a:extLst>
              <a:ext uri="{FF2B5EF4-FFF2-40B4-BE49-F238E27FC236}">
                <a16:creationId xmlns:a16="http://schemas.microsoft.com/office/drawing/2014/main" id="{02C694C1-65EA-56FF-60B4-4CFA4206E51B}"/>
              </a:ext>
            </a:extLst>
          </p:cNvPr>
          <p:cNvSpPr>
            <a:spLocks noGrp="1"/>
          </p:cNvSpPr>
          <p:nvPr>
            <p:ph type="body" idx="4294967295"/>
          </p:nvPr>
        </p:nvSpPr>
        <p:spPr>
          <a:xfrm>
            <a:off x="12748591" y="969823"/>
            <a:ext cx="3300620" cy="3172860"/>
          </a:xfrm>
        </p:spPr>
        <p:txBody>
          <a:bodyPr/>
          <a:lstStyle/>
          <a:p>
            <a:pPr marL="0" indent="0">
              <a:buNone/>
            </a:pPr>
            <a:r>
              <a:rPr lang="en-US" sz="1400" i="1"/>
              <a:t>objects onto shelves, stabilizing loads overhead, and maintaining strong, mobile shoulders. Proper execution prevents compensations that stress the lower back or rotator cuff.</a:t>
            </a:r>
            <a:endParaRPr lang="en-US" sz="1400" b="1">
              <a:ea typeface="+mn-lt"/>
              <a:cs typeface="+mn-lt"/>
            </a:endParaRPr>
          </a:p>
          <a:p>
            <a:pPr marL="0" indent="0">
              <a:buNone/>
            </a:pPr>
            <a:r>
              <a:rPr lang="en-US" sz="2000" b="1">
                <a:ea typeface="+mn-lt"/>
                <a:cs typeface="+mn-lt"/>
              </a:rPr>
              <a:t>PRIME MOVERS:</a:t>
            </a:r>
          </a:p>
          <a:p>
            <a:pPr marL="0" indent="0">
              <a:buNone/>
            </a:pPr>
            <a:r>
              <a:rPr lang="en-US" sz="1400"/>
              <a:t>Deltoids (especially anterior/lateral), upper trapezius (stabilizer), triceps brachii </a:t>
            </a:r>
            <a:endParaRPr lang="en-US" sz="1400" b="1"/>
          </a:p>
        </p:txBody>
      </p:sp>
      <p:sp>
        <p:nvSpPr>
          <p:cNvPr id="10" name="Rectangle: Rounded Corners 9">
            <a:extLst>
              <a:ext uri="{FF2B5EF4-FFF2-40B4-BE49-F238E27FC236}">
                <a16:creationId xmlns:a16="http://schemas.microsoft.com/office/drawing/2014/main" id="{532C64D3-C7ED-60E9-55DB-9C6A34BB71DC}"/>
              </a:ext>
            </a:extLst>
          </p:cNvPr>
          <p:cNvSpPr/>
          <p:nvPr/>
        </p:nvSpPr>
        <p:spPr>
          <a:xfrm>
            <a:off x="-1731859" y="4068279"/>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Increased Mobility and Flexibility</a:t>
            </a:r>
            <a:endParaRPr lang="en-US" sz="2800"/>
          </a:p>
        </p:txBody>
      </p:sp>
      <p:sp>
        <p:nvSpPr>
          <p:cNvPr id="11" name="Rectangle: Rounded Corners 10">
            <a:extLst>
              <a:ext uri="{FF2B5EF4-FFF2-40B4-BE49-F238E27FC236}">
                <a16:creationId xmlns:a16="http://schemas.microsoft.com/office/drawing/2014/main" id="{8DC1BCBA-618D-1FBD-64C0-F8B5D792337D}"/>
              </a:ext>
            </a:extLst>
          </p:cNvPr>
          <p:cNvSpPr/>
          <p:nvPr/>
        </p:nvSpPr>
        <p:spPr>
          <a:xfrm>
            <a:off x="-1731858" y="202551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Improved Lower-Body Strength and Stability</a:t>
            </a:r>
            <a:endParaRPr lang="en-US" sz="2800"/>
          </a:p>
        </p:txBody>
      </p:sp>
      <p:sp>
        <p:nvSpPr>
          <p:cNvPr id="12" name="Rectangle: Rounded Corners 11">
            <a:extLst>
              <a:ext uri="{FF2B5EF4-FFF2-40B4-BE49-F238E27FC236}">
                <a16:creationId xmlns:a16="http://schemas.microsoft.com/office/drawing/2014/main" id="{1B1FA423-772C-94E1-05C0-66441E75723F}"/>
              </a:ext>
            </a:extLst>
          </p:cNvPr>
          <p:cNvSpPr/>
          <p:nvPr/>
        </p:nvSpPr>
        <p:spPr>
          <a:xfrm>
            <a:off x="-1731859" y="507780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Reduced Injury Risk</a:t>
            </a:r>
            <a:endParaRPr lang="en-US" sz="2800"/>
          </a:p>
        </p:txBody>
      </p:sp>
      <p:sp>
        <p:nvSpPr>
          <p:cNvPr id="13" name="Rectangle: Rounded Corners 12">
            <a:extLst>
              <a:ext uri="{FF2B5EF4-FFF2-40B4-BE49-F238E27FC236}">
                <a16:creationId xmlns:a16="http://schemas.microsoft.com/office/drawing/2014/main" id="{365957BF-7924-6B18-5F93-2C87A57F498F}"/>
              </a:ext>
            </a:extLst>
          </p:cNvPr>
          <p:cNvSpPr/>
          <p:nvPr/>
        </p:nvSpPr>
        <p:spPr>
          <a:xfrm>
            <a:off x="-1731858" y="3035033"/>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Enhanced Balance and Coordination</a:t>
            </a:r>
            <a:endParaRPr lang="en-US" sz="2800"/>
          </a:p>
        </p:txBody>
      </p:sp>
      <p:sp>
        <p:nvSpPr>
          <p:cNvPr id="14" name="Text Placeholder 4">
            <a:extLst>
              <a:ext uri="{FF2B5EF4-FFF2-40B4-BE49-F238E27FC236}">
                <a16:creationId xmlns:a16="http://schemas.microsoft.com/office/drawing/2014/main" id="{B5194AE8-7549-27E0-D48D-678BED8336DA}"/>
              </a:ext>
            </a:extLst>
          </p:cNvPr>
          <p:cNvSpPr txBox="1">
            <a:spLocks/>
          </p:cNvSpPr>
          <p:nvPr/>
        </p:nvSpPr>
        <p:spPr>
          <a:xfrm>
            <a:off x="7410837" y="2579411"/>
            <a:ext cx="3734922" cy="4278589"/>
          </a:xfrm>
          <a:prstGeom prst="rect">
            <a:avLst/>
          </a:prstGeom>
        </p:spPr>
        <p:txBody>
          <a:bodyPr vert="horz" lIns="0" tIns="0" rIns="0" bIns="0" rtlCol="0">
            <a:noAutofit/>
          </a:bodyPr>
          <a:lst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a:t>IN REAL LIFE: </a:t>
            </a:r>
          </a:p>
          <a:p>
            <a:pPr algn="ctr"/>
            <a:r>
              <a:rPr lang="en-US" sz="2000"/>
              <a:t>Walking up and down stairs</a:t>
            </a:r>
          </a:p>
          <a:p>
            <a:pPr algn="ctr"/>
            <a:r>
              <a:rPr lang="en-US" sz="2000"/>
              <a:t>Getting up from the floor </a:t>
            </a:r>
          </a:p>
          <a:p>
            <a:pPr algn="ctr"/>
            <a:r>
              <a:rPr lang="en-US" sz="2000"/>
              <a:t>Tying Shoes, gardening, reduced joint stress </a:t>
            </a:r>
          </a:p>
        </p:txBody>
      </p:sp>
    </p:spTree>
    <p:extLst>
      <p:ext uri="{BB962C8B-B14F-4D97-AF65-F5344CB8AC3E}">
        <p14:creationId xmlns:p14="http://schemas.microsoft.com/office/powerpoint/2010/main" val="29193002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CD1C3-001F-C2CD-2AF8-AA8EB91C4A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1224B-4A91-A0B0-5387-A4622A5C1E88}"/>
              </a:ext>
            </a:extLst>
          </p:cNvPr>
          <p:cNvSpPr>
            <a:spLocks noGrp="1"/>
          </p:cNvSpPr>
          <p:nvPr>
            <p:ph type="title"/>
          </p:nvPr>
        </p:nvSpPr>
        <p:spPr/>
        <p:txBody>
          <a:bodyPr/>
          <a:lstStyle/>
          <a:p>
            <a:r>
              <a:rPr lang="en-US"/>
              <a:t>LUNGE </a:t>
            </a:r>
            <a:r>
              <a:rPr lang="en-US">
                <a:solidFill>
                  <a:schemeClr val="accent6"/>
                </a:solidFill>
              </a:rPr>
              <a:t>PRIME MOVERS</a:t>
            </a:r>
          </a:p>
        </p:txBody>
      </p:sp>
      <p:sp>
        <p:nvSpPr>
          <p:cNvPr id="4" name="Slide Number Placeholder 3">
            <a:extLst>
              <a:ext uri="{FF2B5EF4-FFF2-40B4-BE49-F238E27FC236}">
                <a16:creationId xmlns:a16="http://schemas.microsoft.com/office/drawing/2014/main" id="{677066CD-01EE-758B-F3C6-C15BEAAD6BD1}"/>
              </a:ext>
            </a:extLst>
          </p:cNvPr>
          <p:cNvSpPr>
            <a:spLocks noGrp="1"/>
          </p:cNvSpPr>
          <p:nvPr>
            <p:ph type="sldNum" sz="quarter" idx="12"/>
          </p:nvPr>
        </p:nvSpPr>
        <p:spPr/>
        <p:txBody>
          <a:bodyPr/>
          <a:lstStyle/>
          <a:p>
            <a:fld id="{545951DD-1C6A-495F-8185-4C73F8F8B75A}" type="slidenum">
              <a:rPr lang="en-US" smtClean="0"/>
              <a:pPr/>
              <a:t>54</a:t>
            </a:fld>
            <a:endParaRPr lang="en-US"/>
          </a:p>
        </p:txBody>
      </p:sp>
      <p:sp>
        <p:nvSpPr>
          <p:cNvPr id="10" name="Rectangle: Rounded Corners 9">
            <a:extLst>
              <a:ext uri="{FF2B5EF4-FFF2-40B4-BE49-F238E27FC236}">
                <a16:creationId xmlns:a16="http://schemas.microsoft.com/office/drawing/2014/main" id="{1CEBB5D4-B79A-DAD9-FBC2-3E2EFE80E6E6}"/>
              </a:ext>
            </a:extLst>
          </p:cNvPr>
          <p:cNvSpPr/>
          <p:nvPr/>
        </p:nvSpPr>
        <p:spPr>
          <a:xfrm>
            <a:off x="-1325459" y="4106379"/>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HAMSTRINGS &amp; CALVES </a:t>
            </a:r>
          </a:p>
        </p:txBody>
      </p:sp>
      <p:sp>
        <p:nvSpPr>
          <p:cNvPr id="11" name="Rectangle: Rounded Corners 10">
            <a:extLst>
              <a:ext uri="{FF2B5EF4-FFF2-40B4-BE49-F238E27FC236}">
                <a16:creationId xmlns:a16="http://schemas.microsoft.com/office/drawing/2014/main" id="{AECE42D5-1766-2548-306E-86160B7C78D0}"/>
              </a:ext>
            </a:extLst>
          </p:cNvPr>
          <p:cNvSpPr/>
          <p:nvPr/>
        </p:nvSpPr>
        <p:spPr>
          <a:xfrm>
            <a:off x="-1325458" y="2063611"/>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QUADRICEPS</a:t>
            </a:r>
          </a:p>
        </p:txBody>
      </p:sp>
      <p:sp>
        <p:nvSpPr>
          <p:cNvPr id="13" name="Rectangle: Rounded Corners 12">
            <a:extLst>
              <a:ext uri="{FF2B5EF4-FFF2-40B4-BE49-F238E27FC236}">
                <a16:creationId xmlns:a16="http://schemas.microsoft.com/office/drawing/2014/main" id="{9E8FFD3B-2C9A-30AA-A2A6-47A16A649C6C}"/>
              </a:ext>
            </a:extLst>
          </p:cNvPr>
          <p:cNvSpPr/>
          <p:nvPr/>
        </p:nvSpPr>
        <p:spPr>
          <a:xfrm>
            <a:off x="-1325458" y="3073133"/>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GLUTEUS MAXIMUS</a:t>
            </a:r>
          </a:p>
        </p:txBody>
      </p:sp>
    </p:spTree>
    <p:extLst>
      <p:ext uri="{BB962C8B-B14F-4D97-AF65-F5344CB8AC3E}">
        <p14:creationId xmlns:p14="http://schemas.microsoft.com/office/powerpoint/2010/main" val="23876631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49D8E-F08F-DB52-DB2D-A13554350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BD113-8EAC-FC46-4BB3-469B59EF4EE5}"/>
              </a:ext>
            </a:extLst>
          </p:cNvPr>
          <p:cNvSpPr>
            <a:spLocks noGrp="1"/>
          </p:cNvSpPr>
          <p:nvPr>
            <p:ph type="title"/>
          </p:nvPr>
        </p:nvSpPr>
        <p:spPr>
          <a:xfrm>
            <a:off x="880782" y="545914"/>
            <a:ext cx="10414747" cy="1147152"/>
          </a:xfrm>
        </p:spPr>
        <p:txBody>
          <a:bodyPr anchor="ctr">
            <a:normAutofit/>
          </a:bodyPr>
          <a:lstStyle/>
          <a:p>
            <a:r>
              <a:rPr lang="en-US"/>
              <a:t>Rotation</a:t>
            </a:r>
          </a:p>
        </p:txBody>
      </p:sp>
      <p:sp>
        <p:nvSpPr>
          <p:cNvPr id="3" name="Footer Placeholder 2">
            <a:extLst>
              <a:ext uri="{FF2B5EF4-FFF2-40B4-BE49-F238E27FC236}">
                <a16:creationId xmlns:a16="http://schemas.microsoft.com/office/drawing/2014/main" id="{B8371E8A-5F8A-9121-C576-3449BD93BD70}"/>
              </a:ext>
            </a:extLst>
          </p:cNvPr>
          <p:cNvSpPr>
            <a:spLocks noGrp="1"/>
          </p:cNvSpPr>
          <p:nvPr>
            <p:ph type="ftr" sz="quarter" idx="11"/>
          </p:nvPr>
        </p:nvSpPr>
        <p:spPr>
          <a:xfrm>
            <a:off x="342900" y="6394105"/>
            <a:ext cx="10259861" cy="365125"/>
          </a:xfrm>
        </p:spPr>
        <p:txBody>
          <a:bodyPr anchor="ctr">
            <a:normAutofit/>
          </a:bodyPr>
          <a:lstStyle/>
          <a:p>
            <a:pPr>
              <a:spcAft>
                <a:spcPts val="600"/>
              </a:spcAft>
            </a:pPr>
            <a:r>
              <a:rPr lang="en-US" i="1"/>
              <a:t>A client scoring low (1-2) on Bird Dog or Plank may struggle with rotational stability. They should start with </a:t>
            </a:r>
            <a:r>
              <a:rPr lang="en-US" b="1" i="1" err="1"/>
              <a:t>Pallof</a:t>
            </a:r>
            <a:r>
              <a:rPr lang="en-US" b="1" i="1"/>
              <a:t> Press variations</a:t>
            </a:r>
            <a:r>
              <a:rPr lang="en-US" i="1"/>
              <a:t> before progressing.</a:t>
            </a:r>
            <a:r>
              <a:rPr lang="en-US"/>
              <a:t> </a:t>
            </a:r>
          </a:p>
        </p:txBody>
      </p:sp>
      <p:sp>
        <p:nvSpPr>
          <p:cNvPr id="4" name="Slide Number Placeholder 3">
            <a:extLst>
              <a:ext uri="{FF2B5EF4-FFF2-40B4-BE49-F238E27FC236}">
                <a16:creationId xmlns:a16="http://schemas.microsoft.com/office/drawing/2014/main" id="{893788CA-FF12-854B-DEE6-2E1A5A59651E}"/>
              </a:ext>
            </a:extLst>
          </p:cNvPr>
          <p:cNvSpPr>
            <a:spLocks noGrp="1"/>
          </p:cNvSpPr>
          <p:nvPr>
            <p:ph type="sldNum" sz="quarter" idx="12"/>
          </p:nvPr>
        </p:nvSpPr>
        <p:spPr>
          <a:xfrm>
            <a:off x="11674225" y="5477347"/>
            <a:ext cx="305503" cy="306298"/>
          </a:xfrm>
        </p:spPr>
        <p:txBody>
          <a:bodyPr anchor="ctr">
            <a:normAutofit/>
          </a:bodyPr>
          <a:lstStyle/>
          <a:p>
            <a:pPr>
              <a:spcAft>
                <a:spcPts val="600"/>
              </a:spcAft>
            </a:pPr>
            <a:fld id="{545951DD-1C6A-495F-8185-4C73F8F8B75A}" type="slidenum">
              <a:rPr lang="en-US" smtClean="0"/>
              <a:pPr>
                <a:spcAft>
                  <a:spcPts val="600"/>
                </a:spcAft>
              </a:pPr>
              <a:t>55</a:t>
            </a:fld>
            <a:endParaRPr lang="en-US"/>
          </a:p>
        </p:txBody>
      </p:sp>
      <p:graphicFrame>
        <p:nvGraphicFramePr>
          <p:cNvPr id="7" name="Table 6">
            <a:extLst>
              <a:ext uri="{FF2B5EF4-FFF2-40B4-BE49-F238E27FC236}">
                <a16:creationId xmlns:a16="http://schemas.microsoft.com/office/drawing/2014/main" id="{40BE7C45-15BB-6DC6-BADB-F6F2C421CFDC}"/>
              </a:ext>
            </a:extLst>
          </p:cNvPr>
          <p:cNvGraphicFramePr>
            <a:graphicFrameLocks noGrp="1"/>
          </p:cNvGraphicFramePr>
          <p:nvPr>
            <p:extLst>
              <p:ext uri="{D42A27DB-BD31-4B8C-83A1-F6EECF244321}">
                <p14:modId xmlns:p14="http://schemas.microsoft.com/office/powerpoint/2010/main" val="417434851"/>
              </p:ext>
            </p:extLst>
          </p:nvPr>
        </p:nvGraphicFramePr>
        <p:xfrm>
          <a:off x="880782" y="1997394"/>
          <a:ext cx="10414748" cy="4123161"/>
        </p:xfrm>
        <a:graphic>
          <a:graphicData uri="http://schemas.openxmlformats.org/drawingml/2006/table">
            <a:tbl>
              <a:tblPr firstRow="1" bandRow="1">
                <a:tableStyleId>{9D7B26C5-4107-4FEC-AEDC-1716B250A1EF}</a:tableStyleId>
              </a:tblPr>
              <a:tblGrid>
                <a:gridCol w="717747">
                  <a:extLst>
                    <a:ext uri="{9D8B030D-6E8A-4147-A177-3AD203B41FA5}">
                      <a16:colId xmlns:a16="http://schemas.microsoft.com/office/drawing/2014/main" val="578100667"/>
                    </a:ext>
                  </a:extLst>
                </a:gridCol>
                <a:gridCol w="2720975">
                  <a:extLst>
                    <a:ext uri="{9D8B030D-6E8A-4147-A177-3AD203B41FA5}">
                      <a16:colId xmlns:a16="http://schemas.microsoft.com/office/drawing/2014/main" val="3492030474"/>
                    </a:ext>
                  </a:extLst>
                </a:gridCol>
                <a:gridCol w="3387734">
                  <a:extLst>
                    <a:ext uri="{9D8B030D-6E8A-4147-A177-3AD203B41FA5}">
                      <a16:colId xmlns:a16="http://schemas.microsoft.com/office/drawing/2014/main" val="3625462225"/>
                    </a:ext>
                  </a:extLst>
                </a:gridCol>
                <a:gridCol w="3588292">
                  <a:extLst>
                    <a:ext uri="{9D8B030D-6E8A-4147-A177-3AD203B41FA5}">
                      <a16:colId xmlns:a16="http://schemas.microsoft.com/office/drawing/2014/main" val="1103401940"/>
                    </a:ext>
                  </a:extLst>
                </a:gridCol>
              </a:tblGrid>
              <a:tr h="372904">
                <a:tc>
                  <a:txBody>
                    <a:bodyPr/>
                    <a:lstStyle/>
                    <a:p>
                      <a:endParaRPr lang="en-US" sz="1500">
                        <a:solidFill>
                          <a:schemeClr val="tx1"/>
                        </a:solidFill>
                      </a:endParaRPr>
                    </a:p>
                  </a:txBody>
                  <a:tcPr marL="108441" marR="108441" marT="54220" marB="5422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8441" marR="108441" marT="54220" marB="5422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8441" marR="108441" marT="54220" marB="54220">
                    <a:lnL>
                      <a:noFill/>
                    </a:lnL>
                    <a:lnR>
                      <a:noFill/>
                    </a:lnR>
                    <a:lnT w="12700" cmpd="sng">
                      <a:noFill/>
                    </a:lnT>
                    <a:lnB w="12700" cmpd="sng">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Zercher Rotations</a:t>
                      </a:r>
                    </a:p>
                  </a:txBody>
                  <a:tcPr marL="108441" marR="108441" marT="54220" marB="54220">
                    <a:lnL>
                      <a:noFill/>
                    </a:lnL>
                    <a:solidFill>
                      <a:schemeClr val="accent3">
                        <a:lumMod val="75000"/>
                      </a:schemeClr>
                    </a:solidFill>
                  </a:tcPr>
                </a:tc>
                <a:extLst>
                  <a:ext uri="{0D108BD9-81ED-4DB2-BD59-A6C34878D82A}">
                    <a16:rowId xmlns:a16="http://schemas.microsoft.com/office/drawing/2014/main" val="570874207"/>
                  </a:ext>
                </a:extLst>
              </a:tr>
              <a:tr h="600890">
                <a:tc>
                  <a:txBody>
                    <a:bodyPr/>
                    <a:lstStyle/>
                    <a:p>
                      <a:endParaRPr lang="en-US" sz="1500">
                        <a:solidFill>
                          <a:schemeClr val="tx1"/>
                        </a:solidFill>
                      </a:endParaRPr>
                    </a:p>
                  </a:txBody>
                  <a:tcPr marL="108441" marR="108441" marT="54220" marB="5422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8441" marR="108441" marT="54220" marB="5422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8441" marR="108441" marT="54220" marB="54220">
                    <a:lnL>
                      <a:noFill/>
                    </a:lnL>
                    <a:lnR>
                      <a:noFill/>
                    </a:lnR>
                    <a:lnT w="12700" cmpd="sng">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KB Rotations</a:t>
                      </a:r>
                    </a:p>
                    <a:p>
                      <a:r>
                        <a:rPr lang="en-US" sz="1500">
                          <a:solidFill>
                            <a:schemeClr val="tx1"/>
                          </a:solidFill>
                        </a:rPr>
                        <a:t>(Single Leg)</a:t>
                      </a:r>
                    </a:p>
                  </a:txBody>
                  <a:tcPr marL="108441" marR="108441" marT="54220" marB="54220">
                    <a:lnL>
                      <a:noFill/>
                    </a:lnL>
                    <a:solidFill>
                      <a:schemeClr val="accent3">
                        <a:lumMod val="75000"/>
                      </a:schemeClr>
                    </a:solidFill>
                  </a:tcPr>
                </a:tc>
                <a:extLst>
                  <a:ext uri="{0D108BD9-81ED-4DB2-BD59-A6C34878D82A}">
                    <a16:rowId xmlns:a16="http://schemas.microsoft.com/office/drawing/2014/main" val="749760594"/>
                  </a:ext>
                </a:extLst>
              </a:tr>
              <a:tr h="600890">
                <a:tc>
                  <a:txBody>
                    <a:bodyPr/>
                    <a:lstStyle/>
                    <a:p>
                      <a:endParaRPr lang="en-US" sz="1500">
                        <a:solidFill>
                          <a:schemeClr val="tx1"/>
                        </a:solidFill>
                      </a:endParaRPr>
                    </a:p>
                  </a:txBody>
                  <a:tcPr marL="108441" marR="108441" marT="54220" marB="5422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8441" marR="108441" marT="54220" marB="5422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8441" marR="108441" marT="54220" marB="5422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KB Rotation </a:t>
                      </a:r>
                    </a:p>
                    <a:p>
                      <a:r>
                        <a:rPr lang="en-US" sz="1500">
                          <a:solidFill>
                            <a:schemeClr val="tx1"/>
                          </a:solidFill>
                        </a:rPr>
                        <a:t>(TK/HK)</a:t>
                      </a:r>
                    </a:p>
                  </a:txBody>
                  <a:tcPr marL="108441" marR="108441" marT="54220" marB="54220">
                    <a:lnL>
                      <a:noFill/>
                    </a:lnL>
                    <a:solidFill>
                      <a:schemeClr val="accent3">
                        <a:lumMod val="75000"/>
                      </a:schemeClr>
                    </a:solidFill>
                  </a:tcPr>
                </a:tc>
                <a:extLst>
                  <a:ext uri="{0D108BD9-81ED-4DB2-BD59-A6C34878D82A}">
                    <a16:rowId xmlns:a16="http://schemas.microsoft.com/office/drawing/2014/main" val="3986133860"/>
                  </a:ext>
                </a:extLst>
              </a:tr>
              <a:tr h="372904">
                <a:tc>
                  <a:txBody>
                    <a:bodyPr/>
                    <a:lstStyle/>
                    <a:p>
                      <a:endParaRPr lang="en-US" sz="1500">
                        <a:solidFill>
                          <a:schemeClr val="tx1"/>
                        </a:solidFill>
                      </a:endParaRPr>
                    </a:p>
                  </a:txBody>
                  <a:tcPr marL="108441" marR="108441" marT="54220" marB="5422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a:solidFill>
                          <a:schemeClr val="tx1"/>
                        </a:solidFill>
                      </a:endParaRPr>
                    </a:p>
                  </a:txBody>
                  <a:tcPr marL="108441" marR="108441" marT="54220" marB="5422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Med Ball Rotational Throws </a:t>
                      </a:r>
                    </a:p>
                  </a:txBody>
                  <a:tcPr marL="108441" marR="108441" marT="54220" marB="54220">
                    <a:lnL>
                      <a:noFill/>
                    </a:lnL>
                    <a:lnT>
                      <a:noFill/>
                    </a:lnT>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chemeClr val="tx1"/>
                          </a:solidFill>
                        </a:rPr>
                        <a:t>Thoracic Pull Through (Loaded)</a:t>
                      </a:r>
                    </a:p>
                  </a:txBody>
                  <a:tcPr marL="108441" marR="108441" marT="54220" marB="54220">
                    <a:solidFill>
                      <a:schemeClr val="accent3">
                        <a:lumMod val="75000"/>
                      </a:schemeClr>
                    </a:solidFill>
                  </a:tcPr>
                </a:tc>
                <a:extLst>
                  <a:ext uri="{0D108BD9-81ED-4DB2-BD59-A6C34878D82A}">
                    <a16:rowId xmlns:a16="http://schemas.microsoft.com/office/drawing/2014/main" val="3514245776"/>
                  </a:ext>
                </a:extLst>
              </a:tr>
              <a:tr h="828875">
                <a:tc>
                  <a:txBody>
                    <a:bodyPr/>
                    <a:lstStyle/>
                    <a:p>
                      <a:endParaRPr lang="en-US" sz="1500">
                        <a:solidFill>
                          <a:schemeClr val="tx1"/>
                        </a:solidFill>
                      </a:endParaRPr>
                    </a:p>
                  </a:txBody>
                  <a:tcPr marL="108441" marR="108441" marT="54220" marB="5422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endParaRPr lang="en-US" sz="1500" dirty="0">
                        <a:solidFill>
                          <a:schemeClr val="tx1"/>
                        </a:solidFill>
                      </a:endParaRPr>
                    </a:p>
                  </a:txBody>
                  <a:tcPr marL="108441" marR="108441" marT="54220" marB="5422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Standing Cable Rotation </a:t>
                      </a:r>
                    </a:p>
                  </a:txBody>
                  <a:tcPr marL="108441" marR="108441" marT="54220" marB="54220">
                    <a:lnL>
                      <a:noFill/>
                    </a:lnL>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chemeClr val="tx1"/>
                          </a:solidFill>
                        </a:rPr>
                        <a:t>Windmill </a:t>
                      </a:r>
                    </a:p>
                    <a:p>
                      <a:r>
                        <a:rPr lang="en-US" sz="1500">
                          <a:solidFill>
                            <a:schemeClr val="tx1"/>
                          </a:solidFill>
                        </a:rPr>
                        <a:t>(Top/Bottom)</a:t>
                      </a:r>
                    </a:p>
                    <a:p>
                      <a:endParaRPr lang="en-US" sz="1500">
                        <a:solidFill>
                          <a:schemeClr val="tx1"/>
                        </a:solidFill>
                      </a:endParaRPr>
                    </a:p>
                  </a:txBody>
                  <a:tcPr marL="108441" marR="108441" marT="54220" marB="54220">
                    <a:solidFill>
                      <a:schemeClr val="accent3">
                        <a:lumMod val="75000"/>
                      </a:schemeClr>
                    </a:solidFill>
                  </a:tcPr>
                </a:tc>
                <a:extLst>
                  <a:ext uri="{0D108BD9-81ED-4DB2-BD59-A6C34878D82A}">
                    <a16:rowId xmlns:a16="http://schemas.microsoft.com/office/drawing/2014/main" val="3299508014"/>
                  </a:ext>
                </a:extLst>
              </a:tr>
              <a:tr h="600890">
                <a:tc>
                  <a:txBody>
                    <a:bodyPr/>
                    <a:lstStyle/>
                    <a:p>
                      <a:endParaRPr lang="en-US" sz="1500">
                        <a:solidFill>
                          <a:schemeClr val="tx1"/>
                        </a:solidFill>
                      </a:endParaRPr>
                    </a:p>
                  </a:txBody>
                  <a:tcPr marL="108441" marR="108441" marT="54220" marB="54220">
                    <a:lnL>
                      <a:noFill/>
                    </a:lnL>
                    <a:lnR>
                      <a:noFill/>
                    </a:lnR>
                    <a:lnT>
                      <a:noFill/>
                    </a:lnT>
                    <a:lnB>
                      <a:noFill/>
                    </a:lnB>
                    <a:lnTlToBr w="12700" cmpd="sng">
                      <a:noFill/>
                      <a:prstDash val="solid"/>
                    </a:lnTlToBr>
                    <a:lnBlToTr w="12700" cmpd="sng">
                      <a:noFill/>
                      <a:prstDash val="solid"/>
                    </a:lnBlToTr>
                    <a:solidFill>
                      <a:schemeClr val="accent4"/>
                    </a:solidFill>
                  </a:tcPr>
                </a:tc>
                <a:tc>
                  <a:txBody>
                    <a:bodyPr/>
                    <a:lstStyle/>
                    <a:p>
                      <a:r>
                        <a:rPr lang="en-US" sz="1500">
                          <a:solidFill>
                            <a:schemeClr val="tx1"/>
                          </a:solidFill>
                        </a:rPr>
                        <a:t>HK Pallof Press </a:t>
                      </a:r>
                    </a:p>
                  </a:txBody>
                  <a:tcPr marL="108441" marR="108441" marT="54220" marB="54220">
                    <a:lnL>
                      <a:noFill/>
                    </a:lnL>
                    <a:lnT>
                      <a:noFill/>
                    </a:lnT>
                    <a:solidFill>
                      <a:schemeClr val="accent3">
                        <a:lumMod val="40000"/>
                        <a:lumOff val="60000"/>
                      </a:schemeClr>
                    </a:solidFill>
                  </a:tcPr>
                </a:tc>
                <a:tc>
                  <a:txBody>
                    <a:bodyPr/>
                    <a:lstStyle/>
                    <a:p>
                      <a:r>
                        <a:rPr lang="en-US" sz="1500">
                          <a:solidFill>
                            <a:schemeClr val="tx1"/>
                          </a:solidFill>
                        </a:rPr>
                        <a:t>Standing Pallof Press  </a:t>
                      </a:r>
                    </a:p>
                  </a:txBody>
                  <a:tcPr marL="108441" marR="108441" marT="54220" marB="54220">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solidFill>
                            <a:schemeClr val="tx1"/>
                          </a:solidFill>
                        </a:rPr>
                        <a:t>Landmine Rotation/ </a:t>
                      </a:r>
                    </a:p>
                    <a:p>
                      <a:r>
                        <a:rPr lang="en-US" sz="1500">
                          <a:solidFill>
                            <a:schemeClr val="tx1"/>
                          </a:solidFill>
                        </a:rPr>
                        <a:t>Russian Twist </a:t>
                      </a:r>
                    </a:p>
                  </a:txBody>
                  <a:tcPr marL="108441" marR="108441" marT="54220" marB="54220">
                    <a:solidFill>
                      <a:schemeClr val="accent3">
                        <a:lumMod val="75000"/>
                      </a:schemeClr>
                    </a:solidFill>
                  </a:tcPr>
                </a:tc>
                <a:extLst>
                  <a:ext uri="{0D108BD9-81ED-4DB2-BD59-A6C34878D82A}">
                    <a16:rowId xmlns:a16="http://schemas.microsoft.com/office/drawing/2014/main" val="3446697123"/>
                  </a:ext>
                </a:extLst>
              </a:tr>
              <a:tr h="372904">
                <a:tc>
                  <a:txBody>
                    <a:bodyPr/>
                    <a:lstStyle/>
                    <a:p>
                      <a:endParaRPr lang="en-US" sz="1500" dirty="0">
                        <a:solidFill>
                          <a:schemeClr val="tx1"/>
                        </a:solidFill>
                      </a:endParaRPr>
                    </a:p>
                  </a:txBody>
                  <a:tcPr marL="108441" marR="108441" marT="54220" marB="54220">
                    <a:lnT>
                      <a:noFill/>
                    </a:lnT>
                    <a:solidFill>
                      <a:schemeClr val="bg2"/>
                    </a:solidFill>
                  </a:tcPr>
                </a:tc>
                <a:tc>
                  <a:txBody>
                    <a:bodyPr/>
                    <a:lstStyle/>
                    <a:p>
                      <a:r>
                        <a:rPr lang="en-US" sz="1500" dirty="0">
                          <a:solidFill>
                            <a:schemeClr val="tx1"/>
                          </a:solidFill>
                        </a:rPr>
                        <a:t>TK </a:t>
                      </a:r>
                      <a:r>
                        <a:rPr lang="en-US" sz="1500" dirty="0" err="1">
                          <a:solidFill>
                            <a:schemeClr val="tx1"/>
                          </a:solidFill>
                        </a:rPr>
                        <a:t>Pallof</a:t>
                      </a:r>
                      <a:r>
                        <a:rPr lang="en-US" sz="1500" dirty="0">
                          <a:solidFill>
                            <a:schemeClr val="tx1"/>
                          </a:solidFill>
                        </a:rPr>
                        <a:t> Press </a:t>
                      </a:r>
                    </a:p>
                  </a:txBody>
                  <a:tcPr marL="108441" marR="108441" marT="54220" marB="54220">
                    <a:solidFill>
                      <a:schemeClr val="accent3">
                        <a:lumMod val="40000"/>
                        <a:lumOff val="60000"/>
                      </a:schemeClr>
                    </a:solidFill>
                  </a:tcPr>
                </a:tc>
                <a:tc>
                  <a:txBody>
                    <a:bodyPr/>
                    <a:lstStyle/>
                    <a:p>
                      <a:r>
                        <a:rPr lang="en-US" sz="1500" dirty="0">
                          <a:solidFill>
                            <a:schemeClr val="tx1"/>
                          </a:solidFill>
                        </a:rPr>
                        <a:t>TK Cable Rotation (Light) </a:t>
                      </a:r>
                    </a:p>
                  </a:txBody>
                  <a:tcPr marL="108441" marR="108441" marT="54220" marB="54220">
                    <a:solidFill>
                      <a:schemeClr val="accent3">
                        <a:lumMod val="60000"/>
                        <a:lumOff val="40000"/>
                      </a:schemeClr>
                    </a:solidFill>
                  </a:tcPr>
                </a:tc>
                <a:tc>
                  <a:txBody>
                    <a:bodyPr/>
                    <a:lstStyle/>
                    <a:p>
                      <a:r>
                        <a:rPr lang="en-US" sz="1500" dirty="0">
                          <a:solidFill>
                            <a:schemeClr val="tx1"/>
                          </a:solidFill>
                        </a:rPr>
                        <a:t>SL/SA Cable Rotation </a:t>
                      </a:r>
                    </a:p>
                  </a:txBody>
                  <a:tcPr marL="108441" marR="108441" marT="54220" marB="54220">
                    <a:solidFill>
                      <a:schemeClr val="accent3">
                        <a:lumMod val="75000"/>
                      </a:schemeClr>
                    </a:solidFill>
                  </a:tcPr>
                </a:tc>
                <a:extLst>
                  <a:ext uri="{0D108BD9-81ED-4DB2-BD59-A6C34878D82A}">
                    <a16:rowId xmlns:a16="http://schemas.microsoft.com/office/drawing/2014/main" val="2747963358"/>
                  </a:ext>
                </a:extLst>
              </a:tr>
              <a:tr h="372904">
                <a:tc>
                  <a:txBody>
                    <a:bodyPr/>
                    <a:lstStyle/>
                    <a:p>
                      <a:r>
                        <a:rPr lang="en-US" sz="1500" dirty="0">
                          <a:solidFill>
                            <a:schemeClr val="tx1"/>
                          </a:solidFill>
                        </a:rPr>
                        <a:t>0</a:t>
                      </a:r>
                    </a:p>
                  </a:txBody>
                  <a:tcPr marL="108441" marR="108441" marT="54220" marB="54220">
                    <a:solidFill>
                      <a:srgbClr val="B5E9E1">
                        <a:alpha val="20000"/>
                      </a:srgbClr>
                    </a:solidFill>
                  </a:tcPr>
                </a:tc>
                <a:tc>
                  <a:txBody>
                    <a:bodyPr/>
                    <a:lstStyle/>
                    <a:p>
                      <a:r>
                        <a:rPr lang="en-US" sz="1500" dirty="0">
                          <a:solidFill>
                            <a:schemeClr val="tx1"/>
                          </a:solidFill>
                        </a:rPr>
                        <a:t>1</a:t>
                      </a:r>
                    </a:p>
                  </a:txBody>
                  <a:tcPr marL="108441" marR="108441" marT="54220" marB="54220">
                    <a:solidFill>
                      <a:srgbClr val="B5E9E1">
                        <a:alpha val="20000"/>
                      </a:srgbClr>
                    </a:solidFill>
                  </a:tcPr>
                </a:tc>
                <a:tc>
                  <a:txBody>
                    <a:bodyPr/>
                    <a:lstStyle/>
                    <a:p>
                      <a:r>
                        <a:rPr lang="en-US" sz="1500" dirty="0">
                          <a:solidFill>
                            <a:schemeClr val="tx1"/>
                          </a:solidFill>
                        </a:rPr>
                        <a:t>2</a:t>
                      </a:r>
                    </a:p>
                  </a:txBody>
                  <a:tcPr marL="108441" marR="108441" marT="54220" marB="54220">
                    <a:solidFill>
                      <a:srgbClr val="B5E9E1">
                        <a:alpha val="20000"/>
                      </a:srgbClr>
                    </a:solidFill>
                  </a:tcPr>
                </a:tc>
                <a:tc>
                  <a:txBody>
                    <a:bodyPr/>
                    <a:lstStyle/>
                    <a:p>
                      <a:r>
                        <a:rPr lang="en-US" sz="1500" dirty="0">
                          <a:solidFill>
                            <a:schemeClr val="tx1"/>
                          </a:solidFill>
                        </a:rPr>
                        <a:t>3</a:t>
                      </a:r>
                    </a:p>
                  </a:txBody>
                  <a:tcPr marL="108441" marR="108441" marT="54220" marB="54220">
                    <a:solidFill>
                      <a:srgbClr val="B5E9E1">
                        <a:alpha val="20000"/>
                      </a:srgbClr>
                    </a:solidFill>
                  </a:tcPr>
                </a:tc>
                <a:extLst>
                  <a:ext uri="{0D108BD9-81ED-4DB2-BD59-A6C34878D82A}">
                    <a16:rowId xmlns:a16="http://schemas.microsoft.com/office/drawing/2014/main" val="230385616"/>
                  </a:ext>
                </a:extLst>
              </a:tr>
            </a:tbl>
          </a:graphicData>
        </a:graphic>
      </p:graphicFrame>
    </p:spTree>
    <p:extLst>
      <p:ext uri="{BB962C8B-B14F-4D97-AF65-F5344CB8AC3E}">
        <p14:creationId xmlns:p14="http://schemas.microsoft.com/office/powerpoint/2010/main" val="26652387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9260-2B63-B1C2-0104-AAE5B6C0F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B3CB05-DA39-C473-862B-5D2A558E93B5}"/>
              </a:ext>
            </a:extLst>
          </p:cNvPr>
          <p:cNvSpPr>
            <a:spLocks noGrp="1"/>
          </p:cNvSpPr>
          <p:nvPr>
            <p:ph type="title"/>
          </p:nvPr>
        </p:nvSpPr>
        <p:spPr/>
        <p:txBody>
          <a:bodyPr/>
          <a:lstStyle/>
          <a:p>
            <a:r>
              <a:rPr lang="en-US"/>
              <a:t>ROTATION </a:t>
            </a:r>
            <a:r>
              <a:rPr lang="en-US">
                <a:solidFill>
                  <a:schemeClr val="accent6"/>
                </a:solidFill>
              </a:rPr>
              <a:t>BENEFITS</a:t>
            </a:r>
          </a:p>
        </p:txBody>
      </p:sp>
      <p:sp>
        <p:nvSpPr>
          <p:cNvPr id="4" name="Slide Number Placeholder 3">
            <a:extLst>
              <a:ext uri="{FF2B5EF4-FFF2-40B4-BE49-F238E27FC236}">
                <a16:creationId xmlns:a16="http://schemas.microsoft.com/office/drawing/2014/main" id="{4AD9418C-8508-FC93-7F16-792E9C07C68F}"/>
              </a:ext>
            </a:extLst>
          </p:cNvPr>
          <p:cNvSpPr>
            <a:spLocks noGrp="1"/>
          </p:cNvSpPr>
          <p:nvPr>
            <p:ph type="sldNum" sz="quarter" idx="12"/>
          </p:nvPr>
        </p:nvSpPr>
        <p:spPr/>
        <p:txBody>
          <a:bodyPr/>
          <a:lstStyle/>
          <a:p>
            <a:fld id="{545951DD-1C6A-495F-8185-4C73F8F8B75A}" type="slidenum">
              <a:rPr lang="en-US" smtClean="0"/>
              <a:pPr/>
              <a:t>56</a:t>
            </a:fld>
            <a:endParaRPr lang="en-US"/>
          </a:p>
        </p:txBody>
      </p:sp>
      <p:sp>
        <p:nvSpPr>
          <p:cNvPr id="5" name="Text Placeholder 4">
            <a:extLst>
              <a:ext uri="{FF2B5EF4-FFF2-40B4-BE49-F238E27FC236}">
                <a16:creationId xmlns:a16="http://schemas.microsoft.com/office/drawing/2014/main" id="{515E2EAC-67BD-A85F-6AFE-E2FDD44F1043}"/>
              </a:ext>
            </a:extLst>
          </p:cNvPr>
          <p:cNvSpPr>
            <a:spLocks noGrp="1"/>
          </p:cNvSpPr>
          <p:nvPr>
            <p:ph type="body" idx="4294967295"/>
          </p:nvPr>
        </p:nvSpPr>
        <p:spPr>
          <a:xfrm>
            <a:off x="12748591" y="969823"/>
            <a:ext cx="3300620" cy="3172860"/>
          </a:xfrm>
        </p:spPr>
        <p:txBody>
          <a:bodyPr/>
          <a:lstStyle/>
          <a:p>
            <a:pPr marL="0" indent="0">
              <a:buNone/>
            </a:pPr>
            <a:r>
              <a:rPr lang="en-US" sz="1400" i="1"/>
              <a:t>objects onto shelves, stabilizing loads overhead, and maintaining strong, mobile shoulders. Proper execution prevents compensations that stress the lower back or rotator cuff.</a:t>
            </a:r>
            <a:endParaRPr lang="en-US" sz="1400" b="1">
              <a:ea typeface="+mn-lt"/>
              <a:cs typeface="+mn-lt"/>
            </a:endParaRPr>
          </a:p>
          <a:p>
            <a:pPr marL="0" indent="0">
              <a:buNone/>
            </a:pPr>
            <a:r>
              <a:rPr lang="en-US" sz="2000" b="1">
                <a:ea typeface="+mn-lt"/>
                <a:cs typeface="+mn-lt"/>
              </a:rPr>
              <a:t>PRIME MOVERS:</a:t>
            </a:r>
          </a:p>
          <a:p>
            <a:pPr marL="0" indent="0">
              <a:buNone/>
            </a:pPr>
            <a:r>
              <a:rPr lang="en-US" sz="1400"/>
              <a:t>Deltoids (especially anterior/lateral), upper trapezius (stabilizer), triceps brachii </a:t>
            </a:r>
            <a:endParaRPr lang="en-US" sz="1400" b="1"/>
          </a:p>
        </p:txBody>
      </p:sp>
      <p:sp>
        <p:nvSpPr>
          <p:cNvPr id="10" name="Rectangle: Rounded Corners 9">
            <a:extLst>
              <a:ext uri="{FF2B5EF4-FFF2-40B4-BE49-F238E27FC236}">
                <a16:creationId xmlns:a16="http://schemas.microsoft.com/office/drawing/2014/main" id="{C47C9676-951F-D6AA-02B2-6A290AAC95EF}"/>
              </a:ext>
            </a:extLst>
          </p:cNvPr>
          <p:cNvSpPr/>
          <p:nvPr/>
        </p:nvSpPr>
        <p:spPr>
          <a:xfrm>
            <a:off x="-1731859" y="4068279"/>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Increased Power and Athleticism</a:t>
            </a:r>
            <a:endParaRPr lang="en-US" sz="2800"/>
          </a:p>
        </p:txBody>
      </p:sp>
      <p:sp>
        <p:nvSpPr>
          <p:cNvPr id="11" name="Rectangle: Rounded Corners 10">
            <a:extLst>
              <a:ext uri="{FF2B5EF4-FFF2-40B4-BE49-F238E27FC236}">
                <a16:creationId xmlns:a16="http://schemas.microsoft.com/office/drawing/2014/main" id="{579C3AD9-8341-77EA-52AD-2C4B85C8FB5E}"/>
              </a:ext>
            </a:extLst>
          </p:cNvPr>
          <p:cNvSpPr/>
          <p:nvPr/>
        </p:nvSpPr>
        <p:spPr>
          <a:xfrm>
            <a:off x="-1731858" y="202551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Improved Core Strength and Stability</a:t>
            </a:r>
            <a:endParaRPr lang="en-US" sz="2800"/>
          </a:p>
        </p:txBody>
      </p:sp>
      <p:sp>
        <p:nvSpPr>
          <p:cNvPr id="12" name="Rectangle: Rounded Corners 11">
            <a:extLst>
              <a:ext uri="{FF2B5EF4-FFF2-40B4-BE49-F238E27FC236}">
                <a16:creationId xmlns:a16="http://schemas.microsoft.com/office/drawing/2014/main" id="{12D29427-BC0D-B48A-9D00-7988899B4374}"/>
              </a:ext>
            </a:extLst>
          </p:cNvPr>
          <p:cNvSpPr/>
          <p:nvPr/>
        </p:nvSpPr>
        <p:spPr>
          <a:xfrm>
            <a:off x="-1731859" y="5077801"/>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Reduced Risk of Injury</a:t>
            </a:r>
            <a:endParaRPr lang="en-US" sz="2800"/>
          </a:p>
        </p:txBody>
      </p:sp>
      <p:sp>
        <p:nvSpPr>
          <p:cNvPr id="13" name="Rectangle: Rounded Corners 12">
            <a:extLst>
              <a:ext uri="{FF2B5EF4-FFF2-40B4-BE49-F238E27FC236}">
                <a16:creationId xmlns:a16="http://schemas.microsoft.com/office/drawing/2014/main" id="{ADE587DD-DD53-62AF-3B0F-D9A872FC9F08}"/>
              </a:ext>
            </a:extLst>
          </p:cNvPr>
          <p:cNvSpPr/>
          <p:nvPr/>
        </p:nvSpPr>
        <p:spPr>
          <a:xfrm>
            <a:off x="-1731858" y="3035033"/>
            <a:ext cx="8614231" cy="91552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t>Enhanced Mobility and Flexibility</a:t>
            </a:r>
            <a:endParaRPr lang="en-US" sz="2800"/>
          </a:p>
        </p:txBody>
      </p:sp>
      <p:sp>
        <p:nvSpPr>
          <p:cNvPr id="14" name="Text Placeholder 4">
            <a:extLst>
              <a:ext uri="{FF2B5EF4-FFF2-40B4-BE49-F238E27FC236}">
                <a16:creationId xmlns:a16="http://schemas.microsoft.com/office/drawing/2014/main" id="{1F6CECC1-F4F3-EAB8-B8E3-083BFF8DBBD9}"/>
              </a:ext>
            </a:extLst>
          </p:cNvPr>
          <p:cNvSpPr txBox="1">
            <a:spLocks/>
          </p:cNvSpPr>
          <p:nvPr/>
        </p:nvSpPr>
        <p:spPr>
          <a:xfrm>
            <a:off x="7410837" y="2579411"/>
            <a:ext cx="3734922" cy="4278589"/>
          </a:xfrm>
          <a:prstGeom prst="rect">
            <a:avLst/>
          </a:prstGeom>
        </p:spPr>
        <p:txBody>
          <a:bodyPr vert="horz" lIns="0" tIns="0" rIns="0" bIns="0" rtlCol="0">
            <a:noAutofit/>
          </a:bodyPr>
          <a:lst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b="1"/>
              <a:t>IN REAL LIFE: </a:t>
            </a:r>
          </a:p>
          <a:p>
            <a:pPr algn="ctr"/>
            <a:r>
              <a:rPr lang="en-US" sz="2000"/>
              <a:t>Grabbing objects behind you, reaching across the car seat</a:t>
            </a:r>
          </a:p>
          <a:p>
            <a:pPr algn="ctr"/>
            <a:r>
              <a:rPr lang="en-US" sz="2000"/>
              <a:t>Golfing, baseball, tennis, raking leaves </a:t>
            </a:r>
          </a:p>
          <a:p>
            <a:pPr algn="ctr"/>
            <a:r>
              <a:rPr lang="en-US" sz="2000"/>
              <a:t>Maintaining strong, mobile shoulders</a:t>
            </a:r>
            <a:endParaRPr lang="en-US" sz="2000" b="1"/>
          </a:p>
        </p:txBody>
      </p:sp>
    </p:spTree>
    <p:extLst>
      <p:ext uri="{BB962C8B-B14F-4D97-AF65-F5344CB8AC3E}">
        <p14:creationId xmlns:p14="http://schemas.microsoft.com/office/powerpoint/2010/main" val="31645975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A2586-C4CC-6570-3365-500849FCF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D4B19-CD19-3787-C673-40860559159B}"/>
              </a:ext>
            </a:extLst>
          </p:cNvPr>
          <p:cNvSpPr>
            <a:spLocks noGrp="1"/>
          </p:cNvSpPr>
          <p:nvPr>
            <p:ph type="title"/>
          </p:nvPr>
        </p:nvSpPr>
        <p:spPr/>
        <p:txBody>
          <a:bodyPr/>
          <a:lstStyle/>
          <a:p>
            <a:r>
              <a:rPr lang="en-US"/>
              <a:t>ROTATION </a:t>
            </a:r>
            <a:r>
              <a:rPr lang="en-US">
                <a:solidFill>
                  <a:schemeClr val="accent6"/>
                </a:solidFill>
              </a:rPr>
              <a:t>PRIME MOVERS</a:t>
            </a:r>
          </a:p>
        </p:txBody>
      </p:sp>
      <p:sp>
        <p:nvSpPr>
          <p:cNvPr id="4" name="Slide Number Placeholder 3">
            <a:extLst>
              <a:ext uri="{FF2B5EF4-FFF2-40B4-BE49-F238E27FC236}">
                <a16:creationId xmlns:a16="http://schemas.microsoft.com/office/drawing/2014/main" id="{27120382-4708-524B-0A06-99AEBEAF6900}"/>
              </a:ext>
            </a:extLst>
          </p:cNvPr>
          <p:cNvSpPr>
            <a:spLocks noGrp="1"/>
          </p:cNvSpPr>
          <p:nvPr>
            <p:ph type="sldNum" sz="quarter" idx="12"/>
          </p:nvPr>
        </p:nvSpPr>
        <p:spPr/>
        <p:txBody>
          <a:bodyPr/>
          <a:lstStyle/>
          <a:p>
            <a:fld id="{545951DD-1C6A-495F-8185-4C73F8F8B75A}" type="slidenum">
              <a:rPr lang="en-US" smtClean="0"/>
              <a:pPr/>
              <a:t>57</a:t>
            </a:fld>
            <a:endParaRPr lang="en-US"/>
          </a:p>
        </p:txBody>
      </p:sp>
      <p:sp>
        <p:nvSpPr>
          <p:cNvPr id="10" name="Rectangle: Rounded Corners 9">
            <a:extLst>
              <a:ext uri="{FF2B5EF4-FFF2-40B4-BE49-F238E27FC236}">
                <a16:creationId xmlns:a16="http://schemas.microsoft.com/office/drawing/2014/main" id="{1F61F471-9755-C549-DB80-C74EFC006440}"/>
              </a:ext>
            </a:extLst>
          </p:cNvPr>
          <p:cNvSpPr/>
          <p:nvPr/>
        </p:nvSpPr>
        <p:spPr>
          <a:xfrm>
            <a:off x="-1325459" y="4106379"/>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dirty="0">
                <a:solidFill>
                  <a:schemeClr val="bg1"/>
                </a:solidFill>
              </a:rPr>
              <a:t>TRANSVERSOSPINALIS MUSCLE GROUP- Multifidus, rotators, semispinalis</a:t>
            </a:r>
          </a:p>
        </p:txBody>
      </p:sp>
      <p:sp>
        <p:nvSpPr>
          <p:cNvPr id="11" name="Rectangle: Rounded Corners 10">
            <a:extLst>
              <a:ext uri="{FF2B5EF4-FFF2-40B4-BE49-F238E27FC236}">
                <a16:creationId xmlns:a16="http://schemas.microsoft.com/office/drawing/2014/main" id="{FA19E8F8-3FB6-6E9A-5477-E06F76084B60}"/>
              </a:ext>
            </a:extLst>
          </p:cNvPr>
          <p:cNvSpPr/>
          <p:nvPr/>
        </p:nvSpPr>
        <p:spPr>
          <a:xfrm>
            <a:off x="-1325458" y="2063611"/>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OBLIQUES</a:t>
            </a:r>
          </a:p>
        </p:txBody>
      </p:sp>
      <p:sp>
        <p:nvSpPr>
          <p:cNvPr id="13" name="Rectangle: Rounded Corners 12">
            <a:extLst>
              <a:ext uri="{FF2B5EF4-FFF2-40B4-BE49-F238E27FC236}">
                <a16:creationId xmlns:a16="http://schemas.microsoft.com/office/drawing/2014/main" id="{84E12136-24F5-3DD2-2018-0BFD73BACF1D}"/>
              </a:ext>
            </a:extLst>
          </p:cNvPr>
          <p:cNvSpPr/>
          <p:nvPr/>
        </p:nvSpPr>
        <p:spPr>
          <a:xfrm>
            <a:off x="-1325458" y="3073133"/>
            <a:ext cx="8614231" cy="91552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a:solidFill>
                  <a:schemeClr val="bg1"/>
                </a:solidFill>
              </a:rPr>
              <a:t>TRANSVERSE ABDOMINIS</a:t>
            </a:r>
          </a:p>
        </p:txBody>
      </p:sp>
    </p:spTree>
    <p:extLst>
      <p:ext uri="{BB962C8B-B14F-4D97-AF65-F5344CB8AC3E}">
        <p14:creationId xmlns:p14="http://schemas.microsoft.com/office/powerpoint/2010/main" val="9953049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themeOverride>
</file>

<file path=ppt/theme/themeOverride2.xml><?xml version="1.0" encoding="utf-8"?>
<a:themeOverride xmlns:a="http://schemas.openxmlformats.org/drawingml/2006/main">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themeOverride>
</file>

<file path=ppt/theme/themeOverride3.xml><?xml version="1.0" encoding="utf-8"?>
<a:themeOverride xmlns:a="http://schemas.openxmlformats.org/drawingml/2006/main">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themeOverride>
</file>

<file path=ppt/theme/themeOverride4.xml><?xml version="1.0" encoding="utf-8"?>
<a:themeOverride xmlns:a="http://schemas.openxmlformats.org/drawingml/2006/main">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themeOverride>
</file>

<file path=ppt/theme/themeOverride5.xml><?xml version="1.0" encoding="utf-8"?>
<a:themeOverride xmlns:a="http://schemas.openxmlformats.org/drawingml/2006/main">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themeOverride>
</file>

<file path=ppt/theme/themeOverride6.xml><?xml version="1.0" encoding="utf-8"?>
<a:themeOverride xmlns:a="http://schemas.openxmlformats.org/drawingml/2006/main">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a769b5d-6ae3-49c0-b9fe-648332acbe88" xsi:nil="true"/>
    <lcf76f155ced4ddcb4097134ff3c332f xmlns="5f34e093-58af-4c59-9966-8c5fa02322a0">
      <Terms xmlns="http://schemas.microsoft.com/office/infopath/2007/PartnerControls"/>
    </lcf76f155ced4ddcb4097134ff3c332f>
    <Image xmlns="5f34e093-58af-4c59-9966-8c5fa02322a0" xsi:nil="true"/>
    <PrimeMoverTags xmlns="5f34e093-58af-4c59-9966-8c5fa02322a0" xsi:nil="true"/>
    <BodyPositionTags xmlns="5f34e093-58af-4c59-9966-8c5fa02322a0" xsi:nil="true"/>
    <AFTUsed xmlns="5f34e093-58af-4c59-9966-8c5fa02322a0" xsi:nil="true"/>
    <MovementPatternsTags xmlns="5f34e093-58af-4c59-9966-8c5fa02322a0" xsi:nil="true"/>
    <EquipmentTags xmlns="5f34e093-58af-4c59-9966-8c5fa02322a0" xsi:nil="true"/>
    <ExerciseName xmlns="5f34e093-58af-4c59-9966-8c5fa02322a0" xsi:nil="true"/>
    <ExerciseDescription xmlns="5f34e093-58af-4c59-9966-8c5fa02322a0" xsi:nil="true"/>
    <Documented xmlns="5f34e093-58af-4c59-9966-8c5fa02322a0" xsi:nil="true"/>
    <TypeTags xmlns="5f34e093-58af-4c59-9966-8c5fa02322a0" xsi:nil="true"/>
    <AFID_x0023_ xmlns="5f34e093-58af-4c59-9966-8c5fa02322a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CEEF673B5AE3541B30512BAD2DB1D51" ma:contentTypeVersion="31" ma:contentTypeDescription="Create a new document." ma:contentTypeScope="" ma:versionID="38275b57773cc9bd781e8b0208a77f10">
  <xsd:schema xmlns:xsd="http://www.w3.org/2001/XMLSchema" xmlns:xs="http://www.w3.org/2001/XMLSchema" xmlns:p="http://schemas.microsoft.com/office/2006/metadata/properties" xmlns:ns2="5f34e093-58af-4c59-9966-8c5fa02322a0" xmlns:ns3="9a769b5d-6ae3-49c0-b9fe-648332acbe88" targetNamespace="http://schemas.microsoft.com/office/2006/metadata/properties" ma:root="true" ma:fieldsID="cd073191415e5bb416ea4d763494c173" ns2:_="" ns3:_="">
    <xsd:import namespace="5f34e093-58af-4c59-9966-8c5fa02322a0"/>
    <xsd:import namespace="9a769b5d-6ae3-49c0-b9fe-648332acbe88"/>
    <xsd:element name="properties">
      <xsd:complexType>
        <xsd:sequence>
          <xsd:element name="documentManagement">
            <xsd:complexType>
              <xsd:all>
                <xsd:element ref="ns2:Image" minOccurs="0"/>
                <xsd:element ref="ns2:AFTUsed" minOccurs="0"/>
                <xsd:element ref="ns2:ExerciseDescription" minOccurs="0"/>
                <xsd:element ref="ns2:AFID_x0023_" minOccurs="0"/>
                <xsd:element ref="ns2:EquipmentTags" minOccurs="0"/>
                <xsd:element ref="ns2:ExerciseName" minOccurs="0"/>
                <xsd:element ref="ns2:PrimeMoverTags" minOccurs="0"/>
                <xsd:element ref="ns2:MovementPatternsTags" minOccurs="0"/>
                <xsd:element ref="ns2:TypeTags" minOccurs="0"/>
                <xsd:element ref="ns2:BodyPositionTags" minOccurs="0"/>
                <xsd:element ref="ns2:Documented"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34e093-58af-4c59-9966-8c5fa02322a0" elementFormDefault="qualified">
    <xsd:import namespace="http://schemas.microsoft.com/office/2006/documentManagement/types"/>
    <xsd:import namespace="http://schemas.microsoft.com/office/infopath/2007/PartnerControls"/>
    <xsd:element name="Image" ma:index="4" nillable="true" ma:displayName="Image" ma:internalName="Image" ma:readOnly="false">
      <xsd:simpleType>
        <xsd:restriction base="dms:Unknown"/>
      </xsd:simpleType>
    </xsd:element>
    <xsd:element name="AFTUsed" ma:index="6" nillable="true" ma:displayName="AFT Used" ma:format="RadioButtons" ma:internalName="AFTUsed" ma:readOnly="false">
      <xsd:simpleType>
        <xsd:union memberTypes="dms:Text">
          <xsd:simpleType>
            <xsd:restriction base="dms:Choice">
              <xsd:enumeration value="Used"/>
              <xsd:enumeration value="NEW"/>
              <xsd:enumeration value="Duplicate"/>
              <xsd:enumeration value="DO NOT USE/TATTOO"/>
              <xsd:enumeration value="Boxing"/>
            </xsd:restriction>
          </xsd:simpleType>
        </xsd:union>
      </xsd:simpleType>
    </xsd:element>
    <xsd:element name="ExerciseDescription" ma:index="7" nillable="true" ma:displayName="Exercise Description" ma:internalName="ExerciseDescription" ma:readOnly="false">
      <xsd:simpleType>
        <xsd:restriction base="dms:Note">
          <xsd:maxLength value="255"/>
        </xsd:restriction>
      </xsd:simpleType>
    </xsd:element>
    <xsd:element name="AFID_x0023_" ma:index="8" nillable="true" ma:displayName="AF ID #" ma:internalName="AFID_x0023_" ma:readOnly="false" ma:percentage="FALSE">
      <xsd:simpleType>
        <xsd:restriction base="dms:Number"/>
      </xsd:simpleType>
    </xsd:element>
    <xsd:element name="EquipmentTags" ma:index="9" nillable="true" ma:displayName="Equipment Tags" ma:internalName="EquipmentTags" ma:readOnly="false">
      <xsd:complexType>
        <xsd:complexContent>
          <xsd:extension base="dms:MultiChoice">
            <xsd:sequence>
              <xsd:element name="Value" maxOccurs="unbounded" minOccurs="0" nillable="true">
                <xsd:simpleType>
                  <xsd:restriction base="dms:Choice">
                    <xsd:enumeration value="Balance/Tool"/>
                    <xsd:enumeration value="Barbell"/>
                    <xsd:enumeration value="Battle Rope"/>
                    <xsd:enumeration value="Bench"/>
                    <xsd:enumeration value="Bodyweight"/>
                    <xsd:enumeration value="Box"/>
                    <xsd:enumeration value="Cables"/>
                    <xsd:enumeration value="Core Wheel"/>
                    <xsd:enumeration value="Dumbells"/>
                    <xsd:enumeration value="Kettlebells"/>
                    <xsd:enumeration value="Ladder"/>
                    <xsd:enumeration value="Landmine"/>
                    <xsd:enumeration value="Mini Band"/>
                    <xsd:enumeration value="Mobility Ball"/>
                    <xsd:enumeration value="Plate"/>
                    <xsd:enumeration value="Sandbag"/>
                    <xsd:enumeration value="Choice 21"/>
                    <xsd:enumeration value="Sliders"/>
                    <xsd:enumeration value="Suspension"/>
                    <xsd:enumeration value="Tubing/Bands"/>
                    <xsd:enumeration value="Cardio"/>
                    <xsd:enumeration value="Foam Roller"/>
                    <xsd:enumeration value="Machine"/>
                    <xsd:enumeration value="Med Ball"/>
                    <xsd:enumeration value="Stability Ball"/>
                  </xsd:restriction>
                </xsd:simpleType>
              </xsd:element>
            </xsd:sequence>
          </xsd:extension>
        </xsd:complexContent>
      </xsd:complexType>
    </xsd:element>
    <xsd:element name="ExerciseName" ma:index="10" nillable="true" ma:displayName="Exercise Name" ma:internalName="ExerciseName" ma:readOnly="false">
      <xsd:simpleType>
        <xsd:restriction base="dms:Text">
          <xsd:maxLength value="255"/>
        </xsd:restriction>
      </xsd:simpleType>
    </xsd:element>
    <xsd:element name="PrimeMoverTags" ma:index="11" nillable="true" ma:displayName="Prime Mover Tags" ma:internalName="PrimeMoverTags" ma:readOnly="false">
      <xsd:complexType>
        <xsd:complexContent>
          <xsd:extension base="dms:MultiChoice">
            <xsd:sequence>
              <xsd:element name="Value" maxOccurs="unbounded" minOccurs="0" nillable="true">
                <xsd:simpleType>
                  <xsd:restriction base="dms:Choice">
                    <xsd:enumeration value="Abductors"/>
                    <xsd:enumeration value="Abs"/>
                    <xsd:enumeration value="Adductors"/>
                    <xsd:enumeration value="Biceps"/>
                    <xsd:enumeration value="Deltoid Anterior"/>
                    <xsd:enumeration value="Deltoid Medial"/>
                    <xsd:enumeration value="Deltoid Posterior"/>
                    <xsd:enumeration value="Gastrocnemius/Soleus"/>
                    <xsd:enumeration value="Gluteus Maxiumus"/>
                    <xsd:enumeration value="Hamstrings"/>
                    <xsd:enumeration value="Hip Flexor"/>
                    <xsd:enumeration value="Hip Stabilizers"/>
                    <xsd:enumeration value="Latissimus Dorsi"/>
                    <xsd:enumeration value="Obliques"/>
                    <xsd:enumeration value="Pecs"/>
                    <xsd:enumeration value="Quadriceps"/>
                    <xsd:enumeration value="Shoulder Stabilizers"/>
                    <xsd:enumeration value="Spinal Erectors"/>
                    <xsd:enumeration value="Trapezius"/>
                    <xsd:enumeration value="Triceps"/>
                    <xsd:enumeration value="Choice 21"/>
                  </xsd:restriction>
                </xsd:simpleType>
              </xsd:element>
            </xsd:sequence>
          </xsd:extension>
        </xsd:complexContent>
      </xsd:complexType>
    </xsd:element>
    <xsd:element name="MovementPatternsTags" ma:index="12" nillable="true" ma:displayName="Movement Patterns Tags" ma:internalName="MovementPatternsTags" ma:readOnly="false">
      <xsd:complexType>
        <xsd:complexContent>
          <xsd:extension base="dms:MultiChoice">
            <xsd:sequence>
              <xsd:element name="Value" maxOccurs="unbounded" minOccurs="0" nillable="true">
                <xsd:simpleType>
                  <xsd:restriction base="dms:Choice">
                    <xsd:enumeration value="Anti Extension"/>
                    <xsd:enumeration value="Anti Rotation"/>
                    <xsd:enumeration value="Hinge"/>
                    <xsd:enumeration value="Horizontal Pull"/>
                    <xsd:enumeration value="Horizontal Push"/>
                    <xsd:enumeration value="Lunge"/>
                    <xsd:enumeration value="Rotation"/>
                    <xsd:enumeration value="Squat"/>
                    <xsd:enumeration value="Vertical Pull"/>
                    <xsd:enumeration value="Vertical Push"/>
                  </xsd:restriction>
                </xsd:simpleType>
              </xsd:element>
            </xsd:sequence>
          </xsd:extension>
        </xsd:complexContent>
      </xsd:complexType>
    </xsd:element>
    <xsd:element name="TypeTags" ma:index="13" nillable="true" ma:displayName="Type Tags" ma:internalName="TypeTags" ma:readOnly="false">
      <xsd:complexType>
        <xsd:complexContent>
          <xsd:extension base="dms:MultiChoice">
            <xsd:sequence>
              <xsd:element name="Value" maxOccurs="unbounded" minOccurs="0" nillable="true">
                <xsd:simpleType>
                  <xsd:restriction base="dms:Choice">
                    <xsd:enumeration value="Alternating"/>
                    <xsd:enumeration value="Balance"/>
                    <xsd:enumeration value="Combo"/>
                    <xsd:enumeration value="Compound"/>
                    <xsd:enumeration value="Conditioning"/>
                    <xsd:enumeration value="Contralateral"/>
                    <xsd:enumeration value="Finishers"/>
                    <xsd:enumeration value="Frontal"/>
                    <xsd:enumeration value="Ipsilateral"/>
                    <xsd:enumeration value="Isometric"/>
                    <xsd:enumeration value="Lateral"/>
                    <xsd:enumeration value="Mobility"/>
                    <xsd:enumeration value="Power"/>
                    <xsd:enumeration value="Recovery"/>
                    <xsd:enumeration value="Sagittal"/>
                    <xsd:enumeration value="Single Arm"/>
                    <xsd:enumeration value="Single Leg"/>
                    <xsd:enumeration value="SMR"/>
                    <xsd:enumeration value="Speed, Agility, Quickness"/>
                    <xsd:enumeration value="Static Stretch"/>
                    <xsd:enumeration value="Tranverse"/>
                  </xsd:restriction>
                </xsd:simpleType>
              </xsd:element>
            </xsd:sequence>
          </xsd:extension>
        </xsd:complexContent>
      </xsd:complexType>
    </xsd:element>
    <xsd:element name="BodyPositionTags" ma:index="14" nillable="true" ma:displayName="Body Position Tags" ma:internalName="BodyPositionTags" ma:readOnly="false">
      <xsd:complexType>
        <xsd:complexContent>
          <xsd:extension base="dms:MultiChoice">
            <xsd:sequence>
              <xsd:element name="Value" maxOccurs="unbounded" minOccurs="0" nillable="true">
                <xsd:simpleType>
                  <xsd:restriction base="dms:Choice">
                    <xsd:enumeration value="1.5 Stance"/>
                    <xsd:enumeration value="Half Kneel"/>
                    <xsd:enumeration value="Prone"/>
                    <xsd:enumeration value="Quadruped"/>
                    <xsd:enumeration value="Sidelying"/>
                    <xsd:enumeration value="Supine"/>
                    <xsd:enumeration value="Tall Kneel"/>
                  </xsd:restriction>
                </xsd:simpleType>
              </xsd:element>
            </xsd:sequence>
          </xsd:extension>
        </xsd:complexContent>
      </xsd:complexType>
    </xsd:element>
    <xsd:element name="Documented" ma:index="15" nillable="true" ma:displayName="Remove" ma:description="New Exercises Sheet" ma:format="Dropdown" ma:hidden="true" ma:internalName="Documented" ma:readOnly="false">
      <xsd:simpleType>
        <xsd:union memberTypes="dms:Text">
          <xsd:simpleType>
            <xsd:restriction base="dms:Choice">
              <xsd:enumeration value="REMOVE"/>
            </xsd:restriction>
          </xsd:simpleType>
        </xsd:union>
      </xsd:simpleType>
    </xsd:element>
    <xsd:element name="MediaServiceMetadata" ma:index="19" nillable="true" ma:displayName="MediaServiceMetadata" ma:hidden="true" ma:internalName="MediaServiceMetadata" ma:readOnly="true">
      <xsd:simpleType>
        <xsd:restriction base="dms:Note"/>
      </xsd:simpleType>
    </xsd:element>
    <xsd:element name="MediaServiceFastMetadata" ma:index="20" nillable="true" ma:displayName="MediaServiceFastMetadata" ma:hidden="true" ma:internalName="MediaServiceFastMetadata" ma:readOnly="true">
      <xsd:simpleType>
        <xsd:restriction base="dms:Note"/>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LengthInSeconds" ma:index="25" nillable="true" ma:displayName="MediaLengthInSeconds" ma:hidden="true"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2bffa456-7431-438b-a831-353138f41740" ma:termSetId="09814cd3-568e-fe90-9814-8d621ff8fb84" ma:anchorId="fba54fb3-c3e1-fe81-a776-ca4b69148c4d" ma:open="true" ma:isKeyword="false">
      <xsd:complexType>
        <xsd:sequence>
          <xsd:element ref="pc:Terms" minOccurs="0" maxOccurs="1"/>
        </xsd:sequence>
      </xsd:complexType>
    </xsd:element>
    <xsd:element name="MediaServiceOCR" ma:index="29" nillable="true" ma:displayName="Extracted Text" ma:internalName="MediaServiceOCR" ma:readOnly="true">
      <xsd:simpleType>
        <xsd:restriction base="dms:Note">
          <xsd:maxLength value="255"/>
        </xsd:restriction>
      </xsd:simpleType>
    </xsd:element>
    <xsd:element name="MediaServiceLocation" ma:index="30" nillable="true" ma:displayName="Location" ma:indexed="true" ma:internalName="MediaServiceLocation" ma:readOnly="true">
      <xsd:simpleType>
        <xsd:restriction base="dms:Text"/>
      </xsd:simpleType>
    </xsd:element>
    <xsd:element name="MediaServiceBillingMetadata" ma:index="3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a769b5d-6ae3-49c0-b9fe-648332acbe88" elementFormDefault="qualified">
    <xsd:import namespace="http://schemas.microsoft.com/office/2006/documentManagement/types"/>
    <xsd:import namespace="http://schemas.microsoft.com/office/infopath/2007/PartnerControls"/>
    <xsd:element name="TaxCatchAll" ma:index="28" nillable="true" ma:displayName="Taxonomy Catch All Column" ma:hidden="true" ma:list="{b424e1c5-a227-4174-a64d-53ac48a2d25b}" ma:internalName="TaxCatchAll" ma:showField="CatchAllData" ma:web="9a769b5d-6ae3-49c0-b9fe-648332acbe8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A2B1DA-A2C5-489C-A46E-FC3EAF2F3ADB}">
  <ds:schemaRefs>
    <ds:schemaRef ds:uri="http://purl.org/dc/terms/"/>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bd3e74f9-e755-491e-81ce-75485ea4b35b"/>
    <ds:schemaRef ds:uri="http://schemas.openxmlformats.org/package/2006/metadata/core-properties"/>
    <ds:schemaRef ds:uri="c6e53ef5-aa40-4ab3-8b24-2fd4d1062466"/>
    <ds:schemaRef ds:uri="http://purl.org/dc/dcmitype/"/>
    <ds:schemaRef ds:uri="http://purl.org/dc/elements/1.1/"/>
    <ds:schemaRef ds:uri="9a769b5d-6ae3-49c0-b9fe-648332acbe88"/>
    <ds:schemaRef ds:uri="5f34e093-58af-4c59-9966-8c5fa02322a0"/>
  </ds:schemaRefs>
</ds:datastoreItem>
</file>

<file path=customXml/itemProps2.xml><?xml version="1.0" encoding="utf-8"?>
<ds:datastoreItem xmlns:ds="http://schemas.openxmlformats.org/officeDocument/2006/customXml" ds:itemID="{1F90C4E6-4A59-487E-81FF-2AAB65958319}">
  <ds:schemaRefs>
    <ds:schemaRef ds:uri="http://schemas.microsoft.com/sharepoint/v3/contenttype/forms"/>
  </ds:schemaRefs>
</ds:datastoreItem>
</file>

<file path=customXml/itemProps3.xml><?xml version="1.0" encoding="utf-8"?>
<ds:datastoreItem xmlns:ds="http://schemas.openxmlformats.org/officeDocument/2006/customXml" ds:itemID="{5DB5B879-343C-4E83-B5D1-4D030B109D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34e093-58af-4c59-9966-8c5fa02322a0"/>
    <ds:schemaRef ds:uri="9a769b5d-6ae3-49c0-b9fe-648332acbe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4253</TotalTime>
  <Words>5840</Words>
  <Application>Microsoft Macintosh PowerPoint</Application>
  <PresentationFormat>Widescreen</PresentationFormat>
  <Paragraphs>852</Paragraphs>
  <Slides>57</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Calibri</vt:lpstr>
      <vt:lpstr>Century Gothic</vt:lpstr>
      <vt:lpstr>Montserrat Font</vt:lpstr>
      <vt:lpstr>Anytime Fitness Template</vt:lpstr>
      <vt:lpstr>AF Training  Progressions &amp; Regressions</vt:lpstr>
      <vt:lpstr>MOVING IS ESSENTIAL</vt:lpstr>
      <vt:lpstr>6 FOUNDATIONAL  MOVEMENT PATTERNS</vt:lpstr>
      <vt:lpstr>AF Training  Progressions &amp; Regressions Principles</vt:lpstr>
      <vt:lpstr>The High Five Assessment</vt:lpstr>
      <vt:lpstr>Why This Matters</vt:lpstr>
      <vt:lpstr>Overhead Squat &amp; Split Squat </vt:lpstr>
      <vt:lpstr>Single Leg Balance Reach</vt:lpstr>
      <vt:lpstr>Bird Dog</vt:lpstr>
      <vt:lpstr>Low Plank</vt:lpstr>
      <vt:lpstr>High Five  example</vt:lpstr>
      <vt:lpstr>High Five  example</vt:lpstr>
      <vt:lpstr>Programming Post High Five </vt:lpstr>
      <vt:lpstr>PowerPoint Presentation</vt:lpstr>
      <vt:lpstr>PowerPoint Presentation</vt:lpstr>
      <vt:lpstr>PowerPoint Presentation</vt:lpstr>
      <vt:lpstr>PowerPoint Presentation</vt:lpstr>
      <vt:lpstr>PowerPoint Presentation</vt:lpstr>
      <vt:lpstr>Multiple Clients, 1 Movement Pattern</vt:lpstr>
      <vt:lpstr>BRINGING IT ALL TOGETHER</vt:lpstr>
      <vt:lpstr>PowerPoint Presentation</vt:lpstr>
      <vt:lpstr>DRIVING LONG-TERM SUCCESS THROUGH PROGRAMMING</vt:lpstr>
      <vt:lpstr>COMPLEXITY OF MOVEMENT</vt:lpstr>
      <vt:lpstr>DRIVING LONG TERM SUCCESS</vt:lpstr>
      <vt:lpstr>DRIVING LONG TERM SUCCESS</vt:lpstr>
      <vt:lpstr>DRIVING LONG TERM SUCCESS</vt:lpstr>
      <vt:lpstr>PowerPoint Presentation</vt:lpstr>
      <vt:lpstr>PowerPoint Presentation</vt:lpstr>
      <vt:lpstr>PowerPoint Presentation</vt:lpstr>
      <vt:lpstr>PowerPoint Presentation</vt:lpstr>
      <vt:lpstr>PowerPoint Presentation</vt:lpstr>
      <vt:lpstr>PowerPoint Presentation</vt:lpstr>
      <vt:lpstr>AFT Movement Pattern Continuum</vt:lpstr>
      <vt:lpstr>Horizontal Push</vt:lpstr>
      <vt:lpstr>HORIZONTAL PUSH BENEFITS</vt:lpstr>
      <vt:lpstr>HORIZONTAL PUSH PRIME MOVERS</vt:lpstr>
      <vt:lpstr>VERTICAL PUSH</vt:lpstr>
      <vt:lpstr>VERTICAL PUSH BENEFITS</vt:lpstr>
      <vt:lpstr>VERTICAL PUSH PRIME MOVERS</vt:lpstr>
      <vt:lpstr>HINGE</vt:lpstr>
      <vt:lpstr>HINGE BENEFITS</vt:lpstr>
      <vt:lpstr>HINGE PRIME MOVERS</vt:lpstr>
      <vt:lpstr>Squat</vt:lpstr>
      <vt:lpstr>SQUAT BENEFITS</vt:lpstr>
      <vt:lpstr>SQUAT PRIME MOVERS</vt:lpstr>
      <vt:lpstr>Horizontal Pull</vt:lpstr>
      <vt:lpstr>HORIZONTAL PULL BENEFITS</vt:lpstr>
      <vt:lpstr>HORIZONTAL PULL PRIME MOVERS</vt:lpstr>
      <vt:lpstr>Vertical Pull</vt:lpstr>
      <vt:lpstr>VERTICAL PULL BENEFITS</vt:lpstr>
      <vt:lpstr>VERTICAL PULL PRIME MOVERS</vt:lpstr>
      <vt:lpstr>Lunge</vt:lpstr>
      <vt:lpstr>LUNGE BENEFITS</vt:lpstr>
      <vt:lpstr>LUNGE PRIME MOVERS</vt:lpstr>
      <vt:lpstr>Rotation</vt:lpstr>
      <vt:lpstr>ROTATION BENEFITS</vt:lpstr>
      <vt:lpstr>ROTATION PRIME MOVERS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 Pias</cp:lastModifiedBy>
  <cp:revision>3</cp:revision>
  <dcterms:created xsi:type="dcterms:W3CDTF">2021-11-18T14:52:15Z</dcterms:created>
  <dcterms:modified xsi:type="dcterms:W3CDTF">2026-03-20T21:37:47Z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0x0101001CEEF673B5AE3541B30512BAD2DB1D51</vt:lpwstr>
  </property>
  <property fmtid="{D5CDD505-2E9C-101B-9397-08002B2CF9AE}" pid="3" name="MediaServiceImageTags">
    <vt:lpwstr/>
  </property>
  <property fmtid="{D5CDD505-2E9C-101B-9397-08002B2CF9AE}" pid="4" name="MSIP_Label_c19e54f6-8de3-4dc1-8de2-3571ff8ef8ed_Enabled">
    <vt:lpwstr>true</vt:lpwstr>
  </property>
  <property fmtid="{D5CDD505-2E9C-101B-9397-08002B2CF9AE}" pid="5" name="MSIP_Label_c19e54f6-8de3-4dc1-8de2-3571ff8ef8ed_SetDate">
    <vt:lpwstr>2025-03-13T21:00:52Z</vt:lpwstr>
  </property>
  <property fmtid="{D5CDD505-2E9C-101B-9397-08002B2CF9AE}" pid="6" name="MSIP_Label_c19e54f6-8de3-4dc1-8de2-3571ff8ef8ed_Method">
    <vt:lpwstr>Privileged</vt:lpwstr>
  </property>
  <property fmtid="{D5CDD505-2E9C-101B-9397-08002B2CF9AE}" pid="7" name="MSIP_Label_c19e54f6-8de3-4dc1-8de2-3571ff8ef8ed_Name">
    <vt:lpwstr>defa4170-0d19-0005-0004-bc88714345d2</vt:lpwstr>
  </property>
  <property fmtid="{D5CDD505-2E9C-101B-9397-08002B2CF9AE}" pid="8" name="MSIP_Label_c19e54f6-8de3-4dc1-8de2-3571ff8ef8ed_SiteId">
    <vt:lpwstr>e5f9f875-abc1-48a7-b869-6562628fb58c</vt:lpwstr>
  </property>
  <property fmtid="{D5CDD505-2E9C-101B-9397-08002B2CF9AE}" pid="9" name="MSIP_Label_c19e54f6-8de3-4dc1-8de2-3571ff8ef8ed_ActionId">
    <vt:lpwstr>a1267a41-c7bb-453d-854e-b2599ef16c11</vt:lpwstr>
  </property>
  <property fmtid="{D5CDD505-2E9C-101B-9397-08002B2CF9AE}" pid="10" name="MSIP_Label_c19e54f6-8de3-4dc1-8de2-3571ff8ef8ed_ContentBits">
    <vt:lpwstr>0</vt:lpwstr>
  </property>
  <property fmtid="{D5CDD505-2E9C-101B-9397-08002B2CF9AE}" pid="11" name="_ExtendedDescription">
    <vt:lpwstr/>
  </property>
</Properties>
</file>