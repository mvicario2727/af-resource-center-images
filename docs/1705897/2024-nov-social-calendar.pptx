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FFFFFF"/>
    <a:srgbClr val="6E38D5"/>
    <a:srgbClr val="440099"/>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CE2BF5-C307-7EFA-28F1-B310D03ADA95}" v="2941" dt="2024-10-07T16:56:00.059"/>
    <p1510:client id="{A8B90157-4A9D-B042-3AFE-2FDE8CE6AFAB}" v="253" dt="2024-10-09T16:24:34.981"/>
    <p1510:client id="{F39D3171-6A6E-289D-6EB0-2D4851394945}" v="4" dt="2024-10-08T14:52:10.626"/>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674"/>
  </p:normalViewPr>
  <p:slideViewPr>
    <p:cSldViewPr snapToGrid="0">
      <p:cViewPr varScale="1">
        <p:scale>
          <a:sx n="213" d="100"/>
          <a:sy n="213" d="100"/>
        </p:scale>
        <p:origin x="1224" y="128"/>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10/16/24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10/16/24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10/16/24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10/16/24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10/16/24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10/16/24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10/16/24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10/16/24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10/16/24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10/16/24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10/16/24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10/16/24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10/16/24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10/16/24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10/16/24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10/16/24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10/16/24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10/16/24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10/16/24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10/16/24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10/16/24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10/16/24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10/16/24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10/16/24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10/16/24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10/16/24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10/16/24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10/16/24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10/16/24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10/16/24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10/16/24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10/16/24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10/16/24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10/16/24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10/16/24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mWqpX0ARx4vpguU2Z%2FUXdFclR5VWlPcEFzRGZHaEprTHpYY1ZiTm1Rd0VyVHlV2LA7UMkdwEEihtuQlK5X%3Ffrom%3DHHfL_17Tiqf3ggOtSfeQ-8XRbTq3ZzQe1zqad0DsXEQ4xG0zJvLBPMx_9KMTXT8qUlr1Cn2tXB_g60dR8uA9N_rT_YudYyw5uB6VHxz6GqaEnOQoVUAUUkRZWZGs260WzbUpyhSuMTkxp0c_5OcM-MIHnYO4viZPUsTud_W1D6Ksywr5chvmuw%253D%253D" TargetMode="Externa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3257875281"/>
              </p:ext>
            </p:extLst>
          </p:nvPr>
        </p:nvGraphicFramePr>
        <p:xfrm>
          <a:off x="0" y="0"/>
          <a:ext cx="12192000" cy="6858000"/>
        </p:xfrm>
        <a:graphic>
          <a:graphicData uri="http://schemas.openxmlformats.org/drawingml/2006/table">
            <a:tbl>
              <a:tblPr firstRow="1" bandRow="1">
                <a:tableStyleId>{5202B0CA-FC54-4496-8BCA-5EF66A818D29}</a:tableStyleId>
              </a:tblPr>
              <a:tblGrid>
                <a:gridCol w="1723179">
                  <a:extLst>
                    <a:ext uri="{9D8B030D-6E8A-4147-A177-3AD203B41FA5}">
                      <a16:colId xmlns:a16="http://schemas.microsoft.com/office/drawing/2014/main" val="2484229546"/>
                    </a:ext>
                  </a:extLst>
                </a:gridCol>
                <a:gridCol w="1838553">
                  <a:extLst>
                    <a:ext uri="{9D8B030D-6E8A-4147-A177-3AD203B41FA5}">
                      <a16:colId xmlns:a16="http://schemas.microsoft.com/office/drawing/2014/main" val="439348342"/>
                    </a:ext>
                  </a:extLst>
                </a:gridCol>
                <a:gridCol w="1811908">
                  <a:extLst>
                    <a:ext uri="{9D8B030D-6E8A-4147-A177-3AD203B41FA5}">
                      <a16:colId xmlns:a16="http://schemas.microsoft.com/office/drawing/2014/main" val="1072895275"/>
                    </a:ext>
                  </a:extLst>
                </a:gridCol>
                <a:gridCol w="1748543">
                  <a:extLst>
                    <a:ext uri="{9D8B030D-6E8A-4147-A177-3AD203B41FA5}">
                      <a16:colId xmlns:a16="http://schemas.microsoft.com/office/drawing/2014/main" val="2787662688"/>
                    </a:ext>
                  </a:extLst>
                </a:gridCol>
                <a:gridCol w="1692000">
                  <a:extLst>
                    <a:ext uri="{9D8B030D-6E8A-4147-A177-3AD203B41FA5}">
                      <a16:colId xmlns:a16="http://schemas.microsoft.com/office/drawing/2014/main" val="1952576077"/>
                    </a:ext>
                  </a:extLst>
                </a:gridCol>
                <a:gridCol w="1720559">
                  <a:extLst>
                    <a:ext uri="{9D8B030D-6E8A-4147-A177-3AD203B41FA5}">
                      <a16:colId xmlns:a16="http://schemas.microsoft.com/office/drawing/2014/main" val="1911801536"/>
                    </a:ext>
                  </a:extLst>
                </a:gridCol>
                <a:gridCol w="1657258">
                  <a:extLst>
                    <a:ext uri="{9D8B030D-6E8A-4147-A177-3AD203B41FA5}">
                      <a16:colId xmlns:a16="http://schemas.microsoft.com/office/drawing/2014/main" val="1683208684"/>
                    </a:ext>
                  </a:extLst>
                </a:gridCol>
              </a:tblGrid>
              <a:tr h="714119">
                <a:tc gridSpan="7">
                  <a:txBody>
                    <a:bodyPr/>
                    <a:lstStyle/>
                    <a:p>
                      <a:pPr marL="530225" lvl="0">
                        <a:lnSpc>
                          <a:spcPts val="5175"/>
                        </a:lnSpc>
                        <a:spcBef>
                          <a:spcPts val="2255"/>
                        </a:spcBef>
                        <a:spcAft>
                          <a:spcPts val="0"/>
                        </a:spcAft>
                        <a:buNone/>
                      </a:pPr>
                      <a:r>
                        <a:rPr lang="en-US" sz="3800" spc="0">
                          <a:effectLst/>
                        </a:rPr>
                        <a:t>NOVEMBER 2024</a:t>
                      </a:r>
                      <a:endParaRPr lang="en-US"/>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53026">
                <a:tc>
                  <a:txBody>
                    <a:bodyPr/>
                    <a:lstStyle/>
                    <a:p>
                      <a:pPr marL="0" marR="8890" algn="ctr" rtl="0" fontAlgn="t" latinLnBrk="0">
                        <a:spcBef>
                          <a:spcPts val="295"/>
                        </a:spcBef>
                        <a:spcAft>
                          <a:spcPts val="0"/>
                        </a:spcAft>
                      </a:pPr>
                      <a:r>
                        <a:rPr lang="en-US" sz="600" spc="0">
                          <a:effectLst/>
                        </a:rPr>
                        <a:t>SUNDAY</a:t>
                      </a:r>
                      <a:endParaRPr lang="en-US" sz="1800">
                        <a:effectLst/>
                      </a:endParaRPr>
                    </a:p>
                  </a:txBody>
                  <a:tcPr marL="9525" marR="9525" marT="33147" marB="0"/>
                </a:tc>
                <a:tc>
                  <a:txBody>
                    <a:bodyPr/>
                    <a:lstStyle/>
                    <a:p>
                      <a:pPr marL="54610" algn="ctr" rtl="0" fontAlgn="t" latinLnBrk="0">
                        <a:spcBef>
                          <a:spcPts val="295"/>
                        </a:spcBef>
                        <a:spcAft>
                          <a:spcPts val="0"/>
                        </a:spcAft>
                      </a:pPr>
                      <a:r>
                        <a:rPr lang="en-US" sz="600" spc="0">
                          <a:effectLst/>
                        </a:rPr>
                        <a:t>MONDAY</a:t>
                      </a:r>
                      <a:endParaRPr lang="en-US" sz="1800">
                        <a:effectLst/>
                      </a:endParaRPr>
                    </a:p>
                  </a:txBody>
                  <a:tcPr marL="9525" marR="9525" marT="33147" marB="0"/>
                </a:tc>
                <a:tc>
                  <a:txBody>
                    <a:bodyPr/>
                    <a:lstStyle/>
                    <a:p>
                      <a:pPr marL="27305" algn="ctr" rtl="0" fontAlgn="t" latinLnBrk="0">
                        <a:spcBef>
                          <a:spcPts val="295"/>
                        </a:spcBef>
                        <a:spcAft>
                          <a:spcPts val="0"/>
                        </a:spcAft>
                      </a:pPr>
                      <a:r>
                        <a:rPr lang="en-US" sz="600" spc="0">
                          <a:effectLst/>
                        </a:rPr>
                        <a:t>TUESDAY</a:t>
                      </a:r>
                      <a:endParaRPr lang="en-US" sz="1800">
                        <a:effectLst/>
                      </a:endParaRPr>
                    </a:p>
                  </a:txBody>
                  <a:tcPr marL="9525" marR="9525" marT="33147" marB="0"/>
                </a:tc>
                <a:tc>
                  <a:txBody>
                    <a:bodyPr/>
                    <a:lstStyle/>
                    <a:p>
                      <a:pPr marL="8890" algn="ctr" rtl="0" fontAlgn="t" latinLnBrk="0">
                        <a:spcBef>
                          <a:spcPts val="295"/>
                        </a:spcBef>
                        <a:spcAft>
                          <a:spcPts val="0"/>
                        </a:spcAft>
                      </a:pPr>
                      <a:r>
                        <a:rPr lang="en-US" sz="600" spc="0">
                          <a:effectLst/>
                        </a:rPr>
                        <a:t>WEDNESDAY</a:t>
                      </a:r>
                      <a:endParaRPr lang="en-US" sz="1800">
                        <a:effectLst/>
                      </a:endParaRPr>
                    </a:p>
                  </a:txBody>
                  <a:tcPr marL="9525" marR="9525" marT="33147" marB="0"/>
                </a:tc>
                <a:tc>
                  <a:txBody>
                    <a:bodyPr/>
                    <a:lstStyle/>
                    <a:p>
                      <a:pPr marL="0" algn="ctr" rtl="0" fontAlgn="t" latinLnBrk="0">
                        <a:spcBef>
                          <a:spcPts val="295"/>
                        </a:spcBef>
                        <a:spcAft>
                          <a:spcPts val="0"/>
                        </a:spcAft>
                      </a:pPr>
                      <a:r>
                        <a:rPr lang="en-US" sz="600" spc="0">
                          <a:effectLst/>
                        </a:rPr>
                        <a:t>THURSDAY</a:t>
                      </a:r>
                      <a:endParaRPr lang="en-US" sz="1800">
                        <a:effectLst/>
                      </a:endParaRPr>
                    </a:p>
                  </a:txBody>
                  <a:tcPr marL="9525" marR="9525" marT="33147" marB="0"/>
                </a:tc>
                <a:tc>
                  <a:txBody>
                    <a:bodyPr/>
                    <a:lstStyle/>
                    <a:p>
                      <a:pPr marL="17780" algn="ctr" rtl="0" fontAlgn="t" latinLnBrk="0">
                        <a:spcBef>
                          <a:spcPts val="295"/>
                        </a:spcBef>
                        <a:spcAft>
                          <a:spcPts val="0"/>
                        </a:spcAft>
                      </a:pPr>
                      <a:r>
                        <a:rPr lang="en-US" sz="600" spc="0">
                          <a:effectLst/>
                        </a:rPr>
                        <a:t>FRIDAY</a:t>
                      </a:r>
                      <a:endParaRPr lang="en-US" sz="1800">
                        <a:effectLst/>
                      </a:endParaRPr>
                    </a:p>
                  </a:txBody>
                  <a:tcPr marL="9525" marR="9525" marT="33147" marB="0"/>
                </a:tc>
                <a:tc>
                  <a:txBody>
                    <a:bodyPr/>
                    <a:lstStyle/>
                    <a:p>
                      <a:pPr marL="36195" algn="ctr" rtl="0" fontAlgn="t" latinLnBrk="0">
                        <a:spcBef>
                          <a:spcPts val="295"/>
                        </a:spcBef>
                        <a:spcAft>
                          <a:spcPts val="0"/>
                        </a:spcAft>
                      </a:pPr>
                      <a:r>
                        <a:rPr lang="en-US" sz="600" spc="0">
                          <a:effectLst/>
                        </a:rPr>
                        <a:t>SATURDAY</a:t>
                      </a:r>
                      <a:endParaRPr lang="en-US" sz="1800">
                        <a:effectLst/>
                      </a:endParaRPr>
                    </a:p>
                  </a:txBody>
                  <a:tcPr marL="9525" marR="9525" marT="33147" marB="0"/>
                </a:tc>
                <a:extLst>
                  <a:ext uri="{0D108BD9-81ED-4DB2-BD59-A6C34878D82A}">
                    <a16:rowId xmlns:a16="http://schemas.microsoft.com/office/drawing/2014/main" val="3509082617"/>
                  </a:ext>
                </a:extLst>
              </a:tr>
              <a:tr h="1126127">
                <a:tc>
                  <a:txBody>
                    <a:bodyPr/>
                    <a:lstStyle/>
                    <a:p>
                      <a:pPr lvl="0" algn="ctr">
                        <a:lnSpc>
                          <a:spcPct val="100000"/>
                        </a:lnSpc>
                        <a:spcBef>
                          <a:spcPts val="0"/>
                        </a:spcBef>
                        <a:spcAft>
                          <a:spcPts val="0"/>
                        </a:spcAft>
                        <a:buNone/>
                      </a:pPr>
                      <a:endParaRPr lang="en-US" sz="600" b="0" i="0" u="none" strike="noStrike" noProof="0">
                        <a:solidFill>
                          <a:schemeClr val="bg1"/>
                        </a:solidFill>
                      </a:endParaRPr>
                    </a:p>
                    <a:p>
                      <a:pPr lvl="0" algn="ctr">
                        <a:lnSpc>
                          <a:spcPct val="100000"/>
                        </a:lnSpc>
                        <a:spcBef>
                          <a:spcPts val="0"/>
                        </a:spcBef>
                        <a:spcAft>
                          <a:spcPts val="0"/>
                        </a:spcAft>
                        <a:buNone/>
                      </a:pPr>
                      <a:endParaRPr lang="en-US" sz="600" b="0" i="0" u="none" strike="noStrike" noProof="0">
                        <a:solidFill>
                          <a:schemeClr val="bg1"/>
                        </a:solidFill>
                      </a:endParaRPr>
                    </a:p>
                  </a:txBody>
                  <a:tcPr marL="9524" marR="9524" marT="80772" marB="0"/>
                </a:tc>
                <a:tc>
                  <a:txBody>
                    <a:bodyPr/>
                    <a:lstStyle/>
                    <a:p>
                      <a:pPr marL="63500" lvl="0" algn="ctr">
                        <a:spcBef>
                          <a:spcPts val="310"/>
                        </a:spcBef>
                        <a:spcAft>
                          <a:spcPts val="0"/>
                        </a:spcAft>
                        <a:buNone/>
                      </a:pPr>
                      <a:endParaRPr lang="en-US" sz="600" b="0" i="0" u="none" strike="noStrike" spc="0" noProof="0">
                        <a:solidFill>
                          <a:schemeClr val="bg1"/>
                        </a:solidFill>
                        <a:effectLst/>
                      </a:endParaRPr>
                    </a:p>
                    <a:p>
                      <a:pPr marL="63500" lvl="0" algn="ctr">
                        <a:spcBef>
                          <a:spcPts val="310"/>
                        </a:spcBef>
                        <a:spcAft>
                          <a:spcPts val="0"/>
                        </a:spcAft>
                        <a:buNone/>
                      </a:pPr>
                      <a:endParaRPr lang="en-US" sz="600" b="0" i="0" u="none" strike="noStrike" spc="0" noProof="0">
                        <a:solidFill>
                          <a:schemeClr val="bg1"/>
                        </a:solidFill>
                        <a:effectLst/>
                      </a:endParaRPr>
                    </a:p>
                    <a:p>
                      <a:pPr marL="63500" lvl="0" algn="ctr">
                        <a:spcBef>
                          <a:spcPts val="310"/>
                        </a:spcBef>
                        <a:spcAft>
                          <a:spcPts val="0"/>
                        </a:spcAft>
                        <a:buNone/>
                      </a:pPr>
                      <a:endParaRPr lang="en-US" sz="600" b="0" i="0" u="none" strike="noStrike" spc="0" noProof="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b="0" i="0" u="none" strike="noStrike" spc="0" noProof="0">
                        <a:solidFill>
                          <a:schemeClr val="bg1"/>
                        </a:solidFill>
                        <a:effectLst/>
                      </a:endParaRPr>
                    </a:p>
                  </a:txBody>
                  <a:tcPr marL="9525" marR="9525" marT="80772" marB="0"/>
                </a:tc>
                <a:tc>
                  <a:txBody>
                    <a:bodyPr/>
                    <a:lstStyle/>
                    <a:p>
                      <a:pPr marL="63500" lvl="0" algn="ctr">
                        <a:spcBef>
                          <a:spcPts val="310"/>
                        </a:spcBef>
                        <a:spcAft>
                          <a:spcPts val="0"/>
                        </a:spcAft>
                        <a:buNone/>
                      </a:pPr>
                      <a:endParaRPr lang="en-US" sz="600" b="0" i="0" u="none" strike="noStrike" spc="0" noProof="0">
                        <a:solidFill>
                          <a:schemeClr val="bg1"/>
                        </a:solidFill>
                        <a:effectLst/>
                      </a:endParaRPr>
                    </a:p>
                    <a:p>
                      <a:pPr marL="63500" lvl="0" algn="ctr">
                        <a:spcBef>
                          <a:spcPts val="310"/>
                        </a:spcBef>
                        <a:spcAft>
                          <a:spcPts val="0"/>
                        </a:spcAft>
                        <a:buNone/>
                      </a:pPr>
                      <a:endParaRPr lang="en-US" sz="600" b="0" i="0" u="none" strike="noStrike" spc="0" noProof="0">
                        <a:solidFill>
                          <a:schemeClr val="bg1"/>
                        </a:solidFill>
                        <a:effectLst/>
                      </a:endParaRPr>
                    </a:p>
                  </a:txBody>
                  <a:tcPr marL="9525" marR="9525" marT="80772" marB="0"/>
                </a:tc>
                <a:tc>
                  <a:txBody>
                    <a:bodyPr/>
                    <a:lstStyle/>
                    <a:p>
                      <a:pPr lvl="0" algn="ctr">
                        <a:lnSpc>
                          <a:spcPct val="100000"/>
                        </a:lnSpc>
                        <a:spcBef>
                          <a:spcPts val="0"/>
                        </a:spcBef>
                        <a:spcAft>
                          <a:spcPts val="0"/>
                        </a:spcAft>
                        <a:buNone/>
                      </a:pPr>
                      <a:endParaRPr lang="en-US" sz="600" b="0" i="0" u="none" strike="noStrike" spc="0" noProof="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r>
                        <a:rPr lang="en-US" sz="600" b="0" i="0" u="none" strike="noStrike" spc="0" noProof="0">
                          <a:solidFill>
                            <a:schemeClr val="bg1"/>
                          </a:solidFill>
                          <a:effectLst/>
                        </a:rPr>
                        <a:t>1</a:t>
                      </a:r>
                      <a:endParaRPr lang="en-US"/>
                    </a:p>
                    <a:p>
                      <a:pPr marL="63500" lvl="0" algn="ctr">
                        <a:spcBef>
                          <a:spcPts val="310"/>
                        </a:spcBef>
                        <a:spcAft>
                          <a:spcPts val="0"/>
                        </a:spcAft>
                        <a:buNone/>
                      </a:pPr>
                      <a:r>
                        <a:rPr lang="en-US" sz="600" b="0" i="0" u="none" strike="noStrike" spc="0" noProof="0">
                          <a:solidFill>
                            <a:srgbClr val="2D2926"/>
                          </a:solidFill>
                          <a:effectLst/>
                          <a:latin typeface="Century Gothic"/>
                        </a:rPr>
                        <a:t>AF360 CHALLENGE</a:t>
                      </a:r>
                    </a:p>
                    <a:p>
                      <a:pPr marL="63500" lvl="0" algn="ctr">
                        <a:spcBef>
                          <a:spcPts val="310"/>
                        </a:spcBef>
                        <a:spcAft>
                          <a:spcPts val="0"/>
                        </a:spcAft>
                        <a:buNone/>
                      </a:pPr>
                      <a:r>
                        <a:rPr lang="en-US" sz="600" b="0" i="0" u="none" strike="noStrike" spc="0" noProof="0">
                          <a:solidFill>
                            <a:srgbClr val="2D2926"/>
                          </a:solidFill>
                          <a:effectLst/>
                          <a:latin typeface="Century Gothic"/>
                        </a:rPr>
                        <a:t>Share some successes from the challenge! Member wins, new PRs, etc.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p>
                    <a:p>
                      <a:pPr marL="63500" lvl="0" algn="ctr">
                        <a:spcBef>
                          <a:spcPts val="310"/>
                        </a:spcBef>
                        <a:spcAft>
                          <a:spcPts val="0"/>
                        </a:spcAft>
                        <a:buNone/>
                      </a:pPr>
                      <a:r>
                        <a:rPr lang="en-US" sz="600" b="0" i="0" u="none" strike="noStrike" spc="0" noProof="0" dirty="0">
                          <a:solidFill>
                            <a:schemeClr val="bg1"/>
                          </a:solidFill>
                          <a:effectLst/>
                        </a:rPr>
                        <a:t>COLLEGE FOOTBALL SHOWDOWN</a:t>
                      </a:r>
                    </a:p>
                    <a:p>
                      <a:pPr marL="63500" lvl="0" algn="ctr">
                        <a:spcBef>
                          <a:spcPts val="310"/>
                        </a:spcBef>
                        <a:spcAft>
                          <a:spcPts val="0"/>
                        </a:spcAft>
                        <a:buNone/>
                      </a:pPr>
                      <a:r>
                        <a:rPr lang="en-US" sz="600" b="0" i="0" u="none" strike="noStrike" spc="0" noProof="0" dirty="0">
                          <a:solidFill>
                            <a:schemeClr val="bg1"/>
                          </a:solidFill>
                          <a:effectLst/>
                        </a:rPr>
                        <a:t>CFB is in full swing and allegiances to teams span states. Have members compete to find out the top three teams in your gym. Encourage members to wear their gear into the gym to cheer on their team or compete in a specific movement challenge! Record and share. </a:t>
                      </a:r>
                    </a:p>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extLst>
                  <a:ext uri="{0D108BD9-81ED-4DB2-BD59-A6C34878D82A}">
                    <a16:rowId xmlns:a16="http://schemas.microsoft.com/office/drawing/2014/main" val="4038034110"/>
                  </a:ext>
                </a:extLst>
              </a:tr>
              <a:tr h="1275212">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3</a:t>
                      </a:r>
                    </a:p>
                    <a:p>
                      <a:pPr marL="63500" marR="0" lvl="0" indent="0" algn="ctr">
                        <a:spcBef>
                          <a:spcPts val="310"/>
                        </a:spcBef>
                        <a:spcAft>
                          <a:spcPts val="0"/>
                        </a:spcAft>
                        <a:buNone/>
                      </a:pPr>
                      <a:r>
                        <a:rPr lang="en-US" sz="600" b="0" i="0" u="none" strike="noStrike" spc="0" noProof="0" dirty="0">
                          <a:solidFill>
                            <a:schemeClr val="bg1"/>
                          </a:solidFill>
                          <a:effectLst/>
                        </a:rPr>
                        <a:t>DAYLIGHT SAVINGS</a:t>
                      </a:r>
                    </a:p>
                    <a:p>
                      <a:pPr marL="63500" marR="0" lvl="0" indent="0" algn="ctr">
                        <a:spcBef>
                          <a:spcPts val="310"/>
                        </a:spcBef>
                        <a:spcAft>
                          <a:spcPts val="0"/>
                        </a:spcAft>
                        <a:buNone/>
                      </a:pPr>
                      <a:r>
                        <a:rPr lang="en-US" sz="600" b="0" i="0" u="none" strike="noStrike" spc="0" noProof="0" dirty="0" err="1">
                          <a:solidFill>
                            <a:schemeClr val="bg1"/>
                          </a:solidFill>
                          <a:effectLst/>
                        </a:rPr>
                        <a:t>Falllll</a:t>
                      </a:r>
                      <a:r>
                        <a:rPr lang="en-US" sz="600" b="0" i="0" u="none" strike="noStrike" spc="0" noProof="0" dirty="0">
                          <a:solidFill>
                            <a:schemeClr val="bg1"/>
                          </a:solidFill>
                          <a:effectLst/>
                        </a:rPr>
                        <a:t> back to sleep—you get an extra hour of shut eye and can awake refreshed! Share tips on how to get your body to accept this new change!</a:t>
                      </a:r>
                    </a:p>
                  </a:txBody>
                  <a:tcPr marL="9525" marR="9525" marT="80772" marB="0"/>
                </a:tc>
                <a:tc>
                  <a:txBody>
                    <a:bodyPr/>
                    <a:lstStyle/>
                    <a:p>
                      <a:pPr marL="63500" lvl="0" algn="ctr" rtl="0">
                        <a:spcBef>
                          <a:spcPts val="310"/>
                        </a:spcBef>
                        <a:spcAft>
                          <a:spcPts val="0"/>
                        </a:spcAft>
                        <a:buNone/>
                      </a:pPr>
                      <a:r>
                        <a:rPr lang="en-US" sz="600" b="0" spc="0">
                          <a:solidFill>
                            <a:schemeClr val="bg1"/>
                          </a:solidFill>
                          <a:effectLst/>
                        </a:rPr>
                        <a:t>4</a:t>
                      </a:r>
                    </a:p>
                    <a:p>
                      <a:pPr marL="63500" lvl="0" algn="ctr">
                        <a:spcBef>
                          <a:spcPts val="310"/>
                        </a:spcBef>
                        <a:spcAft>
                          <a:spcPts val="0"/>
                        </a:spcAft>
                        <a:buNone/>
                      </a:pPr>
                      <a:r>
                        <a:rPr lang="en-US" sz="600" b="0" i="0" u="none" strike="noStrike" spc="0" noProof="0">
                          <a:solidFill>
                            <a:schemeClr val="bg1"/>
                          </a:solidFill>
                          <a:effectLst/>
                          <a:latin typeface="Century Gothic"/>
                        </a:rPr>
                        <a:t>CORE MUSCLES</a:t>
                      </a:r>
                    </a:p>
                    <a:p>
                      <a:pPr marL="63500" lvl="0" algn="ctr">
                        <a:spcBef>
                          <a:spcPts val="310"/>
                        </a:spcBef>
                        <a:spcAft>
                          <a:spcPts val="0"/>
                        </a:spcAft>
                        <a:buNone/>
                      </a:pPr>
                      <a:r>
                        <a:rPr lang="en-US" sz="600" b="0" i="0" u="none" strike="noStrike" spc="0" noProof="0">
                          <a:solidFill>
                            <a:schemeClr val="bg1"/>
                          </a:solidFill>
                          <a:effectLst/>
                          <a:latin typeface="Century Gothic"/>
                        </a:rPr>
                        <a:t>How can working your core benefit you in everyday life? Are washboard abs the only good outcome? Educate members on the importance of a strong core. </a:t>
                      </a:r>
                    </a:p>
                  </a:txBody>
                  <a:tcPr marL="9525" marR="9525" marT="80772" marB="0"/>
                </a:tc>
                <a:tc>
                  <a:txBody>
                    <a:bodyPr/>
                    <a:lstStyle/>
                    <a:p>
                      <a:pPr marL="63500" lvl="0" algn="ctr" rtl="0">
                        <a:spcBef>
                          <a:spcPts val="310"/>
                        </a:spcBef>
                        <a:spcAft>
                          <a:spcPts val="0"/>
                        </a:spcAft>
                        <a:buNone/>
                      </a:pPr>
                      <a:r>
                        <a:rPr lang="en-US" sz="600" spc="0">
                          <a:solidFill>
                            <a:schemeClr val="bg1"/>
                          </a:solidFill>
                          <a:effectLst/>
                        </a:rPr>
                        <a:t>5</a:t>
                      </a:r>
                      <a:endParaRPr lang="en-US"/>
                    </a:p>
                    <a:p>
                      <a:pPr marL="63500" lvl="0" algn="ctr">
                        <a:spcBef>
                          <a:spcPts val="310"/>
                        </a:spcBef>
                        <a:spcAft>
                          <a:spcPts val="0"/>
                        </a:spcAft>
                        <a:buNone/>
                      </a:pPr>
                      <a:r>
                        <a:rPr lang="en-US" sz="600" b="0" i="0" u="none" strike="noStrike" spc="0" noProof="0">
                          <a:solidFill>
                            <a:schemeClr val="bg1"/>
                          </a:solidFill>
                          <a:effectLst/>
                          <a:latin typeface="Century Gothic"/>
                        </a:rPr>
                        <a:t>ZEN FEELING</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a:solidFill>
                            <a:schemeClr val="bg1"/>
                          </a:solidFill>
                          <a:effectLst/>
                          <a:latin typeface="Century Gothic"/>
                        </a:rPr>
                        <a:t>Share ways to bring down stress and increase that zen feeling during this busy time of year.</a:t>
                      </a:r>
                      <a:endParaRPr lang="en-US"/>
                    </a:p>
                  </a:txBody>
                  <a:tcPr marL="9525" marR="9525" marT="80772" marB="0"/>
                </a:tc>
                <a:tc>
                  <a:txBody>
                    <a:bodyPr/>
                    <a:lstStyle/>
                    <a:p>
                      <a:pPr lvl="0" algn="ctr">
                        <a:lnSpc>
                          <a:spcPct val="100000"/>
                        </a:lnSpc>
                        <a:spcBef>
                          <a:spcPts val="0"/>
                        </a:spcBef>
                        <a:spcAft>
                          <a:spcPts val="0"/>
                        </a:spcAft>
                        <a:buNone/>
                      </a:pPr>
                      <a:r>
                        <a:rPr lang="en-US" sz="600" b="0" i="0" u="none" strike="noStrike" spc="0" noProof="0">
                          <a:solidFill>
                            <a:schemeClr val="bg1"/>
                          </a:solidFill>
                          <a:effectLst/>
                          <a:latin typeface="Century Gothic"/>
                        </a:rPr>
                        <a:t>6</a:t>
                      </a:r>
                    </a:p>
                    <a:p>
                      <a:pPr marL="63500" lvl="0" algn="ctr">
                        <a:spcBef>
                          <a:spcPts val="310"/>
                        </a:spcBef>
                        <a:spcAft>
                          <a:spcPts val="0"/>
                        </a:spcAft>
                        <a:buNone/>
                      </a:pPr>
                      <a:r>
                        <a:rPr lang="en-US" sz="600" b="0" i="0" u="none" strike="noStrike" spc="0" noProof="0">
                          <a:solidFill>
                            <a:srgbClr val="2D2926"/>
                          </a:solidFill>
                          <a:effectLst/>
                        </a:rPr>
                        <a:t>NATIONAL BASKETBALL DAY</a:t>
                      </a:r>
                    </a:p>
                    <a:p>
                      <a:pPr marL="63500" lvl="0" algn="ctr">
                        <a:spcBef>
                          <a:spcPts val="310"/>
                        </a:spcBef>
                        <a:spcAft>
                          <a:spcPts val="0"/>
                        </a:spcAft>
                        <a:buNone/>
                      </a:pPr>
                      <a:r>
                        <a:rPr lang="en-US" sz="600" b="0" i="0" u="none" strike="noStrike" spc="0" noProof="0">
                          <a:solidFill>
                            <a:srgbClr val="2D2926"/>
                          </a:solidFill>
                          <a:effectLst/>
                        </a:rPr>
                        <a:t>Have a committed group of hoopers who work out at your gym? Or maybe you’re an NBA/NCAA fan yourself! Showcase a basketball related workout or go for a warmup angle!</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7</a:t>
                      </a:r>
                    </a:p>
                    <a:p>
                      <a:pPr marL="63500" lvl="0" algn="ctr">
                        <a:spcBef>
                          <a:spcPts val="310"/>
                        </a:spcBef>
                        <a:spcAft>
                          <a:spcPts val="0"/>
                        </a:spcAft>
                        <a:buNone/>
                      </a:pPr>
                      <a:r>
                        <a:rPr lang="en-US" sz="600" b="0" i="0" u="none" strike="noStrike" spc="0" noProof="0" dirty="0">
                          <a:solidFill>
                            <a:schemeClr val="bg1"/>
                          </a:solidFill>
                          <a:effectLst/>
                          <a:latin typeface="Century Gothic"/>
                        </a:rPr>
                        <a:t>SESSIONS</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Share your session schedule! When and how can someone join in on the group fitness fun? Or share a Reel of a sneak peek for an upcoming session.</a:t>
                      </a:r>
                      <a:endParaRPr lang="en-US"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8</a:t>
                      </a:r>
                    </a:p>
                    <a:p>
                      <a:pPr marL="63500" lvl="0" algn="ctr">
                        <a:spcBef>
                          <a:spcPts val="310"/>
                        </a:spcBef>
                        <a:spcAft>
                          <a:spcPts val="0"/>
                        </a:spcAft>
                        <a:buNone/>
                      </a:pPr>
                      <a:r>
                        <a:rPr lang="en-US" sz="600" b="0" i="0" u="none" strike="noStrike" spc="0" noProof="0" dirty="0">
                          <a:solidFill>
                            <a:schemeClr val="bg1"/>
                          </a:solidFill>
                          <a:effectLst/>
                          <a:latin typeface="Century Gothic"/>
                        </a:rPr>
                        <a:t>#TRENDING</a:t>
                      </a:r>
                    </a:p>
                    <a:p>
                      <a:pPr marL="63500" lvl="0" algn="ctr">
                        <a:spcBef>
                          <a:spcPts val="310"/>
                        </a:spcBef>
                        <a:spcAft>
                          <a:spcPts val="0"/>
                        </a:spcAft>
                        <a:buNone/>
                      </a:pPr>
                      <a:r>
                        <a:rPr lang="en-US" sz="600" b="0" i="0" u="none" strike="noStrike" spc="0" noProof="0" dirty="0">
                          <a:solidFill>
                            <a:schemeClr val="bg1"/>
                          </a:solidFill>
                          <a:effectLst/>
                          <a:latin typeface="Century Gothic"/>
                        </a:rPr>
                        <a:t>It's Halloween season and lots of thing</a:t>
                      </a:r>
                      <a:br>
                        <a:rPr lang="en-US" sz="600" b="0" i="0" u="none" strike="noStrike" spc="0" noProof="0" dirty="0">
                          <a:solidFill>
                            <a:schemeClr val="bg1"/>
                          </a:solidFill>
                          <a:effectLst/>
                          <a:latin typeface="Century Gothic"/>
                        </a:rPr>
                      </a:br>
                      <a:r>
                        <a:rPr lang="en-US" sz="600" b="0" i="0" u="none" strike="noStrike" spc="0" noProof="0" dirty="0">
                          <a:solidFill>
                            <a:schemeClr val="bg1"/>
                          </a:solidFill>
                          <a:effectLst/>
                          <a:latin typeface="Century Gothic"/>
                        </a:rPr>
                        <a:t> are trending! Need inspiration? Open your Instagram app &gt; head to your account's professional dashboard and scroll down</a:t>
                      </a:r>
                      <a:br>
                        <a:rPr lang="en-US" sz="600" b="0" i="0" u="none" strike="noStrike" spc="0" noProof="0" dirty="0">
                          <a:solidFill>
                            <a:schemeClr val="bg1"/>
                          </a:solidFill>
                          <a:effectLst/>
                          <a:latin typeface="Century Gothic"/>
                        </a:rPr>
                      </a:br>
                      <a:r>
                        <a:rPr lang="en-US" sz="600" b="0" i="0" u="none" strike="noStrike" spc="0" noProof="0" dirty="0">
                          <a:solidFill>
                            <a:schemeClr val="bg1"/>
                          </a:solidFill>
                          <a:effectLst/>
                          <a:latin typeface="Century Gothic"/>
                        </a:rPr>
                        <a:t>to "Tips and Resources" where you can see trending audios and what people are</a:t>
                      </a:r>
                      <a:br>
                        <a:rPr lang="en-US" sz="600" b="0" i="0" u="none" strike="noStrike" spc="0" noProof="0" dirty="0">
                          <a:solidFill>
                            <a:schemeClr val="bg1"/>
                          </a:solidFill>
                          <a:effectLst/>
                          <a:latin typeface="Century Gothic"/>
                        </a:rPr>
                      </a:br>
                      <a:r>
                        <a:rPr lang="en-US" sz="600" b="0" i="0" u="none" strike="noStrike" spc="0" noProof="0" dirty="0">
                          <a:solidFill>
                            <a:schemeClr val="bg1"/>
                          </a:solidFill>
                          <a:effectLst/>
                          <a:latin typeface="Century Gothic"/>
                        </a:rPr>
                        <a:t>using the songs for!</a:t>
                      </a:r>
                    </a:p>
                  </a:txBody>
                  <a:tcPr marL="9525" marR="9525" marT="80772" marB="0"/>
                </a:tc>
                <a:tc>
                  <a:txBody>
                    <a:bodyPr/>
                    <a:lstStyle/>
                    <a:p>
                      <a:pPr marL="63500" lvl="0" algn="ctr">
                        <a:spcBef>
                          <a:spcPts val="310"/>
                        </a:spcBef>
                        <a:spcAft>
                          <a:spcPts val="0"/>
                        </a:spcAft>
                        <a:buNone/>
                      </a:pPr>
                      <a:r>
                        <a:rPr lang="en-US" sz="600" b="0" i="0" u="none" strike="noStrike" spc="0" noProof="0">
                          <a:solidFill>
                            <a:schemeClr val="bg1"/>
                          </a:solidFill>
                          <a:effectLst/>
                          <a:latin typeface="Century Gothic"/>
                        </a:rPr>
                        <a:t>9</a:t>
                      </a:r>
                    </a:p>
                    <a:p>
                      <a:pPr marL="63500" lvl="0" algn="ctr">
                        <a:spcBef>
                          <a:spcPts val="310"/>
                        </a:spcBef>
                        <a:spcAft>
                          <a:spcPts val="0"/>
                        </a:spcAft>
                        <a:buNone/>
                      </a:pPr>
                      <a:r>
                        <a:rPr lang="en-US" sz="600" b="0" i="0" u="none" strike="noStrike" spc="0" noProof="0">
                          <a:solidFill>
                            <a:schemeClr val="bg1"/>
                          </a:solidFill>
                          <a:effectLst/>
                          <a:latin typeface="Century Gothic"/>
                        </a:rPr>
                        <a:t>RECOVERY</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a:solidFill>
                            <a:schemeClr val="bg1"/>
                          </a:solidFill>
                          <a:effectLst/>
                          <a:latin typeface="Century Gothic"/>
                        </a:rPr>
                        <a:t>Share a way to recover in the gym- whether you have a percussion tools or a simple foam roller. How can members recover in the gym? </a:t>
                      </a:r>
                      <a:endParaRPr lang="en-US"/>
                    </a:p>
                  </a:txBody>
                  <a:tcPr marL="9525" marR="9525" marT="80772" marB="0"/>
                </a:tc>
                <a:extLst>
                  <a:ext uri="{0D108BD9-81ED-4DB2-BD59-A6C34878D82A}">
                    <a16:rowId xmlns:a16="http://schemas.microsoft.com/office/drawing/2014/main" val="4289451183"/>
                  </a:ext>
                </a:extLst>
              </a:tr>
              <a:tr h="1026341">
                <a:tc>
                  <a:txBody>
                    <a:bodyPr/>
                    <a:lstStyle/>
                    <a:p>
                      <a:pPr marL="63500" lvl="0" algn="ctr" rtl="0">
                        <a:spcBef>
                          <a:spcPts val="310"/>
                        </a:spcBef>
                        <a:spcAft>
                          <a:spcPts val="0"/>
                        </a:spcAft>
                        <a:buNone/>
                      </a:pPr>
                      <a:r>
                        <a:rPr lang="en-US" sz="600" u="none" spc="0">
                          <a:solidFill>
                            <a:schemeClr val="bg1"/>
                          </a:solidFill>
                          <a:effectLst/>
                        </a:rPr>
                        <a:t>10</a:t>
                      </a:r>
                    </a:p>
                    <a:p>
                      <a:pPr lvl="0" algn="ctr">
                        <a:lnSpc>
                          <a:spcPct val="100000"/>
                        </a:lnSpc>
                        <a:spcBef>
                          <a:spcPts val="0"/>
                        </a:spcBef>
                        <a:spcAft>
                          <a:spcPts val="0"/>
                        </a:spcAft>
                        <a:buNone/>
                      </a:pPr>
                      <a:r>
                        <a:rPr lang="en-US" sz="600" b="0" i="0" u="none" strike="noStrike" spc="0" noProof="0">
                          <a:solidFill>
                            <a:schemeClr val="bg1"/>
                          </a:solidFill>
                          <a:effectLst/>
                          <a:latin typeface="Century Gothic"/>
                        </a:rPr>
                        <a:t>SUNDAY RESET</a:t>
                      </a:r>
                      <a:endParaRPr lang="en-US" sz="600" b="0" i="0" u="none" strike="noStrike" spc="0" noProof="0">
                        <a:solidFill>
                          <a:srgbClr val="2D2926"/>
                        </a:solidFill>
                        <a:effectLst/>
                        <a:latin typeface="Century Gothic"/>
                      </a:endParaRPr>
                    </a:p>
                    <a:p>
                      <a:pPr lvl="0" algn="ctr">
                        <a:lnSpc>
                          <a:spcPct val="100000"/>
                        </a:lnSpc>
                        <a:spcBef>
                          <a:spcPts val="0"/>
                        </a:spcBef>
                        <a:spcAft>
                          <a:spcPts val="0"/>
                        </a:spcAft>
                        <a:buNone/>
                      </a:pPr>
                      <a:r>
                        <a:rPr lang="en-US" sz="600" b="0" i="0" u="none" strike="noStrike" spc="0" noProof="0">
                          <a:solidFill>
                            <a:schemeClr val="bg1"/>
                          </a:solidFill>
                          <a:effectLst/>
                          <a:latin typeface="Century Gothic"/>
                        </a:rPr>
                        <a:t>What are ways you set yourself up for success during the week? Share tips and tricks for followers to use! This is a great Story post.</a:t>
                      </a:r>
                      <a:endParaRPr lang="en-US"/>
                    </a:p>
                  </a:txBody>
                  <a:tcPr marL="9525" marR="9525" marT="80772" marB="0"/>
                </a:tc>
                <a:tc>
                  <a:txBody>
                    <a:bodyPr/>
                    <a:lstStyle/>
                    <a:p>
                      <a:pPr marL="63500" marR="0" lvl="0" indent="0" algn="ctr" rtl="0">
                        <a:spcBef>
                          <a:spcPts val="310"/>
                        </a:spcBef>
                        <a:spcAft>
                          <a:spcPts val="0"/>
                        </a:spcAft>
                        <a:buNone/>
                      </a:pPr>
                      <a:r>
                        <a:rPr lang="en-US" sz="600" b="0" i="0" u="none" strike="noStrike" spc="0" noProof="0">
                          <a:solidFill>
                            <a:schemeClr val="bg1"/>
                          </a:solidFill>
                          <a:effectLst/>
                        </a:rPr>
                        <a:t>11</a:t>
                      </a:r>
                      <a:endParaRPr lang="en-US"/>
                    </a:p>
                    <a:p>
                      <a:pPr marL="63500" lvl="0" algn="ctr">
                        <a:spcBef>
                          <a:spcPts val="310"/>
                        </a:spcBef>
                        <a:spcAft>
                          <a:spcPts val="0"/>
                        </a:spcAft>
                        <a:buNone/>
                      </a:pPr>
                      <a:r>
                        <a:rPr lang="en-US" sz="600" b="0" i="0" u="none" strike="noStrike" spc="0" noProof="0">
                          <a:solidFill>
                            <a:schemeClr val="bg1"/>
                          </a:solidFill>
                          <a:effectLst/>
                        </a:rPr>
                        <a:t>UPPER BODY WORKOUT</a:t>
                      </a:r>
                      <a:endParaRPr lang="en-US"/>
                    </a:p>
                    <a:p>
                      <a:pPr marL="63500" lvl="0" algn="ctr">
                        <a:spcBef>
                          <a:spcPts val="310"/>
                        </a:spcBef>
                        <a:spcAft>
                          <a:spcPts val="0"/>
                        </a:spcAft>
                        <a:buNone/>
                      </a:pPr>
                      <a:r>
                        <a:rPr lang="en-US" sz="600" b="0" i="0" u="none" strike="noStrike" spc="0" noProof="0">
                          <a:solidFill>
                            <a:schemeClr val="bg1"/>
                          </a:solidFill>
                          <a:effectLst/>
                        </a:rPr>
                        <a:t>Share a carousel of 5 movements users can use for an upper body workout. Or poll members in the gym one what their favorite upper body workout movement is and then showcase how to perform them!</a:t>
                      </a:r>
                      <a:endParaRPr lang="en-US"/>
                    </a:p>
                  </a:txBody>
                  <a:tcPr marL="9525" marR="9525" marT="80772" marB="0"/>
                </a:tc>
                <a:tc>
                  <a:txBody>
                    <a:bodyPr/>
                    <a:lstStyle/>
                    <a:p>
                      <a:pPr marL="63500" lvl="0" algn="ctr" rtl="0">
                        <a:spcBef>
                          <a:spcPts val="310"/>
                        </a:spcBef>
                        <a:spcAft>
                          <a:spcPts val="0"/>
                        </a:spcAft>
                        <a:buNone/>
                      </a:pPr>
                      <a:r>
                        <a:rPr lang="en-US" sz="600" spc="0">
                          <a:solidFill>
                            <a:schemeClr val="bg1"/>
                          </a:solidFill>
                          <a:effectLst/>
                        </a:rPr>
                        <a:t>12</a:t>
                      </a:r>
                      <a:endParaRPr lang="en-US"/>
                    </a:p>
                    <a:p>
                      <a:pPr marL="63500" lvl="0" algn="ctr">
                        <a:spcBef>
                          <a:spcPts val="310"/>
                        </a:spcBef>
                        <a:spcAft>
                          <a:spcPts val="0"/>
                        </a:spcAft>
                        <a:buNone/>
                      </a:pPr>
                      <a:r>
                        <a:rPr lang="en-US" sz="600" b="0" i="0" u="none" strike="noStrike" spc="0" noProof="0">
                          <a:solidFill>
                            <a:srgbClr val="2D2926"/>
                          </a:solidFill>
                          <a:effectLst/>
                          <a:latin typeface="Century Gothic"/>
                        </a:rPr>
                        <a:t>WARM IT UP</a:t>
                      </a:r>
                    </a:p>
                    <a:p>
                      <a:pPr marL="63500" lvl="0" algn="ctr">
                        <a:spcBef>
                          <a:spcPts val="310"/>
                        </a:spcBef>
                        <a:spcAft>
                          <a:spcPts val="0"/>
                        </a:spcAft>
                        <a:buNone/>
                      </a:pPr>
                      <a:r>
                        <a:rPr lang="en-US" sz="600" b="0" i="0" u="none" strike="noStrike" spc="0" noProof="0">
                          <a:solidFill>
                            <a:srgbClr val="2D2926"/>
                          </a:solidFill>
                          <a:effectLst/>
                          <a:latin typeface="Century Gothic"/>
                        </a:rPr>
                        <a:t>As the fall weather continues, what are ways to avoid injuries before hitting the gym? Share some warmup drills members can use to get ready for their workout. </a:t>
                      </a:r>
                    </a:p>
                  </a:txBody>
                  <a:tcPr marL="9525" marR="9525" marT="80772" marB="0"/>
                </a:tc>
                <a:tc>
                  <a:txBody>
                    <a:bodyPr/>
                    <a:lstStyle/>
                    <a:p>
                      <a:pPr marL="63500" lvl="0" algn="ctr" rtl="0">
                        <a:spcBef>
                          <a:spcPts val="310"/>
                        </a:spcBef>
                        <a:spcAft>
                          <a:spcPts val="0"/>
                        </a:spcAft>
                        <a:buNone/>
                      </a:pPr>
                      <a:r>
                        <a:rPr lang="en-US" sz="600" spc="0">
                          <a:solidFill>
                            <a:schemeClr val="bg1"/>
                          </a:solidFill>
                          <a:effectLst/>
                        </a:rPr>
                        <a:t>13</a:t>
                      </a:r>
                    </a:p>
                    <a:p>
                      <a:pPr marL="63500" lvl="0" algn="ctr">
                        <a:spcBef>
                          <a:spcPts val="310"/>
                        </a:spcBef>
                        <a:spcAft>
                          <a:spcPts val="0"/>
                        </a:spcAft>
                        <a:buNone/>
                      </a:pPr>
                      <a:r>
                        <a:rPr lang="en-US" sz="600" b="0" i="0" u="none" strike="noStrike" spc="0" noProof="0">
                          <a:solidFill>
                            <a:schemeClr val="bg1"/>
                          </a:solidFill>
                          <a:effectLst/>
                          <a:latin typeface="Century Gothic"/>
                        </a:rPr>
                        <a:t>MUSIC</a:t>
                      </a:r>
                    </a:p>
                    <a:p>
                      <a:pPr marL="63500" lvl="0" algn="ctr">
                        <a:spcBef>
                          <a:spcPts val="310"/>
                        </a:spcBef>
                        <a:spcAft>
                          <a:spcPts val="0"/>
                        </a:spcAft>
                        <a:buNone/>
                      </a:pPr>
                      <a:r>
                        <a:rPr lang="en-US" sz="600" b="0" i="0" u="none" strike="noStrike" spc="0" noProof="0">
                          <a:solidFill>
                            <a:schemeClr val="bg1"/>
                          </a:solidFill>
                          <a:effectLst/>
                          <a:latin typeface="Century Gothic"/>
                        </a:rPr>
                        <a:t>What music do your patrons want to hear? Put a question sticker on your story to collect ideas!</a:t>
                      </a:r>
                    </a:p>
                  </a:txBody>
                  <a:tcPr marL="9525" marR="9525" marT="80772" marB="0"/>
                </a:tc>
                <a:tc>
                  <a:txBody>
                    <a:bodyPr/>
                    <a:lstStyle/>
                    <a:p>
                      <a:pPr marL="63500" lvl="0" algn="ctr">
                        <a:spcBef>
                          <a:spcPts val="310"/>
                        </a:spcBef>
                        <a:spcAft>
                          <a:spcPts val="0"/>
                        </a:spcAft>
                        <a:buNone/>
                      </a:pPr>
                      <a:r>
                        <a:rPr lang="en-US" sz="600" b="0" i="0" u="none" strike="noStrike" spc="0" noProof="0">
                          <a:solidFill>
                            <a:schemeClr val="bg1"/>
                          </a:solidFill>
                          <a:effectLst/>
                          <a:latin typeface="Century Gothic"/>
                        </a:rPr>
                        <a:t>14</a:t>
                      </a:r>
                      <a:endParaRPr lang="en-US" sz="600" b="0" i="0" u="none" strike="noStrike" spc="0" noProof="0">
                        <a:solidFill>
                          <a:srgbClr val="2D2926"/>
                        </a:solidFill>
                        <a:effectLst/>
                      </a:endParaRPr>
                    </a:p>
                    <a:p>
                      <a:pPr marL="63500" lvl="0" algn="ctr">
                        <a:spcBef>
                          <a:spcPts val="310"/>
                        </a:spcBef>
                        <a:spcAft>
                          <a:spcPts val="0"/>
                        </a:spcAft>
                        <a:buNone/>
                      </a:pPr>
                      <a:r>
                        <a:rPr lang="en-US" sz="600" b="0" i="0" u="none" strike="noStrike" spc="0" noProof="0">
                          <a:solidFill>
                            <a:schemeClr val="bg1"/>
                          </a:solidFill>
                          <a:effectLst/>
                          <a:latin typeface="Century Gothic"/>
                        </a:rPr>
                        <a:t>ACTIVE RECOVERY</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a:solidFill>
                            <a:schemeClr val="bg1"/>
                          </a:solidFill>
                          <a:effectLst/>
                          <a:latin typeface="Century Gothic"/>
                        </a:rPr>
                        <a:t>What is active recovery? Why should I do active recovery? Share tips or routines members can use for active recovery options. </a:t>
                      </a:r>
                      <a:endParaRPr lang="en-US"/>
                    </a:p>
                  </a:txBody>
                  <a:tcPr marL="9525" marR="9525" marT="80772" marB="0"/>
                </a:tc>
                <a:tc>
                  <a:txBody>
                    <a:bodyPr/>
                    <a:lstStyle/>
                    <a:p>
                      <a:pPr marL="63500" lvl="0" algn="ctr">
                        <a:spcBef>
                          <a:spcPts val="310"/>
                        </a:spcBef>
                        <a:spcAft>
                          <a:spcPts val="0"/>
                        </a:spcAft>
                        <a:buNone/>
                      </a:pPr>
                      <a:r>
                        <a:rPr lang="en-US" sz="600" b="0" i="0" u="none" strike="noStrike" spc="0" noProof="0">
                          <a:solidFill>
                            <a:schemeClr val="bg1"/>
                          </a:solidFill>
                          <a:effectLst/>
                        </a:rPr>
                        <a:t>15</a:t>
                      </a:r>
                    </a:p>
                    <a:p>
                      <a:pPr marL="63500" lvl="0" algn="ctr">
                        <a:spcBef>
                          <a:spcPts val="310"/>
                        </a:spcBef>
                        <a:spcAft>
                          <a:spcPts val="0"/>
                        </a:spcAft>
                        <a:buNone/>
                      </a:pPr>
                      <a:r>
                        <a:rPr lang="en-US" sz="600" b="0" i="0" u="none" strike="noStrike" spc="0" noProof="0">
                          <a:solidFill>
                            <a:srgbClr val="2D2926"/>
                          </a:solidFill>
                          <a:effectLst/>
                          <a:latin typeface="Century Gothic"/>
                        </a:rPr>
                        <a:t>AF360 CHALLENGE WINS</a:t>
                      </a:r>
                    </a:p>
                    <a:p>
                      <a:pPr marL="63500" lvl="0" algn="ctr">
                        <a:spcBef>
                          <a:spcPts val="310"/>
                        </a:spcBef>
                        <a:spcAft>
                          <a:spcPts val="0"/>
                        </a:spcAft>
                        <a:buNone/>
                      </a:pPr>
                      <a:r>
                        <a:rPr lang="en-US" sz="600" b="0" i="0" u="none" strike="noStrike" spc="0" noProof="0">
                          <a:solidFill>
                            <a:srgbClr val="2D2926"/>
                          </a:solidFill>
                          <a:effectLst/>
                          <a:latin typeface="Century Gothic"/>
                        </a:rPr>
                        <a:t>Share out your challenge superstars! What did they accomplish? What are their next goals to achieve? </a:t>
                      </a:r>
                      <a:endParaRPr lang="en-US"/>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p>
                    <a:p>
                      <a:pPr marL="63500" lvl="0" algn="ctr">
                        <a:spcBef>
                          <a:spcPts val="310"/>
                        </a:spcBef>
                        <a:spcAft>
                          <a:spcPts val="0"/>
                        </a:spcAft>
                        <a:buNone/>
                      </a:pPr>
                      <a:r>
                        <a:rPr lang="en-US" sz="600" b="0" i="0" u="none" strike="noStrike" spc="0" noProof="0" dirty="0">
                          <a:solidFill>
                            <a:schemeClr val="bg1"/>
                          </a:solidFill>
                          <a:effectLst/>
                        </a:rPr>
                        <a:t>SATURDAY WORKOUTS</a:t>
                      </a:r>
                    </a:p>
                    <a:p>
                      <a:pPr marL="63500" lvl="0" algn="ctr">
                        <a:spcBef>
                          <a:spcPts val="310"/>
                        </a:spcBef>
                        <a:spcAft>
                          <a:spcPts val="0"/>
                        </a:spcAft>
                        <a:buNone/>
                      </a:pPr>
                      <a:r>
                        <a:rPr lang="en-US" sz="600" b="0" i="0" u="none" strike="noStrike" spc="0" noProof="0" dirty="0">
                          <a:solidFill>
                            <a:schemeClr val="bg1"/>
                          </a:solidFill>
                          <a:effectLst/>
                        </a:rPr>
                        <a:t>What group training offerings do you have? Sessions? Highlight a workout or share a challenge!  </a:t>
                      </a:r>
                    </a:p>
                    <a:p>
                      <a:pPr marL="63500" lvl="0" algn="ctr">
                        <a:spcBef>
                          <a:spcPts val="310"/>
                        </a:spcBef>
                        <a:spcAft>
                          <a:spcPts val="0"/>
                        </a:spcAft>
                        <a:buNone/>
                      </a:pPr>
                      <a:endParaRPr lang="en-US" sz="600" b="0" i="0" u="none" strike="noStrike" spc="0" noProof="0" dirty="0">
                        <a:solidFill>
                          <a:srgbClr val="2D2926"/>
                        </a:solidFill>
                        <a:effectLst/>
                        <a:latin typeface="Century Gothic"/>
                      </a:endParaRPr>
                    </a:p>
                  </a:txBody>
                  <a:tcPr marL="9525" marR="9525" marT="80772" marB="0"/>
                </a:tc>
                <a:extLst>
                  <a:ext uri="{0D108BD9-81ED-4DB2-BD59-A6C34878D82A}">
                    <a16:rowId xmlns:a16="http://schemas.microsoft.com/office/drawing/2014/main" val="3005291295"/>
                  </a:ext>
                </a:extLst>
              </a:tr>
              <a:tr h="1224203">
                <a:tc>
                  <a:txBody>
                    <a:bodyPr/>
                    <a:lstStyle/>
                    <a:p>
                      <a:pPr marL="63500" lvl="0" algn="ctr" rtl="0">
                        <a:spcBef>
                          <a:spcPts val="310"/>
                        </a:spcBef>
                        <a:spcAft>
                          <a:spcPts val="0"/>
                        </a:spcAft>
                        <a:buNone/>
                      </a:pPr>
                      <a:r>
                        <a:rPr lang="en-US" sz="600" spc="0">
                          <a:solidFill>
                            <a:schemeClr val="bg1"/>
                          </a:solidFill>
                          <a:effectLst/>
                        </a:rPr>
                        <a:t>17</a:t>
                      </a:r>
                    </a:p>
                    <a:p>
                      <a:pPr marL="63500" lvl="0" algn="ctr">
                        <a:spcBef>
                          <a:spcPts val="310"/>
                        </a:spcBef>
                        <a:spcAft>
                          <a:spcPts val="0"/>
                        </a:spcAft>
                        <a:buNone/>
                      </a:pPr>
                      <a:r>
                        <a:rPr lang="en-US" sz="600" b="0" i="0" u="none" strike="noStrike" spc="0" noProof="0">
                          <a:solidFill>
                            <a:srgbClr val="2D2926"/>
                          </a:solidFill>
                          <a:effectLst/>
                          <a:latin typeface="Century Gothic"/>
                        </a:rPr>
                        <a:t>NUTRITION RECIPE</a:t>
                      </a:r>
                    </a:p>
                    <a:p>
                      <a:pPr marL="63500" lvl="0" algn="ctr">
                        <a:spcBef>
                          <a:spcPts val="310"/>
                        </a:spcBef>
                        <a:spcAft>
                          <a:spcPts val="0"/>
                        </a:spcAft>
                        <a:buNone/>
                      </a:pPr>
                      <a:r>
                        <a:rPr lang="en-US" sz="600" b="0" i="0" u="none" strike="noStrike" spc="0" noProof="0">
                          <a:solidFill>
                            <a:schemeClr val="bg1"/>
                          </a:solidFill>
                          <a:effectLst/>
                          <a:latin typeface="Century Gothic"/>
                        </a:rPr>
                        <a:t>Nutrition is a key part of the fitness journey! Share healthy swaps or a plus-up recipe for members to use! Perfect for grocery shopping Sunday's and meal prep options!</a:t>
                      </a:r>
                      <a:endParaRPr lang="en-US"/>
                    </a:p>
                    <a:p>
                      <a:pPr marL="63500" lvl="0" algn="ctr">
                        <a:spcBef>
                          <a:spcPts val="310"/>
                        </a:spcBef>
                        <a:spcAft>
                          <a:spcPts val="0"/>
                        </a:spcAft>
                        <a:buNone/>
                      </a:pPr>
                      <a:endParaRPr lang="en-US" sz="600" spc="0">
                        <a:solidFill>
                          <a:schemeClr val="bg1"/>
                        </a:solidFill>
                        <a:effectLst/>
                      </a:endParaRPr>
                    </a:p>
                  </a:txBody>
                  <a:tcPr marL="9525" marR="9525" marT="80772" marB="0"/>
                </a:tc>
                <a:tc>
                  <a:txBody>
                    <a:bodyPr/>
                    <a:lstStyle/>
                    <a:p>
                      <a:pPr marL="63500" lvl="0" algn="ctr" rtl="0">
                        <a:spcBef>
                          <a:spcPts val="310"/>
                        </a:spcBef>
                        <a:spcAft>
                          <a:spcPts val="0"/>
                        </a:spcAft>
                        <a:buNone/>
                      </a:pPr>
                      <a:r>
                        <a:rPr lang="en-US" sz="600" spc="0">
                          <a:solidFill>
                            <a:schemeClr val="bg1"/>
                          </a:solidFill>
                          <a:effectLst/>
                        </a:rPr>
                        <a:t>18</a:t>
                      </a:r>
                    </a:p>
                    <a:p>
                      <a:pPr marL="63500" lvl="0" algn="ctr">
                        <a:spcBef>
                          <a:spcPts val="310"/>
                        </a:spcBef>
                        <a:spcAft>
                          <a:spcPts val="0"/>
                        </a:spcAft>
                        <a:buNone/>
                      </a:pPr>
                      <a:r>
                        <a:rPr lang="en-US" sz="600" b="0" i="0" u="none" strike="noStrike" spc="0" noProof="0">
                          <a:solidFill>
                            <a:schemeClr val="bg1"/>
                          </a:solidFill>
                          <a:effectLst/>
                          <a:latin typeface="Century Gothic"/>
                        </a:rPr>
                        <a:t>INCREASE FLEXIBILITY</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a:solidFill>
                            <a:schemeClr val="bg1"/>
                          </a:solidFill>
                          <a:effectLst/>
                          <a:latin typeface="Century Gothic"/>
                        </a:rPr>
                        <a:t>Share three stretches that help improve flexibility. Choose lower body, upper body, or a full body stretch routine</a:t>
                      </a:r>
                      <a:endParaRPr lang="en-US"/>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19</a:t>
                      </a:r>
                    </a:p>
                    <a:p>
                      <a:pPr marL="63500" lvl="0" algn="ctr">
                        <a:spcBef>
                          <a:spcPts val="310"/>
                        </a:spcBef>
                        <a:spcAft>
                          <a:spcPts val="0"/>
                        </a:spcAft>
                        <a:buNone/>
                      </a:pPr>
                      <a:r>
                        <a:rPr lang="en-US" sz="600" spc="0" dirty="0">
                          <a:solidFill>
                            <a:schemeClr val="bg1"/>
                          </a:solidFill>
                          <a:effectLst/>
                        </a:rPr>
                        <a:t>Women's Entrepreneurial Day</a:t>
                      </a:r>
                    </a:p>
                    <a:p>
                      <a:pPr marL="63500" lvl="0" algn="ctr">
                        <a:spcBef>
                          <a:spcPts val="310"/>
                        </a:spcBef>
                        <a:spcAft>
                          <a:spcPts val="0"/>
                        </a:spcAft>
                        <a:buNone/>
                      </a:pPr>
                      <a:r>
                        <a:rPr lang="en-US" sz="600" spc="0" dirty="0">
                          <a:solidFill>
                            <a:schemeClr val="bg1"/>
                          </a:solidFill>
                          <a:effectLst/>
                        </a:rPr>
                        <a:t>Are you a female entrepreneur? Share your business story on this day!</a:t>
                      </a:r>
                    </a:p>
                  </a:txBody>
                  <a:tcPr marL="9525" marR="9525" marT="80772" marB="0"/>
                </a:tc>
                <a:tc>
                  <a:txBody>
                    <a:bodyPr/>
                    <a:lstStyle/>
                    <a:p>
                      <a:pPr marL="63500" lvl="0" algn="ctr">
                        <a:spcBef>
                          <a:spcPts val="310"/>
                        </a:spcBef>
                        <a:spcAft>
                          <a:spcPts val="0"/>
                        </a:spcAft>
                        <a:buNone/>
                      </a:pPr>
                      <a:r>
                        <a:rPr lang="en-US" sz="600" b="0" i="0" u="none" strike="noStrike" spc="0" noProof="0">
                          <a:solidFill>
                            <a:schemeClr val="bg1"/>
                          </a:solidFill>
                          <a:effectLst/>
                          <a:latin typeface="Century Gothic"/>
                        </a:rPr>
                        <a:t>20</a:t>
                      </a:r>
                    </a:p>
                    <a:p>
                      <a:pPr marL="63500" lvl="0" algn="ctr">
                        <a:spcBef>
                          <a:spcPts val="310"/>
                        </a:spcBef>
                        <a:spcAft>
                          <a:spcPts val="0"/>
                        </a:spcAft>
                        <a:buNone/>
                      </a:pPr>
                      <a:r>
                        <a:rPr lang="en-US" sz="600" b="0" i="0" u="none" strike="noStrike" spc="0" noProof="0">
                          <a:solidFill>
                            <a:schemeClr val="bg1"/>
                          </a:solidFill>
                          <a:effectLst/>
                          <a:latin typeface="Century Gothic"/>
                        </a:rPr>
                        <a:t>KEEP IT UP</a:t>
                      </a:r>
                    </a:p>
                    <a:p>
                      <a:pPr marL="63500" lvl="0" algn="ctr">
                        <a:spcBef>
                          <a:spcPts val="310"/>
                        </a:spcBef>
                        <a:spcAft>
                          <a:spcPts val="0"/>
                        </a:spcAft>
                        <a:buNone/>
                      </a:pPr>
                      <a:r>
                        <a:rPr lang="en-US" sz="600" b="0" i="0" u="none" strike="noStrike" spc="0" noProof="0">
                          <a:solidFill>
                            <a:schemeClr val="bg1"/>
                          </a:solidFill>
                          <a:effectLst/>
                          <a:latin typeface="Century Gothic"/>
                        </a:rPr>
                        <a:t>Give yourself the gift of fitness! Share ways members can stay on track on their fitness journey during the busy holiday season. </a:t>
                      </a:r>
                    </a:p>
                  </a:txBody>
                  <a:tcPr marL="9525" marR="9525" marT="80772" marB="0"/>
                </a:tc>
                <a:tc>
                  <a:txBody>
                    <a:bodyPr/>
                    <a:lstStyle/>
                    <a:p>
                      <a:pPr marL="63500" lvl="0" algn="ctr">
                        <a:spcBef>
                          <a:spcPts val="310"/>
                        </a:spcBef>
                        <a:spcAft>
                          <a:spcPts val="0"/>
                        </a:spcAft>
                        <a:buNone/>
                      </a:pPr>
                      <a:r>
                        <a:rPr lang="en-US" sz="600" b="0" i="0" u="none" strike="noStrike" spc="0" noProof="0">
                          <a:solidFill>
                            <a:schemeClr val="bg1"/>
                          </a:solidFill>
                          <a:effectLst/>
                        </a:rPr>
                        <a:t>21</a:t>
                      </a:r>
                    </a:p>
                    <a:p>
                      <a:pPr marL="63500" lvl="0" algn="ctr">
                        <a:spcBef>
                          <a:spcPts val="310"/>
                        </a:spcBef>
                        <a:spcAft>
                          <a:spcPts val="0"/>
                        </a:spcAft>
                        <a:buNone/>
                      </a:pPr>
                      <a:r>
                        <a:rPr lang="en-US" sz="600" b="0" i="0" u="none" strike="noStrike" spc="0" noProof="0">
                          <a:solidFill>
                            <a:schemeClr val="bg1"/>
                          </a:solidFill>
                          <a:effectLst/>
                          <a:latin typeface="Century Gothic"/>
                        </a:rPr>
                        <a:t>SILLY GYM MOMENTS</a:t>
                      </a:r>
                    </a:p>
                    <a:p>
                      <a:pPr marL="63500" lvl="0" algn="ctr">
                        <a:spcBef>
                          <a:spcPts val="310"/>
                        </a:spcBef>
                        <a:spcAft>
                          <a:spcPts val="0"/>
                        </a:spcAft>
                        <a:buNone/>
                      </a:pPr>
                      <a:r>
                        <a:rPr lang="en-US" sz="600" b="0" i="0" u="none" strike="noStrike" spc="0" noProof="0">
                          <a:solidFill>
                            <a:schemeClr val="bg1"/>
                          </a:solidFill>
                          <a:effectLst/>
                          <a:latin typeface="Century Gothic"/>
                        </a:rPr>
                        <a:t>Make a silly video or share a silly thing that happened in the gym. Play into humor – the audience loves it!</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22</a:t>
                      </a:r>
                    </a:p>
                    <a:p>
                      <a:pPr marL="63500" lvl="0" algn="ctr">
                        <a:spcBef>
                          <a:spcPts val="310"/>
                        </a:spcBef>
                        <a:spcAft>
                          <a:spcPts val="0"/>
                        </a:spcAft>
                        <a:buNone/>
                      </a:pPr>
                      <a:r>
                        <a:rPr lang="en-US" sz="600" b="0" i="0" u="none" strike="noStrike" spc="0" noProof="0" dirty="0">
                          <a:solidFill>
                            <a:schemeClr val="bg1"/>
                          </a:solidFill>
                          <a:effectLst/>
                        </a:rPr>
                        <a:t>STAFF SHOWCASE</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Have a new staff member? Someone hitting a birthday or milestone in their career? Share out this good news!</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23</a:t>
                      </a:r>
                    </a:p>
                    <a:p>
                      <a:pPr lvl="0" algn="ctr">
                        <a:buNone/>
                      </a:pPr>
                      <a:r>
                        <a:rPr lang="en-US" sz="600" b="0" i="0" u="none" strike="noStrike" spc="0" noProof="0" dirty="0">
                          <a:solidFill>
                            <a:schemeClr val="bg1"/>
                          </a:solidFill>
                          <a:effectLst/>
                        </a:rPr>
                        <a:t>MEMBER SUCCESS</a:t>
                      </a:r>
                    </a:p>
                    <a:p>
                      <a:pPr marL="63500" lvl="0" algn="ctr">
                        <a:spcBef>
                          <a:spcPts val="310"/>
                        </a:spcBef>
                        <a:spcAft>
                          <a:spcPts val="0"/>
                        </a:spcAft>
                        <a:buNone/>
                      </a:pPr>
                      <a:r>
                        <a:rPr lang="en-US" sz="600" b="0" i="0" u="none" strike="noStrike" spc="0" noProof="0" dirty="0">
                          <a:solidFill>
                            <a:schemeClr val="bg1"/>
                          </a:solidFill>
                          <a:effectLst/>
                        </a:rPr>
                        <a:t>This post is perfect to plan and schedule ahead! Share a success story of a member in your gym. Reminder: these results for "success" do not need to be life changing – even being able to get better sleep at night is a success to share!</a:t>
                      </a:r>
                    </a:p>
                  </a:txBody>
                  <a:tcPr marL="9525" marR="9525" marT="80772" marB="0"/>
                </a:tc>
                <a:extLst>
                  <a:ext uri="{0D108BD9-81ED-4DB2-BD59-A6C34878D82A}">
                    <a16:rowId xmlns:a16="http://schemas.microsoft.com/office/drawing/2014/main" val="2870796117"/>
                  </a:ext>
                </a:extLst>
              </a:tr>
              <a:tr h="1338972">
                <a:tc>
                  <a:txBody>
                    <a:bodyPr/>
                    <a:lstStyle/>
                    <a:p>
                      <a:pPr marL="63500" lvl="0" algn="ctr">
                        <a:spcBef>
                          <a:spcPts val="310"/>
                        </a:spcBef>
                        <a:spcAft>
                          <a:spcPts val="0"/>
                        </a:spcAft>
                        <a:buNone/>
                      </a:pPr>
                      <a:r>
                        <a:rPr lang="en-US" sz="600" b="0" i="0" u="none" strike="noStrike" noProof="0" dirty="0">
                          <a:solidFill>
                            <a:schemeClr val="bg1"/>
                          </a:solidFill>
                          <a:effectLst/>
                        </a:rPr>
                        <a:t>24</a:t>
                      </a:r>
                      <a:endParaRPr lang="en-US" sz="1200" b="0" i="0" u="none" strike="noStrike" noProof="0" dirty="0">
                        <a:solidFill>
                          <a:schemeClr val="dk1"/>
                        </a:solidFill>
                        <a:effectLst/>
                        <a:latin typeface="+mn-lt"/>
                      </a:endParaRPr>
                    </a:p>
                    <a:p>
                      <a:pPr marL="63500" lvl="0" algn="ctr">
                        <a:spcBef>
                          <a:spcPts val="310"/>
                        </a:spcBef>
                        <a:spcAft>
                          <a:spcPts val="0"/>
                        </a:spcAft>
                        <a:buNone/>
                      </a:pPr>
                      <a:r>
                        <a:rPr lang="en-US" sz="600" b="0" i="0" u="none" strike="noStrike" noProof="0" dirty="0">
                          <a:solidFill>
                            <a:schemeClr val="bg1"/>
                          </a:solidFill>
                          <a:effectLst/>
                          <a:latin typeface="Century Gothic"/>
                        </a:rPr>
                        <a:t>SHAREABLE TREATS</a:t>
                      </a:r>
                    </a:p>
                    <a:p>
                      <a:pPr marL="63500" lvl="0" algn="ctr">
                        <a:spcBef>
                          <a:spcPts val="310"/>
                        </a:spcBef>
                        <a:spcAft>
                          <a:spcPts val="0"/>
                        </a:spcAft>
                        <a:buNone/>
                      </a:pPr>
                      <a:r>
                        <a:rPr lang="en-US" sz="600" b="0" i="0" u="none" strike="noStrike" noProof="0" dirty="0">
                          <a:solidFill>
                            <a:schemeClr val="bg1"/>
                          </a:solidFill>
                          <a:effectLst/>
                          <a:latin typeface="Century Gothic"/>
                        </a:rPr>
                        <a:t>Thanksgiving is knocking at our doors. Share a better-for-you swap or shareable nutritious recipe that members can use for their holiday plans!</a:t>
                      </a:r>
                    </a:p>
                  </a:txBody>
                  <a:tcPr marL="9524" marR="9524" marT="80772" marB="0"/>
                </a:tc>
                <a:tc>
                  <a:txBody>
                    <a:bodyPr/>
                    <a:lstStyle/>
                    <a:p>
                      <a:pPr marL="63500" lvl="0" algn="ctr">
                        <a:spcBef>
                          <a:spcPts val="310"/>
                        </a:spcBef>
                        <a:spcAft>
                          <a:spcPts val="0"/>
                        </a:spcAft>
                        <a:buNone/>
                      </a:pPr>
                      <a:r>
                        <a:rPr lang="en-US" sz="600" b="0" i="0" u="none" strike="noStrike" spc="0" noProof="0">
                          <a:solidFill>
                            <a:schemeClr val="bg1"/>
                          </a:solidFill>
                          <a:effectLst/>
                          <a:latin typeface="Century Gothic"/>
                        </a:rPr>
                        <a:t>25</a:t>
                      </a:r>
                      <a:endParaRPr lang="en-US"/>
                    </a:p>
                    <a:p>
                      <a:pPr marL="63500" marR="0" lvl="0" indent="0" algn="ctr">
                        <a:spcBef>
                          <a:spcPts val="310"/>
                        </a:spcBef>
                        <a:spcAft>
                          <a:spcPts val="0"/>
                        </a:spcAft>
                        <a:buNone/>
                      </a:pPr>
                      <a:r>
                        <a:rPr lang="en-US" sz="600" b="0" i="0" u="none" strike="noStrike" spc="0" noProof="0">
                          <a:solidFill>
                            <a:schemeClr val="bg1"/>
                          </a:solidFill>
                          <a:effectLst/>
                          <a:latin typeface="Century Gothic"/>
                        </a:rPr>
                        <a:t>WHAT ARE YOU THANKFUL FOR?</a:t>
                      </a:r>
                    </a:p>
                    <a:p>
                      <a:pPr marL="63500" marR="0" lvl="0" indent="0" algn="ctr">
                        <a:spcBef>
                          <a:spcPts val="310"/>
                        </a:spcBef>
                        <a:spcAft>
                          <a:spcPts val="0"/>
                        </a:spcAft>
                        <a:buNone/>
                      </a:pPr>
                      <a:r>
                        <a:rPr lang="en-US" sz="600" b="0" i="0" u="none" strike="noStrike" spc="0" noProof="0">
                          <a:solidFill>
                            <a:schemeClr val="bg1"/>
                          </a:solidFill>
                          <a:effectLst/>
                          <a:latin typeface="Century Gothic"/>
                        </a:rPr>
                        <a:t>Poll your members on your story to get them in the thankful mood! Use the question sticker to get their answers!</a:t>
                      </a:r>
                    </a:p>
                  </a:txBody>
                  <a:tcPr marL="9524" marR="9524" marT="80772" marB="0"/>
                </a:tc>
                <a:tc>
                  <a:txBody>
                    <a:bodyPr/>
                    <a:lstStyle/>
                    <a:p>
                      <a:pPr marL="63500" lvl="0" algn="ctr">
                        <a:spcBef>
                          <a:spcPts val="310"/>
                        </a:spcBef>
                        <a:spcAft>
                          <a:spcPts val="0"/>
                        </a:spcAft>
                        <a:buNone/>
                      </a:pPr>
                      <a:r>
                        <a:rPr lang="en-US" sz="600" b="0" i="0" u="none" strike="noStrike" spc="0" noProof="0">
                          <a:solidFill>
                            <a:schemeClr val="bg1"/>
                          </a:solidFill>
                          <a:effectLst/>
                        </a:rPr>
                        <a:t>26</a:t>
                      </a:r>
                    </a:p>
                    <a:p>
                      <a:pPr marL="63500" lvl="0" algn="ctr">
                        <a:spcBef>
                          <a:spcPts val="310"/>
                        </a:spcBef>
                        <a:spcAft>
                          <a:spcPts val="0"/>
                        </a:spcAft>
                        <a:buNone/>
                      </a:pPr>
                      <a:r>
                        <a:rPr lang="en-US" sz="600" b="0" i="0" u="none" strike="noStrike" spc="0" noProof="0">
                          <a:solidFill>
                            <a:schemeClr val="bg1"/>
                          </a:solidFill>
                          <a:effectLst/>
                          <a:latin typeface="Century Gothic"/>
                        </a:rPr>
                        <a:t>STRENGTH MOVEMENT</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a:solidFill>
                            <a:schemeClr val="bg1"/>
                          </a:solidFill>
                          <a:effectLst/>
                          <a:latin typeface="Century Gothic"/>
                        </a:rPr>
                        <a:t>Show off a strength movement and how to advance the movement for those who are looking to up a certain aspect of their workout regimen. Challenge your followers to implement the movement in their workouts this week!</a:t>
                      </a:r>
                      <a:endParaRPr lang="en-US"/>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27</a:t>
                      </a:r>
                    </a:p>
                    <a:p>
                      <a:pPr marL="63500" lvl="0" algn="ctr">
                        <a:spcBef>
                          <a:spcPts val="310"/>
                        </a:spcBef>
                        <a:spcAft>
                          <a:spcPts val="0"/>
                        </a:spcAft>
                        <a:buNone/>
                      </a:pPr>
                      <a:r>
                        <a:rPr lang="en-US" sz="600" b="0" i="0" u="none" strike="noStrike" spc="0" noProof="0" dirty="0">
                          <a:solidFill>
                            <a:schemeClr val="bg1"/>
                          </a:solidFill>
                          <a:effectLst/>
                          <a:latin typeface="Century Gothic"/>
                        </a:rPr>
                        <a:t>ADJUSTED HOURS</a:t>
                      </a:r>
                    </a:p>
                    <a:p>
                      <a:pPr marL="63500" lvl="0" algn="ctr">
                        <a:spcBef>
                          <a:spcPts val="310"/>
                        </a:spcBef>
                        <a:spcAft>
                          <a:spcPts val="0"/>
                        </a:spcAft>
                        <a:buNone/>
                      </a:pPr>
                      <a:r>
                        <a:rPr lang="en-US" sz="600" b="0" i="0" u="none" strike="noStrike" spc="0" noProof="0" dirty="0">
                          <a:solidFill>
                            <a:schemeClr val="bg1"/>
                          </a:solidFill>
                          <a:effectLst/>
                          <a:latin typeface="Century Gothic"/>
                        </a:rPr>
                        <a:t>Share changes in hours you may have with the holiday weekend in swing. </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28</a:t>
                      </a:r>
                    </a:p>
                    <a:p>
                      <a:pPr marL="63500" lvl="0" algn="ctr">
                        <a:spcBef>
                          <a:spcPts val="310"/>
                        </a:spcBef>
                        <a:spcAft>
                          <a:spcPts val="0"/>
                        </a:spcAft>
                        <a:buNone/>
                      </a:pPr>
                      <a:r>
                        <a:rPr lang="en-US" sz="600" b="0" i="0" u="none" strike="noStrike" spc="0" noProof="0" dirty="0">
                          <a:solidFill>
                            <a:schemeClr val="bg1"/>
                          </a:solidFill>
                          <a:effectLst/>
                        </a:rPr>
                        <a:t>THANKSGIVING</a:t>
                      </a:r>
                      <a:endParaRPr lang="en-US" dirty="0"/>
                    </a:p>
                    <a:p>
                      <a:pPr marL="63500" lvl="0" algn="ctr">
                        <a:spcBef>
                          <a:spcPts val="310"/>
                        </a:spcBef>
                        <a:spcAft>
                          <a:spcPts val="0"/>
                        </a:spcAft>
                        <a:buNone/>
                      </a:pPr>
                      <a:r>
                        <a:rPr lang="en-US" sz="600" b="0" i="0" u="none" strike="noStrike" spc="0" noProof="0" dirty="0">
                          <a:solidFill>
                            <a:schemeClr val="bg1"/>
                          </a:solidFill>
                          <a:effectLst/>
                        </a:rPr>
                        <a:t>We are so very thankful for our great franchisees, their staff and awesome members! Share your </a:t>
                      </a:r>
                      <a:r>
                        <a:rPr lang="en-US" sz="600" b="0" i="0" u="none" strike="noStrike" spc="0" noProof="0">
                          <a:solidFill>
                            <a:schemeClr val="bg1"/>
                          </a:solidFill>
                          <a:effectLst/>
                        </a:rPr>
                        <a:t>thanks today.</a:t>
                      </a: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29</a:t>
                      </a:r>
                    </a:p>
                    <a:p>
                      <a:pPr marL="63500" lvl="0" algn="ctr">
                        <a:spcBef>
                          <a:spcPts val="310"/>
                        </a:spcBef>
                        <a:spcAft>
                          <a:spcPts val="0"/>
                        </a:spcAft>
                        <a:buNone/>
                      </a:pPr>
                      <a:r>
                        <a:rPr lang="en-US" sz="600" b="0" i="0" u="none" strike="noStrike" noProof="0" dirty="0">
                          <a:solidFill>
                            <a:schemeClr val="bg1"/>
                          </a:solidFill>
                          <a:effectLst/>
                          <a:latin typeface="Century Gothic"/>
                        </a:rPr>
                        <a:t>BLACK FRIDAY!</a:t>
                      </a:r>
                      <a:endParaRPr lang="en-US" dirty="0"/>
                    </a:p>
                    <a:p>
                      <a:pPr marL="63500" lvl="0" algn="ctr">
                        <a:spcBef>
                          <a:spcPts val="310"/>
                        </a:spcBef>
                        <a:spcAft>
                          <a:spcPts val="0"/>
                        </a:spcAft>
                        <a:buNone/>
                      </a:pPr>
                      <a:r>
                        <a:rPr lang="en-US" sz="600" b="0" i="0" u="none" strike="noStrike" noProof="0" dirty="0">
                          <a:solidFill>
                            <a:schemeClr val="bg1"/>
                          </a:solidFill>
                          <a:effectLst/>
                          <a:latin typeface="Century Gothic"/>
                        </a:rPr>
                        <a:t>Are you participating in the Black Friday deals? Share out what your deals are!</a:t>
                      </a:r>
                      <a:endParaRPr lang="en-US" dirty="0"/>
                    </a:p>
                    <a:p>
                      <a:pPr marL="63500" lvl="0" algn="ctr">
                        <a:spcBef>
                          <a:spcPts val="310"/>
                        </a:spcBef>
                        <a:spcAft>
                          <a:spcPts val="0"/>
                        </a:spcAft>
                        <a:buNone/>
                      </a:pPr>
                      <a:r>
                        <a:rPr lang="en-US" sz="600" b="0" i="0" u="none" strike="noStrike" noProof="0" dirty="0">
                          <a:solidFill>
                            <a:schemeClr val="bg1"/>
                          </a:solidFill>
                          <a:effectLst/>
                          <a:latin typeface="Century Gothic"/>
                        </a:rPr>
                        <a:t>Use </a:t>
                      </a:r>
                      <a:r>
                        <a:rPr lang="en-US" sz="600" b="0" i="0" u="none" strike="noStrike" noProof="0" dirty="0">
                          <a:solidFill>
                            <a:schemeClr val="bg1"/>
                          </a:solidFill>
                          <a:effectLst/>
                          <a:latin typeface="Century Gothic"/>
                          <a:hlinkClick r:id="rId2"/>
                        </a:rPr>
                        <a:t>this template</a:t>
                      </a:r>
                      <a:r>
                        <a:rPr lang="en-US" sz="600" b="0" i="0" u="none" strike="noStrike" noProof="0" dirty="0">
                          <a:solidFill>
                            <a:schemeClr val="bg1"/>
                          </a:solidFill>
                          <a:effectLst/>
                          <a:latin typeface="Century Gothic"/>
                        </a:rPr>
                        <a:t> from the Brand Marketing Center to showcase your PT promo!</a:t>
                      </a:r>
                    </a:p>
                  </a:txBody>
                  <a:tcPr marL="9524" marR="9524" marT="80772" marB="0"/>
                </a:tc>
                <a:tc>
                  <a:txBody>
                    <a:bodyPr/>
                    <a:lstStyle/>
                    <a:p>
                      <a:pPr marL="63500" lvl="0" algn="ctr">
                        <a:spcBef>
                          <a:spcPts val="310"/>
                        </a:spcBef>
                        <a:spcAft>
                          <a:spcPts val="0"/>
                        </a:spcAft>
                        <a:buNone/>
                      </a:pPr>
                      <a:r>
                        <a:rPr lang="en-US" sz="600" b="0" i="0" u="none" strike="noStrike" spc="0" noProof="0" dirty="0">
                          <a:solidFill>
                            <a:srgbClr val="2D2926"/>
                          </a:solidFill>
                          <a:effectLst/>
                          <a:latin typeface="Century Gothic"/>
                        </a:rPr>
                        <a:t>30</a:t>
                      </a:r>
                    </a:p>
                    <a:p>
                      <a:pPr marL="63500" lvl="0" algn="ctr">
                        <a:spcBef>
                          <a:spcPts val="310"/>
                        </a:spcBef>
                        <a:spcAft>
                          <a:spcPts val="0"/>
                        </a:spcAft>
                        <a:buNone/>
                      </a:pPr>
                      <a:r>
                        <a:rPr lang="en-US" sz="600" b="0" i="0" u="none" strike="noStrike" spc="0" noProof="0" dirty="0">
                          <a:solidFill>
                            <a:srgbClr val="2D2926"/>
                          </a:solidFill>
                          <a:effectLst/>
                          <a:latin typeface="Century Gothic"/>
                        </a:rPr>
                        <a:t>SMALL BUSINESS SATURDAY</a:t>
                      </a:r>
                      <a:endParaRPr lang="en-US" dirty="0"/>
                    </a:p>
                    <a:p>
                      <a:pPr marL="63500" lvl="0" algn="ctr">
                        <a:spcBef>
                          <a:spcPts val="310"/>
                        </a:spcBef>
                        <a:spcAft>
                          <a:spcPts val="0"/>
                        </a:spcAft>
                        <a:buNone/>
                      </a:pPr>
                      <a:r>
                        <a:rPr lang="en-US" sz="600" b="0" i="0" u="none" strike="noStrike" spc="0" noProof="0" dirty="0">
                          <a:solidFill>
                            <a:srgbClr val="2D2926"/>
                          </a:solidFill>
                          <a:effectLst/>
                          <a:latin typeface="Century Gothic"/>
                        </a:rPr>
                        <a:t>Small business with a large network like us, that's what it's all about! Have any additional deals? Share those here!</a:t>
                      </a:r>
                    </a:p>
                  </a:txBody>
                  <a:tcPr marL="9524" marR="9524" marT="80772" marB="0"/>
                </a:tc>
                <a:extLst>
                  <a:ext uri="{0D108BD9-81ED-4DB2-BD59-A6C34878D82A}">
                    <a16:rowId xmlns:a16="http://schemas.microsoft.com/office/drawing/2014/main" val="3697406555"/>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UserInfo>
        <DisplayName>Sarah Mastrian</DisplayName>
        <AccountId>14028</AccountId>
        <AccountType/>
      </UserInfo>
      <UserInfo>
        <DisplayName>Tammy Nienaber</DisplayName>
        <AccountId>52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4cd7bbde4b7569de7419761a2ff09ce0">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d4ddd257af2755d60d19e4481dbb76be"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2.xml><?xml version="1.0" encoding="utf-8"?>
<ds:datastoreItem xmlns:ds="http://schemas.openxmlformats.org/officeDocument/2006/customXml" ds:itemID="{9AA2B1DA-A2C5-489C-A46E-FC3EAF2F3ADB}">
  <ds:schemaRefs>
    <ds:schemaRef ds:uri="47019a7e-a60c-4a1f-b4fd-44452cf97621"/>
    <ds:schemaRef ds:uri="9464be75-fc0f-4c74-b7a9-67e6b6b30f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CDE1E74-F75B-4E8D-8D2A-88E7FBBF1F8E}">
  <ds:schemaRefs>
    <ds:schemaRef ds:uri="47019a7e-a60c-4a1f-b4fd-44452cf97621"/>
    <ds:schemaRef ds:uri="9464be75-fc0f-4c74-b7a9-67e6b6b30f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Bar Method Template</Template>
  <TotalTime>0</TotalTime>
  <Words>944</Words>
  <Application>Microsoft Macintosh PowerPoint</Application>
  <PresentationFormat>Widescreen</PresentationFormat>
  <Paragraphs>100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12</cp:revision>
  <dcterms:created xsi:type="dcterms:W3CDTF">2021-11-18T14:52:15Z</dcterms:created>
  <dcterms:modified xsi:type="dcterms:W3CDTF">2024-10-16T17:19:24Z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y fmtid="{D5CDD505-2E9C-101B-9397-08002B2CF9AE}" pid="4" name="MSIP_Label_c19e54f6-8de3-4dc1-8de2-3571ff8ef8ed_Enabled">
    <vt:lpwstr>true</vt:lpwstr>
  </property>
  <property fmtid="{D5CDD505-2E9C-101B-9397-08002B2CF9AE}" pid="5" name="MSIP_Label_c19e54f6-8de3-4dc1-8de2-3571ff8ef8ed_SetDate">
    <vt:lpwstr>2024-07-08T15:51:19Z</vt:lpwstr>
  </property>
  <property fmtid="{D5CDD505-2E9C-101B-9397-08002B2CF9AE}" pid="6" name="MSIP_Label_c19e54f6-8de3-4dc1-8de2-3571ff8ef8ed_Method">
    <vt:lpwstr>Standard</vt:lpwstr>
  </property>
  <property fmtid="{D5CDD505-2E9C-101B-9397-08002B2CF9AE}" pid="7" name="MSIP_Label_c19e54f6-8de3-4dc1-8de2-3571ff8ef8ed_Name">
    <vt:lpwstr>defa4170-0d19-0005-0004-bc88714345d2</vt:lpwstr>
  </property>
  <property fmtid="{D5CDD505-2E9C-101B-9397-08002B2CF9AE}" pid="8" name="MSIP_Label_c19e54f6-8de3-4dc1-8de2-3571ff8ef8ed_SiteId">
    <vt:lpwstr>e5f9f875-abc1-48a7-b869-6562628fb58c</vt:lpwstr>
  </property>
  <property fmtid="{D5CDD505-2E9C-101B-9397-08002B2CF9AE}" pid="9" name="MSIP_Label_c19e54f6-8de3-4dc1-8de2-3571ff8ef8ed_ActionId">
    <vt:lpwstr>9f1e5e16-4042-4ce1-ae53-a4d0d9646ca7</vt:lpwstr>
  </property>
  <property fmtid="{D5CDD505-2E9C-101B-9397-08002B2CF9AE}" pid="10" name="MSIP_Label_c19e54f6-8de3-4dc1-8de2-3571ff8ef8ed_ContentBits">
    <vt:lpwstr>0</vt:lpwstr>
  </property>
</Properties>
</file>