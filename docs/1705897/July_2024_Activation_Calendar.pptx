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337" r:id="rId5"/>
    <p:sldId id="336" r:id="rId6"/>
    <p:sldId id="339" r:id="rId7"/>
    <p:sldId id="268" r:id="rId8"/>
    <p:sldId id="263" r:id="rId9"/>
    <p:sldId id="340" r:id="rId10"/>
    <p:sldId id="279" r:id="rId11"/>
    <p:sldId id="3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ldId id="337"/>
          </p14:sldIdLst>
        </p14:section>
        <p14:section name="Content" id="{10C81FA4-AB20-4F8C-AA98-C00990760090}">
          <p14:sldIdLst>
            <p14:sldId id="336"/>
            <p14:sldId id="339"/>
            <p14:sldId id="268"/>
            <p14:sldId id="263"/>
            <p14:sldId id="340"/>
            <p14:sldId id="279"/>
          </p14:sldIdLst>
        </p14:section>
        <p14:section name="Closing" id="{B254CC29-6644-48FB-B435-9D56547BC196}">
          <p14:sldIdLst>
            <p14:sldId id="334"/>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2B8F8-7389-9414-D5BA-40CFFA496D8C}" v="53" dt="2024-06-13T21:25:12.005"/>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16"/>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6/13/2024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6/13/2024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6/13/2024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6/13/2024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6/13/2024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6/13/2024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6/13/2024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6/13/2024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6/13/2024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6/13/2024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6/13/2024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6/13/2024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6/13/2024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6/13/2024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6/13/2024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6/13/2024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6/13/2024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6/13/2024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6/13/2024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6/13/2024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6/13/2024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6/13/2024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6/13/2024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6/13/2024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6/13/2024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6/13/2024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6/13/2024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6/13/2024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6/13/2024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6/13/2024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6/13/2024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6/13/2024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6/13/2024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6/13/2024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6/13/2024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8" Type="http://schemas.openxmlformats.org/officeDocument/2006/relationships/hyperlink" Target="https://app.sproutloud.com/member/home" TargetMode="External"/><Relationship Id="rId3" Type="http://schemas.openxmlformats.org/officeDocument/2006/relationships/hyperlink" Target="https://www.socialmediatoday.com/news/instagram-certain-ctas-impact-post-reach/717732/" TargetMode="External"/><Relationship Id="rId7" Type="http://schemas.openxmlformats.org/officeDocument/2006/relationships/hyperlink" Target="https://jira.sebrands.com/plugins/servlet/desk/site/af/" TargetMode="External"/><Relationship Id="rId2" Type="http://schemas.openxmlformats.org/officeDocument/2006/relationships/hyperlink" Target="https://www.socialmediatoday.com/news/facebook-renewed-focus-on-young-users/717731/" TargetMode="External"/><Relationship Id="rId1" Type="http://schemas.openxmlformats.org/officeDocument/2006/relationships/slideLayout" Target="../slideLayouts/slideLayout35.xml"/><Relationship Id="rId6" Type="http://schemas.openxmlformats.org/officeDocument/2006/relationships/hyperlink" Target="https://www.socialmediatoday.com/news/instagram-features-broadcast-channels/718031/" TargetMode="External"/><Relationship Id="rId5" Type="http://schemas.openxmlformats.org/officeDocument/2006/relationships/hyperlink" Target="https://www.socialmediatoday.com/news/instagram-rolls-notes-features-including-likes/717558/" TargetMode="External"/><Relationship Id="rId4" Type="http://schemas.openxmlformats.org/officeDocument/2006/relationships/hyperlink" Target="https://www.socialmediatoday.com/news/instagram-shares-info-distribution-longer-reels-clips/717461/"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buffer.com/library/instagram-stories/" TargetMode="External"/><Relationship Id="rId2" Type="http://schemas.openxmlformats.org/officeDocument/2006/relationships/hyperlink" Target="https://buffer.com/library/instagram-carousel/" TargetMode="External"/><Relationship Id="rId1" Type="http://schemas.openxmlformats.org/officeDocument/2006/relationships/slideLayout" Target="../slideLayouts/slideLayout37.xml"/><Relationship Id="rId4" Type="http://schemas.openxmlformats.org/officeDocument/2006/relationships/hyperlink" Target="https://about.instagram.com/features/reels#:~:text=Reels%20are%20short%20videos%20you,and%20aligned%20with%20their%20interests."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tiktok.com/@moveitmeag2/video/7372330393149639979?_t=8mxDhabk3Mg&amp;_r=1" TargetMode="External"/><Relationship Id="rId3" Type="http://schemas.openxmlformats.org/officeDocument/2006/relationships/hyperlink" Target="https://www.instagram.com/reel/C7rW0MRRYif/?igsh=ZXpnd3JuMTkwMTlu" TargetMode="External"/><Relationship Id="rId7" Type="http://schemas.openxmlformats.org/officeDocument/2006/relationships/hyperlink" Target="https://www.tiktok.com/@af_keilordowns/video/7373937037495241990?_t=8mxDBm9TLKM&amp;_r=1" TargetMode="External"/><Relationship Id="rId2" Type="http://schemas.openxmlformats.org/officeDocument/2006/relationships/hyperlink" Target="https://www.instagram.com/reel/C7rUCuPxaiU/?igsh=MTZlaGNobmJ3anBjOQ==" TargetMode="External"/><Relationship Id="rId1" Type="http://schemas.openxmlformats.org/officeDocument/2006/relationships/slideLayout" Target="../slideLayouts/slideLayout23.xml"/><Relationship Id="rId6" Type="http://schemas.openxmlformats.org/officeDocument/2006/relationships/hyperlink" Target="https://www.tiktok.com/@ncaasoftball/video/7373693095537347882?_t=8mxD5mr15T8&amp;_r=1" TargetMode="External"/><Relationship Id="rId5" Type="http://schemas.openxmlformats.org/officeDocument/2006/relationships/hyperlink" Target="https://www.instagram.com/reel/C7B85O7L5eL/?igsh=c3liN285c3duM21m" TargetMode="External"/><Relationship Id="rId4" Type="http://schemas.openxmlformats.org/officeDocument/2006/relationships/hyperlink" Target="https://www.instagram.com/reel/C7y3X73IF-G/?igsh=azkxeTU1cTF0b242" TargetMode="External"/><Relationship Id="rId9" Type="http://schemas.openxmlformats.org/officeDocument/2006/relationships/hyperlink" Target="https://www.tiktok.com/@terrionarnold/video/7367403290398706987?_t=8mxDpc9QnPS&amp;_r=1"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instagram.com/afgardendistrict?igsh=Z3hjcTNpc25mcjBr" TargetMode="External"/><Relationship Id="rId2" Type="http://schemas.openxmlformats.org/officeDocument/2006/relationships/hyperlink" Target="https://www.instagram.com/anytimefitness_beverly?igsh=MWk4ZnR0ZzA3aW5tOQ==" TargetMode="External"/><Relationship Id="rId1" Type="http://schemas.openxmlformats.org/officeDocument/2006/relationships/slideLayout" Target="../slideLayouts/slideLayout56.xml"/><Relationship Id="rId4" Type="http://schemas.openxmlformats.org/officeDocument/2006/relationships/image" Target="../media/image4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8229C1-B12A-4E07-B3B9-BECC7AE15B68}"/>
              </a:ext>
            </a:extLst>
          </p:cNvPr>
          <p:cNvSpPr>
            <a:spLocks noGrp="1"/>
          </p:cNvSpPr>
          <p:nvPr>
            <p:ph type="ctrTitle"/>
          </p:nvPr>
        </p:nvSpPr>
        <p:spPr/>
        <p:txBody>
          <a:bodyPr/>
          <a:lstStyle/>
          <a:p>
            <a:r>
              <a:rPr lang="en-US"/>
              <a:t>Social media activation calendar</a:t>
            </a:r>
          </a:p>
        </p:txBody>
      </p:sp>
      <p:sp>
        <p:nvSpPr>
          <p:cNvPr id="6" name="Subtitle 5">
            <a:extLst>
              <a:ext uri="{FF2B5EF4-FFF2-40B4-BE49-F238E27FC236}">
                <a16:creationId xmlns:a16="http://schemas.microsoft.com/office/drawing/2014/main" id="{CC53DFCF-A5BC-48BE-AF2E-996B91C2D0A0}"/>
              </a:ext>
            </a:extLst>
          </p:cNvPr>
          <p:cNvSpPr>
            <a:spLocks noGrp="1"/>
          </p:cNvSpPr>
          <p:nvPr>
            <p:ph type="subTitle" idx="1"/>
          </p:nvPr>
        </p:nvSpPr>
        <p:spPr/>
        <p:txBody>
          <a:bodyPr vert="horz" lIns="0" tIns="0" rIns="0" bIns="0" rtlCol="0" anchor="t">
            <a:noAutofit/>
          </a:bodyPr>
          <a:lstStyle/>
          <a:p>
            <a:r>
              <a:rPr lang="en-US" dirty="0"/>
              <a:t>July 2024</a:t>
            </a:r>
          </a:p>
        </p:txBody>
      </p:sp>
    </p:spTree>
    <p:extLst>
      <p:ext uri="{BB962C8B-B14F-4D97-AF65-F5344CB8AC3E}">
        <p14:creationId xmlns:p14="http://schemas.microsoft.com/office/powerpoint/2010/main" val="382678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B887-452B-4F8E-A82F-DD3954576C88}"/>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69FE01B7-3C49-4F5D-AEA4-DB03BDFDD5B1}"/>
              </a:ext>
            </a:extLst>
          </p:cNvPr>
          <p:cNvSpPr>
            <a:spLocks noGrp="1"/>
          </p:cNvSpPr>
          <p:nvPr>
            <p:ph type="body" sz="quarter" idx="14"/>
          </p:nvPr>
        </p:nvSpPr>
        <p:spPr/>
        <p:txBody>
          <a:bodyPr vert="horz" lIns="0" tIns="0" rIns="0" bIns="0" rtlCol="0" anchor="t">
            <a:noAutofit/>
          </a:bodyPr>
          <a:lstStyle/>
          <a:p>
            <a:r>
              <a:rPr lang="en-US" dirty="0"/>
              <a:t>Social Calendar Ideas</a:t>
            </a:r>
          </a:p>
          <a:p>
            <a:r>
              <a:rPr lang="en-US" dirty="0"/>
              <a:t>Social Media Industry News and Platform Updates</a:t>
            </a:r>
          </a:p>
          <a:p>
            <a:r>
              <a:rPr lang="en-US" dirty="0">
                <a:ea typeface="+mn-lt"/>
                <a:cs typeface="+mn-lt"/>
              </a:rPr>
              <a:t>#SocialHack</a:t>
            </a:r>
          </a:p>
          <a:p>
            <a:r>
              <a:rPr lang="en-US" dirty="0"/>
              <a:t>Trending Sounds</a:t>
            </a:r>
          </a:p>
          <a:p>
            <a:r>
              <a:rPr lang="en-US" dirty="0"/>
              <a:t>Kudos</a:t>
            </a:r>
          </a:p>
          <a:p>
            <a:endParaRPr lang="en-US"/>
          </a:p>
        </p:txBody>
      </p:sp>
    </p:spTree>
    <p:extLst>
      <p:ext uri="{BB962C8B-B14F-4D97-AF65-F5344CB8AC3E}">
        <p14:creationId xmlns:p14="http://schemas.microsoft.com/office/powerpoint/2010/main" val="3922218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3572852069"/>
              </p:ext>
            </p:extLst>
          </p:nvPr>
        </p:nvGraphicFramePr>
        <p:xfrm>
          <a:off x="544332" y="95384"/>
          <a:ext cx="11102351" cy="6403169"/>
        </p:xfrm>
        <a:graphic>
          <a:graphicData uri="http://schemas.openxmlformats.org/drawingml/2006/table">
            <a:tbl>
              <a:tblPr firstRow="1" bandRow="1">
                <a:tableStyleId>{5202B0CA-FC54-4496-8BCA-5EF66A818D29}</a:tableStyleId>
              </a:tblPr>
              <a:tblGrid>
                <a:gridCol w="1622699">
                  <a:extLst>
                    <a:ext uri="{9D8B030D-6E8A-4147-A177-3AD203B41FA5}">
                      <a16:colId xmlns:a16="http://schemas.microsoft.com/office/drawing/2014/main" val="2484229546"/>
                    </a:ext>
                  </a:extLst>
                </a:gridCol>
                <a:gridCol w="1484386">
                  <a:extLst>
                    <a:ext uri="{9D8B030D-6E8A-4147-A177-3AD203B41FA5}">
                      <a16:colId xmlns:a16="http://schemas.microsoft.com/office/drawing/2014/main" val="439348342"/>
                    </a:ext>
                  </a:extLst>
                </a:gridCol>
                <a:gridCol w="1554542">
                  <a:extLst>
                    <a:ext uri="{9D8B030D-6E8A-4147-A177-3AD203B41FA5}">
                      <a16:colId xmlns:a16="http://schemas.microsoft.com/office/drawing/2014/main" val="1072895275"/>
                    </a:ext>
                  </a:extLst>
                </a:gridCol>
                <a:gridCol w="1670686">
                  <a:extLst>
                    <a:ext uri="{9D8B030D-6E8A-4147-A177-3AD203B41FA5}">
                      <a16:colId xmlns:a16="http://schemas.microsoft.com/office/drawing/2014/main" val="2787662688"/>
                    </a:ext>
                  </a:extLst>
                </a:gridCol>
                <a:gridCol w="1461882">
                  <a:extLst>
                    <a:ext uri="{9D8B030D-6E8A-4147-A177-3AD203B41FA5}">
                      <a16:colId xmlns:a16="http://schemas.microsoft.com/office/drawing/2014/main" val="1952576077"/>
                    </a:ext>
                  </a:extLst>
                </a:gridCol>
                <a:gridCol w="1550766">
                  <a:extLst>
                    <a:ext uri="{9D8B030D-6E8A-4147-A177-3AD203B41FA5}">
                      <a16:colId xmlns:a16="http://schemas.microsoft.com/office/drawing/2014/main" val="1911801536"/>
                    </a:ext>
                  </a:extLst>
                </a:gridCol>
                <a:gridCol w="1757390">
                  <a:extLst>
                    <a:ext uri="{9D8B030D-6E8A-4147-A177-3AD203B41FA5}">
                      <a16:colId xmlns:a16="http://schemas.microsoft.com/office/drawing/2014/main" val="1683208684"/>
                    </a:ext>
                  </a:extLst>
                </a:gridCol>
              </a:tblGrid>
              <a:tr h="632876">
                <a:tc gridSpan="7">
                  <a:txBody>
                    <a:bodyPr/>
                    <a:lstStyle/>
                    <a:p>
                      <a:pPr marL="530225" rtl="0" fontAlgn="t" latinLnBrk="0">
                        <a:lnSpc>
                          <a:spcPts val="5175"/>
                        </a:lnSpc>
                        <a:spcBef>
                          <a:spcPts val="2255"/>
                        </a:spcBef>
                        <a:spcAft>
                          <a:spcPts val="0"/>
                        </a:spcAft>
                      </a:pPr>
                      <a:r>
                        <a:rPr lang="en-US" sz="3800" spc="0" dirty="0">
                          <a:effectLst/>
                        </a:rPr>
                        <a:t>July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46917">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768492">
                <a:tc>
                  <a:txBody>
                    <a:bodyPr/>
                    <a:lstStyle/>
                    <a:p>
                      <a:pPr lvl="0" algn="ctr">
                        <a:lnSpc>
                          <a:spcPct val="100000"/>
                        </a:lnSpc>
                        <a:spcBef>
                          <a:spcPts val="0"/>
                        </a:spcBef>
                        <a:spcAft>
                          <a:spcPts val="0"/>
                        </a:spcAft>
                        <a:buNone/>
                      </a:pPr>
                      <a:endParaRPr lang="en-US" sz="600" b="0" i="0" u="none" strike="noStrike" noProof="0" dirty="0">
                        <a:solidFill>
                          <a:schemeClr val="bg1"/>
                        </a:solidFill>
                      </a:endParaRPr>
                    </a:p>
                  </a:txBody>
                  <a:tcPr marL="9524" marR="9524"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1</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6 MORE MONTHS TIL 2025</a:t>
                      </a: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How we doing? Do a check-in and have members share their goals for the second half of the year. OR highlight some wins from the first half of the year to encourage and celebrate accomplishments of your members.</a:t>
                      </a:r>
                    </a:p>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spc="0" noProof="0" dirty="0">
                          <a:solidFill>
                            <a:schemeClr val="bg1"/>
                          </a:solidFill>
                          <a:effectLst/>
                        </a:rPr>
                        <a:t>BINGO!</a:t>
                      </a:r>
                    </a:p>
                    <a:p>
                      <a:pPr marL="63500" lvl="0" algn="ctr">
                        <a:spcBef>
                          <a:spcPts val="310"/>
                        </a:spcBef>
                        <a:spcAft>
                          <a:spcPts val="0"/>
                        </a:spcAft>
                        <a:buNone/>
                      </a:pPr>
                      <a:r>
                        <a:rPr lang="en-US" sz="600" b="0" i="0" u="none" strike="noStrike" spc="0" noProof="0" dirty="0">
                          <a:solidFill>
                            <a:schemeClr val="bg1"/>
                          </a:solidFill>
                          <a:effectLst/>
                        </a:rPr>
                        <a:t>Haven't integrated the AF Bingo card into your club yet? Now is your time! Share a Reel talking about how members can participate and note if there are any prizes at stake to drive competition to the next level!</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a:p>
                    <a:p>
                      <a:pPr marL="63500" lvl="0" algn="ctr">
                        <a:spcBef>
                          <a:spcPts val="310"/>
                        </a:spcBef>
                        <a:spcAft>
                          <a:spcPts val="0"/>
                        </a:spcAft>
                        <a:buNone/>
                      </a:pPr>
                      <a:r>
                        <a:rPr lang="en-US" sz="600" b="0" i="0" u="none" strike="noStrike" spc="0" noProof="0" dirty="0">
                          <a:solidFill>
                            <a:schemeClr val="bg1"/>
                          </a:solidFill>
                          <a:effectLst/>
                        </a:rPr>
                        <a:t>BIG STRETCH</a:t>
                      </a:r>
                    </a:p>
                    <a:p>
                      <a:pPr marL="63500" lvl="0" algn="ctr">
                        <a:spcBef>
                          <a:spcPts val="310"/>
                        </a:spcBef>
                        <a:spcAft>
                          <a:spcPts val="0"/>
                        </a:spcAft>
                        <a:buNone/>
                      </a:pPr>
                      <a:r>
                        <a:rPr lang="en-US" sz="600" b="0" i="0" u="none" strike="noStrike" spc="0" noProof="0" dirty="0">
                          <a:solidFill>
                            <a:schemeClr val="bg1"/>
                          </a:solidFill>
                          <a:effectLst/>
                        </a:rPr>
                        <a:t>We've noticed that many people, both on our App and on social, are looking for options to stretch sore/tight muscles. Share out a stretching routine  focusing on a specific body part or type of movement. </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FOURTH OF JULY</a:t>
                      </a: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Happy 4th of July! Share a post today showing off those in the gym, some patriotic colors in the gym, or throw together a quick workout that can be done from anywhere!</a:t>
                      </a: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p>
                    <a:p>
                      <a:pPr marL="63500" lvl="0" algn="ctr">
                        <a:spcBef>
                          <a:spcPts val="310"/>
                        </a:spcBef>
                        <a:spcAft>
                          <a:spcPts val="0"/>
                        </a:spcAft>
                        <a:buNone/>
                      </a:pPr>
                      <a:r>
                        <a:rPr lang="en-US" sz="600" b="0" i="0" u="none" strike="noStrike" noProof="0" dirty="0">
                          <a:solidFill>
                            <a:srgbClr val="2D2926"/>
                          </a:solidFill>
                          <a:latin typeface="Century Gothic"/>
                        </a:rPr>
                        <a:t>REVIEWS</a:t>
                      </a:r>
                    </a:p>
                    <a:p>
                      <a:pPr marL="0" lvl="0" algn="ctr">
                        <a:lnSpc>
                          <a:spcPct val="100000"/>
                        </a:lnSpc>
                        <a:spcBef>
                          <a:spcPts val="0"/>
                        </a:spcBef>
                        <a:spcAft>
                          <a:spcPts val="0"/>
                        </a:spcAft>
                        <a:buNone/>
                      </a:pPr>
                      <a:r>
                        <a:rPr lang="en-US" sz="600" b="0" i="0" u="none" strike="noStrike" noProof="0" dirty="0">
                          <a:solidFill>
                            <a:srgbClr val="2D2926"/>
                          </a:solidFill>
                          <a:latin typeface="Century Gothic"/>
                        </a:rPr>
                        <a:t>Share a review someone has left on your Google profile, Facebook Page, or Yelp profile! This can help new prospects when gauging their options!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sz="600" dirty="0"/>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FUNNY MOMENT</a:t>
                      </a:r>
                    </a:p>
                    <a:p>
                      <a:pPr lvl="0" algn="ctr">
                        <a:lnSpc>
                          <a:spcPct val="100000"/>
                        </a:lnSpc>
                        <a:spcBef>
                          <a:spcPts val="0"/>
                        </a:spcBef>
                        <a:spcAft>
                          <a:spcPts val="0"/>
                        </a:spcAft>
                        <a:buNone/>
                      </a:pPr>
                      <a:r>
                        <a:rPr lang="en-US" sz="600" b="0" i="0" u="none" strike="noStrike" spc="0" noProof="0" dirty="0">
                          <a:solidFill>
                            <a:schemeClr val="bg1"/>
                          </a:solidFill>
                          <a:effectLst/>
                        </a:rPr>
                        <a:t>Bring a little lightness to your grid. Share out a silly gym post, whether that be a Reel from a trending topic or a quick, light-hearted quote.</a:t>
                      </a:r>
                    </a:p>
                  </a:txBody>
                  <a:tcPr marL="9525" marR="9525" marT="80772" marB="0"/>
                </a:tc>
                <a:extLst>
                  <a:ext uri="{0D108BD9-81ED-4DB2-BD59-A6C34878D82A}">
                    <a16:rowId xmlns:a16="http://schemas.microsoft.com/office/drawing/2014/main" val="4038034110"/>
                  </a:ext>
                </a:extLst>
              </a:tr>
              <a:tr h="1005820">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7</a:t>
                      </a:r>
                      <a:endParaRPr lang="en-US"/>
                    </a:p>
                    <a:p>
                      <a:pPr marL="63500" lvl="0" algn="ctr">
                        <a:spcBef>
                          <a:spcPts val="310"/>
                        </a:spcBef>
                        <a:spcAft>
                          <a:spcPts val="0"/>
                        </a:spcAft>
                        <a:buNone/>
                      </a:pPr>
                      <a:r>
                        <a:rPr lang="en-US" sz="600" b="0" i="0" u="none" strike="noStrike" spc="0" noProof="0" dirty="0">
                          <a:solidFill>
                            <a:srgbClr val="2D2926"/>
                          </a:solidFill>
                          <a:effectLst/>
                        </a:rPr>
                        <a:t>GETTING BACK IN FLOW</a:t>
                      </a:r>
                      <a:endParaRPr lang="en-US" dirty="0"/>
                    </a:p>
                    <a:p>
                      <a:pPr marL="63500" lvl="0" algn="ctr">
                        <a:spcBef>
                          <a:spcPts val="310"/>
                        </a:spcBef>
                        <a:spcAft>
                          <a:spcPts val="0"/>
                        </a:spcAft>
                        <a:buNone/>
                      </a:pPr>
                      <a:r>
                        <a:rPr lang="en-US" sz="600" b="0" i="0" u="none" strike="noStrike" spc="0" noProof="0" dirty="0">
                          <a:solidFill>
                            <a:srgbClr val="2D2926"/>
                          </a:solidFill>
                          <a:effectLst/>
                        </a:rPr>
                        <a:t>The holiday weekend is coming to a close and the Sunday </a:t>
                      </a:r>
                      <a:r>
                        <a:rPr lang="en-US" sz="600" b="0" i="0" u="none" strike="noStrike" spc="0" noProof="0" dirty="0" err="1">
                          <a:solidFill>
                            <a:srgbClr val="2D2926"/>
                          </a:solidFill>
                          <a:effectLst/>
                        </a:rPr>
                        <a:t>Scaries</a:t>
                      </a:r>
                      <a:r>
                        <a:rPr lang="en-US" sz="600" b="0" i="0" u="none" strike="noStrike" spc="0" noProof="0" dirty="0">
                          <a:solidFill>
                            <a:srgbClr val="2D2926"/>
                          </a:solidFill>
                          <a:effectLst/>
                        </a:rPr>
                        <a:t> are in FULL FORCE. Share tips or tricks on how to help ease back into life. </a:t>
                      </a:r>
                    </a:p>
                    <a:p>
                      <a:pPr lvl="0" algn="ctr">
                        <a:lnSpc>
                          <a:spcPct val="100000"/>
                        </a:lnSpc>
                        <a:spcBef>
                          <a:spcPts val="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8</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MINDFULNESS</a:t>
                      </a:r>
                    </a:p>
                    <a:p>
                      <a:pPr marL="63500" lvl="0" algn="ctr">
                        <a:spcBef>
                          <a:spcPts val="310"/>
                        </a:spcBef>
                        <a:spcAft>
                          <a:spcPts val="0"/>
                        </a:spcAft>
                        <a:buNone/>
                      </a:pPr>
                      <a:r>
                        <a:rPr lang="en-US" sz="600" b="0" i="0" u="none" strike="noStrike" spc="0" noProof="0" dirty="0">
                          <a:solidFill>
                            <a:schemeClr val="bg1"/>
                          </a:solidFill>
                          <a:effectLst/>
                        </a:rPr>
                        <a:t>Talk about how mindfulness can help with many different facets of life and how you can incorporate it in the gym or into your everyday routine.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FAMILY DINNER</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What is a crowd pleasing (and maybe even macro-friendly) healthy recipe you love to serve up? Share out a Reel or recipe card of a recipe that can serve multiple people!</a:t>
                      </a:r>
                      <a:endParaRPr lang="en-US" dirty="0"/>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p>
                      <a:pPr marL="63500" lvl="0" algn="ctr">
                        <a:spcBef>
                          <a:spcPts val="310"/>
                        </a:spcBef>
                        <a:spcAft>
                          <a:spcPts val="0"/>
                        </a:spcAft>
                        <a:buNone/>
                      </a:pPr>
                      <a:endParaRPr lang="en-US" sz="600" spc="0" dirty="0">
                        <a:solidFill>
                          <a:schemeClr val="bg1"/>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a:solidFill>
                          <a:srgbClr val="000000"/>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Use this </a:t>
                      </a:r>
                      <a:r>
                        <a:rPr lang="en-US" sz="600" b="0" i="0" u="none" strike="noStrike" spc="0" noProof="0" dirty="0">
                          <a:solidFill>
                            <a:srgbClr val="2D2926"/>
                          </a:solidFill>
                          <a:effectLst/>
                          <a:latin typeface="Century Gothic"/>
                          <a:hlinkClick r:id="rId2"/>
                        </a:rPr>
                        <a:t>Template</a:t>
                      </a:r>
                      <a:r>
                        <a:rPr lang="en-US" sz="600" b="0" i="0" u="none" strike="noStrike" spc="0" noProof="0" dirty="0">
                          <a:solidFill>
                            <a:schemeClr val="bg1"/>
                          </a:solidFill>
                          <a:effectLst/>
                          <a:latin typeface="Century Gothic"/>
                        </a:rPr>
                        <a:t> from the Brand Marketing Center to create a brand-aligned Member Spotlight for your Instagram! You can use the pin feature to pin this member for the month/week they are being celebrated!</a:t>
                      </a:r>
                      <a:endParaRPr lang="en-US"/>
                    </a:p>
                  </a:txBody>
                  <a:tcPr marL="9525" marR="9525" marT="80772" marB="0"/>
                </a:tc>
                <a:tc>
                  <a:txBody>
                    <a:bodyPr/>
                    <a:lstStyle/>
                    <a:p>
                      <a:pPr marL="63500" lvl="0" algn="ctr" rtl="0">
                        <a:spcBef>
                          <a:spcPts val="310"/>
                        </a:spcBef>
                        <a:spcAft>
                          <a:spcPts val="0"/>
                        </a:spcAft>
                        <a:buNone/>
                      </a:pPr>
                      <a:r>
                        <a:rPr lang="en-US" sz="600" u="none" spc="0" dirty="0">
                          <a:solidFill>
                            <a:schemeClr val="bg1"/>
                          </a:solidFill>
                          <a:effectLst/>
                        </a:rPr>
                        <a:t>11</a:t>
                      </a:r>
                      <a:endParaRPr lang="en-US" sz="600" u="none"/>
                    </a:p>
                    <a:p>
                      <a:pPr marL="63500" lvl="0" algn="ctr">
                        <a:spcBef>
                          <a:spcPts val="310"/>
                        </a:spcBef>
                        <a:spcAft>
                          <a:spcPts val="0"/>
                        </a:spcAft>
                        <a:buNone/>
                      </a:pPr>
                      <a:r>
                        <a:rPr lang="en-US" sz="600" b="0" i="0" u="none" strike="noStrike" spc="0" noProof="0" dirty="0">
                          <a:solidFill>
                            <a:schemeClr val="bg1"/>
                          </a:solidFill>
                          <a:effectLst/>
                          <a:latin typeface="Century Gothic"/>
                        </a:rPr>
                        <a:t>POP CULTURE MOMENT</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Share out a meme or create a Reel utilizing one of the recommended trending sounds to post. Tip: don't schedule this one more than a few days ahead.</a:t>
                      </a:r>
                      <a:endParaRPr lang="en-US"/>
                    </a:p>
                  </a:txBody>
                  <a:tcPr marL="9525" marR="9525" marT="80772" marB="0"/>
                </a:tc>
                <a:tc>
                  <a:txBody>
                    <a:bodyPr/>
                    <a:lstStyle/>
                    <a:p>
                      <a:pPr marL="63500" marR="0" lvl="0" indent="0" algn="ctr" rtl="0">
                        <a:spcBef>
                          <a:spcPts val="310"/>
                        </a:spcBef>
                        <a:spcAft>
                          <a:spcPts val="0"/>
                        </a:spcAft>
                        <a:buNone/>
                      </a:pPr>
                      <a:r>
                        <a:rPr lang="en-US" sz="600" spc="0" dirty="0">
                          <a:solidFill>
                            <a:schemeClr val="bg1"/>
                          </a:solidFill>
                          <a:effectLst/>
                        </a:rPr>
                        <a:t>12</a:t>
                      </a:r>
                      <a:br>
                        <a:rPr lang="en-US" sz="600" spc="0" dirty="0">
                          <a:solidFill>
                            <a:srgbClr val="2D2926"/>
                          </a:solidFill>
                          <a:effectLst/>
                        </a:rPr>
                      </a:br>
                      <a:r>
                        <a:rPr lang="en-US" sz="600" b="0" i="0" u="none" strike="noStrike" spc="0" noProof="0" dirty="0">
                          <a:solidFill>
                            <a:schemeClr val="bg1"/>
                          </a:solidFill>
                          <a:effectLst/>
                        </a:rPr>
                        <a:t>AMAZON PRIME DAYS</a:t>
                      </a:r>
                    </a:p>
                    <a:p>
                      <a:pPr marL="63500" marR="0" lvl="0" indent="0" algn="ctr">
                        <a:spcBef>
                          <a:spcPts val="310"/>
                        </a:spcBef>
                        <a:spcAft>
                          <a:spcPts val="0"/>
                        </a:spcAft>
                        <a:buNone/>
                      </a:pPr>
                      <a:r>
                        <a:rPr lang="en-US" sz="600" b="0" i="0" u="none" strike="noStrike" spc="0" noProof="0" dirty="0">
                          <a:solidFill>
                            <a:schemeClr val="bg1"/>
                          </a:solidFill>
                          <a:effectLst/>
                        </a:rPr>
                        <a:t>Prime Days are upon us and the deals are everywhere. If you want to get in on the conversation, share Amazon purchases that fuel your gym experience (ex: clothes, energy drinks, accessories, gym bags, </a:t>
                      </a:r>
                      <a:r>
                        <a:rPr lang="en-US" sz="600" b="0" i="0" u="none" strike="noStrike" spc="0" noProof="0" dirty="0" err="1">
                          <a:solidFill>
                            <a:schemeClr val="bg1"/>
                          </a:solidFill>
                          <a:effectLst/>
                        </a:rPr>
                        <a:t>etc</a:t>
                      </a:r>
                      <a:r>
                        <a:rPr lang="en-US" sz="600" b="0" i="0" u="none" strike="noStrike" spc="0" noProof="0" dirty="0">
                          <a:solidFill>
                            <a:schemeClr val="bg1"/>
                          </a:solidFill>
                          <a:effectLst/>
                        </a:rPr>
                        <a:t>)</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sz="600" dirty="0"/>
                    </a:p>
                    <a:p>
                      <a:pPr marL="63500" lvl="0" algn="ctr">
                        <a:spcBef>
                          <a:spcPts val="310"/>
                        </a:spcBef>
                        <a:spcAft>
                          <a:spcPts val="0"/>
                        </a:spcAft>
                        <a:buNone/>
                      </a:pPr>
                      <a:r>
                        <a:rPr lang="en-US" sz="600" spc="0" dirty="0">
                          <a:solidFill>
                            <a:schemeClr val="bg1"/>
                          </a:solidFill>
                          <a:effectLst/>
                        </a:rPr>
                        <a:t>AROUND TOWN</a:t>
                      </a:r>
                    </a:p>
                    <a:p>
                      <a:pPr marL="63500" lvl="0" algn="ctr">
                        <a:spcBef>
                          <a:spcPts val="310"/>
                        </a:spcBef>
                        <a:spcAft>
                          <a:spcPts val="0"/>
                        </a:spcAft>
                        <a:buNone/>
                      </a:pPr>
                      <a:r>
                        <a:rPr lang="en-US" sz="600" spc="0" dirty="0">
                          <a:solidFill>
                            <a:schemeClr val="bg1"/>
                          </a:solidFill>
                          <a:effectLst/>
                        </a:rPr>
                        <a:t>What's going on locally? Is there a little league baseball tournament? How about music in the park? Share what's going on around your area – ESPECIALLY if you will be present at the event!</a:t>
                      </a:r>
                    </a:p>
                    <a:p>
                      <a:pPr marL="63500" lvl="0" algn="ctr">
                        <a:spcBef>
                          <a:spcPts val="310"/>
                        </a:spcBef>
                        <a:spcAft>
                          <a:spcPts val="0"/>
                        </a:spcAft>
                        <a:buNone/>
                      </a:pPr>
                      <a:endParaRPr lang="en-US" sz="600" dirty="0"/>
                    </a:p>
                  </a:txBody>
                  <a:tcPr marL="9525" marR="9525" marT="80772" marB="0"/>
                </a:tc>
                <a:extLst>
                  <a:ext uri="{0D108BD9-81ED-4DB2-BD59-A6C34878D82A}">
                    <a16:rowId xmlns:a16="http://schemas.microsoft.com/office/drawing/2014/main" val="4289451183"/>
                  </a:ext>
                </a:extLst>
              </a:tr>
              <a:tr h="1202531">
                <a:tc>
                  <a:txBody>
                    <a:bodyPr/>
                    <a:lstStyle/>
                    <a:p>
                      <a:pPr marL="63500" lvl="0" algn="ctr" rtl="0">
                        <a:spcBef>
                          <a:spcPts val="310"/>
                        </a:spcBef>
                        <a:spcAft>
                          <a:spcPts val="0"/>
                        </a:spcAft>
                        <a:buNone/>
                      </a:pPr>
                      <a:r>
                        <a:rPr lang="en-US" sz="600" spc="0" dirty="0">
                          <a:solidFill>
                            <a:schemeClr val="bg1"/>
                          </a:solidFill>
                          <a:effectLst/>
                        </a:rPr>
                        <a:t>14</a:t>
                      </a:r>
                      <a:endParaRPr lang="en-US" sz="600">
                        <a:solidFill>
                          <a:schemeClr val="bg1"/>
                        </a:solidFill>
                      </a:endParaRPr>
                    </a:p>
                    <a:p>
                      <a:pPr lvl="0" algn="ctr">
                        <a:buNone/>
                      </a:pPr>
                      <a:r>
                        <a:rPr lang="en-US" sz="600" b="0" i="0" u="none" strike="noStrike" spc="0" noProof="0" dirty="0">
                          <a:solidFill>
                            <a:schemeClr val="bg1"/>
                          </a:solidFill>
                          <a:effectLst/>
                          <a:latin typeface="Century Gothic"/>
                        </a:rPr>
                        <a:t>MEMBER SUCCESS</a:t>
                      </a:r>
                    </a:p>
                    <a:p>
                      <a:pPr marL="63500" lvl="0" algn="ctr">
                        <a:spcBef>
                          <a:spcPts val="310"/>
                        </a:spcBef>
                        <a:spcAft>
                          <a:spcPts val="0"/>
                        </a:spcAft>
                        <a:buNone/>
                      </a:pPr>
                      <a:r>
                        <a:rPr lang="en-US" sz="600" b="0" i="0" u="none" strike="noStrike" noProof="0" dirty="0">
                          <a:solidFill>
                            <a:schemeClr val="bg1"/>
                          </a:solidFill>
                          <a:latin typeface="Century Gothic"/>
                        </a:rPr>
                        <a:t>This post is perfect to plan ahead and schedule! Share a success story of a member in your gym. Reminder: these results for "success" do not need to be life changing – even being able to get better sleep at night is a success to share!</a:t>
                      </a:r>
                    </a:p>
                    <a:p>
                      <a:pPr marL="63500" lvl="0" algn="ctr">
                        <a:spcBef>
                          <a:spcPts val="310"/>
                        </a:spcBef>
                        <a:spcAft>
                          <a:spcPts val="0"/>
                        </a:spcAft>
                        <a:buNone/>
                      </a:pP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15</a:t>
                      </a:r>
                      <a:endParaRPr lang="en-US" dirty="0"/>
                    </a:p>
                    <a:p>
                      <a:pPr marL="63500" lvl="0" algn="ctr">
                        <a:spcBef>
                          <a:spcPts val="310"/>
                        </a:spcBef>
                        <a:spcAft>
                          <a:spcPts val="0"/>
                        </a:spcAft>
                        <a:buNone/>
                      </a:pPr>
                      <a:r>
                        <a:rPr lang="en-US" sz="600" b="0" i="0" u="none" strike="noStrike" spc="0" noProof="0" dirty="0">
                          <a:solidFill>
                            <a:srgbClr val="2D2926"/>
                          </a:solidFill>
                          <a:effectLst/>
                        </a:rPr>
                        <a:t>RECIPE SHAREOUT</a:t>
                      </a:r>
                      <a:endParaRPr lang="en-US"/>
                    </a:p>
                    <a:p>
                      <a:pPr marL="63500" lvl="0" algn="ctr">
                        <a:spcBef>
                          <a:spcPts val="310"/>
                        </a:spcBef>
                        <a:spcAft>
                          <a:spcPts val="0"/>
                        </a:spcAft>
                        <a:buNone/>
                      </a:pPr>
                      <a:r>
                        <a:rPr lang="en-US" sz="600" b="0" i="0" u="none" strike="noStrike" spc="0" noProof="0" dirty="0">
                          <a:solidFill>
                            <a:srgbClr val="2D2926"/>
                          </a:solidFill>
                          <a:effectLst/>
                        </a:rPr>
                        <a:t>Create or share a recipe out on your page! Putting the instructions in another slide to create a carousel or in the caption to promote users to save your post for later!</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60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MOBILITY</a:t>
                      </a:r>
                    </a:p>
                    <a:p>
                      <a:pPr marL="63500" lvl="0" algn="ctr">
                        <a:spcBef>
                          <a:spcPts val="310"/>
                        </a:spcBef>
                        <a:spcAft>
                          <a:spcPts val="0"/>
                        </a:spcAft>
                        <a:buNone/>
                      </a:pPr>
                      <a:r>
                        <a:rPr lang="en-US" sz="600" b="0" i="0" u="none" strike="noStrike" spc="0" noProof="0" dirty="0">
                          <a:solidFill>
                            <a:schemeClr val="bg1"/>
                          </a:solidFill>
                          <a:effectLst/>
                        </a:rPr>
                        <a:t>Mobility is huge buzzword in the fitness industry, and for good reason! Share a mobility routine for a certain area of the body or for a certain consumer group, such as office workers or blue-collar laborers.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sz="600" b="0" i="0" u="none" strike="noStrike" spc="0" noProof="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NATIONAL TATTOO DAY</a:t>
                      </a:r>
                    </a:p>
                    <a:p>
                      <a:pPr marL="63500" lvl="0" algn="ctr">
                        <a:spcBef>
                          <a:spcPts val="310"/>
                        </a:spcBef>
                        <a:spcAft>
                          <a:spcPts val="0"/>
                        </a:spcAft>
                        <a:buNone/>
                      </a:pPr>
                      <a:r>
                        <a:rPr lang="en-US" sz="600" b="0" i="0" u="none" strike="noStrike" spc="0" noProof="0" dirty="0">
                          <a:solidFill>
                            <a:schemeClr val="bg1"/>
                          </a:solidFill>
                          <a:effectLst/>
                          <a:latin typeface="Century Gothic"/>
                        </a:rPr>
                        <a:t>Show off those AF tattoos! Whether you’re an owner, staff or member – we </a:t>
                      </a:r>
                      <a:r>
                        <a:rPr lang="en-US" sz="600" b="0" i="0" u="none" strike="noStrike" spc="0" noProof="0" dirty="0" err="1">
                          <a:solidFill>
                            <a:schemeClr val="bg1"/>
                          </a:solidFill>
                          <a:effectLst/>
                          <a:latin typeface="Century Gothic"/>
                        </a:rPr>
                        <a:t>wanna</a:t>
                      </a:r>
                      <a:r>
                        <a:rPr lang="en-US" sz="600" b="0" i="0" u="none" strike="noStrike" spc="0" noProof="0" dirty="0">
                          <a:solidFill>
                            <a:schemeClr val="bg1"/>
                          </a:solidFill>
                          <a:effectLst/>
                          <a:latin typeface="Century Gothic"/>
                        </a:rPr>
                        <a:t> see '</a:t>
                      </a:r>
                      <a:r>
                        <a:rPr lang="en-US" sz="600" b="0" i="0" u="none" strike="noStrike" spc="0" noProof="0" dirty="0" err="1">
                          <a:solidFill>
                            <a:schemeClr val="bg1"/>
                          </a:solidFill>
                          <a:effectLst/>
                          <a:latin typeface="Century Gothic"/>
                        </a:rPr>
                        <a:t>em</a:t>
                      </a:r>
                      <a:r>
                        <a:rPr lang="en-US" sz="600" b="0" i="0" u="none" strike="noStrike" spc="0" noProof="0" dirty="0">
                          <a:solidFill>
                            <a:schemeClr val="bg1"/>
                          </a:solidFill>
                          <a:effectLst/>
                          <a:latin typeface="Century Gothic"/>
                        </a:rPr>
                        <a:t>! And don't forget to tag @anytimefitness.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endParaRPr lang="en-US" sz="600"/>
                    </a:p>
                    <a:p>
                      <a:pPr marL="63500" lvl="0" algn="ctr">
                        <a:spcBef>
                          <a:spcPts val="310"/>
                        </a:spcBef>
                        <a:spcAft>
                          <a:spcPts val="0"/>
                        </a:spcAft>
                        <a:buNone/>
                      </a:pPr>
                      <a:r>
                        <a:rPr lang="en-US" sz="600" b="0" i="0" u="none" strike="noStrike" spc="0" noProof="0" dirty="0">
                          <a:solidFill>
                            <a:schemeClr val="bg1"/>
                          </a:solidFill>
                          <a:effectLst/>
                          <a:latin typeface="Century Gothic"/>
                        </a:rPr>
                        <a:t>MEET THE CREW</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Whether it's your member of the month or a new staff member, introduce, or RE-introduce, this person to your social page and share a small bio about how they are involved in your gym fam!</a:t>
                      </a:r>
                      <a:endParaRPr lang="en-US"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sz="600"/>
                    </a:p>
                    <a:p>
                      <a:pPr marL="63500" lvl="0" algn="ctr">
                        <a:spcBef>
                          <a:spcPts val="310"/>
                        </a:spcBef>
                        <a:spcAft>
                          <a:spcPts val="0"/>
                        </a:spcAft>
                        <a:buNone/>
                      </a:pPr>
                      <a:r>
                        <a:rPr lang="en-US" sz="600" spc="0" dirty="0">
                          <a:solidFill>
                            <a:schemeClr val="bg1"/>
                          </a:solidFill>
                          <a:effectLst/>
                        </a:rPr>
                        <a:t>CLASSES</a:t>
                      </a:r>
                    </a:p>
                    <a:p>
                      <a:pPr marL="63500" lvl="0" algn="ctr">
                        <a:spcBef>
                          <a:spcPts val="310"/>
                        </a:spcBef>
                        <a:spcAft>
                          <a:spcPts val="0"/>
                        </a:spcAft>
                        <a:buNone/>
                      </a:pPr>
                      <a:r>
                        <a:rPr lang="en-US" sz="600" spc="0" dirty="0">
                          <a:solidFill>
                            <a:schemeClr val="bg1"/>
                          </a:solidFill>
                          <a:effectLst/>
                        </a:rPr>
                        <a:t>Share your class schedule! When and how can someone join in on the group fitness fun? Or share a Reel of a sneak peak for an upcoming class. </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sz="600"/>
                    </a:p>
                    <a:p>
                      <a:pPr marL="63500" lvl="0" algn="ctr">
                        <a:spcBef>
                          <a:spcPts val="310"/>
                        </a:spcBef>
                        <a:spcAft>
                          <a:spcPts val="0"/>
                        </a:spcAft>
                        <a:buNone/>
                      </a:pPr>
                      <a:r>
                        <a:rPr lang="en-US" sz="600" b="0" i="0" u="none" strike="noStrike" spc="0" noProof="0" dirty="0">
                          <a:solidFill>
                            <a:schemeClr val="bg1"/>
                          </a:solidFill>
                          <a:effectLst/>
                          <a:latin typeface="Century Gothic"/>
                        </a:rPr>
                        <a:t>VACATION HACK</a:t>
                      </a:r>
                    </a:p>
                    <a:p>
                      <a:pPr marL="63500" lvl="0" algn="ctr">
                        <a:spcBef>
                          <a:spcPts val="310"/>
                        </a:spcBef>
                        <a:spcAft>
                          <a:spcPts val="0"/>
                        </a:spcAft>
                        <a:buNone/>
                      </a:pPr>
                      <a:r>
                        <a:rPr lang="en-US" sz="600" b="0" i="0" u="none" strike="noStrike" spc="0" noProof="0" dirty="0">
                          <a:solidFill>
                            <a:schemeClr val="bg1"/>
                          </a:solidFill>
                          <a:effectLst/>
                          <a:latin typeface="Century Gothic"/>
                        </a:rPr>
                        <a:t>How do you stay on track of nutrition while vacationing - especially with all that yummy food and fun drinks that could be present? Share tips on how to take the guilt out of having fun while staying on track. </a:t>
                      </a:r>
                    </a:p>
                  </a:txBody>
                  <a:tcPr marL="9525" marR="9525" marT="80772" marB="0"/>
                </a:tc>
                <a:extLst>
                  <a:ext uri="{0D108BD9-81ED-4DB2-BD59-A6C34878D82A}">
                    <a16:rowId xmlns:a16="http://schemas.microsoft.com/office/drawing/2014/main" val="3005291295"/>
                  </a:ext>
                </a:extLst>
              </a:tr>
              <a:tr h="1141437">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600"/>
                    </a:p>
                    <a:p>
                      <a:pPr lvl="0" algn="ctr">
                        <a:buNone/>
                      </a:pPr>
                      <a:r>
                        <a:rPr lang="en-US" sz="600" b="0" i="0" u="none" strike="noStrike" spc="0" noProof="0" dirty="0">
                          <a:solidFill>
                            <a:schemeClr val="bg1"/>
                          </a:solidFill>
                          <a:effectLst/>
                          <a:latin typeface="Century Gothic"/>
                        </a:rPr>
                        <a:t>GROCERY LIST</a:t>
                      </a:r>
                    </a:p>
                    <a:p>
                      <a:pPr lvl="0" algn="ctr">
                        <a:buNone/>
                      </a:pPr>
                      <a:r>
                        <a:rPr lang="en-US" sz="600" b="0" i="0" u="none" strike="noStrike" spc="0" noProof="0" dirty="0">
                          <a:solidFill>
                            <a:schemeClr val="bg1"/>
                          </a:solidFill>
                          <a:effectLst/>
                          <a:latin typeface="Century Gothic"/>
                        </a:rPr>
                        <a:t>What are your grocery list staples? Share helpful tips on how to navigate the chaos of the grocery store while on the hunt for foods that fuel your fitness journey.</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22</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 App-</a:t>
                      </a:r>
                      <a:r>
                        <a:rPr lang="en-US" sz="600" b="0" i="0" u="none" strike="noStrike" spc="0" noProof="0" err="1">
                          <a:solidFill>
                            <a:schemeClr val="bg1"/>
                          </a:solidFill>
                          <a:effectLst/>
                          <a:latin typeface="Century Gothic"/>
                        </a:rPr>
                        <a:t>titude</a:t>
                      </a:r>
                      <a:endParaRPr lang="en-US" sz="600" b="0" i="0" u="none" strike="noStrike" spc="0" noProof="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The AF Access Pass is a great accessory helping make healthy happen anywhere, </a:t>
                      </a:r>
                      <a:r>
                        <a:rPr lang="en-US" sz="600" b="0" i="0" u="none" strike="noStrike" spc="0" noProof="0" dirty="0" err="1">
                          <a:solidFill>
                            <a:schemeClr val="bg1"/>
                          </a:solidFill>
                          <a:effectLst/>
                          <a:latin typeface="Century Gothic"/>
                        </a:rPr>
                        <a:t>anyTIME</a:t>
                      </a:r>
                      <a:r>
                        <a:rPr lang="en-US" sz="600" b="0" i="0" u="none" strike="noStrike" spc="0" noProof="0" dirty="0">
                          <a:solidFill>
                            <a:schemeClr val="bg1"/>
                          </a:solidFill>
                          <a:effectLst/>
                          <a:latin typeface="Century Gothic"/>
                        </a:rPr>
                        <a:t>! Share a post educating your following on Access Pass and how it can help make getting to the gym even easier. Reminder: Access Pass is only available in the USA and Australia at this time. </a:t>
                      </a:r>
                      <a:endParaRPr lang="en-US"/>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sz="60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YUMMY EATS</a:t>
                      </a:r>
                    </a:p>
                    <a:p>
                      <a:pPr marL="63500" lvl="0" algn="ctr">
                        <a:spcBef>
                          <a:spcPts val="310"/>
                        </a:spcBef>
                        <a:spcAft>
                          <a:spcPts val="0"/>
                        </a:spcAft>
                        <a:buNone/>
                      </a:pPr>
                      <a:r>
                        <a:rPr lang="en-US" sz="600" b="0" i="0" u="none" strike="noStrike" spc="0" noProof="0" dirty="0">
                          <a:solidFill>
                            <a:srgbClr val="2D2926"/>
                          </a:solidFill>
                          <a:effectLst/>
                        </a:rPr>
                        <a:t>Personalize a recipe by sharing out a recipe that has in-season produce or something you can find locally. This is the perfect time to create a Reel!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24</a:t>
                      </a:r>
                      <a:endParaRPr lang="en-US" sz="600" b="0" i="0" u="none" strike="noStrike" spc="0" noProof="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#TRENDING</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Use a sound from the Trending Sounds slide to give your algorithm a boost. Interacting and creating content using Instagram's Reels is a great way to show the algorithm you like to participate in what's popular on the app. </a:t>
                      </a:r>
                      <a:endParaRPr lang="en-US" dirty="0"/>
                    </a:p>
                  </a:txBody>
                  <a:tcPr marL="9525" marR="9525"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latin typeface="Century Gothic"/>
                        </a:rPr>
                        <a:t>HEALTH BENEFITS</a:t>
                      </a:r>
                    </a:p>
                    <a:p>
                      <a:pPr marL="63500" lvl="0" algn="ctr">
                        <a:spcBef>
                          <a:spcPts val="310"/>
                        </a:spcBef>
                        <a:spcAft>
                          <a:spcPts val="0"/>
                        </a:spcAft>
                        <a:buNone/>
                      </a:pPr>
                      <a:r>
                        <a:rPr lang="en-US" sz="600" b="0" i="0" u="none" strike="noStrike" noProof="0" dirty="0">
                          <a:solidFill>
                            <a:srgbClr val="2D2926"/>
                          </a:solidFill>
                          <a:latin typeface="Century Gothic"/>
                        </a:rPr>
                        <a:t>What health benefits does working out, or a specific type of workout, promote. Pro tip: poll your community through Stories to find out what they are looking for. </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sz="600"/>
                    </a:p>
                    <a:p>
                      <a:pPr marL="63500" lvl="0" algn="ctr">
                        <a:spcBef>
                          <a:spcPts val="310"/>
                        </a:spcBef>
                        <a:spcAft>
                          <a:spcPts val="0"/>
                        </a:spcAft>
                        <a:buNone/>
                      </a:pPr>
                      <a:r>
                        <a:rPr lang="en-US" sz="600" b="0" i="0" u="none" strike="noStrike" spc="0" noProof="0" dirty="0">
                          <a:solidFill>
                            <a:schemeClr val="bg1"/>
                          </a:solidFill>
                          <a:effectLst/>
                          <a:latin typeface="Century Gothic"/>
                        </a:rPr>
                        <a:t>GROUP TRAINING</a:t>
                      </a:r>
                      <a:endParaRPr lang="en-US"/>
                    </a:p>
                    <a:p>
                      <a:pPr marL="63500" lvl="0" algn="ctr">
                        <a:spcBef>
                          <a:spcPts val="310"/>
                        </a:spcBef>
                        <a:spcAft>
                          <a:spcPts val="0"/>
                        </a:spcAft>
                        <a:buNone/>
                      </a:pPr>
                      <a:r>
                        <a:rPr lang="en-US" sz="600" b="0" i="0" u="none" strike="noStrike" spc="0" noProof="0" dirty="0">
                          <a:solidFill>
                            <a:schemeClr val="bg1"/>
                          </a:solidFill>
                          <a:effectLst/>
                          <a:latin typeface="Century Gothic"/>
                        </a:rPr>
                        <a:t>Showcase your class schedule or images and videos from live inside your Group Training time.</a:t>
                      </a:r>
                      <a:endParaRPr lang="en-US"/>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BENEFITS OF PERSONAL TRAINING</a:t>
                      </a:r>
                    </a:p>
                    <a:p>
                      <a:pPr marL="63500" lvl="0" algn="ctr">
                        <a:spcBef>
                          <a:spcPts val="310"/>
                        </a:spcBef>
                        <a:spcAft>
                          <a:spcPts val="0"/>
                        </a:spcAft>
                        <a:buNone/>
                      </a:pPr>
                      <a:r>
                        <a:rPr lang="en-US" sz="600" b="0" i="0" u="none" strike="noStrike" spc="0" noProof="0" dirty="0">
                          <a:solidFill>
                            <a:srgbClr val="2D2926"/>
                          </a:solidFill>
                          <a:effectLst/>
                        </a:rPr>
                        <a:t>What are the benefits of working with a Coach at AF? Why should someone take the next steps? Share and show how Coaching takes you to a new level in your fitness journey. </a:t>
                      </a:r>
                    </a:p>
                  </a:txBody>
                  <a:tcPr marL="9524" marR="9524" marT="80772" marB="0"/>
                </a:tc>
                <a:extLst>
                  <a:ext uri="{0D108BD9-81ED-4DB2-BD59-A6C34878D82A}">
                    <a16:rowId xmlns:a16="http://schemas.microsoft.com/office/drawing/2014/main" val="2870796117"/>
                  </a:ext>
                </a:extLst>
              </a:tr>
              <a:tr h="1244395">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p>
                    <a:p>
                      <a:pPr marL="63500" lvl="0" algn="ctr">
                        <a:spcBef>
                          <a:spcPts val="310"/>
                        </a:spcBef>
                        <a:spcAft>
                          <a:spcPts val="0"/>
                        </a:spcAft>
                        <a:buNone/>
                      </a:pPr>
                      <a:r>
                        <a:rPr lang="en-US" sz="600" b="0" i="0" u="none" strike="noStrike" spc="0" noProof="0" dirty="0">
                          <a:solidFill>
                            <a:schemeClr val="bg1"/>
                          </a:solidFill>
                          <a:effectLst/>
                          <a:latin typeface="Century Gothic"/>
                        </a:rPr>
                        <a:t>WALK IT OUT</a:t>
                      </a:r>
                    </a:p>
                    <a:p>
                      <a:pPr marL="63500" lvl="0" algn="ctr">
                        <a:spcBef>
                          <a:spcPts val="310"/>
                        </a:spcBef>
                        <a:spcAft>
                          <a:spcPts val="0"/>
                        </a:spcAft>
                        <a:buNone/>
                      </a:pPr>
                      <a:r>
                        <a:rPr lang="en-US" sz="600" b="0" i="0" u="none" strike="noStrike" spc="0" noProof="0">
                          <a:solidFill>
                            <a:schemeClr val="bg1"/>
                          </a:solidFill>
                          <a:effectLst/>
                          <a:latin typeface="Century Gothic"/>
                        </a:rPr>
                        <a:t>Who doesn't a little sunshine and fresh air?!  </a:t>
                      </a:r>
                      <a:r>
                        <a:rPr lang="en-US" sz="600" b="0" i="0" u="none" strike="noStrike" spc="0" noProof="0" dirty="0">
                          <a:solidFill>
                            <a:schemeClr val="bg1"/>
                          </a:solidFill>
                          <a:effectLst/>
                          <a:latin typeface="Century Gothic"/>
                        </a:rPr>
                        <a:t>Share a stat about how implementing walks into your routine can improve X. You can also take this in a different direction by compiling "Add Your Music" sticker suggestions and compiling an AF playlists for users to jam out to on their walk!</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29</a:t>
                      </a:r>
                      <a:endParaRPr lang="en-US" sz="600" b="0" i="0" u="none" strike="noStrike" spc="0" noProof="0">
                        <a:solidFill>
                          <a:srgbClr val="2D2926"/>
                        </a:solidFill>
                        <a:effectLst/>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STAFF SHOUTOUT</a:t>
                      </a:r>
                    </a:p>
                    <a:p>
                      <a:pPr marL="63500" lvl="0" algn="ctr">
                        <a:spcBef>
                          <a:spcPts val="310"/>
                        </a:spcBef>
                        <a:spcAft>
                          <a:spcPts val="0"/>
                        </a:spcAft>
                        <a:buNone/>
                      </a:pPr>
                      <a:r>
                        <a:rPr lang="en-US" sz="600" b="0" i="0" u="none" strike="noStrike" spc="0" noProof="0" dirty="0">
                          <a:solidFill>
                            <a:srgbClr val="2D2926"/>
                          </a:solidFill>
                          <a:effectLst/>
                          <a:latin typeface="Century Gothic"/>
                        </a:rPr>
                        <a:t>Have an absolute rockstar on staff that deserves some celebrating? Post  their accomplishments on your feed and help celebrate all their hard work! </a:t>
                      </a:r>
                      <a:endParaRPr lang="en-US"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30</a:t>
                      </a:r>
                      <a:endParaRPr lang="en-US" sz="600" b="0" i="0" u="none" strike="noStrike" noProof="0" dirty="0">
                        <a:solidFill>
                          <a:srgbClr val="2D2926"/>
                        </a:solidFill>
                        <a:effectLst/>
                        <a:latin typeface="Century Gothic"/>
                      </a:endParaRPr>
                    </a:p>
                    <a:p>
                      <a:pPr marL="63500" lvl="0" algn="ctr">
                        <a:spcBef>
                          <a:spcPts val="310"/>
                        </a:spcBef>
                        <a:spcAft>
                          <a:spcPts val="0"/>
                        </a:spcAft>
                        <a:buNone/>
                      </a:pPr>
                      <a:r>
                        <a:rPr lang="en-US" sz="600" b="0" i="0" u="none" strike="noStrike" noProof="0" dirty="0">
                          <a:solidFill>
                            <a:schemeClr val="bg1"/>
                          </a:solidFill>
                          <a:effectLst/>
                          <a:latin typeface="Century Gothic"/>
                        </a:rPr>
                        <a:t>STRENGTH MOVEMENT</a:t>
                      </a:r>
                      <a:endParaRPr lang="en-US" sz="600" b="0" i="0" u="none" strike="noStrike" noProof="0" dirty="0">
                        <a:solidFill>
                          <a:srgbClr val="2D2926"/>
                        </a:solidFill>
                        <a:effectLst/>
                        <a:latin typeface="Century Gothic"/>
                      </a:endParaRPr>
                    </a:p>
                    <a:p>
                      <a:pPr marL="63500" lvl="0" algn="ctr">
                        <a:spcBef>
                          <a:spcPts val="310"/>
                        </a:spcBef>
                        <a:spcAft>
                          <a:spcPts val="0"/>
                        </a:spcAft>
                        <a:buNone/>
                      </a:pPr>
                      <a:r>
                        <a:rPr lang="en-US" sz="600" b="0" i="0" u="none" strike="noStrike" noProof="0" dirty="0">
                          <a:solidFill>
                            <a:schemeClr val="bg1"/>
                          </a:solidFill>
                          <a:effectLst/>
                          <a:latin typeface="Century Gothic"/>
                        </a:rPr>
                        <a:t>Show off a strength movement and how to advance the movement for those who are looking to up a certain aspect of their workout regimen. Challenge your followers to implement the movement in their workouts this week!</a:t>
                      </a:r>
                      <a:endParaRPr lang="en-US" sz="600" b="0" i="0" u="none" strike="noStrike" noProof="0" dirty="0">
                        <a:solidFill>
                          <a:srgbClr val="2D2926"/>
                        </a:solidFill>
                        <a:effectLst/>
                        <a:latin typeface="Century Gothic"/>
                      </a:endParaRPr>
                    </a:p>
                    <a:p>
                      <a:pPr marL="63500" lvl="0" algn="ctr">
                        <a:spcBef>
                          <a:spcPts val="310"/>
                        </a:spcBef>
                        <a:spcAft>
                          <a:spcPts val="0"/>
                        </a:spcAft>
                        <a:buNone/>
                      </a:pPr>
                      <a:endParaRPr lang="en-US" sz="600" b="0" i="0" u="none" strike="noStrike"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extLst>
                  <a:ext uri="{0D108BD9-81ED-4DB2-BD59-A6C34878D82A}">
                    <a16:rowId xmlns:a16="http://schemas.microsoft.com/office/drawing/2014/main" val="369740655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35E5430-EEA6-436D-B9C1-A83A0D7B6012}"/>
              </a:ext>
            </a:extLst>
          </p:cNvPr>
          <p:cNvSpPr>
            <a:spLocks noGrp="1"/>
          </p:cNvSpPr>
          <p:nvPr>
            <p:ph type="title"/>
          </p:nvPr>
        </p:nvSpPr>
        <p:spPr/>
        <p:txBody>
          <a:bodyPr/>
          <a:lstStyle/>
          <a:p>
            <a:r>
              <a:rPr lang="en-US" dirty="0"/>
              <a:t>Social Media industry news and updates</a:t>
            </a:r>
            <a:endParaRPr lang="en-US" sz="1400" dirty="0">
              <a:solidFill>
                <a:schemeClr val="accent4"/>
              </a:solidFill>
            </a:endParaRPr>
          </a:p>
        </p:txBody>
      </p:sp>
      <p:sp>
        <p:nvSpPr>
          <p:cNvPr id="13" name="Text Placeholder 12">
            <a:extLst>
              <a:ext uri="{FF2B5EF4-FFF2-40B4-BE49-F238E27FC236}">
                <a16:creationId xmlns:a16="http://schemas.microsoft.com/office/drawing/2014/main" id="{8F7FC6A1-79EA-4CB3-B173-2A3F298A4EE8}"/>
              </a:ext>
            </a:extLst>
          </p:cNvPr>
          <p:cNvSpPr>
            <a:spLocks noGrp="1"/>
          </p:cNvSpPr>
          <p:nvPr>
            <p:ph type="body" sz="quarter" idx="13"/>
          </p:nvPr>
        </p:nvSpPr>
        <p:spPr/>
        <p:txBody>
          <a:bodyPr/>
          <a:lstStyle/>
          <a:p>
            <a:r>
              <a:rPr lang="en-US"/>
              <a:t>Need Marketing assistance?</a:t>
            </a:r>
            <a:endParaRPr lang="en-US" sz="1400">
              <a:solidFill>
                <a:schemeClr val="accent4"/>
              </a:solidFill>
            </a:endParaRPr>
          </a:p>
        </p:txBody>
      </p:sp>
      <p:sp>
        <p:nvSpPr>
          <p:cNvPr id="4" name="Content Placeholder 3">
            <a:extLst>
              <a:ext uri="{FF2B5EF4-FFF2-40B4-BE49-F238E27FC236}">
                <a16:creationId xmlns:a16="http://schemas.microsoft.com/office/drawing/2014/main" id="{0A3DAE59-DCB6-426A-A90E-AE5211F625E9}"/>
              </a:ext>
            </a:extLst>
          </p:cNvPr>
          <p:cNvSpPr>
            <a:spLocks noGrp="1"/>
          </p:cNvSpPr>
          <p:nvPr>
            <p:ph sz="quarter" idx="14"/>
          </p:nvPr>
        </p:nvSpPr>
        <p:spPr/>
        <p:txBody>
          <a:bodyPr vert="horz" lIns="0" tIns="0" rIns="0" bIns="0" rtlCol="0" anchor="t">
            <a:noAutofit/>
          </a:bodyPr>
          <a:lstStyle/>
          <a:p>
            <a:pPr rtl="0"/>
            <a:r>
              <a:rPr lang="en-US" sz="1600" u="sng" strike="noStrike" dirty="0">
                <a:solidFill>
                  <a:srgbClr val="467886"/>
                </a:solidFill>
                <a:latin typeface="Aptos"/>
                <a:ea typeface="Segoe UI"/>
                <a:cs typeface="Segoe UI"/>
                <a:hlinkClick r:id="rId2"/>
              </a:rPr>
              <a:t>Facebook Renews Focus on Young Users</a:t>
            </a:r>
            <a:r>
              <a:rPr lang="en-US" sz="1600" dirty="0">
                <a:latin typeface="Aptos"/>
                <a:ea typeface="Segoe UI"/>
                <a:cs typeface="Segoe UI"/>
              </a:rPr>
              <a:t> </a:t>
            </a:r>
          </a:p>
          <a:p>
            <a:pPr rtl="0"/>
            <a:r>
              <a:rPr lang="en-US" sz="1600" u="sng" strike="noStrike" dirty="0">
                <a:solidFill>
                  <a:srgbClr val="467886"/>
                </a:solidFill>
                <a:latin typeface="Aptos"/>
                <a:ea typeface="Segoe UI"/>
                <a:cs typeface="Segoe UI"/>
                <a:hlinkClick r:id="rId3"/>
              </a:rPr>
              <a:t>Instagram Says Using Certain CTAs Can Impact Post Reach</a:t>
            </a:r>
            <a:r>
              <a:rPr lang="en-US" sz="1600" dirty="0">
                <a:latin typeface="Aptos"/>
                <a:ea typeface="Segoe UI"/>
                <a:cs typeface="Segoe UI"/>
              </a:rPr>
              <a:t>  </a:t>
            </a:r>
          </a:p>
          <a:p>
            <a:pPr rtl="0"/>
            <a:r>
              <a:rPr lang="en-US" sz="1600" u="sng" strike="noStrike" dirty="0">
                <a:solidFill>
                  <a:srgbClr val="467886"/>
                </a:solidFill>
                <a:latin typeface="Aptos"/>
                <a:ea typeface="Segoe UI"/>
                <a:cs typeface="Segoe UI"/>
                <a:hlinkClick r:id="rId4"/>
              </a:rPr>
              <a:t>Instagram Shares More Info on the Distribution of Longer Reels Clips</a:t>
            </a:r>
            <a:r>
              <a:rPr lang="en-US" sz="1600" dirty="0">
                <a:latin typeface="Aptos"/>
                <a:ea typeface="Segoe UI"/>
                <a:cs typeface="Segoe UI"/>
              </a:rPr>
              <a:t> </a:t>
            </a:r>
          </a:p>
          <a:p>
            <a:pPr rtl="0"/>
            <a:r>
              <a:rPr lang="en-US" sz="1600" u="sng" strike="noStrike" dirty="0">
                <a:solidFill>
                  <a:srgbClr val="467886"/>
                </a:solidFill>
                <a:latin typeface="Aptos"/>
                <a:ea typeface="Segoe UI"/>
                <a:cs typeface="Segoe UI"/>
                <a:hlinkClick r:id="rId5"/>
              </a:rPr>
              <a:t>Instagram Rolls Out New Notes Features, Including Likes</a:t>
            </a:r>
            <a:r>
              <a:rPr lang="en-US" sz="1600" dirty="0">
                <a:latin typeface="Aptos"/>
                <a:ea typeface="Segoe UI"/>
                <a:cs typeface="Segoe UI"/>
              </a:rPr>
              <a:t> </a:t>
            </a:r>
          </a:p>
          <a:p>
            <a:pPr rtl="0"/>
            <a:r>
              <a:rPr lang="en-US" sz="1600" u="sng" strike="noStrike" dirty="0">
                <a:solidFill>
                  <a:srgbClr val="467886"/>
                </a:solidFill>
                <a:latin typeface="Aptos"/>
                <a:ea typeface="Segoe UI"/>
                <a:cs typeface="Segoe UI"/>
                <a:hlinkClick r:id="rId6"/>
              </a:rPr>
              <a:t>Instagram Adds New Features for Broadcast Channels</a:t>
            </a:r>
            <a:r>
              <a:rPr lang="en-US" sz="1600" dirty="0">
                <a:latin typeface="Aptos"/>
                <a:ea typeface="Segoe UI"/>
                <a:cs typeface="Segoe UI"/>
              </a:rPr>
              <a:t> </a:t>
            </a:r>
            <a:endParaRPr lang="en-US" sz="1600" dirty="0"/>
          </a:p>
        </p:txBody>
      </p:sp>
      <p:sp>
        <p:nvSpPr>
          <p:cNvPr id="5" name="Content Placeholder 4">
            <a:extLst>
              <a:ext uri="{FF2B5EF4-FFF2-40B4-BE49-F238E27FC236}">
                <a16:creationId xmlns:a16="http://schemas.microsoft.com/office/drawing/2014/main" id="{257AED90-BC99-45AC-AC78-53FD365D0606}"/>
              </a:ext>
            </a:extLst>
          </p:cNvPr>
          <p:cNvSpPr>
            <a:spLocks noGrp="1"/>
          </p:cNvSpPr>
          <p:nvPr>
            <p:ph sz="quarter" idx="15"/>
          </p:nvPr>
        </p:nvSpPr>
        <p:spPr/>
        <p:txBody>
          <a:bodyPr vert="horz" lIns="0" tIns="0" rIns="0" bIns="0" rtlCol="0" anchor="t">
            <a:noAutofit/>
          </a:bodyPr>
          <a:lstStyle/>
          <a:p>
            <a:pPr marL="285750" indent="-285750">
              <a:spcBef>
                <a:spcPts val="1000"/>
              </a:spcBef>
              <a:buFont typeface="Arial"/>
              <a:buChar char="•"/>
            </a:pPr>
            <a:r>
              <a:rPr lang="en-US" sz="1600" dirty="0">
                <a:latin typeface="Arial"/>
                <a:cs typeface="Arial"/>
              </a:rPr>
              <a:t>Marketing Support Inbox:</a:t>
            </a:r>
          </a:p>
          <a:p>
            <a:pPr marL="285750" indent="-285750">
              <a:spcBef>
                <a:spcPts val="1000"/>
              </a:spcBef>
              <a:buFont typeface="Arial"/>
              <a:buChar char="•"/>
            </a:pPr>
            <a:r>
              <a:rPr lang="en-US" sz="1600" dirty="0">
                <a:latin typeface="Arial"/>
                <a:cs typeface="Arial"/>
                <a:hlinkClick r:id="rId7"/>
              </a:rPr>
              <a:t>https://jira.sebrands.com/plugins/servlet/desk/site/af/</a:t>
            </a:r>
            <a:endParaRPr lang="en-US" sz="1600" dirty="0">
              <a:latin typeface="Arial"/>
              <a:cs typeface="Arial"/>
            </a:endParaRPr>
          </a:p>
          <a:p>
            <a:pPr marL="285750" indent="-285750">
              <a:spcBef>
                <a:spcPts val="1000"/>
              </a:spcBef>
              <a:buFont typeface="Arial"/>
              <a:buChar char="•"/>
            </a:pPr>
            <a:endParaRPr lang="en-US" sz="1600" dirty="0">
              <a:latin typeface="Arial"/>
              <a:cs typeface="Arial"/>
            </a:endParaRPr>
          </a:p>
          <a:p>
            <a:pPr marL="285750" indent="-285750">
              <a:spcBef>
                <a:spcPts val="1000"/>
              </a:spcBef>
              <a:buFont typeface="Arial"/>
              <a:buChar char="•"/>
            </a:pPr>
            <a:r>
              <a:rPr lang="en-US" sz="1600" dirty="0">
                <a:latin typeface="Arial"/>
                <a:cs typeface="Arial"/>
              </a:rPr>
              <a:t>Brand Marketing Center:</a:t>
            </a:r>
          </a:p>
          <a:p>
            <a:pPr marL="285750" indent="-285750">
              <a:spcBef>
                <a:spcPts val="1000"/>
              </a:spcBef>
              <a:buFont typeface="Arial"/>
              <a:buChar char="•"/>
            </a:pPr>
            <a:r>
              <a:rPr lang="en-US" sz="1600" dirty="0">
                <a:latin typeface="Arial"/>
                <a:cs typeface="Arial"/>
                <a:hlinkClick r:id="rId8"/>
              </a:rPr>
              <a:t>https://app.sproutloud.com/member/home</a:t>
            </a:r>
            <a:endParaRPr lang="en-US" sz="1600" dirty="0">
              <a:latin typeface="Arial"/>
              <a:cs typeface="Arial"/>
            </a:endParaRPr>
          </a:p>
          <a:p>
            <a:pPr marL="285750" indent="-285750">
              <a:spcBef>
                <a:spcPts val="1000"/>
              </a:spcBef>
              <a:buFont typeface="Arial"/>
              <a:buChar char="•"/>
            </a:pPr>
            <a:endParaRPr lang="en-US" sz="1600">
              <a:latin typeface="Arial"/>
              <a:cs typeface="Arial"/>
            </a:endParaRPr>
          </a:p>
          <a:p>
            <a:endParaRPr lang="en-US"/>
          </a:p>
        </p:txBody>
      </p:sp>
      <p:sp>
        <p:nvSpPr>
          <p:cNvPr id="14" name="Footer Placeholder 13">
            <a:extLst>
              <a:ext uri="{FF2B5EF4-FFF2-40B4-BE49-F238E27FC236}">
                <a16:creationId xmlns:a16="http://schemas.microsoft.com/office/drawing/2014/main" id="{C4C30402-BC75-448F-94A3-6A02F16569CB}"/>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A71A9D13-DC5A-4626-9457-FA1FFC07987A}"/>
              </a:ext>
            </a:extLst>
          </p:cNvPr>
          <p:cNvSpPr>
            <a:spLocks noGrp="1"/>
          </p:cNvSpPr>
          <p:nvPr>
            <p:ph type="sldNum" sz="quarter" idx="18"/>
          </p:nvPr>
        </p:nvSpPr>
        <p:spPr/>
        <p:txBody>
          <a:bodyPr/>
          <a:lstStyle/>
          <a:p>
            <a:fld id="{545951DD-1C6A-495F-8185-4C73F8F8B75A}" type="slidenum">
              <a:rPr lang="en-US" smtClean="0"/>
              <a:pPr/>
              <a:t>4</a:t>
            </a:fld>
            <a:endParaRPr lang="en-US"/>
          </a:p>
        </p:txBody>
      </p:sp>
    </p:spTree>
    <p:extLst>
      <p:ext uri="{BB962C8B-B14F-4D97-AF65-F5344CB8AC3E}">
        <p14:creationId xmlns:p14="http://schemas.microsoft.com/office/powerpoint/2010/main" val="276088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1588-707B-42FE-97F3-763EC8E9CA5E}"/>
              </a:ext>
            </a:extLst>
          </p:cNvPr>
          <p:cNvSpPr>
            <a:spLocks noGrp="1"/>
          </p:cNvSpPr>
          <p:nvPr>
            <p:ph type="title"/>
          </p:nvPr>
        </p:nvSpPr>
        <p:spPr>
          <a:xfrm>
            <a:off x="404968" y="477713"/>
            <a:ext cx="11421762" cy="1667933"/>
          </a:xfrm>
        </p:spPr>
        <p:txBody>
          <a:bodyPr vert="horz" lIns="0" tIns="0" rIns="0" bIns="0" rtlCol="0" anchor="t">
            <a:noAutofit/>
          </a:bodyPr>
          <a:lstStyle/>
          <a:p>
            <a:r>
              <a:rPr lang="en-US" dirty="0">
                <a:solidFill>
                  <a:schemeClr val="accent4"/>
                </a:solidFill>
              </a:rPr>
              <a:t>#SocialHack </a:t>
            </a:r>
            <a:r>
              <a:rPr lang="en-US" dirty="0">
                <a:solidFill>
                  <a:schemeClr val="accent4">
                    <a:lumMod val="20000"/>
                    <a:lumOff val="80000"/>
                  </a:schemeClr>
                </a:solidFill>
              </a:rPr>
              <a:t>Media Mix</a:t>
            </a:r>
          </a:p>
        </p:txBody>
      </p:sp>
      <p:sp>
        <p:nvSpPr>
          <p:cNvPr id="3" name="Content Placeholder 2">
            <a:extLst>
              <a:ext uri="{FF2B5EF4-FFF2-40B4-BE49-F238E27FC236}">
                <a16:creationId xmlns:a16="http://schemas.microsoft.com/office/drawing/2014/main" id="{E9B77E32-16BE-4751-8225-DDE57C4DD0E2}"/>
              </a:ext>
            </a:extLst>
          </p:cNvPr>
          <p:cNvSpPr>
            <a:spLocks noGrp="1"/>
          </p:cNvSpPr>
          <p:nvPr>
            <p:ph idx="1"/>
          </p:nvPr>
        </p:nvSpPr>
        <p:spPr>
          <a:xfrm>
            <a:off x="6131056" y="1315374"/>
            <a:ext cx="5698543" cy="1291922"/>
          </a:xfrm>
        </p:spPr>
        <p:txBody>
          <a:bodyPr vert="horz" lIns="0" tIns="0" rIns="0" bIns="0" rtlCol="0" anchor="t">
            <a:noAutofit/>
          </a:bodyPr>
          <a:lstStyle/>
          <a:p>
            <a:pPr>
              <a:lnSpc>
                <a:spcPct val="100000"/>
              </a:lnSpc>
              <a:spcBef>
                <a:spcPts val="0"/>
              </a:spcBef>
              <a:buFont typeface="Arial,Sans-Serif" panose="020B0604020202020204" pitchFamily="34" charset="0"/>
            </a:pPr>
            <a:r>
              <a:rPr lang="en-US" dirty="0">
                <a:solidFill>
                  <a:schemeClr val="accent6"/>
                </a:solidFill>
                <a:ea typeface="+mn-lt"/>
                <a:cs typeface="Arial"/>
              </a:rPr>
              <a:t>3) Carousels – These are multi-photo posts that will be oriented however you crop the first image (following the above photo ratios). You can add up to 10 photos in one Carousel on Instagram, but there are talks of expanding this and expanding Carousel feature to Reels – but that’s just talk for now! Learn more about how and why you should use Carousels </a:t>
            </a:r>
            <a:r>
              <a:rPr lang="en-US" dirty="0">
                <a:solidFill>
                  <a:srgbClr val="FF7500"/>
                </a:solidFill>
                <a:ea typeface="+mn-lt"/>
                <a:cs typeface="Arial"/>
                <a:hlinkClick r:id="rId2">
                  <a:extLst>
                    <a:ext uri="{A12FA001-AC4F-418D-AE19-62706E023703}">
                      <ahyp:hlinkClr xmlns:ahyp="http://schemas.microsoft.com/office/drawing/2018/hyperlinkcolor" val="tx"/>
                    </a:ext>
                  </a:extLst>
                </a:hlinkClick>
              </a:rPr>
              <a:t>here.</a:t>
            </a:r>
            <a:endParaRPr lang="en-US">
              <a:solidFill>
                <a:srgbClr val="FF7500"/>
              </a:solidFill>
              <a:ea typeface="+mn-lt"/>
              <a:cs typeface="Arial"/>
            </a:endParaRPr>
          </a:p>
          <a:p>
            <a:pPr marL="0" indent="0">
              <a:lnSpc>
                <a:spcPct val="100000"/>
              </a:lnSpc>
              <a:spcBef>
                <a:spcPts val="0"/>
              </a:spcBef>
              <a:buClr>
                <a:srgbClr val="2ED7DE"/>
              </a:buClr>
              <a:buNone/>
            </a:pPr>
            <a:endParaRPr lang="en-US" dirty="0">
              <a:solidFill>
                <a:schemeClr val="accent6"/>
              </a:solidFill>
              <a:ea typeface="+mn-lt"/>
              <a:cs typeface="Arial"/>
            </a:endParaRPr>
          </a:p>
          <a:p>
            <a:pPr>
              <a:lnSpc>
                <a:spcPct val="100000"/>
              </a:lnSpc>
              <a:spcBef>
                <a:spcPts val="0"/>
              </a:spcBef>
              <a:buClr>
                <a:srgbClr val="2ED7DE"/>
              </a:buClr>
              <a:buFont typeface="Arial,Sans-Serif" panose="020B0604020202020204" pitchFamily="34" charset="0"/>
              <a:buChar char="•"/>
            </a:pPr>
            <a:r>
              <a:rPr lang="en-US" dirty="0">
                <a:solidFill>
                  <a:schemeClr val="accent6"/>
                </a:solidFill>
                <a:ea typeface="+mn-lt"/>
                <a:cs typeface="Arial"/>
              </a:rPr>
              <a:t>4) Stories – We often mention the utilization of Stories on Instagram. You can think of Stories as standalone posts or as compliments to help drive consumers to your post. Learn more about Stories and how to use them </a:t>
            </a:r>
            <a:r>
              <a:rPr lang="en-US" dirty="0">
                <a:solidFill>
                  <a:srgbClr val="FF7500"/>
                </a:solidFill>
                <a:ea typeface="+mn-lt"/>
                <a:cs typeface="Arial"/>
                <a:hlinkClick r:id="rId3">
                  <a:extLst>
                    <a:ext uri="{A12FA001-AC4F-418D-AE19-62706E023703}">
                      <ahyp:hlinkClr xmlns:ahyp="http://schemas.microsoft.com/office/drawing/2018/hyperlinkcolor" val="tx"/>
                    </a:ext>
                  </a:extLst>
                </a:hlinkClick>
              </a:rPr>
              <a:t>here.</a:t>
            </a:r>
            <a:endParaRPr lang="en-US">
              <a:solidFill>
                <a:srgbClr val="FF7500"/>
              </a:solidFill>
              <a:ea typeface="+mn-lt"/>
              <a:cs typeface="Arial"/>
              <a:hlinkClick r:id="rId3">
                <a:extLst>
                  <a:ext uri="{A12FA001-AC4F-418D-AE19-62706E023703}">
                    <ahyp:hlinkClr xmlns:ahyp="http://schemas.microsoft.com/office/drawing/2018/hyperlinkcolor" val="tx"/>
                  </a:ext>
                </a:extLst>
              </a:hlinkClick>
            </a:endParaRPr>
          </a:p>
          <a:p>
            <a:pPr marL="285750" indent="-285750">
              <a:lnSpc>
                <a:spcPct val="100000"/>
              </a:lnSpc>
              <a:spcBef>
                <a:spcPts val="0"/>
              </a:spcBef>
              <a:buClr>
                <a:srgbClr val="2ED7DE"/>
              </a:buClr>
              <a:buFont typeface="Arial,Sans-Serif" panose="020B0604020202020204" pitchFamily="34" charset="0"/>
              <a:buChar char="•"/>
            </a:pPr>
            <a:r>
              <a:rPr lang="en-US" sz="1400" dirty="0">
                <a:ea typeface="+mn-lt"/>
                <a:cs typeface="+mn-lt"/>
              </a:rPr>
              <a:t>When planning your Instagram grid, think of how you can vary your media that you are sharing. Some accounts may have better luck with viewers being more drawn to watching their Stories where Reels can help assist in reaching a broader audience! Many users on the app have certain content preference types, just like we all have preferences on when we should do cardio! You can always test and learn from your insights to see the best ways your audience responds and engages with you and your account. Give it a try! Happy creating! </a:t>
            </a:r>
          </a:p>
          <a:p>
            <a:pPr marL="285750" indent="-285750"/>
            <a:endParaRPr lang="en-US" sz="1500"/>
          </a:p>
          <a:p>
            <a:endParaRPr lang="en-US" sz="1500"/>
          </a:p>
          <a:p>
            <a:endParaRPr lang="en-US"/>
          </a:p>
        </p:txBody>
      </p:sp>
      <p:sp>
        <p:nvSpPr>
          <p:cNvPr id="18" name="Slide Number Placeholder 17">
            <a:extLst>
              <a:ext uri="{FF2B5EF4-FFF2-40B4-BE49-F238E27FC236}">
                <a16:creationId xmlns:a16="http://schemas.microsoft.com/office/drawing/2014/main" id="{07DFF60A-C73D-4E7B-8356-961B03B19C28}"/>
              </a:ext>
            </a:extLst>
          </p:cNvPr>
          <p:cNvSpPr>
            <a:spLocks noGrp="1"/>
          </p:cNvSpPr>
          <p:nvPr>
            <p:ph type="sldNum" sz="quarter" idx="12"/>
          </p:nvPr>
        </p:nvSpPr>
        <p:spPr/>
        <p:txBody>
          <a:bodyPr/>
          <a:lstStyle/>
          <a:p>
            <a:fld id="{545951DD-1C6A-495F-8185-4C73F8F8B75A}" type="slidenum">
              <a:rPr lang="en-US" smtClean="0"/>
              <a:pPr/>
              <a:t>5</a:t>
            </a:fld>
            <a:endParaRPr lang="en-US"/>
          </a:p>
        </p:txBody>
      </p:sp>
      <p:sp>
        <p:nvSpPr>
          <p:cNvPr id="5" name="TextBox 4">
            <a:extLst>
              <a:ext uri="{FF2B5EF4-FFF2-40B4-BE49-F238E27FC236}">
                <a16:creationId xmlns:a16="http://schemas.microsoft.com/office/drawing/2014/main" id="{56A16790-3052-2771-37EC-FB1EC1AA7DEC}"/>
              </a:ext>
            </a:extLst>
          </p:cNvPr>
          <p:cNvSpPr txBox="1"/>
          <p:nvPr/>
        </p:nvSpPr>
        <p:spPr>
          <a:xfrm>
            <a:off x="234523" y="1315113"/>
            <a:ext cx="6014840" cy="47551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ea typeface="+mn-lt"/>
                <a:cs typeface="+mn-lt"/>
              </a:rPr>
              <a:t>When thinking about what is going on your Instagram grid, you will want to consider mixing multiple formats of media to provide a more dynamic experience. The Instagram platform has many different ways you can </a:t>
            </a:r>
            <a:r>
              <a:rPr lang="en-US" sz="2000" dirty="0">
                <a:ea typeface="+mn-lt"/>
                <a:cs typeface="+mn-lt"/>
              </a:rPr>
              <a:t>approach content:</a:t>
            </a:r>
          </a:p>
          <a:p>
            <a:pPr>
              <a:buFont typeface="Arial"/>
              <a:buChar char="•"/>
            </a:pPr>
            <a:r>
              <a:rPr lang="en-US" sz="1600" dirty="0">
                <a:solidFill>
                  <a:schemeClr val="accent6"/>
                </a:solidFill>
                <a:ea typeface="+mn-lt"/>
                <a:cs typeface="+mn-lt"/>
              </a:rPr>
              <a:t>1) Reels – Reels are the term for videos, sized to fit your phone’s screen (9:16) and can be as long as 90 seconds. With Reels you can add certain Instagram stickers, as well as sounds, text and editing to enhance your video. Read more about Reel </a:t>
            </a:r>
            <a:r>
              <a:rPr lang="en-US" sz="1600" u="sng" dirty="0">
                <a:solidFill>
                  <a:schemeClr val="accent6"/>
                </a:solidFill>
                <a:ea typeface="+mn-lt"/>
                <a:cs typeface="+mn-lt"/>
                <a:hlinkClick r:id="rId4">
                  <a:extLst>
                    <a:ext uri="{A12FA001-AC4F-418D-AE19-62706E023703}">
                      <ahyp:hlinkClr xmlns:ahyp="http://schemas.microsoft.com/office/drawing/2018/hyperlinkcolor" val="tx"/>
                    </a:ext>
                  </a:extLst>
                </a:hlinkClick>
              </a:rPr>
              <a:t>here.</a:t>
            </a:r>
            <a:r>
              <a:rPr lang="en-US" sz="1600" dirty="0">
                <a:solidFill>
                  <a:schemeClr val="accent6"/>
                </a:solidFill>
                <a:ea typeface="+mn-lt"/>
                <a:cs typeface="+mn-lt"/>
              </a:rPr>
              <a:t> </a:t>
            </a:r>
          </a:p>
          <a:p>
            <a:endParaRPr lang="en-US" sz="1600" dirty="0">
              <a:solidFill>
                <a:schemeClr val="accent6"/>
              </a:solidFill>
              <a:ea typeface="+mn-lt"/>
              <a:cs typeface="+mn-lt"/>
            </a:endParaRPr>
          </a:p>
          <a:p>
            <a:pPr>
              <a:buFont typeface="Arial"/>
              <a:buChar char="•"/>
            </a:pPr>
            <a:r>
              <a:rPr lang="en-US" sz="1600" dirty="0">
                <a:solidFill>
                  <a:schemeClr val="accent6"/>
                </a:solidFill>
                <a:ea typeface="+mn-lt"/>
                <a:cs typeface="+mn-lt"/>
              </a:rPr>
              <a:t>2) Photo – Instagram's original format! The single photo post. You can have orientations of 1:1, 4:5, and 1.9:1 and within the app’s platform you can add filters to edit the picture. You can also now add songs snippets to play over your photo while users scroll through their feed. </a:t>
            </a:r>
          </a:p>
          <a:p>
            <a:pPr marL="285750" indent="-285750">
              <a:buFont typeface="Arial"/>
              <a:buChar char="•"/>
            </a:pPr>
            <a:endParaRPr lang="en-US" sz="1500" dirty="0">
              <a:solidFill>
                <a:schemeClr val="accent6"/>
              </a:solidFill>
              <a:ea typeface="+mn-lt"/>
              <a:cs typeface="+mn-lt"/>
            </a:endParaRPr>
          </a:p>
        </p:txBody>
      </p:sp>
    </p:spTree>
    <p:extLst>
      <p:ext uri="{BB962C8B-B14F-4D97-AF65-F5344CB8AC3E}">
        <p14:creationId xmlns:p14="http://schemas.microsoft.com/office/powerpoint/2010/main" val="258113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EA0878-79BA-7CAF-E1F5-52FC1165DA6B}"/>
              </a:ext>
            </a:extLst>
          </p:cNvPr>
          <p:cNvSpPr>
            <a:spLocks noGrp="1"/>
          </p:cNvSpPr>
          <p:nvPr>
            <p:ph sz="half" idx="14"/>
          </p:nvPr>
        </p:nvSpPr>
        <p:spPr/>
        <p:txBody>
          <a:bodyPr vert="horz" lIns="0" tIns="91440" rIns="0" bIns="0" rtlCol="0" anchor="t">
            <a:noAutofit/>
          </a:bodyPr>
          <a:lstStyle/>
          <a:p>
            <a:r>
              <a:rPr lang="en-US" dirty="0">
                <a:hlinkClick r:id="rId2"/>
              </a:rPr>
              <a:t>Beautiful Things Chainsmokers Remix (Template)</a:t>
            </a:r>
          </a:p>
          <a:p>
            <a:r>
              <a:rPr lang="en-US" dirty="0">
                <a:hlinkClick r:id="rId3"/>
              </a:rPr>
              <a:t>Clams Casino, Imogen Heap – I'm God</a:t>
            </a:r>
          </a:p>
          <a:p>
            <a:r>
              <a:rPr lang="en-US" dirty="0">
                <a:hlinkClick r:id="rId4"/>
              </a:rPr>
              <a:t>Make Yourself A Priority Chase Your Goals (Template)</a:t>
            </a:r>
          </a:p>
          <a:p>
            <a:r>
              <a:rPr lang="en-US" dirty="0">
                <a:hlinkClick r:id="rId5"/>
              </a:rPr>
              <a:t>TOO SWEET x RIVERS – Alterego (Template)</a:t>
            </a:r>
            <a:endParaRPr lang="en-US" dirty="0"/>
          </a:p>
        </p:txBody>
      </p:sp>
      <p:sp>
        <p:nvSpPr>
          <p:cNvPr id="3" name="Content Placeholder 2">
            <a:extLst>
              <a:ext uri="{FF2B5EF4-FFF2-40B4-BE49-F238E27FC236}">
                <a16:creationId xmlns:a16="http://schemas.microsoft.com/office/drawing/2014/main" id="{449741D0-7E48-BBB7-5DCD-F999E3246C11}"/>
              </a:ext>
            </a:extLst>
          </p:cNvPr>
          <p:cNvSpPr>
            <a:spLocks noGrp="1"/>
          </p:cNvSpPr>
          <p:nvPr>
            <p:ph sz="half" idx="2"/>
          </p:nvPr>
        </p:nvSpPr>
        <p:spPr/>
        <p:txBody>
          <a:bodyPr vert="horz" lIns="0" tIns="91440" rIns="0" bIns="0" rtlCol="0" anchor="t">
            <a:noAutofit/>
          </a:bodyPr>
          <a:lstStyle/>
          <a:p>
            <a:r>
              <a:rPr lang="en-US" dirty="0">
                <a:hlinkClick r:id="rId6"/>
              </a:rPr>
              <a:t>Concious Baby Four Season Orlando</a:t>
            </a:r>
            <a:endParaRPr lang="en-US"/>
          </a:p>
          <a:p>
            <a:r>
              <a:rPr lang="en-US" dirty="0">
                <a:hlinkClick r:id="rId7"/>
              </a:rPr>
              <a:t>Million Dollar Baby</a:t>
            </a:r>
          </a:p>
          <a:p>
            <a:r>
              <a:rPr lang="en-US" dirty="0">
                <a:hlinkClick r:id="rId8"/>
              </a:rPr>
              <a:t>Espresso by Sabrina Carpenter</a:t>
            </a:r>
            <a:endParaRPr lang="en-US"/>
          </a:p>
          <a:p>
            <a:r>
              <a:rPr lang="en-US" dirty="0">
                <a:hlinkClick r:id="rId9"/>
              </a:rPr>
              <a:t>Original Sound – James Jones ft. Shooting Stars by Bag Raiders</a:t>
            </a:r>
          </a:p>
        </p:txBody>
      </p:sp>
      <p:sp>
        <p:nvSpPr>
          <p:cNvPr id="4" name="Footer Placeholder 3">
            <a:extLst>
              <a:ext uri="{FF2B5EF4-FFF2-40B4-BE49-F238E27FC236}">
                <a16:creationId xmlns:a16="http://schemas.microsoft.com/office/drawing/2014/main" id="{C2826BF0-D705-A05F-8147-46C9FE2C36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E43560-47A5-E233-FE72-29076C2CB172}"/>
              </a:ext>
            </a:extLst>
          </p:cNvPr>
          <p:cNvSpPr>
            <a:spLocks noGrp="1"/>
          </p:cNvSpPr>
          <p:nvPr>
            <p:ph type="sldNum" sz="quarter" idx="12"/>
          </p:nvPr>
        </p:nvSpPr>
        <p:spPr/>
        <p:txBody>
          <a:bodyPr/>
          <a:lstStyle/>
          <a:p>
            <a:fld id="{545951DD-1C6A-495F-8185-4C73F8F8B75A}" type="slidenum">
              <a:rPr lang="en-US" smtClean="0"/>
              <a:t>6</a:t>
            </a:fld>
            <a:endParaRPr lang="en-US"/>
          </a:p>
        </p:txBody>
      </p:sp>
      <p:sp>
        <p:nvSpPr>
          <p:cNvPr id="6" name="Title 5">
            <a:extLst>
              <a:ext uri="{FF2B5EF4-FFF2-40B4-BE49-F238E27FC236}">
                <a16:creationId xmlns:a16="http://schemas.microsoft.com/office/drawing/2014/main" id="{1F4B0FE5-2896-4E3F-F447-E19ED3BB6682}"/>
              </a:ext>
            </a:extLst>
          </p:cNvPr>
          <p:cNvSpPr>
            <a:spLocks noGrp="1"/>
          </p:cNvSpPr>
          <p:nvPr>
            <p:ph type="title"/>
          </p:nvPr>
        </p:nvSpPr>
        <p:spPr/>
        <p:txBody>
          <a:bodyPr/>
          <a:lstStyle/>
          <a:p>
            <a:r>
              <a:rPr lang="en-US"/>
              <a:t>Trends and Trending Sounds</a:t>
            </a:r>
          </a:p>
        </p:txBody>
      </p:sp>
      <p:sp>
        <p:nvSpPr>
          <p:cNvPr id="7" name="Text Placeholder 6">
            <a:extLst>
              <a:ext uri="{FF2B5EF4-FFF2-40B4-BE49-F238E27FC236}">
                <a16:creationId xmlns:a16="http://schemas.microsoft.com/office/drawing/2014/main" id="{D4E5E322-D91B-9C04-1958-376231353550}"/>
              </a:ext>
            </a:extLst>
          </p:cNvPr>
          <p:cNvSpPr>
            <a:spLocks noGrp="1"/>
          </p:cNvSpPr>
          <p:nvPr>
            <p:ph type="body" idx="16"/>
          </p:nvPr>
        </p:nvSpPr>
        <p:spPr/>
        <p:txBody>
          <a:bodyPr/>
          <a:lstStyle/>
          <a:p>
            <a:r>
              <a:rPr lang="en-US"/>
              <a:t>TikTok</a:t>
            </a:r>
          </a:p>
        </p:txBody>
      </p:sp>
      <p:sp>
        <p:nvSpPr>
          <p:cNvPr id="8" name="Text Placeholder 7">
            <a:extLst>
              <a:ext uri="{FF2B5EF4-FFF2-40B4-BE49-F238E27FC236}">
                <a16:creationId xmlns:a16="http://schemas.microsoft.com/office/drawing/2014/main" id="{DBA08473-EB5C-9637-EC4F-B981FA797E08}"/>
              </a:ext>
            </a:extLst>
          </p:cNvPr>
          <p:cNvSpPr>
            <a:spLocks noGrp="1"/>
          </p:cNvSpPr>
          <p:nvPr>
            <p:ph type="body" idx="17"/>
          </p:nvPr>
        </p:nvSpPr>
        <p:spPr/>
        <p:txBody>
          <a:bodyPr/>
          <a:lstStyle/>
          <a:p>
            <a:r>
              <a:rPr lang="en-US"/>
              <a:t>reels</a:t>
            </a:r>
          </a:p>
        </p:txBody>
      </p:sp>
    </p:spTree>
    <p:extLst>
      <p:ext uri="{BB962C8B-B14F-4D97-AF65-F5344CB8AC3E}">
        <p14:creationId xmlns:p14="http://schemas.microsoft.com/office/powerpoint/2010/main" val="42225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02A04-5199-4310-9007-9BE6A1F991D8}"/>
              </a:ext>
            </a:extLst>
          </p:cNvPr>
          <p:cNvSpPr>
            <a:spLocks noGrp="1"/>
          </p:cNvSpPr>
          <p:nvPr>
            <p:ph sz="half" idx="1"/>
          </p:nvPr>
        </p:nvSpPr>
        <p:spPr>
          <a:xfrm>
            <a:off x="977192" y="2084521"/>
            <a:ext cx="5265794" cy="2940113"/>
          </a:xfrm>
        </p:spPr>
        <p:txBody>
          <a:bodyPr vert="horz" lIns="0" tIns="0" rIns="0" bIns="0" rtlCol="0" anchor="t">
            <a:noAutofit/>
          </a:bodyPr>
          <a:lstStyle/>
          <a:p>
            <a:pPr marL="0" indent="0">
              <a:buNone/>
            </a:pPr>
            <a:r>
              <a:rPr lang="en-US" b="1" dirty="0">
                <a:solidFill>
                  <a:schemeClr val="tx2"/>
                </a:solidFill>
                <a:ea typeface="+mn-lt"/>
                <a:cs typeface="+mn-lt"/>
              </a:rPr>
              <a:t>Anytime Fitness Beverly (Chicago, IL)</a:t>
            </a:r>
          </a:p>
          <a:p>
            <a:pPr>
              <a:buFont typeface="Arial,Sans-Serif"/>
              <a:buChar char="•"/>
            </a:pPr>
            <a:r>
              <a:rPr lang="en-US" dirty="0">
                <a:latin typeface="Arial"/>
                <a:cs typeface="Arial"/>
                <a:hlinkClick r:id="rId2"/>
              </a:rPr>
              <a:t>@anytimefitness_beverly</a:t>
            </a:r>
            <a:endParaRPr lang="en-US">
              <a:latin typeface="Century Gothic"/>
              <a:cs typeface="Arial"/>
            </a:endParaRPr>
          </a:p>
          <a:p>
            <a:pPr>
              <a:buFont typeface="Arial,Sans-Serif"/>
              <a:buChar char="•"/>
            </a:pPr>
            <a:r>
              <a:rPr lang="en-US" dirty="0">
                <a:latin typeface="Arial"/>
                <a:cs typeface="Arial"/>
              </a:rPr>
              <a:t>You are creating some fantastic Reels content! And we love your use of pinning content that helps showcase your gym. Keep up the awesome work! </a:t>
            </a:r>
            <a:r>
              <a:rPr lang="en-US" sz="1600" dirty="0">
                <a:latin typeface="Arial"/>
                <a:cs typeface="Arial"/>
              </a:rPr>
              <a:t>💜</a:t>
            </a:r>
            <a:endParaRPr lang="en-US" dirty="0"/>
          </a:p>
          <a:p>
            <a:pPr marL="0" indent="0">
              <a:buClr>
                <a:srgbClr val="A32AF9"/>
              </a:buClr>
              <a:buNone/>
            </a:pPr>
            <a:endParaRPr lang="en-US" dirty="0">
              <a:latin typeface="Arial"/>
              <a:ea typeface="+mn-lt"/>
              <a:cs typeface="Arial"/>
            </a:endParaRPr>
          </a:p>
          <a:p>
            <a:pPr marL="58420" lvl="1" indent="0">
              <a:buNone/>
            </a:pPr>
            <a:r>
              <a:rPr lang="en-US" sz="1600" b="1" dirty="0">
                <a:solidFill>
                  <a:schemeClr val="tx2"/>
                </a:solidFill>
                <a:ea typeface="+mn-lt"/>
                <a:cs typeface="+mn-lt"/>
              </a:rPr>
              <a:t>Anytime Fitness Garden District (New Orleans, LA)</a:t>
            </a:r>
            <a:endParaRPr lang="en-US" b="1" dirty="0">
              <a:solidFill>
                <a:schemeClr val="tx2"/>
              </a:solidFill>
            </a:endParaRPr>
          </a:p>
          <a:p>
            <a:pPr marL="344170" lvl="1" indent="-285750">
              <a:buFont typeface="Arial"/>
              <a:buChar char="•"/>
            </a:pPr>
            <a:r>
              <a:rPr lang="en-US" sz="1600" dirty="0">
                <a:latin typeface="Arial"/>
                <a:cs typeface="Arial"/>
                <a:hlinkClick r:id="rId3"/>
              </a:rPr>
              <a:t>@afgardendistrict</a:t>
            </a:r>
          </a:p>
          <a:p>
            <a:pPr marL="344170" lvl="1" indent="-285750">
              <a:buFont typeface="Arial"/>
              <a:buChar char="•"/>
            </a:pPr>
            <a:r>
              <a:rPr lang="en-US" sz="1600" dirty="0">
                <a:latin typeface="Arial"/>
                <a:cs typeface="Arial"/>
              </a:rPr>
              <a:t>Your photography is stellar! You do a great job of showcasing your members and staff in their element. Way to go team! ❤️💪</a:t>
            </a:r>
            <a:endParaRPr lang="en-US" dirty="0"/>
          </a:p>
        </p:txBody>
      </p:sp>
      <p:sp>
        <p:nvSpPr>
          <p:cNvPr id="4" name="Title 3">
            <a:extLst>
              <a:ext uri="{FF2B5EF4-FFF2-40B4-BE49-F238E27FC236}">
                <a16:creationId xmlns:a16="http://schemas.microsoft.com/office/drawing/2014/main" id="{E711F59A-8925-46A1-86D1-911986E31D29}"/>
              </a:ext>
            </a:extLst>
          </p:cNvPr>
          <p:cNvSpPr>
            <a:spLocks noGrp="1"/>
          </p:cNvSpPr>
          <p:nvPr>
            <p:ph type="title"/>
          </p:nvPr>
        </p:nvSpPr>
        <p:spPr>
          <a:xfrm>
            <a:off x="982515" y="492071"/>
            <a:ext cx="5265794" cy="1386298"/>
          </a:xfrm>
        </p:spPr>
        <p:txBody>
          <a:bodyPr/>
          <a:lstStyle/>
          <a:p>
            <a:r>
              <a:rPr lang="en-US">
                <a:solidFill>
                  <a:schemeClr val="tx2"/>
                </a:solidFill>
                <a:ea typeface="+mj-lt"/>
                <a:cs typeface="+mj-lt"/>
              </a:rPr>
              <a:t>AF Club</a:t>
            </a:r>
            <a:r>
              <a:rPr lang="en-US">
                <a:ea typeface="+mj-lt"/>
                <a:cs typeface="+mj-lt"/>
              </a:rPr>
              <a:t> </a:t>
            </a:r>
            <a:r>
              <a:rPr lang="en-US">
                <a:solidFill>
                  <a:schemeClr val="accent4"/>
                </a:solidFill>
                <a:ea typeface="+mj-lt"/>
                <a:cs typeface="+mj-lt"/>
              </a:rPr>
              <a:t>Content Shoutout</a:t>
            </a:r>
            <a:endParaRPr lang="en-US">
              <a:solidFill>
                <a:schemeClr val="accent4"/>
              </a:solidFill>
            </a:endParaRPr>
          </a:p>
        </p:txBody>
      </p:sp>
      <p:sp>
        <p:nvSpPr>
          <p:cNvPr id="5" name="Footer Placeholder 4">
            <a:extLst>
              <a:ext uri="{FF2B5EF4-FFF2-40B4-BE49-F238E27FC236}">
                <a16:creationId xmlns:a16="http://schemas.microsoft.com/office/drawing/2014/main" id="{80E21703-FE5F-4D22-B5C9-32CBCB6241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80EE4-EB0A-4E5C-964E-2483681C73DE}"/>
              </a:ext>
            </a:extLst>
          </p:cNvPr>
          <p:cNvSpPr>
            <a:spLocks noGrp="1"/>
          </p:cNvSpPr>
          <p:nvPr>
            <p:ph type="sldNum" sz="quarter" idx="12"/>
          </p:nvPr>
        </p:nvSpPr>
        <p:spPr/>
        <p:txBody>
          <a:bodyPr/>
          <a:lstStyle/>
          <a:p>
            <a:fld id="{A7FCC8F5-5E92-4E10-BDD3-D559588743B4}" type="slidenum">
              <a:rPr lang="en-US" smtClean="0"/>
              <a:t>7</a:t>
            </a:fld>
            <a:endParaRPr lang="en-US"/>
          </a:p>
        </p:txBody>
      </p:sp>
      <p:pic>
        <p:nvPicPr>
          <p:cNvPr id="2" name="Content Placeholder 1" descr="A screenshot of a social media account&#10;&#10;Description automatically generated">
            <a:extLst>
              <a:ext uri="{FF2B5EF4-FFF2-40B4-BE49-F238E27FC236}">
                <a16:creationId xmlns:a16="http://schemas.microsoft.com/office/drawing/2014/main" id="{B64B54F3-EAF1-79C0-214B-4EE0BD5AE574}"/>
              </a:ext>
            </a:extLst>
          </p:cNvPr>
          <p:cNvPicPr>
            <a:picLocks noGrp="1" noChangeAspect="1"/>
          </p:cNvPicPr>
          <p:nvPr>
            <p:ph sz="quarter" idx="13"/>
          </p:nvPr>
        </p:nvPicPr>
        <p:blipFill rotWithShape="1">
          <a:blip r:embed="rId4"/>
          <a:srcRect t="2058" b="2058"/>
          <a:stretch/>
        </p:blipFill>
        <p:spPr>
          <a:xfrm>
            <a:off x="7390314" y="836821"/>
            <a:ext cx="2515905" cy="5220521"/>
          </a:xfrm>
        </p:spPr>
      </p:pic>
    </p:spTree>
    <p:extLst>
      <p:ext uri="{BB962C8B-B14F-4D97-AF65-F5344CB8AC3E}">
        <p14:creationId xmlns:p14="http://schemas.microsoft.com/office/powerpoint/2010/main" val="3835421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5463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UserInfo>
        <DisplayName>Sarah Mastrian</DisplayName>
        <AccountId>14028</AccountId>
        <AccountType/>
      </UserInfo>
      <UserInfo>
        <DisplayName>Tammy Nienaber</DisplayName>
        <AccountId>52</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90C4E6-4A59-487E-81FF-2AAB659583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Bar Method Template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Anytime Fitness Template</vt:lpstr>
      <vt:lpstr>Social media activation calendar</vt:lpstr>
      <vt:lpstr>AGENDA</vt:lpstr>
      <vt:lpstr>PowerPoint Presentation</vt:lpstr>
      <vt:lpstr>Social Media industry news and updates</vt:lpstr>
      <vt:lpstr>#SocialHack Media Mix</vt:lpstr>
      <vt:lpstr>Trends and Trending Sounds</vt:lpstr>
      <vt:lpstr>AF Club Content Shoutout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revision>1189</cp:revision>
  <dcterms:created xsi:type="dcterms:W3CDTF">2021-11-18T14:52:15Z</dcterms:created>
  <dcterms:modified xsi:type="dcterms:W3CDTF">2024-06-13T21:42:13Z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