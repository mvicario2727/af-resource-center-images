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0DED1"/>
    <a:srgbClr val="6E38D5"/>
    <a:srgbClr val="440099"/>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F6413A-54B3-28FB-5AF9-DDCFCC0944C4}" v="136" dt="2024-07-10T14:50:03.770"/>
    <p1510:client id="{8959B98A-DBC0-0D91-946E-CE2ED1B15D24}" v="2579" dt="2024-07-08T16:20:03.633"/>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4641"/>
  </p:normalViewPr>
  <p:slideViewPr>
    <p:cSldViewPr snapToGrid="0">
      <p:cViewPr>
        <p:scale>
          <a:sx n="159" d="100"/>
          <a:sy n="159" d="100"/>
        </p:scale>
        <p:origin x="736" y="280"/>
      </p:cViewPr>
      <p:guideLst>
        <p:guide pos="38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7/10/24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7/10/24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7/10/24</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7/10/24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7/10/24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7/10/24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7/10/24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7/10/24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7/10/24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7/10/24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7/10/24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7/10/24</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7/10/24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7/10/24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7/10/24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7/10/24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7/10/24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7/10/24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7/10/24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7/10/24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7/10/24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7/10/24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7/10/24</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7/10/24</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7/10/24</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7/10/24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7/10/24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7/10/24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7/10/24</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7/10/24</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7/10/24</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7/10/24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7/10/24</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7/10/24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7/10/24</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7/10/24</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7/10/24</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7/10/24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7/10/24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7/10/24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7/10/24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7/10/24</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app.sproutloud.com/member/catalog/custom_ads/detail/UXdFclR5VWlPcEFzRGZHaEprTHpYY1ZiTm1Rd0VyVHlAsgqvZNhi4LhukLS1a4zU/UXdFclR5VWlPcEFzRGZHaEprTHpYY1ZiTm1Rd0VyVHlV1ECh8Ub7yhnm_WFa_g68/UXdFclR5VWlPcEFzRGZHaEprTHpYY1ZiTm1Rd0VyVHlV2LA8pOwTG-ym45DXSJy0?from=iJvZSph6bbbTL5O_1qSNUnsBgw0j1m-IFRKUohFoFHObjRlvOqz3OY3e4P-8ReRCPBaWIDvfJR9BZXzaW3TMe5QBIB6DMbHRng0EoEdpDG9UK_twF7NF_R6O98XTBOpIlB1ST_WoZu-oXNeHCfWcfNYb_snbwpZtNHv7yLJNVcS590wmubpIMA%3D%3D&amp;width=&amp;height=" TargetMode="Externa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275501147"/>
              </p:ext>
            </p:extLst>
          </p:nvPr>
        </p:nvGraphicFramePr>
        <p:xfrm>
          <a:off x="0" y="0"/>
          <a:ext cx="12192000" cy="6858001"/>
        </p:xfrm>
        <a:graphic>
          <a:graphicData uri="http://schemas.openxmlformats.org/drawingml/2006/table">
            <a:tbl>
              <a:tblPr firstRow="1" bandRow="1">
                <a:tableStyleId>{5202B0CA-FC54-4496-8BCA-5EF66A818D29}</a:tableStyleId>
              </a:tblPr>
              <a:tblGrid>
                <a:gridCol w="1723175">
                  <a:extLst>
                    <a:ext uri="{9D8B030D-6E8A-4147-A177-3AD203B41FA5}">
                      <a16:colId xmlns:a16="http://schemas.microsoft.com/office/drawing/2014/main" val="2484229546"/>
                    </a:ext>
                  </a:extLst>
                </a:gridCol>
                <a:gridCol w="1671997">
                  <a:extLst>
                    <a:ext uri="{9D8B030D-6E8A-4147-A177-3AD203B41FA5}">
                      <a16:colId xmlns:a16="http://schemas.microsoft.com/office/drawing/2014/main" val="439348342"/>
                    </a:ext>
                  </a:extLst>
                </a:gridCol>
                <a:gridCol w="1808517">
                  <a:extLst>
                    <a:ext uri="{9D8B030D-6E8A-4147-A177-3AD203B41FA5}">
                      <a16:colId xmlns:a16="http://schemas.microsoft.com/office/drawing/2014/main" val="1072895275"/>
                    </a:ext>
                  </a:extLst>
                </a:gridCol>
                <a:gridCol w="1520719">
                  <a:extLst>
                    <a:ext uri="{9D8B030D-6E8A-4147-A177-3AD203B41FA5}">
                      <a16:colId xmlns:a16="http://schemas.microsoft.com/office/drawing/2014/main" val="2787662688"/>
                    </a:ext>
                  </a:extLst>
                </a:gridCol>
                <a:gridCol w="1552400">
                  <a:extLst>
                    <a:ext uri="{9D8B030D-6E8A-4147-A177-3AD203B41FA5}">
                      <a16:colId xmlns:a16="http://schemas.microsoft.com/office/drawing/2014/main" val="1952576077"/>
                    </a:ext>
                  </a:extLst>
                </a:gridCol>
                <a:gridCol w="1836761">
                  <a:extLst>
                    <a:ext uri="{9D8B030D-6E8A-4147-A177-3AD203B41FA5}">
                      <a16:colId xmlns:a16="http://schemas.microsoft.com/office/drawing/2014/main" val="1911801536"/>
                    </a:ext>
                  </a:extLst>
                </a:gridCol>
                <a:gridCol w="2078431">
                  <a:extLst>
                    <a:ext uri="{9D8B030D-6E8A-4147-A177-3AD203B41FA5}">
                      <a16:colId xmlns:a16="http://schemas.microsoft.com/office/drawing/2014/main" val="1683208684"/>
                    </a:ext>
                  </a:extLst>
                </a:gridCol>
              </a:tblGrid>
              <a:tr h="641677">
                <a:tc gridSpan="7">
                  <a:txBody>
                    <a:bodyPr/>
                    <a:lstStyle/>
                    <a:p>
                      <a:pPr marL="530225" rtl="0" fontAlgn="t" latinLnBrk="0">
                        <a:lnSpc>
                          <a:spcPct val="100000"/>
                        </a:lnSpc>
                        <a:spcBef>
                          <a:spcPts val="2255"/>
                        </a:spcBef>
                        <a:spcAft>
                          <a:spcPts val="0"/>
                        </a:spcAft>
                      </a:pPr>
                      <a:r>
                        <a:rPr lang="en-US" sz="3800" spc="0" dirty="0">
                          <a:effectLst/>
                        </a:rPr>
                        <a:t>AUGUST 2024</a:t>
                      </a:r>
                      <a:endParaRPr lang="en-US"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54763">
                <a:tc>
                  <a:txBody>
                    <a:bodyPr/>
                    <a:lstStyle/>
                    <a:p>
                      <a:pPr marL="0" marR="8890" algn="ctr" rtl="0" fontAlgn="t" latinLnBrk="0">
                        <a:spcBef>
                          <a:spcPts val="295"/>
                        </a:spcBef>
                        <a:spcAft>
                          <a:spcPts val="0"/>
                        </a:spcAft>
                      </a:pPr>
                      <a:r>
                        <a:rPr lang="en-US" sz="600" spc="0" dirty="0">
                          <a:effectLst/>
                        </a:rPr>
                        <a:t>SUNDAY</a:t>
                      </a:r>
                      <a:endParaRPr lang="en-US" sz="1800" dirty="0">
                        <a:effectLst/>
                      </a:endParaRPr>
                    </a:p>
                  </a:txBody>
                  <a:tcPr marL="9525" marR="9525" marT="33147" marB="0"/>
                </a:tc>
                <a:tc>
                  <a:txBody>
                    <a:bodyPr/>
                    <a:lstStyle/>
                    <a:p>
                      <a:pPr marL="54610" algn="ctr" rtl="0" fontAlgn="t" latinLnBrk="0">
                        <a:spcBef>
                          <a:spcPts val="295"/>
                        </a:spcBef>
                        <a:spcAft>
                          <a:spcPts val="0"/>
                        </a:spcAft>
                      </a:pPr>
                      <a:r>
                        <a:rPr lang="en-US" sz="600" spc="0" dirty="0">
                          <a:effectLst/>
                        </a:rPr>
                        <a:t>MONDAY</a:t>
                      </a:r>
                      <a:endParaRPr lang="en-US" sz="1800" dirty="0">
                        <a:effectLst/>
                      </a:endParaRPr>
                    </a:p>
                  </a:txBody>
                  <a:tcPr marL="9525" marR="9525" marT="33147" marB="0"/>
                </a:tc>
                <a:tc>
                  <a:txBody>
                    <a:bodyPr/>
                    <a:lstStyle/>
                    <a:p>
                      <a:pPr marL="27305" algn="ctr" rtl="0" fontAlgn="t" latinLnBrk="0">
                        <a:spcBef>
                          <a:spcPts val="295"/>
                        </a:spcBef>
                        <a:spcAft>
                          <a:spcPts val="0"/>
                        </a:spcAft>
                      </a:pPr>
                      <a:r>
                        <a:rPr lang="en-US" sz="600" spc="0" dirty="0">
                          <a:effectLst/>
                        </a:rPr>
                        <a:t>TUESDAY</a:t>
                      </a:r>
                      <a:endParaRPr lang="en-US" sz="1800" dirty="0">
                        <a:effectLst/>
                      </a:endParaRPr>
                    </a:p>
                  </a:txBody>
                  <a:tcPr marL="9525" marR="9525" marT="33147" marB="0"/>
                </a:tc>
                <a:tc>
                  <a:txBody>
                    <a:bodyPr/>
                    <a:lstStyle/>
                    <a:p>
                      <a:pPr marL="8890" algn="ctr" rtl="0" fontAlgn="t" latinLnBrk="0">
                        <a:spcBef>
                          <a:spcPts val="295"/>
                        </a:spcBef>
                        <a:spcAft>
                          <a:spcPts val="0"/>
                        </a:spcAft>
                      </a:pPr>
                      <a:r>
                        <a:rPr lang="en-US" sz="600" spc="0" dirty="0">
                          <a:effectLst/>
                        </a:rPr>
                        <a:t>WEDNESDAY</a:t>
                      </a:r>
                      <a:endParaRPr lang="en-US" sz="1800" dirty="0">
                        <a:effectLst/>
                      </a:endParaRPr>
                    </a:p>
                  </a:txBody>
                  <a:tcPr marL="9525" marR="9525" marT="33147" marB="0"/>
                </a:tc>
                <a:tc>
                  <a:txBody>
                    <a:bodyPr/>
                    <a:lstStyle/>
                    <a:p>
                      <a:pPr marL="0" algn="ctr" rtl="0" fontAlgn="t" latinLnBrk="0">
                        <a:spcBef>
                          <a:spcPts val="295"/>
                        </a:spcBef>
                        <a:spcAft>
                          <a:spcPts val="0"/>
                        </a:spcAft>
                      </a:pPr>
                      <a:r>
                        <a:rPr lang="en-US" sz="600" spc="0" dirty="0">
                          <a:effectLst/>
                        </a:rPr>
                        <a:t>THURSDAY</a:t>
                      </a:r>
                      <a:endParaRPr lang="en-US" sz="1800" dirty="0">
                        <a:effectLst/>
                      </a:endParaRPr>
                    </a:p>
                  </a:txBody>
                  <a:tcPr marL="9525" marR="9525" marT="33147" marB="0"/>
                </a:tc>
                <a:tc>
                  <a:txBody>
                    <a:bodyPr/>
                    <a:lstStyle/>
                    <a:p>
                      <a:pPr marL="17780" algn="ctr" rtl="0" fontAlgn="t" latinLnBrk="0">
                        <a:spcBef>
                          <a:spcPts val="295"/>
                        </a:spcBef>
                        <a:spcAft>
                          <a:spcPts val="0"/>
                        </a:spcAft>
                      </a:pPr>
                      <a:r>
                        <a:rPr lang="en-US" sz="600" spc="0" dirty="0">
                          <a:effectLst/>
                        </a:rPr>
                        <a:t>FRIDAY</a:t>
                      </a:r>
                      <a:endParaRPr lang="en-US" sz="1800" dirty="0">
                        <a:effectLst/>
                      </a:endParaRPr>
                    </a:p>
                  </a:txBody>
                  <a:tcPr marL="9525" marR="9525" marT="33147" marB="0"/>
                </a:tc>
                <a:tc>
                  <a:txBody>
                    <a:bodyPr/>
                    <a:lstStyle/>
                    <a:p>
                      <a:pPr marL="36195" algn="ctr" rtl="0" fontAlgn="t" latinLnBrk="0">
                        <a:spcBef>
                          <a:spcPts val="295"/>
                        </a:spcBef>
                        <a:spcAft>
                          <a:spcPts val="0"/>
                        </a:spcAft>
                      </a:pPr>
                      <a:r>
                        <a:rPr lang="en-US" sz="600" spc="0" dirty="0">
                          <a:effectLst/>
                        </a:rPr>
                        <a:t>SATURDAY</a:t>
                      </a:r>
                      <a:endParaRPr lang="en-US" sz="1800" dirty="0">
                        <a:effectLst/>
                      </a:endParaRPr>
                    </a:p>
                  </a:txBody>
                  <a:tcPr marL="9525" marR="9525" marT="33147" marB="0"/>
                </a:tc>
                <a:extLst>
                  <a:ext uri="{0D108BD9-81ED-4DB2-BD59-A6C34878D82A}">
                    <a16:rowId xmlns:a16="http://schemas.microsoft.com/office/drawing/2014/main" val="3509082617"/>
                  </a:ext>
                </a:extLst>
              </a:tr>
              <a:tr h="876992">
                <a:tc>
                  <a:txBody>
                    <a:bodyPr/>
                    <a:lstStyle/>
                    <a:p>
                      <a:pPr lvl="0" algn="ctr">
                        <a:lnSpc>
                          <a:spcPct val="100000"/>
                        </a:lnSpc>
                        <a:spcBef>
                          <a:spcPts val="0"/>
                        </a:spcBef>
                        <a:spcAft>
                          <a:spcPts val="0"/>
                        </a:spcAft>
                        <a:buNone/>
                      </a:pPr>
                      <a:endParaRPr lang="en-US" sz="600" b="0" i="0" u="none" strike="noStrike" noProof="0" dirty="0">
                        <a:solidFill>
                          <a:schemeClr val="bg1"/>
                        </a:solidFill>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1</a:t>
                      </a:r>
                    </a:p>
                    <a:p>
                      <a:pPr lvl="0" algn="ctr">
                        <a:lnSpc>
                          <a:spcPct val="150000"/>
                        </a:lnSpc>
                        <a:spcBef>
                          <a:spcPts val="0"/>
                        </a:spcBef>
                        <a:spcAft>
                          <a:spcPts val="0"/>
                        </a:spcAft>
                        <a:buNone/>
                      </a:pPr>
                      <a:r>
                        <a:rPr lang="en-US" sz="600" b="0" i="0" u="none" strike="noStrike" spc="0" noProof="0" dirty="0">
                          <a:solidFill>
                            <a:schemeClr val="bg1"/>
                          </a:solidFill>
                          <a:effectLst/>
                          <a:latin typeface="Century Gothic"/>
                        </a:rPr>
                        <a:t>THE AF DIFFERENCE</a:t>
                      </a:r>
                      <a:endParaRPr lang="en-US" sz="600" b="0" i="0" u="none" strike="noStrike" spc="0" noProof="0" dirty="0">
                        <a:solidFill>
                          <a:srgbClr val="2D2926"/>
                        </a:solidFill>
                        <a:effectLst/>
                        <a:latin typeface="Century Gothic"/>
                      </a:endParaRPr>
                    </a:p>
                    <a:p>
                      <a:pPr lvl="0" algn="ctr">
                        <a:lnSpc>
                          <a:spcPct val="100000"/>
                        </a:lnSpc>
                        <a:spcBef>
                          <a:spcPts val="0"/>
                        </a:spcBef>
                        <a:spcAft>
                          <a:spcPts val="0"/>
                        </a:spcAft>
                        <a:buNone/>
                      </a:pPr>
                      <a:r>
                        <a:rPr lang="en-US" sz="650" b="0" i="0" u="none" strike="noStrike" spc="0" noProof="0" dirty="0">
                          <a:solidFill>
                            <a:schemeClr val="bg1"/>
                          </a:solidFill>
                          <a:effectLst/>
                          <a:latin typeface="Century Gothic"/>
                        </a:rPr>
                        <a:t>What makes your gym different from any other gym in your town? Share what makes you special!</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a:t>
                      </a:r>
                    </a:p>
                    <a:p>
                      <a:pPr marL="63500" lvl="0" algn="ctr">
                        <a:spcBef>
                          <a:spcPts val="310"/>
                        </a:spcBef>
                        <a:spcAft>
                          <a:spcPts val="0"/>
                        </a:spcAft>
                        <a:buNone/>
                      </a:pPr>
                      <a:r>
                        <a:rPr lang="en-US" sz="600" b="0" i="0" u="none" strike="noStrike" spc="0" noProof="0" dirty="0">
                          <a:solidFill>
                            <a:schemeClr val="bg1"/>
                          </a:solidFill>
                          <a:effectLst/>
                        </a:rPr>
                        <a:t>SUMMER'S ALMOST OVER</a:t>
                      </a:r>
                    </a:p>
                    <a:p>
                      <a:pPr marL="63500" lvl="0" algn="ctr">
                        <a:spcBef>
                          <a:spcPts val="310"/>
                        </a:spcBef>
                        <a:spcAft>
                          <a:spcPts val="0"/>
                        </a:spcAft>
                        <a:buNone/>
                      </a:pPr>
                      <a:r>
                        <a:rPr lang="en-US" sz="650" b="0" i="0" u="none" strike="noStrike" spc="0" noProof="0" dirty="0">
                          <a:solidFill>
                            <a:schemeClr val="bg1"/>
                          </a:solidFill>
                          <a:effectLst/>
                        </a:rPr>
                        <a:t>How did the summer go?</a:t>
                      </a:r>
                      <a:br>
                        <a:rPr lang="en-US" sz="650" b="0" i="0" u="none" strike="noStrike" spc="0" noProof="0" dirty="0">
                          <a:solidFill>
                            <a:schemeClr val="bg1"/>
                          </a:solidFill>
                          <a:effectLst/>
                        </a:rPr>
                      </a:br>
                      <a:r>
                        <a:rPr lang="en-US" sz="650" b="0" i="0" u="none" strike="noStrike" spc="0" noProof="0" dirty="0">
                          <a:solidFill>
                            <a:schemeClr val="bg1"/>
                          </a:solidFill>
                          <a:effectLst/>
                        </a:rPr>
                        <a:t>How about BINGO? Do a check-in!</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3</a:t>
                      </a:r>
                      <a:endParaRPr lang="en-US" dirty="0"/>
                    </a:p>
                    <a:p>
                      <a:pPr marL="63500" lvl="0" algn="ctr">
                        <a:spcBef>
                          <a:spcPts val="310"/>
                        </a:spcBef>
                        <a:spcAft>
                          <a:spcPts val="0"/>
                        </a:spcAft>
                        <a:buNone/>
                      </a:pPr>
                      <a:r>
                        <a:rPr lang="en-US" sz="600" b="0" i="0" u="none" strike="noStrike" spc="0" noProof="0" dirty="0">
                          <a:solidFill>
                            <a:schemeClr val="bg1"/>
                          </a:solidFill>
                          <a:effectLst/>
                        </a:rPr>
                        <a:t>NATIONAL DISC GOLF DAY</a:t>
                      </a:r>
                    </a:p>
                    <a:p>
                      <a:pPr marL="63500" lvl="0" algn="ctr">
                        <a:spcBef>
                          <a:spcPts val="310"/>
                        </a:spcBef>
                        <a:spcAft>
                          <a:spcPts val="0"/>
                        </a:spcAft>
                        <a:buNone/>
                      </a:pPr>
                      <a:r>
                        <a:rPr lang="en-US" sz="650" b="0" i="0" u="none" strike="noStrike" spc="0" noProof="0" dirty="0">
                          <a:solidFill>
                            <a:schemeClr val="bg1"/>
                          </a:solidFill>
                          <a:effectLst/>
                        </a:rPr>
                        <a:t>Disc golf (AKA frisbee golf or frolf) is a riveting game for those looking to spend</a:t>
                      </a:r>
                      <a:br>
                        <a:rPr lang="en-US" sz="650" b="0" i="0" u="none" strike="noStrike" spc="0" noProof="0" dirty="0">
                          <a:solidFill>
                            <a:schemeClr val="bg1"/>
                          </a:solidFill>
                          <a:effectLst/>
                        </a:rPr>
                      </a:br>
                      <a:r>
                        <a:rPr lang="en-US" sz="650" b="0" i="0" u="none" strike="noStrike" spc="0" noProof="0" dirty="0">
                          <a:solidFill>
                            <a:schemeClr val="bg1"/>
                          </a:solidFill>
                          <a:effectLst/>
                        </a:rPr>
                        <a:t>a little time out in nature! Celebrate this</a:t>
                      </a:r>
                      <a:br>
                        <a:rPr lang="en-US" sz="650" b="0" i="0" u="none" strike="noStrike" spc="0" noProof="0" dirty="0">
                          <a:solidFill>
                            <a:schemeClr val="bg1"/>
                          </a:solidFill>
                          <a:effectLst/>
                        </a:rPr>
                      </a:br>
                      <a:r>
                        <a:rPr lang="en-US" sz="650" b="0" i="0" u="none" strike="noStrike" spc="0" noProof="0" dirty="0">
                          <a:solidFill>
                            <a:schemeClr val="bg1"/>
                          </a:solidFill>
                          <a:effectLst/>
                        </a:rPr>
                        <a:t>activity with a post that fits for your audience. </a:t>
                      </a:r>
                    </a:p>
                  </a:txBody>
                  <a:tcPr marL="9525" marR="9525" marT="80772" marB="0"/>
                </a:tc>
                <a:extLst>
                  <a:ext uri="{0D108BD9-81ED-4DB2-BD59-A6C34878D82A}">
                    <a16:rowId xmlns:a16="http://schemas.microsoft.com/office/drawing/2014/main" val="4038034110"/>
                  </a:ext>
                </a:extLst>
              </a:tr>
              <a:tr h="1289694">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4</a:t>
                      </a:r>
                    </a:p>
                    <a:p>
                      <a:pPr lvl="0" algn="ctr">
                        <a:lnSpc>
                          <a:spcPct val="150000"/>
                        </a:lnSpc>
                        <a:spcBef>
                          <a:spcPts val="0"/>
                        </a:spcBef>
                        <a:spcAft>
                          <a:spcPts val="0"/>
                        </a:spcAft>
                        <a:buNone/>
                      </a:pPr>
                      <a:r>
                        <a:rPr lang="en-US" sz="600" b="0" i="0" u="none" strike="noStrike" spc="0" noProof="0" dirty="0">
                          <a:solidFill>
                            <a:schemeClr val="bg1"/>
                          </a:solidFill>
                          <a:effectLst/>
                          <a:latin typeface="Century Gothic"/>
                        </a:rPr>
                        <a:t>NATIONAL FRIENDSHIP DAY</a:t>
                      </a:r>
                      <a:endParaRPr lang="en-US" sz="600" b="0" i="0" u="none" strike="noStrike" spc="0" noProof="0" dirty="0">
                        <a:solidFill>
                          <a:srgbClr val="2D2926"/>
                        </a:solidFill>
                        <a:effectLst/>
                        <a:latin typeface="Century Gothic"/>
                      </a:endParaRP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 </a:t>
                      </a:r>
                      <a:r>
                        <a:rPr lang="en-US" sz="650" b="0" i="0" u="none" strike="noStrike" spc="0" noProof="0" dirty="0">
                          <a:solidFill>
                            <a:schemeClr val="bg1"/>
                          </a:solidFill>
                          <a:effectLst/>
                          <a:latin typeface="Century Gothic"/>
                        </a:rPr>
                        <a:t>Celebrate friendship with a group workout idea or routine! Share it in a</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Reel so members can try it in the gym.</a:t>
                      </a:r>
                    </a:p>
                  </a:txBody>
                  <a:tcPr marL="9525" marR="9525" marT="80772" marB="0"/>
                </a:tc>
                <a:tc>
                  <a:txBody>
                    <a:bodyPr/>
                    <a:lstStyle/>
                    <a:p>
                      <a:pPr marL="63500" lvl="0" algn="ctr" rtl="0">
                        <a:spcBef>
                          <a:spcPts val="310"/>
                        </a:spcBef>
                        <a:spcAft>
                          <a:spcPts val="0"/>
                        </a:spcAft>
                        <a:buNone/>
                      </a:pPr>
                      <a:r>
                        <a:rPr lang="en-US" sz="600" b="0" spc="0" dirty="0">
                          <a:solidFill>
                            <a:schemeClr val="bg1"/>
                          </a:solidFill>
                          <a:effectLst/>
                        </a:rPr>
                        <a:t>5</a:t>
                      </a:r>
                    </a:p>
                    <a:p>
                      <a:pPr marL="63500" lvl="0" algn="ctr">
                        <a:spcBef>
                          <a:spcPts val="310"/>
                        </a:spcBef>
                        <a:spcAft>
                          <a:spcPts val="0"/>
                        </a:spcAft>
                        <a:buNone/>
                      </a:pPr>
                      <a:r>
                        <a:rPr lang="en-US" sz="600" b="0" i="0" u="none" strike="noStrike" noProof="0" dirty="0">
                          <a:solidFill>
                            <a:schemeClr val="bg1"/>
                          </a:solidFill>
                        </a:rPr>
                        <a:t>STRENGTH MOVEMENT</a:t>
                      </a:r>
                      <a:endParaRPr lang="en-US" sz="600" b="0" i="0" u="none" strike="noStrike" noProof="0" dirty="0">
                        <a:solidFill>
                          <a:srgbClr val="2D2926"/>
                        </a:solidFill>
                      </a:endParaRPr>
                    </a:p>
                    <a:p>
                      <a:pPr marL="63500" lvl="0" algn="ctr">
                        <a:spcBef>
                          <a:spcPts val="310"/>
                        </a:spcBef>
                        <a:spcAft>
                          <a:spcPts val="0"/>
                        </a:spcAft>
                        <a:buNone/>
                      </a:pPr>
                      <a:r>
                        <a:rPr lang="en-US" sz="650" b="0" i="0" u="none" strike="noStrike" noProof="0" dirty="0">
                          <a:solidFill>
                            <a:schemeClr val="bg1"/>
                          </a:solidFill>
                        </a:rPr>
                        <a:t>Show a strength movement and</a:t>
                      </a:r>
                      <a:br>
                        <a:rPr lang="en-US" sz="650" b="0" i="0" u="none" strike="noStrike" noProof="0" dirty="0">
                          <a:solidFill>
                            <a:schemeClr val="bg1"/>
                          </a:solidFill>
                        </a:rPr>
                      </a:br>
                      <a:r>
                        <a:rPr lang="en-US" sz="650" b="0" i="0" u="none" strike="noStrike" noProof="0" dirty="0">
                          <a:solidFill>
                            <a:schemeClr val="bg1"/>
                          </a:solidFill>
                        </a:rPr>
                        <a:t>its progression for those who are</a:t>
                      </a:r>
                      <a:br>
                        <a:rPr lang="en-US" sz="650" b="0" i="0" u="none" strike="noStrike" noProof="0" dirty="0">
                          <a:solidFill>
                            <a:schemeClr val="bg1"/>
                          </a:solidFill>
                        </a:rPr>
                      </a:br>
                      <a:r>
                        <a:rPr lang="en-US" sz="650" b="0" i="0" u="none" strike="noStrike" noProof="0" dirty="0">
                          <a:solidFill>
                            <a:schemeClr val="bg1"/>
                          </a:solidFill>
                        </a:rPr>
                        <a:t>looking to up a certain aspect of</a:t>
                      </a:r>
                      <a:br>
                        <a:rPr lang="en-US" sz="650" b="0" i="0" u="none" strike="noStrike" noProof="0" dirty="0">
                          <a:solidFill>
                            <a:schemeClr val="bg1"/>
                          </a:solidFill>
                        </a:rPr>
                      </a:br>
                      <a:r>
                        <a:rPr lang="en-US" sz="650" b="0" i="0" u="none" strike="noStrike" noProof="0" dirty="0">
                          <a:solidFill>
                            <a:schemeClr val="bg1"/>
                          </a:solidFill>
                        </a:rPr>
                        <a:t>their workout. Challenge followers</a:t>
                      </a:r>
                      <a:br>
                        <a:rPr lang="en-US" sz="650" b="0" i="0" u="none" strike="noStrike" noProof="0" dirty="0">
                          <a:solidFill>
                            <a:schemeClr val="bg1"/>
                          </a:solidFill>
                        </a:rPr>
                      </a:br>
                      <a:r>
                        <a:rPr lang="en-US" sz="650" b="0" i="0" u="none" strike="noStrike" noProof="0" dirty="0">
                          <a:solidFill>
                            <a:schemeClr val="bg1"/>
                          </a:solidFill>
                        </a:rPr>
                        <a:t>to implement the movement</a:t>
                      </a:r>
                      <a:br>
                        <a:rPr lang="en-US" sz="650" b="0" i="0" u="none" strike="noStrike" noProof="0" dirty="0">
                          <a:solidFill>
                            <a:schemeClr val="bg1"/>
                          </a:solidFill>
                        </a:rPr>
                      </a:br>
                      <a:r>
                        <a:rPr lang="en-US" sz="650" b="0" i="0" u="none" strike="noStrike" noProof="0" dirty="0">
                          <a:solidFill>
                            <a:schemeClr val="bg1"/>
                          </a:solidFill>
                        </a:rPr>
                        <a:t>in their workouts this week!</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6</a:t>
                      </a:r>
                      <a:endParaRPr lang="en-US" sz="600" b="0" i="0" u="none" strike="noStrike" spc="0" dirty="0">
                        <a:solidFill>
                          <a:schemeClr val="dk1"/>
                        </a:solidFill>
                        <a:effectLst/>
                        <a:latin typeface="+mn-lt"/>
                      </a:endParaRPr>
                    </a:p>
                    <a:p>
                      <a:pPr marL="63500" lvl="0" algn="ctr" rtl="0">
                        <a:spcBef>
                          <a:spcPts val="310"/>
                        </a:spcBef>
                        <a:spcAft>
                          <a:spcPts val="0"/>
                        </a:spcAft>
                        <a:buNone/>
                      </a:pPr>
                      <a:r>
                        <a:rPr lang="en-US" sz="600" b="0" i="0" u="none" strike="noStrike" spc="0" noProof="0" dirty="0">
                          <a:solidFill>
                            <a:schemeClr val="bg1"/>
                          </a:solidFill>
                          <a:effectLst/>
                          <a:latin typeface="Century Gothic"/>
                        </a:rPr>
                        <a:t>STAYING ON TASK</a:t>
                      </a:r>
                    </a:p>
                    <a:p>
                      <a:pPr marL="63500" lvl="0" algn="ctr" rtl="0">
                        <a:spcBef>
                          <a:spcPts val="310"/>
                        </a:spcBef>
                        <a:spcAft>
                          <a:spcPts val="0"/>
                        </a:spcAft>
                        <a:buNone/>
                      </a:pPr>
                      <a:r>
                        <a:rPr lang="en-US" sz="650" b="0" i="0" u="none" strike="noStrike" spc="0" noProof="0" dirty="0">
                          <a:solidFill>
                            <a:schemeClr val="bg1"/>
                          </a:solidFill>
                          <a:effectLst/>
                          <a:latin typeface="Century Gothic"/>
                        </a:rPr>
                        <a:t>How can members make the most</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of their time in the gym? Lay out a routine for a certain audience segment</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(e.g. strength enthusiasts) and show</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the routine through a Reel.</a:t>
                      </a:r>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7</a:t>
                      </a:r>
                      <a:endParaRPr lang="en-US" dirty="0"/>
                    </a:p>
                    <a:p>
                      <a:pPr marL="63500" lvl="0" algn="ctr">
                        <a:spcBef>
                          <a:spcPts val="310"/>
                        </a:spcBef>
                        <a:spcAft>
                          <a:spcPts val="0"/>
                        </a:spcAft>
                        <a:buNone/>
                      </a:pPr>
                      <a:r>
                        <a:rPr lang="en-US" sz="600" b="0" i="0" u="none" strike="noStrike" spc="0" noProof="0" dirty="0">
                          <a:solidFill>
                            <a:schemeClr val="bg1"/>
                          </a:solidFill>
                          <a:effectLst/>
                          <a:latin typeface="Century Gothic"/>
                        </a:rPr>
                        <a:t>WALK IT OUT</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Share a stat about how implementing walks into your routine can improve mood,</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focus, and overall wellbeing.</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Bonus: compile "Add Your Music" sticker suggestions and make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an AF playlist for users to jam</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out to on their walk!</a:t>
                      </a:r>
                      <a:endParaRPr lang="en-US" sz="65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8</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latin typeface="Century Gothic"/>
                        </a:rPr>
                        <a:t>NATIONAL PICKLEBALL DAY</a:t>
                      </a:r>
                    </a:p>
                    <a:p>
                      <a:pPr marL="63500" lvl="0" algn="ctr">
                        <a:spcBef>
                          <a:spcPts val="310"/>
                        </a:spcBef>
                        <a:spcAft>
                          <a:spcPts val="0"/>
                        </a:spcAft>
                        <a:buNone/>
                      </a:pPr>
                      <a:r>
                        <a:rPr lang="en-US" sz="650" b="0" i="0" u="none" strike="noStrike" spc="0" noProof="0" dirty="0">
                          <a:solidFill>
                            <a:schemeClr val="bg1"/>
                          </a:solidFill>
                          <a:effectLst/>
                          <a:latin typeface="Century Gothic"/>
                        </a:rPr>
                        <a:t>The sensation sweeping our</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nation, pickleball! Celebrate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with a friendly competition</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in the club by setting up some games or share a workout that</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helps improve your paddle work!</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9</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FAMILY DINNER</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What is a crowd pleasing (and maybe even macro-friendly) healthy recipe you love? Share a Reel or recipe card of a recipe that can serve multiple people!</a:t>
                      </a:r>
                      <a:endParaRPr lang="en-US" sz="650" dirty="0"/>
                    </a:p>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10</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MEMBER SPOTLIGHT </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Use this </a:t>
                      </a:r>
                      <a:r>
                        <a:rPr lang="en-US" sz="650" b="0" i="0" u="none" strike="noStrike" spc="0" noProof="0" dirty="0">
                          <a:solidFill>
                            <a:srgbClr val="2D2926"/>
                          </a:solidFill>
                          <a:effectLst/>
                          <a:latin typeface="Century Gothic"/>
                          <a:hlinkClick r:id="rId2"/>
                        </a:rPr>
                        <a:t>Template</a:t>
                      </a:r>
                      <a:r>
                        <a:rPr lang="en-US" sz="650" b="0" i="0" u="none" strike="noStrike" spc="0" noProof="0" dirty="0">
                          <a:solidFill>
                            <a:schemeClr val="bg1"/>
                          </a:solidFill>
                          <a:effectLst/>
                          <a:latin typeface="Century Gothic"/>
                        </a:rPr>
                        <a:t> from the Brand Marketing Center to create a brand-aligned Member Spotlight for your</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Instagram! You can use the pin feature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to pin this member for the month / week</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they’re being celebrated!</a:t>
                      </a:r>
                      <a:endParaRPr lang="en-US" sz="650" dirty="0"/>
                    </a:p>
                  </a:txBody>
                  <a:tcPr marL="9525" marR="9525" marT="80772" marB="0"/>
                </a:tc>
                <a:extLst>
                  <a:ext uri="{0D108BD9-81ED-4DB2-BD59-A6C34878D82A}">
                    <a16:rowId xmlns:a16="http://schemas.microsoft.com/office/drawing/2014/main" val="4289451183"/>
                  </a:ext>
                </a:extLst>
              </a:tr>
              <a:tr h="1302591">
                <a:tc>
                  <a:txBody>
                    <a:bodyPr/>
                    <a:lstStyle/>
                    <a:p>
                      <a:pPr marL="63500" lvl="0" algn="ctr" rtl="0">
                        <a:spcBef>
                          <a:spcPts val="310"/>
                        </a:spcBef>
                        <a:spcAft>
                          <a:spcPts val="0"/>
                        </a:spcAft>
                        <a:buNone/>
                      </a:pPr>
                      <a:r>
                        <a:rPr lang="en-US" sz="600" u="none" spc="0" dirty="0">
                          <a:solidFill>
                            <a:schemeClr val="bg1"/>
                          </a:solidFill>
                          <a:effectLst/>
                        </a:rPr>
                        <a:t>11</a:t>
                      </a:r>
                      <a:endParaRPr lang="en-US" sz="600" u="none" dirty="0"/>
                    </a:p>
                    <a:p>
                      <a:pPr marL="63500" lvl="0" algn="ctr">
                        <a:spcBef>
                          <a:spcPts val="310"/>
                        </a:spcBef>
                        <a:spcAft>
                          <a:spcPts val="0"/>
                        </a:spcAft>
                        <a:buNone/>
                      </a:pPr>
                      <a:r>
                        <a:rPr lang="en-US" sz="600" b="0" i="0" u="none" strike="noStrike" spc="0" noProof="0" dirty="0">
                          <a:solidFill>
                            <a:schemeClr val="bg1"/>
                          </a:solidFill>
                          <a:effectLst/>
                        </a:rPr>
                        <a:t>BIG STRETCH</a:t>
                      </a:r>
                      <a:endParaRPr lang="en-US" sz="600" b="0" i="0" u="none" strike="noStrike" spc="0" noProof="0" dirty="0">
                        <a:solidFill>
                          <a:srgbClr val="2D2926"/>
                        </a:solidFill>
                        <a:effectLst/>
                      </a:endParaRPr>
                    </a:p>
                    <a:p>
                      <a:pPr marL="63500" lvl="0" algn="ctr">
                        <a:spcBef>
                          <a:spcPts val="310"/>
                        </a:spcBef>
                        <a:spcAft>
                          <a:spcPts val="0"/>
                        </a:spcAft>
                        <a:buNone/>
                      </a:pPr>
                      <a:r>
                        <a:rPr lang="en-US" sz="650" b="0" i="0" u="none" strike="noStrike" spc="0" noProof="0" dirty="0">
                          <a:solidFill>
                            <a:schemeClr val="bg1"/>
                          </a:solidFill>
                          <a:effectLst/>
                        </a:rPr>
                        <a:t>We've noticed many people</a:t>
                      </a:r>
                      <a:br>
                        <a:rPr lang="en-US" sz="650" b="0" i="0" u="none" strike="noStrike" spc="0" noProof="0" dirty="0">
                          <a:solidFill>
                            <a:schemeClr val="bg1"/>
                          </a:solidFill>
                          <a:effectLst/>
                        </a:rPr>
                      </a:br>
                      <a:r>
                        <a:rPr lang="en-US" sz="650" b="0" i="0" u="none" strike="noStrike" spc="0" noProof="0" dirty="0">
                          <a:solidFill>
                            <a:schemeClr val="bg1"/>
                          </a:solidFill>
                          <a:effectLst/>
                        </a:rPr>
                        <a:t>(on the AF App and on social)</a:t>
                      </a:r>
                      <a:br>
                        <a:rPr lang="en-US" sz="650" b="0" i="0" u="none" strike="noStrike" spc="0" noProof="0" dirty="0">
                          <a:solidFill>
                            <a:schemeClr val="bg1"/>
                          </a:solidFill>
                          <a:effectLst/>
                        </a:rPr>
                      </a:br>
                      <a:r>
                        <a:rPr lang="en-US" sz="650" b="0" i="0" u="none" strike="noStrike" spc="0" noProof="0" dirty="0">
                          <a:solidFill>
                            <a:schemeClr val="bg1"/>
                          </a:solidFill>
                          <a:effectLst/>
                        </a:rPr>
                        <a:t>are looking for options to stretch sore / tight muscles. Share a stretching</a:t>
                      </a:r>
                      <a:br>
                        <a:rPr lang="en-US" sz="650" b="0" i="0" u="none" strike="noStrike" spc="0" noProof="0" dirty="0">
                          <a:solidFill>
                            <a:schemeClr val="bg1"/>
                          </a:solidFill>
                          <a:effectLst/>
                        </a:rPr>
                      </a:br>
                      <a:r>
                        <a:rPr lang="en-US" sz="650" b="0" i="0" u="none" strike="noStrike" spc="0" noProof="0" dirty="0">
                          <a:solidFill>
                            <a:schemeClr val="bg1"/>
                          </a:solidFill>
                          <a:effectLst/>
                        </a:rPr>
                        <a:t>routine focusing on a specific body</a:t>
                      </a:r>
                      <a:br>
                        <a:rPr lang="en-US" sz="650" b="0" i="0" u="none" strike="noStrike" spc="0" noProof="0" dirty="0">
                          <a:solidFill>
                            <a:schemeClr val="bg1"/>
                          </a:solidFill>
                          <a:effectLst/>
                        </a:rPr>
                      </a:br>
                      <a:r>
                        <a:rPr lang="en-US" sz="650" b="0" i="0" u="none" strike="noStrike" spc="0" noProof="0" dirty="0">
                          <a:solidFill>
                            <a:schemeClr val="bg1"/>
                          </a:solidFill>
                          <a:effectLst/>
                        </a:rPr>
                        <a:t>part or type of movement. </a:t>
                      </a:r>
                      <a:endParaRPr lang="en-US" sz="650" dirty="0"/>
                    </a:p>
                  </a:txBody>
                  <a:tcPr marL="9525" marR="9525" marT="80772" marB="0"/>
                </a:tc>
                <a:tc>
                  <a:txBody>
                    <a:bodyPr/>
                    <a:lstStyle/>
                    <a:p>
                      <a:pPr marL="63500" marR="0" lvl="0" indent="0" algn="ctr" rtl="0">
                        <a:spcBef>
                          <a:spcPts val="310"/>
                        </a:spcBef>
                        <a:spcAft>
                          <a:spcPts val="0"/>
                        </a:spcAft>
                        <a:buNone/>
                      </a:pPr>
                      <a:r>
                        <a:rPr lang="en-US" sz="600" spc="0" dirty="0">
                          <a:solidFill>
                            <a:schemeClr val="bg1"/>
                          </a:solidFill>
                          <a:effectLst/>
                        </a:rPr>
                        <a:t>12</a:t>
                      </a:r>
                      <a:endParaRPr lang="en-US" sz="600" spc="0" dirty="0">
                        <a:solidFill>
                          <a:srgbClr val="2D2926"/>
                        </a:solidFill>
                        <a:effectLst/>
                      </a:endParaRPr>
                    </a:p>
                    <a:p>
                      <a:pPr marL="63500" marR="0" lvl="0" indent="0" algn="ctr" rtl="0">
                        <a:spcBef>
                          <a:spcPts val="310"/>
                        </a:spcBef>
                        <a:spcAft>
                          <a:spcPts val="0"/>
                        </a:spcAft>
                        <a:buNone/>
                      </a:pPr>
                      <a:r>
                        <a:rPr lang="en-US" sz="600" b="0" i="0" u="none" strike="noStrike" spc="0" noProof="0" dirty="0">
                          <a:solidFill>
                            <a:schemeClr val="bg1"/>
                          </a:solidFill>
                          <a:effectLst/>
                        </a:rPr>
                        <a:t>POP CULTURE MOMENT</a:t>
                      </a:r>
                      <a:endParaRPr lang="en-US" sz="600" b="0" i="0" u="none" strike="noStrike" spc="0" noProof="0" dirty="0">
                        <a:solidFill>
                          <a:srgbClr val="2D2926"/>
                        </a:solidFill>
                        <a:effectLst/>
                      </a:endParaRPr>
                    </a:p>
                    <a:p>
                      <a:pPr marL="63500" marR="0" lvl="0" indent="0" algn="ctr" rtl="0">
                        <a:spcBef>
                          <a:spcPts val="310"/>
                        </a:spcBef>
                        <a:spcAft>
                          <a:spcPts val="0"/>
                        </a:spcAft>
                        <a:buNone/>
                      </a:pPr>
                      <a:r>
                        <a:rPr lang="en-US" sz="650" b="0" i="0" u="none" strike="noStrike" spc="0" noProof="0" dirty="0">
                          <a:solidFill>
                            <a:schemeClr val="bg1"/>
                          </a:solidFill>
                          <a:effectLst/>
                        </a:rPr>
                        <a:t>Share a meme or create a Reel using one of the recommended trending sounds to post. Tip:</a:t>
                      </a:r>
                      <a:br>
                        <a:rPr lang="en-US" sz="650" b="0" i="0" u="none" strike="noStrike" spc="0" noProof="0" dirty="0">
                          <a:solidFill>
                            <a:schemeClr val="bg1"/>
                          </a:solidFill>
                          <a:effectLst/>
                        </a:rPr>
                      </a:br>
                      <a:r>
                        <a:rPr lang="en-US" sz="650" b="0" i="0" u="none" strike="noStrike" spc="0" noProof="0" dirty="0">
                          <a:solidFill>
                            <a:schemeClr val="bg1"/>
                          </a:solidFill>
                          <a:effectLst/>
                        </a:rPr>
                        <a:t>don't schedule this one more</a:t>
                      </a:r>
                      <a:br>
                        <a:rPr lang="en-US" sz="650" b="0" i="0" u="none" strike="noStrike" spc="0" noProof="0" dirty="0">
                          <a:solidFill>
                            <a:schemeClr val="bg1"/>
                          </a:solidFill>
                          <a:effectLst/>
                        </a:rPr>
                      </a:br>
                      <a:r>
                        <a:rPr lang="en-US" sz="650" b="0" i="0" u="none" strike="noStrike" spc="0" noProof="0" dirty="0">
                          <a:solidFill>
                            <a:schemeClr val="bg1"/>
                          </a:solidFill>
                          <a:effectLst/>
                        </a:rPr>
                        <a:t>than a few days ahead.</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13</a:t>
                      </a:r>
                      <a:endParaRPr lang="en-US" sz="600" b="0" i="0" u="none" strike="noStrike" spc="0" dirty="0">
                        <a:solidFill>
                          <a:schemeClr val="dk1"/>
                        </a:solidFill>
                        <a:effectLst/>
                        <a:latin typeface="+mn-lt"/>
                      </a:endParaRPr>
                    </a:p>
                    <a:p>
                      <a:pPr marL="63500" lvl="0" algn="ctr" rtl="0">
                        <a:spcBef>
                          <a:spcPts val="310"/>
                        </a:spcBef>
                        <a:spcAft>
                          <a:spcPts val="0"/>
                        </a:spcAft>
                        <a:buNone/>
                      </a:pPr>
                      <a:r>
                        <a:rPr lang="en-US" sz="600" b="0" i="0" u="none" strike="noStrike" spc="0" noProof="0" dirty="0">
                          <a:solidFill>
                            <a:schemeClr val="bg1"/>
                          </a:solidFill>
                          <a:effectLst/>
                          <a:latin typeface="Century Gothic"/>
                        </a:rPr>
                        <a:t> APP-TITUDE</a:t>
                      </a:r>
                      <a:endParaRPr lang="en-US" sz="600" b="0" i="0" u="none" strike="noStrike" spc="0" noProof="0" dirty="0">
                        <a:solidFill>
                          <a:srgbClr val="2D2926"/>
                        </a:solidFill>
                        <a:effectLst/>
                        <a:latin typeface="Century Gothic"/>
                      </a:endParaRPr>
                    </a:p>
                    <a:p>
                      <a:pPr marL="63500" lvl="0" algn="ctr" rtl="0">
                        <a:spcBef>
                          <a:spcPts val="310"/>
                        </a:spcBef>
                        <a:spcAft>
                          <a:spcPts val="0"/>
                        </a:spcAft>
                        <a:buNone/>
                      </a:pPr>
                      <a:r>
                        <a:rPr lang="en-US" sz="650" b="0" i="0" u="none" strike="noStrike" spc="0" noProof="0" dirty="0">
                          <a:solidFill>
                            <a:schemeClr val="bg1"/>
                          </a:solidFill>
                          <a:effectLst/>
                          <a:latin typeface="Century Gothic"/>
                        </a:rPr>
                        <a:t>AF Access Pass is a great accessory</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to help make healthy happen anywhere, </a:t>
                      </a:r>
                      <a:r>
                        <a:rPr lang="en-US" sz="650" b="0" i="0" u="none" strike="noStrike" spc="0" noProof="0" dirty="0" err="1">
                          <a:solidFill>
                            <a:schemeClr val="bg1"/>
                          </a:solidFill>
                          <a:effectLst/>
                          <a:latin typeface="Century Gothic"/>
                        </a:rPr>
                        <a:t>anyTIME</a:t>
                      </a:r>
                      <a:r>
                        <a:rPr lang="en-US" sz="650" b="0" i="0" u="none" strike="noStrike" spc="0" noProof="0" dirty="0">
                          <a:solidFill>
                            <a:schemeClr val="bg1"/>
                          </a:solidFill>
                          <a:effectLst/>
                          <a:latin typeface="Century Gothic"/>
                        </a:rPr>
                        <a:t>! Share a post educating followers on Access Pass</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and how it can make getting</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to the gym even easier.</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Reminder: Access Pass is currently only available in the U.S. and Australia.</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14</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BODY SCAN EDUCATION</a:t>
                      </a:r>
                    </a:p>
                    <a:p>
                      <a:pPr marL="63500" lvl="0" algn="ctr">
                        <a:spcBef>
                          <a:spcPts val="310"/>
                        </a:spcBef>
                        <a:spcAft>
                          <a:spcPts val="0"/>
                        </a:spcAft>
                        <a:buNone/>
                      </a:pPr>
                      <a:r>
                        <a:rPr lang="en-US" sz="650" b="0" i="0" u="none" strike="noStrike" spc="0" noProof="0" dirty="0">
                          <a:solidFill>
                            <a:schemeClr val="bg1"/>
                          </a:solidFill>
                          <a:effectLst/>
                        </a:rPr>
                        <a:t>Educate followers on how using body scanning can benefit their fitness journey.</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15</a:t>
                      </a:r>
                      <a:endParaRPr lang="en-US" dirty="0"/>
                    </a:p>
                    <a:p>
                      <a:pPr marL="63500" lvl="0" algn="ctr">
                        <a:spcBef>
                          <a:spcPts val="310"/>
                        </a:spcBef>
                        <a:spcAft>
                          <a:spcPts val="0"/>
                        </a:spcAft>
                        <a:buNone/>
                      </a:pPr>
                      <a:r>
                        <a:rPr lang="en-US" sz="600" b="0" i="0" u="none" strike="noStrike" spc="0" noProof="0" dirty="0">
                          <a:solidFill>
                            <a:srgbClr val="2D2926"/>
                          </a:solidFill>
                          <a:effectLst/>
                        </a:rPr>
                        <a:t>BACK TO SCHOOL</a:t>
                      </a:r>
                    </a:p>
                    <a:p>
                      <a:pPr marL="63500" lvl="0" algn="ctr">
                        <a:spcBef>
                          <a:spcPts val="310"/>
                        </a:spcBef>
                        <a:spcAft>
                          <a:spcPts val="0"/>
                        </a:spcAft>
                        <a:buNone/>
                      </a:pPr>
                      <a:r>
                        <a:rPr lang="en-US" sz="650" b="0" i="0" u="none" strike="noStrike" spc="0" noProof="0" dirty="0">
                          <a:solidFill>
                            <a:srgbClr val="2D2926"/>
                          </a:solidFill>
                          <a:effectLst/>
                        </a:rPr>
                        <a:t>It's that time of year! As we enter</a:t>
                      </a:r>
                      <a:br>
                        <a:rPr lang="en-US" sz="650" b="0" i="0" u="none" strike="noStrike" spc="0" noProof="0" dirty="0">
                          <a:solidFill>
                            <a:srgbClr val="2D2926"/>
                          </a:solidFill>
                          <a:effectLst/>
                        </a:rPr>
                      </a:br>
                      <a:r>
                        <a:rPr lang="en-US" sz="650" b="0" i="0" u="none" strike="noStrike" spc="0" noProof="0" dirty="0">
                          <a:solidFill>
                            <a:srgbClr val="2D2926"/>
                          </a:solidFill>
                          <a:effectLst/>
                        </a:rPr>
                        <a:t>fall, kids go back to school and college, the seasons change and</a:t>
                      </a:r>
                      <a:br>
                        <a:rPr lang="en-US" sz="650" b="0" i="0" u="none" strike="noStrike" spc="0" noProof="0" dirty="0">
                          <a:solidFill>
                            <a:srgbClr val="2D2926"/>
                          </a:solidFill>
                          <a:effectLst/>
                        </a:rPr>
                      </a:br>
                      <a:r>
                        <a:rPr lang="en-US" sz="650" b="0" i="0" u="none" strike="noStrike" spc="0" noProof="0" dirty="0">
                          <a:solidFill>
                            <a:srgbClr val="2D2926"/>
                          </a:solidFill>
                          <a:effectLst/>
                        </a:rPr>
                        <a:t>so do schedules. How can</a:t>
                      </a:r>
                      <a:br>
                        <a:rPr lang="en-US" sz="650" b="0" i="0" u="none" strike="noStrike" spc="0" noProof="0" dirty="0">
                          <a:solidFill>
                            <a:srgbClr val="2D2926"/>
                          </a:solidFill>
                          <a:effectLst/>
                        </a:rPr>
                      </a:br>
                      <a:r>
                        <a:rPr lang="en-US" sz="650" b="0" i="0" u="none" strike="noStrike" spc="0" noProof="0" dirty="0">
                          <a:solidFill>
                            <a:srgbClr val="2D2926"/>
                          </a:solidFill>
                          <a:effectLst/>
                        </a:rPr>
                        <a:t>followers stay committed to</a:t>
                      </a:r>
                      <a:br>
                        <a:rPr lang="en-US" sz="650" b="0" i="0" u="none" strike="noStrike" spc="0" noProof="0" dirty="0">
                          <a:solidFill>
                            <a:srgbClr val="2D2926"/>
                          </a:solidFill>
                          <a:effectLst/>
                        </a:rPr>
                      </a:br>
                      <a:r>
                        <a:rPr lang="en-US" sz="650" b="0" i="0" u="none" strike="noStrike" spc="0" noProof="0" dirty="0">
                          <a:solidFill>
                            <a:srgbClr val="2D2926"/>
                          </a:solidFill>
                          <a:effectLst/>
                        </a:rPr>
                        <a:t>the gym during this change? </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16</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AROUND TOWN</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What's going on locally? Is there a</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little league baseball tournament?</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Music in the park? Share what's going</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on around your area – ESPECIALLY if</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you’ll be present at the event!</a:t>
                      </a:r>
                      <a:endParaRPr lang="en-US" sz="65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17</a:t>
                      </a:r>
                    </a:p>
                    <a:p>
                      <a:pPr marL="63500" lvl="0" algn="ctr">
                        <a:spcBef>
                          <a:spcPts val="310"/>
                        </a:spcBef>
                        <a:spcAft>
                          <a:spcPts val="0"/>
                        </a:spcAft>
                        <a:buNone/>
                      </a:pPr>
                      <a:r>
                        <a:rPr lang="en-US" sz="600" b="0" i="0" u="none" strike="noStrike" spc="0" noProof="0" dirty="0">
                          <a:solidFill>
                            <a:schemeClr val="bg1"/>
                          </a:solidFill>
                          <a:effectLst/>
                        </a:rPr>
                        <a:t>MOBILITY</a:t>
                      </a:r>
                      <a:endParaRPr lang="en-US" sz="600" b="0" i="0" u="none" strike="noStrike" spc="0" noProof="0" dirty="0">
                        <a:solidFill>
                          <a:srgbClr val="2D2926"/>
                        </a:solidFill>
                        <a:effectLst/>
                      </a:endParaRPr>
                    </a:p>
                    <a:p>
                      <a:pPr marL="63500" lvl="0" algn="ctr">
                        <a:spcBef>
                          <a:spcPts val="310"/>
                        </a:spcBef>
                        <a:spcAft>
                          <a:spcPts val="0"/>
                        </a:spcAft>
                        <a:buNone/>
                      </a:pPr>
                      <a:r>
                        <a:rPr lang="en-US" sz="650" b="0" i="0" u="none" strike="noStrike" spc="0" noProof="0" dirty="0">
                          <a:solidFill>
                            <a:schemeClr val="bg1"/>
                          </a:solidFill>
                          <a:effectLst/>
                        </a:rPr>
                        <a:t>Mobility is a huge buzzword in the fitness</a:t>
                      </a:r>
                      <a:br>
                        <a:rPr lang="en-US" sz="650" b="0" i="0" u="none" strike="noStrike" spc="0" noProof="0" dirty="0">
                          <a:solidFill>
                            <a:schemeClr val="bg1"/>
                          </a:solidFill>
                          <a:effectLst/>
                        </a:rPr>
                      </a:br>
                      <a:r>
                        <a:rPr lang="en-US" sz="650" b="0" i="0" u="none" strike="noStrike" spc="0" noProof="0" dirty="0">
                          <a:solidFill>
                            <a:schemeClr val="bg1"/>
                          </a:solidFill>
                          <a:effectLst/>
                        </a:rPr>
                        <a:t>industry, and for good reason! Share a</a:t>
                      </a:r>
                      <a:br>
                        <a:rPr lang="en-US" sz="650" b="0" i="0" u="none" strike="noStrike" spc="0" noProof="0" dirty="0">
                          <a:solidFill>
                            <a:schemeClr val="bg1"/>
                          </a:solidFill>
                          <a:effectLst/>
                        </a:rPr>
                      </a:br>
                      <a:r>
                        <a:rPr lang="en-US" sz="650" b="0" i="0" u="none" strike="noStrike" spc="0" noProof="0" dirty="0">
                          <a:solidFill>
                            <a:schemeClr val="bg1"/>
                          </a:solidFill>
                          <a:effectLst/>
                        </a:rPr>
                        <a:t>mobility routine for a certain area of the</a:t>
                      </a:r>
                      <a:br>
                        <a:rPr lang="en-US" sz="650" b="0" i="0" u="none" strike="noStrike" spc="0" noProof="0" dirty="0">
                          <a:solidFill>
                            <a:schemeClr val="bg1"/>
                          </a:solidFill>
                          <a:effectLst/>
                        </a:rPr>
                      </a:br>
                      <a:r>
                        <a:rPr lang="en-US" sz="650" b="0" i="0" u="none" strike="noStrike" spc="0" noProof="0" dirty="0">
                          <a:solidFill>
                            <a:schemeClr val="bg1"/>
                          </a:solidFill>
                          <a:effectLst/>
                        </a:rPr>
                        <a:t>body or for a certain consumer group (e.g.</a:t>
                      </a:r>
                      <a:br>
                        <a:rPr lang="en-US" sz="650" b="0" i="0" u="none" strike="noStrike" spc="0" noProof="0" dirty="0">
                          <a:solidFill>
                            <a:schemeClr val="bg1"/>
                          </a:solidFill>
                          <a:effectLst/>
                        </a:rPr>
                      </a:br>
                      <a:r>
                        <a:rPr lang="en-US" sz="650" b="0" i="0" u="none" strike="noStrike" spc="0" noProof="0" dirty="0">
                          <a:solidFill>
                            <a:schemeClr val="bg1"/>
                          </a:solidFill>
                          <a:effectLst/>
                        </a:rPr>
                        <a:t>office workers or blue-collar laborers). </a:t>
                      </a:r>
                      <a:endParaRPr lang="en-US" sz="650" b="0" i="0" u="none" strike="noStrike" spc="0" noProof="0" dirty="0">
                        <a:solidFill>
                          <a:schemeClr val="bg1"/>
                        </a:solidFill>
                        <a:effectLst/>
                        <a:latin typeface="Century Gothic"/>
                      </a:endParaRPr>
                    </a:p>
                  </a:txBody>
                  <a:tcPr marL="9525" marR="9525" marT="80772" marB="0"/>
                </a:tc>
                <a:extLst>
                  <a:ext uri="{0D108BD9-81ED-4DB2-BD59-A6C34878D82A}">
                    <a16:rowId xmlns:a16="http://schemas.microsoft.com/office/drawing/2014/main" val="3005291295"/>
                  </a:ext>
                </a:extLst>
              </a:tr>
              <a:tr h="1238106">
                <a:tc>
                  <a:txBody>
                    <a:bodyPr/>
                    <a:lstStyle/>
                    <a:p>
                      <a:pPr marL="63500" lvl="0" algn="ctr" rtl="0">
                        <a:spcBef>
                          <a:spcPts val="310"/>
                        </a:spcBef>
                        <a:spcAft>
                          <a:spcPts val="0"/>
                        </a:spcAft>
                        <a:buNone/>
                      </a:pPr>
                      <a:r>
                        <a:rPr lang="en-US" sz="600" spc="0" dirty="0">
                          <a:solidFill>
                            <a:schemeClr val="bg1"/>
                          </a:solidFill>
                          <a:effectLst/>
                        </a:rPr>
                        <a:t>18</a:t>
                      </a:r>
                      <a:endParaRPr lang="en-US" sz="600" b="0" i="0" u="none" strike="noStrike" spc="0" dirty="0">
                        <a:solidFill>
                          <a:schemeClr val="dk1"/>
                        </a:solidFill>
                        <a:effectLst/>
                      </a:endParaRPr>
                    </a:p>
                    <a:p>
                      <a:pPr marL="63500" lvl="0" algn="ctr" rtl="0">
                        <a:spcBef>
                          <a:spcPts val="310"/>
                        </a:spcBef>
                        <a:spcAft>
                          <a:spcPts val="0"/>
                        </a:spcAft>
                        <a:buNone/>
                      </a:pPr>
                      <a:r>
                        <a:rPr lang="en-US" sz="600" b="0" i="0" u="none" strike="noStrike" spc="0" noProof="0" dirty="0">
                          <a:solidFill>
                            <a:schemeClr val="bg1"/>
                          </a:solidFill>
                          <a:effectLst/>
                        </a:rPr>
                        <a:t>MEAL PREP MADNESS</a:t>
                      </a:r>
                      <a:endParaRPr lang="en-US" sz="600" b="0" i="0" u="none" strike="noStrike" spc="0" noProof="0" dirty="0">
                        <a:solidFill>
                          <a:srgbClr val="2D2926"/>
                        </a:solidFill>
                        <a:effectLst/>
                      </a:endParaRPr>
                    </a:p>
                    <a:p>
                      <a:pPr marL="63500" lvl="0" algn="ctr" rtl="0">
                        <a:spcBef>
                          <a:spcPts val="310"/>
                        </a:spcBef>
                        <a:spcAft>
                          <a:spcPts val="0"/>
                        </a:spcAft>
                        <a:buNone/>
                      </a:pPr>
                      <a:r>
                        <a:rPr lang="en-US" sz="650" b="0" i="0" u="none" strike="noStrike" spc="0" noProof="0" dirty="0">
                          <a:solidFill>
                            <a:schemeClr val="bg1"/>
                          </a:solidFill>
                          <a:effectLst/>
                        </a:rPr>
                        <a:t>Share a week's worth of meal ideas and their cooking instructions. Need recipes? Check out the Anytime Fitness blog!</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19</a:t>
                      </a:r>
                      <a:endParaRPr lang="en-US" sz="600" dirty="0"/>
                    </a:p>
                    <a:p>
                      <a:pPr marL="63500" lvl="0" algn="ctr">
                        <a:spcBef>
                          <a:spcPts val="310"/>
                        </a:spcBef>
                        <a:spcAft>
                          <a:spcPts val="0"/>
                        </a:spcAft>
                        <a:buNone/>
                      </a:pPr>
                      <a:r>
                        <a:rPr lang="en-US" sz="600" spc="0" dirty="0">
                          <a:solidFill>
                            <a:schemeClr val="bg1"/>
                          </a:solidFill>
                          <a:effectLst/>
                        </a:rPr>
                        <a:t>CORPORATE HEAVY-UP BEGINS</a:t>
                      </a:r>
                      <a:br>
                        <a:rPr lang="en-US" sz="600" spc="0" dirty="0">
                          <a:solidFill>
                            <a:schemeClr val="bg1"/>
                          </a:solidFill>
                          <a:effectLst/>
                        </a:rPr>
                      </a:br>
                      <a:r>
                        <a:rPr lang="en-US" sz="600" spc="0" dirty="0">
                          <a:solidFill>
                            <a:schemeClr val="bg1"/>
                          </a:solidFill>
                          <a:effectLst/>
                        </a:rPr>
                        <a:t>FOR FALL CAMPAIGN</a:t>
                      </a:r>
                    </a:p>
                    <a:p>
                      <a:pPr marL="63500" lvl="0" algn="ctr">
                        <a:spcBef>
                          <a:spcPts val="310"/>
                        </a:spcBef>
                        <a:spcAft>
                          <a:spcPts val="0"/>
                        </a:spcAft>
                        <a:buNone/>
                      </a:pPr>
                      <a:r>
                        <a:rPr lang="en-US" sz="650" spc="0" dirty="0">
                          <a:solidFill>
                            <a:schemeClr val="bg1"/>
                          </a:solidFill>
                          <a:effectLst/>
                        </a:rPr>
                        <a:t>Keep an eye on corporate's IG page (@anytimefitness) for our new posts</a:t>
                      </a:r>
                      <a:br>
                        <a:rPr lang="en-US" sz="650" spc="0" dirty="0">
                          <a:solidFill>
                            <a:schemeClr val="bg1"/>
                          </a:solidFill>
                          <a:effectLst/>
                        </a:rPr>
                      </a:br>
                      <a:r>
                        <a:rPr lang="en-US" sz="650" spc="0" dirty="0">
                          <a:solidFill>
                            <a:schemeClr val="bg1"/>
                          </a:solidFill>
                          <a:effectLst/>
                        </a:rPr>
                        <a:t>and share some of them to your</a:t>
                      </a:r>
                      <a:br>
                        <a:rPr lang="en-US" sz="650" spc="0" dirty="0">
                          <a:solidFill>
                            <a:schemeClr val="bg1"/>
                          </a:solidFill>
                          <a:effectLst/>
                        </a:rPr>
                      </a:br>
                      <a:r>
                        <a:rPr lang="en-US" sz="650" spc="0" dirty="0">
                          <a:solidFill>
                            <a:schemeClr val="bg1"/>
                          </a:solidFill>
                          <a:effectLst/>
                        </a:rPr>
                        <a:t>story to further bring awareness to our upcoming fall campaign!</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20</a:t>
                      </a:r>
                      <a:endParaRPr lang="en-US" sz="600" dirty="0"/>
                    </a:p>
                    <a:p>
                      <a:pPr marL="63500" lvl="0" algn="ctr">
                        <a:spcBef>
                          <a:spcPts val="310"/>
                        </a:spcBef>
                        <a:spcAft>
                          <a:spcPts val="0"/>
                        </a:spcAft>
                        <a:buNone/>
                      </a:pPr>
                      <a:r>
                        <a:rPr lang="en-US" sz="600" b="0" i="0" u="none" strike="noStrike" spc="0" noProof="0" dirty="0">
                          <a:solidFill>
                            <a:schemeClr val="bg1"/>
                          </a:solidFill>
                          <a:effectLst/>
                          <a:latin typeface="Century Gothic"/>
                        </a:rPr>
                        <a:t>COMMITMENT TO YOURSELF</a:t>
                      </a:r>
                    </a:p>
                    <a:p>
                      <a:pPr marL="63500" lvl="0" algn="ctr">
                        <a:spcBef>
                          <a:spcPts val="310"/>
                        </a:spcBef>
                        <a:spcAft>
                          <a:spcPts val="0"/>
                        </a:spcAft>
                        <a:buNone/>
                      </a:pPr>
                      <a:r>
                        <a:rPr lang="en-US" sz="650" b="0" i="0" u="none" strike="noStrike" spc="0" noProof="0" dirty="0">
                          <a:solidFill>
                            <a:schemeClr val="bg1"/>
                          </a:solidFill>
                          <a:effectLst/>
                          <a:latin typeface="Century Gothic"/>
                        </a:rPr>
                        <a:t>What does it take to commit to yourself and your health? What can change your habits to continue to stick with it? Poll members and find out what is keeping them from achieving their goals.  </a:t>
                      </a:r>
                      <a:endParaRPr lang="en-US" sz="65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21</a:t>
                      </a:r>
                      <a:endParaRPr lang="en-US" sz="600" b="0" i="0" u="none" strike="noStrike" spc="0" noProof="0" dirty="0">
                        <a:solidFill>
                          <a:schemeClr val="dk1"/>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rPr>
                        <a:t>MEMBER SUCCESS</a:t>
                      </a:r>
                      <a:endParaRPr lang="en-US" sz="600" b="0" i="0" u="none" strike="noStrike" spc="0" noProof="0" dirty="0">
                        <a:solidFill>
                          <a:srgbClr val="2D2926"/>
                        </a:solidFill>
                        <a:effectLst/>
                      </a:endParaRPr>
                    </a:p>
                    <a:p>
                      <a:pPr marL="63500" lvl="0" algn="ctr">
                        <a:spcBef>
                          <a:spcPts val="310"/>
                        </a:spcBef>
                        <a:spcAft>
                          <a:spcPts val="0"/>
                        </a:spcAft>
                        <a:buNone/>
                      </a:pPr>
                      <a:r>
                        <a:rPr lang="en-US" sz="650" b="0" i="0" u="none" strike="noStrike" spc="0" noProof="0" dirty="0">
                          <a:solidFill>
                            <a:schemeClr val="bg1"/>
                          </a:solidFill>
                          <a:effectLst/>
                        </a:rPr>
                        <a:t>This post is perfect to schedule ahead! Share a success story of a member in your gym. Reminder: results for "success" do not need</a:t>
                      </a:r>
                      <a:br>
                        <a:rPr lang="en-US" sz="650" b="0" i="0" u="none" strike="noStrike" spc="0" noProof="0" dirty="0">
                          <a:solidFill>
                            <a:schemeClr val="bg1"/>
                          </a:solidFill>
                          <a:effectLst/>
                        </a:rPr>
                      </a:br>
                      <a:r>
                        <a:rPr lang="en-US" sz="650" b="0" i="0" u="none" strike="noStrike" spc="0" noProof="0" dirty="0">
                          <a:solidFill>
                            <a:schemeClr val="bg1"/>
                          </a:solidFill>
                          <a:effectLst/>
                        </a:rPr>
                        <a:t>to huge – even something like getting better sleep is a success!</a:t>
                      </a:r>
                      <a:endParaRPr lang="en-US" sz="65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22</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rPr>
                        <a:t>MINDFULNESS</a:t>
                      </a:r>
                      <a:endParaRPr lang="en-US" sz="600" b="0" i="0" u="none" strike="noStrike" spc="0" noProof="0" dirty="0">
                        <a:solidFill>
                          <a:srgbClr val="2D2926"/>
                        </a:solidFill>
                        <a:effectLst/>
                      </a:endParaRPr>
                    </a:p>
                    <a:p>
                      <a:pPr marL="63500" lvl="0" algn="ctr">
                        <a:spcBef>
                          <a:spcPts val="310"/>
                        </a:spcBef>
                        <a:spcAft>
                          <a:spcPts val="0"/>
                        </a:spcAft>
                        <a:buNone/>
                      </a:pPr>
                      <a:r>
                        <a:rPr lang="en-US" sz="650" b="0" i="0" u="none" strike="noStrike" spc="0" noProof="0" dirty="0">
                          <a:solidFill>
                            <a:schemeClr val="bg1"/>
                          </a:solidFill>
                          <a:effectLst/>
                        </a:rPr>
                        <a:t>Discuss how mindfulness helps with many different facets of life and how you can incorporate it in the gym or into your everyday routine. </a:t>
                      </a:r>
                      <a:endParaRPr lang="en-US" sz="65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23</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rPr>
                        <a:t>FLASHBACK FRIDAY</a:t>
                      </a:r>
                    </a:p>
                    <a:p>
                      <a:pPr marL="63500" lvl="0" algn="ctr">
                        <a:spcBef>
                          <a:spcPts val="310"/>
                        </a:spcBef>
                        <a:spcAft>
                          <a:spcPts val="0"/>
                        </a:spcAft>
                        <a:buNone/>
                      </a:pPr>
                      <a:r>
                        <a:rPr lang="en-US" sz="650" b="0" i="0" u="none" strike="noStrike" spc="0" noProof="0" dirty="0">
                          <a:solidFill>
                            <a:srgbClr val="2D2926"/>
                          </a:solidFill>
                          <a:effectLst/>
                        </a:rPr>
                        <a:t>Whether your club is two weeks or 22</a:t>
                      </a:r>
                      <a:br>
                        <a:rPr lang="en-US" sz="650" b="0" i="0" u="none" strike="noStrike" spc="0" noProof="0" dirty="0">
                          <a:solidFill>
                            <a:srgbClr val="2D2926"/>
                          </a:solidFill>
                          <a:effectLst/>
                        </a:rPr>
                      </a:br>
                      <a:r>
                        <a:rPr lang="en-US" sz="650" b="0" i="0" u="none" strike="noStrike" spc="0" noProof="0" dirty="0">
                          <a:solidFill>
                            <a:srgbClr val="2D2926"/>
                          </a:solidFill>
                          <a:effectLst/>
                        </a:rPr>
                        <a:t>years old, share an original pic of your</a:t>
                      </a:r>
                      <a:br>
                        <a:rPr lang="en-US" sz="650" b="0" i="0" u="none" strike="noStrike" spc="0" noProof="0" dirty="0">
                          <a:solidFill>
                            <a:srgbClr val="2D2926"/>
                          </a:solidFill>
                          <a:effectLst/>
                        </a:rPr>
                      </a:br>
                      <a:r>
                        <a:rPr lang="en-US" sz="650" b="0" i="0" u="none" strike="noStrike" spc="0" noProof="0" dirty="0">
                          <a:solidFill>
                            <a:srgbClr val="2D2926"/>
                          </a:solidFill>
                          <a:effectLst/>
                        </a:rPr>
                        <a:t>club. Maybe you can find one that</a:t>
                      </a:r>
                      <a:br>
                        <a:rPr lang="en-US" sz="650" b="0" i="0" u="none" strike="noStrike" spc="0" noProof="0" dirty="0">
                          <a:solidFill>
                            <a:srgbClr val="2D2926"/>
                          </a:solidFill>
                          <a:effectLst/>
                        </a:rPr>
                      </a:br>
                      <a:r>
                        <a:rPr lang="en-US" sz="650" b="0" i="0" u="none" strike="noStrike" spc="0" noProof="0" dirty="0">
                          <a:solidFill>
                            <a:srgbClr val="2D2926"/>
                          </a:solidFill>
                          <a:effectLst/>
                        </a:rPr>
                        <a:t>shows how far the gym has come or</a:t>
                      </a:r>
                      <a:br>
                        <a:rPr lang="en-US" sz="650" b="0" i="0" u="none" strike="noStrike" spc="0" noProof="0" dirty="0">
                          <a:solidFill>
                            <a:srgbClr val="2D2926"/>
                          </a:solidFill>
                          <a:effectLst/>
                        </a:rPr>
                      </a:br>
                      <a:r>
                        <a:rPr lang="en-US" sz="650" b="0" i="0" u="none" strike="noStrike" spc="0" noProof="0" dirty="0">
                          <a:solidFill>
                            <a:srgbClr val="2D2926"/>
                          </a:solidFill>
                          <a:effectLst/>
                        </a:rPr>
                        <a:t>a photo that highlights how members</a:t>
                      </a:r>
                      <a:br>
                        <a:rPr lang="en-US" sz="650" b="0" i="0" u="none" strike="noStrike" spc="0" noProof="0" dirty="0">
                          <a:solidFill>
                            <a:srgbClr val="2D2926"/>
                          </a:solidFill>
                          <a:effectLst/>
                        </a:rPr>
                      </a:br>
                      <a:r>
                        <a:rPr lang="en-US" sz="650" b="0" i="0" u="none" strike="noStrike" spc="0" noProof="0" dirty="0">
                          <a:solidFill>
                            <a:srgbClr val="2D2926"/>
                          </a:solidFill>
                          <a:effectLst/>
                        </a:rPr>
                        <a:t>have been there from the start!</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24</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rPr>
                        <a:t>MEET THE CREW</a:t>
                      </a:r>
                      <a:endParaRPr lang="en-US" sz="600" b="0" i="0" u="none" strike="noStrike" spc="0" noProof="0" dirty="0">
                        <a:solidFill>
                          <a:srgbClr val="2D2926"/>
                        </a:solidFill>
                        <a:effectLst/>
                      </a:endParaRPr>
                    </a:p>
                    <a:p>
                      <a:pPr marL="63500" lvl="0" algn="ctr">
                        <a:spcBef>
                          <a:spcPts val="310"/>
                        </a:spcBef>
                        <a:spcAft>
                          <a:spcPts val="0"/>
                        </a:spcAft>
                        <a:buNone/>
                      </a:pPr>
                      <a:r>
                        <a:rPr lang="en-US" sz="650" b="0" i="0" u="none" strike="noStrike" spc="0" noProof="0" dirty="0">
                          <a:solidFill>
                            <a:schemeClr val="bg1"/>
                          </a:solidFill>
                          <a:effectLst/>
                        </a:rPr>
                        <a:t>Whether it's your member of the month or a</a:t>
                      </a:r>
                      <a:br>
                        <a:rPr lang="en-US" sz="650" b="0" i="0" u="none" strike="noStrike" spc="0" noProof="0" dirty="0">
                          <a:solidFill>
                            <a:schemeClr val="bg1"/>
                          </a:solidFill>
                          <a:effectLst/>
                        </a:rPr>
                      </a:br>
                      <a:r>
                        <a:rPr lang="en-US" sz="650" b="0" i="0" u="none" strike="noStrike" spc="0" noProof="0" dirty="0">
                          <a:solidFill>
                            <a:schemeClr val="bg1"/>
                          </a:solidFill>
                          <a:effectLst/>
                        </a:rPr>
                        <a:t>new staff member, introduce (or RE-introduce) this person to your social page and share</a:t>
                      </a:r>
                      <a:br>
                        <a:rPr lang="en-US" sz="650" b="0" i="0" u="none" strike="noStrike" spc="0" noProof="0" dirty="0">
                          <a:solidFill>
                            <a:schemeClr val="bg1"/>
                          </a:solidFill>
                          <a:effectLst/>
                        </a:rPr>
                      </a:br>
                      <a:r>
                        <a:rPr lang="en-US" sz="650" b="0" i="0" u="none" strike="noStrike" spc="0" noProof="0" dirty="0">
                          <a:solidFill>
                            <a:schemeClr val="bg1"/>
                          </a:solidFill>
                          <a:effectLst/>
                        </a:rPr>
                        <a:t>a small bio about how they are involved</a:t>
                      </a:r>
                      <a:br>
                        <a:rPr lang="en-US" sz="650" b="0" i="0" u="none" strike="noStrike" spc="0" noProof="0" dirty="0">
                          <a:solidFill>
                            <a:schemeClr val="bg1"/>
                          </a:solidFill>
                          <a:effectLst/>
                        </a:rPr>
                      </a:br>
                      <a:r>
                        <a:rPr lang="en-US" sz="650" b="0" i="0" u="none" strike="noStrike" spc="0" noProof="0" dirty="0">
                          <a:solidFill>
                            <a:schemeClr val="bg1"/>
                          </a:solidFill>
                          <a:effectLst/>
                        </a:rPr>
                        <a:t>in your gym fam!</a:t>
                      </a:r>
                      <a:endParaRPr lang="en-US" sz="650" dirty="0"/>
                    </a:p>
                  </a:txBody>
                  <a:tcPr marL="9525" marR="9525" marT="80772" marB="0"/>
                </a:tc>
                <a:extLst>
                  <a:ext uri="{0D108BD9-81ED-4DB2-BD59-A6C34878D82A}">
                    <a16:rowId xmlns:a16="http://schemas.microsoft.com/office/drawing/2014/main" val="2870796117"/>
                  </a:ext>
                </a:extLst>
              </a:tr>
              <a:tr h="1354178">
                <a:tc>
                  <a:txBody>
                    <a:bodyPr/>
                    <a:lstStyle/>
                    <a:p>
                      <a:pPr marL="63500" lvl="0" algn="ctr">
                        <a:spcBef>
                          <a:spcPts val="310"/>
                        </a:spcBef>
                        <a:spcAft>
                          <a:spcPts val="0"/>
                        </a:spcAft>
                        <a:buNone/>
                      </a:pPr>
                      <a:r>
                        <a:rPr lang="en-US" sz="600" b="0" i="0" u="none" strike="noStrike" noProof="0" dirty="0">
                          <a:solidFill>
                            <a:schemeClr val="bg1"/>
                          </a:solidFill>
                          <a:effectLst/>
                        </a:rPr>
                        <a:t>25</a:t>
                      </a:r>
                      <a:endParaRPr lang="en-US" sz="600" b="0" i="0" u="none" strike="noStrike" noProof="0" dirty="0">
                        <a:solidFill>
                          <a:srgbClr val="000000"/>
                        </a:solidFill>
                        <a:effectLst/>
                        <a:latin typeface="Century Gothic"/>
                      </a:endParaRPr>
                    </a:p>
                    <a:p>
                      <a:pPr marL="63500" lvl="0" algn="ctr">
                        <a:spcBef>
                          <a:spcPts val="310"/>
                        </a:spcBef>
                        <a:spcAft>
                          <a:spcPts val="0"/>
                        </a:spcAft>
                        <a:buNone/>
                      </a:pPr>
                      <a:r>
                        <a:rPr lang="en-US" sz="600" b="0" i="0" u="none" strike="noStrike" noProof="0" dirty="0">
                          <a:solidFill>
                            <a:srgbClr val="2D2926"/>
                          </a:solidFill>
                          <a:latin typeface="Century Gothic"/>
                        </a:rPr>
                        <a:t>SUNDAY RESET</a:t>
                      </a:r>
                    </a:p>
                    <a:p>
                      <a:pPr marL="63500" lvl="0" algn="ctr">
                        <a:spcBef>
                          <a:spcPts val="310"/>
                        </a:spcBef>
                        <a:spcAft>
                          <a:spcPts val="0"/>
                        </a:spcAft>
                        <a:buNone/>
                      </a:pPr>
                      <a:r>
                        <a:rPr lang="en-US" sz="650" b="0" i="0" u="none" strike="noStrike" noProof="0" dirty="0">
                          <a:solidFill>
                            <a:srgbClr val="2D2926"/>
                          </a:solidFill>
                          <a:latin typeface="Century Gothic"/>
                        </a:rPr>
                        <a:t>Share a piece of advice members</a:t>
                      </a:r>
                      <a:br>
                        <a:rPr lang="en-US" sz="650" b="0" i="0" u="none" strike="noStrike" noProof="0" dirty="0">
                          <a:solidFill>
                            <a:srgbClr val="2D2926"/>
                          </a:solidFill>
                          <a:latin typeface="Century Gothic"/>
                        </a:rPr>
                      </a:br>
                      <a:r>
                        <a:rPr lang="en-US" sz="650" b="0" i="0" u="none" strike="noStrike" noProof="0" dirty="0">
                          <a:solidFill>
                            <a:srgbClr val="2D2926"/>
                          </a:solidFill>
                          <a:latin typeface="Century Gothic"/>
                        </a:rPr>
                        <a:t>can follow to help make the Sunday </a:t>
                      </a:r>
                      <a:r>
                        <a:rPr lang="en-US" sz="650" b="0" i="0" u="none" strike="noStrike" noProof="0" dirty="0" err="1">
                          <a:solidFill>
                            <a:srgbClr val="2D2926"/>
                          </a:solidFill>
                          <a:latin typeface="Century Gothic"/>
                        </a:rPr>
                        <a:t>Scaries</a:t>
                      </a:r>
                      <a:r>
                        <a:rPr lang="en-US" sz="650" b="0" i="0" u="none" strike="noStrike" noProof="0" dirty="0">
                          <a:solidFill>
                            <a:srgbClr val="2D2926"/>
                          </a:solidFill>
                          <a:latin typeface="Century Gothic"/>
                        </a:rPr>
                        <a:t> a thing of the past!</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26</a:t>
                      </a:r>
                      <a:endParaRPr lang="en-US" sz="600" dirty="0"/>
                    </a:p>
                    <a:p>
                      <a:pPr marL="63500" lvl="0" algn="ctr">
                        <a:spcBef>
                          <a:spcPts val="310"/>
                        </a:spcBef>
                        <a:spcAft>
                          <a:spcPts val="0"/>
                        </a:spcAft>
                        <a:buNone/>
                      </a:pPr>
                      <a:r>
                        <a:rPr lang="en-US" sz="600" b="0" i="0" u="none" strike="noStrike" spc="0" noProof="0" dirty="0">
                          <a:solidFill>
                            <a:srgbClr val="2D2926"/>
                          </a:solidFill>
                          <a:effectLst/>
                        </a:rPr>
                        <a:t>BENEFITS OF PERSONAL TRAINING</a:t>
                      </a:r>
                    </a:p>
                    <a:p>
                      <a:pPr marL="63500" lvl="0" algn="ctr">
                        <a:spcBef>
                          <a:spcPts val="310"/>
                        </a:spcBef>
                        <a:spcAft>
                          <a:spcPts val="0"/>
                        </a:spcAft>
                        <a:buNone/>
                      </a:pPr>
                      <a:r>
                        <a:rPr lang="en-US" sz="650" b="0" i="0" u="none" strike="noStrike" spc="0" noProof="0" dirty="0">
                          <a:solidFill>
                            <a:srgbClr val="2D2926"/>
                          </a:solidFill>
                          <a:effectLst/>
                        </a:rPr>
                        <a:t>What are the benefits of working</a:t>
                      </a:r>
                      <a:br>
                        <a:rPr lang="en-US" sz="650" b="0" i="0" u="none" strike="noStrike" spc="0" noProof="0" dirty="0">
                          <a:solidFill>
                            <a:srgbClr val="2D2926"/>
                          </a:solidFill>
                          <a:effectLst/>
                        </a:rPr>
                      </a:br>
                      <a:r>
                        <a:rPr lang="en-US" sz="650" b="0" i="0" u="none" strike="noStrike" spc="0" noProof="0" dirty="0">
                          <a:solidFill>
                            <a:srgbClr val="2D2926"/>
                          </a:solidFill>
                          <a:effectLst/>
                        </a:rPr>
                        <a:t>with a coach at AF? Why should someone take the next steps? Share and show how coaching takes you</a:t>
                      </a:r>
                      <a:br>
                        <a:rPr lang="en-US" sz="650" b="0" i="0" u="none" strike="noStrike" spc="0" noProof="0" dirty="0">
                          <a:solidFill>
                            <a:srgbClr val="2D2926"/>
                          </a:solidFill>
                          <a:effectLst/>
                        </a:rPr>
                      </a:br>
                      <a:r>
                        <a:rPr lang="en-US" sz="650" b="0" i="0" u="none" strike="noStrike" spc="0" noProof="0" dirty="0">
                          <a:solidFill>
                            <a:srgbClr val="2D2926"/>
                          </a:solidFill>
                          <a:effectLst/>
                        </a:rPr>
                        <a:t>to a new level in your fitness journey. </a:t>
                      </a:r>
                      <a:endParaRPr lang="en-US" sz="65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27</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GROUP TRAINING</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Showcase your training schedule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or images and videos from live inside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your Group Training sessions.</a:t>
                      </a:r>
                      <a:endParaRPr lang="en-US" sz="65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28</a:t>
                      </a:r>
                    </a:p>
                    <a:p>
                      <a:pPr marL="63500" lvl="0" algn="ctr">
                        <a:spcBef>
                          <a:spcPts val="310"/>
                        </a:spcBef>
                        <a:spcAft>
                          <a:spcPts val="0"/>
                        </a:spcAft>
                        <a:buNone/>
                      </a:pPr>
                      <a:r>
                        <a:rPr lang="en-US" sz="600" b="0" i="0" u="none" strike="noStrike" spc="0" noProof="0" dirty="0">
                          <a:solidFill>
                            <a:schemeClr val="bg1"/>
                          </a:solidFill>
                          <a:effectLst/>
                          <a:latin typeface="Century Gothic"/>
                        </a:rPr>
                        <a:t>INSIDE THE CLUB</a:t>
                      </a:r>
                    </a:p>
                    <a:p>
                      <a:pPr marL="63500" lvl="0" algn="ctr">
                        <a:spcBef>
                          <a:spcPts val="310"/>
                        </a:spcBef>
                        <a:spcAft>
                          <a:spcPts val="0"/>
                        </a:spcAft>
                        <a:buNone/>
                      </a:pPr>
                      <a:r>
                        <a:rPr lang="en-US" sz="650" b="0" i="0" u="none" strike="noStrike" spc="0" noProof="0" dirty="0">
                          <a:solidFill>
                            <a:schemeClr val="bg1"/>
                          </a:solidFill>
                          <a:effectLst/>
                          <a:latin typeface="Century Gothic"/>
                        </a:rPr>
                        <a:t>What's new? What's happening around the club? Any challenges? Share now!</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29</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rgbClr val="2D2926"/>
                          </a:solidFill>
                          <a:effectLst/>
                          <a:latin typeface="Century Gothic"/>
                        </a:rPr>
                        <a:t>STAFF SHOUTOUT</a:t>
                      </a:r>
                    </a:p>
                    <a:p>
                      <a:pPr marL="63500" lvl="0" algn="ctr">
                        <a:spcBef>
                          <a:spcPts val="310"/>
                        </a:spcBef>
                        <a:spcAft>
                          <a:spcPts val="0"/>
                        </a:spcAft>
                        <a:buNone/>
                      </a:pPr>
                      <a:r>
                        <a:rPr lang="en-US" sz="650" b="0" i="0" u="none" strike="noStrike" spc="0" noProof="0" dirty="0">
                          <a:solidFill>
                            <a:srgbClr val="2D2926"/>
                          </a:solidFill>
                          <a:effectLst/>
                          <a:latin typeface="Century Gothic"/>
                        </a:rPr>
                        <a:t>Have an absolute rockstar on</a:t>
                      </a:r>
                      <a:br>
                        <a:rPr lang="en-US" sz="650" b="0" i="0" u="none" strike="noStrike" spc="0" noProof="0" dirty="0">
                          <a:solidFill>
                            <a:srgbClr val="2D2926"/>
                          </a:solidFill>
                          <a:effectLst/>
                          <a:latin typeface="Century Gothic"/>
                        </a:rPr>
                      </a:br>
                      <a:r>
                        <a:rPr lang="en-US" sz="650" b="0" i="0" u="none" strike="noStrike" spc="0" noProof="0" dirty="0">
                          <a:solidFill>
                            <a:srgbClr val="2D2926"/>
                          </a:solidFill>
                          <a:effectLst/>
                          <a:latin typeface="Century Gothic"/>
                        </a:rPr>
                        <a:t>staff who deserves celebrating?</a:t>
                      </a:r>
                      <a:br>
                        <a:rPr lang="en-US" sz="650" b="0" i="0" u="none" strike="noStrike" spc="0" noProof="0" dirty="0">
                          <a:solidFill>
                            <a:srgbClr val="2D2926"/>
                          </a:solidFill>
                          <a:effectLst/>
                          <a:latin typeface="Century Gothic"/>
                        </a:rPr>
                      </a:br>
                      <a:r>
                        <a:rPr lang="en-US" sz="650" b="0" i="0" u="none" strike="noStrike" spc="0" noProof="0" dirty="0">
                          <a:solidFill>
                            <a:srgbClr val="2D2926"/>
                          </a:solidFill>
                          <a:effectLst/>
                          <a:latin typeface="Century Gothic"/>
                        </a:rPr>
                        <a:t>Post their accomplishments on</a:t>
                      </a:r>
                      <a:br>
                        <a:rPr lang="en-US" sz="650" b="0" i="0" u="none" strike="noStrike" spc="0" noProof="0" dirty="0">
                          <a:solidFill>
                            <a:srgbClr val="2D2926"/>
                          </a:solidFill>
                          <a:effectLst/>
                          <a:latin typeface="Century Gothic"/>
                        </a:rPr>
                      </a:br>
                      <a:r>
                        <a:rPr lang="en-US" sz="650" b="0" i="0" u="none" strike="noStrike" spc="0" noProof="0" dirty="0">
                          <a:solidFill>
                            <a:srgbClr val="2D2926"/>
                          </a:solidFill>
                          <a:effectLst/>
                          <a:latin typeface="Century Gothic"/>
                        </a:rPr>
                        <a:t>your feed and help celebrate</a:t>
                      </a:r>
                      <a:br>
                        <a:rPr lang="en-US" sz="650" b="0" i="0" u="none" strike="noStrike" spc="0" noProof="0" dirty="0">
                          <a:solidFill>
                            <a:srgbClr val="2D2926"/>
                          </a:solidFill>
                          <a:effectLst/>
                          <a:latin typeface="Century Gothic"/>
                        </a:rPr>
                      </a:br>
                      <a:r>
                        <a:rPr lang="en-US" sz="650" b="0" i="0" u="none" strike="noStrike" spc="0" noProof="0" dirty="0">
                          <a:solidFill>
                            <a:srgbClr val="2D2926"/>
                          </a:solidFill>
                          <a:effectLst/>
                          <a:latin typeface="Century Gothic"/>
                        </a:rPr>
                        <a:t>all their hard work! </a:t>
                      </a:r>
                      <a:endParaRPr lang="en-US" sz="650" dirty="0"/>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30</a:t>
                      </a:r>
                      <a:endParaRPr lang="en-US" sz="600" b="0" i="0" u="none" strike="noStrike" noProof="0" dirty="0">
                        <a:solidFill>
                          <a:srgbClr val="2D2926"/>
                        </a:solidFill>
                        <a:effectLst/>
                        <a:latin typeface="Century Gothic"/>
                      </a:endParaRPr>
                    </a:p>
                    <a:p>
                      <a:pPr marL="63500" lvl="0" algn="ctr">
                        <a:spcBef>
                          <a:spcPts val="310"/>
                        </a:spcBef>
                        <a:spcAft>
                          <a:spcPts val="0"/>
                        </a:spcAft>
                        <a:buNone/>
                      </a:pPr>
                      <a:r>
                        <a:rPr lang="en-US" sz="600" b="0" i="0" u="none" strike="noStrike" noProof="0" dirty="0">
                          <a:solidFill>
                            <a:schemeClr val="bg1"/>
                          </a:solidFill>
                          <a:effectLst/>
                        </a:rPr>
                        <a:t>#TRENDING</a:t>
                      </a:r>
                      <a:endParaRPr lang="en-US" sz="600" b="0" i="0" u="none" strike="noStrike" noProof="0" dirty="0">
                        <a:solidFill>
                          <a:srgbClr val="2D2926"/>
                        </a:solidFill>
                        <a:effectLst/>
                      </a:endParaRPr>
                    </a:p>
                    <a:p>
                      <a:pPr marL="63500" lvl="0" algn="ctr">
                        <a:spcBef>
                          <a:spcPts val="310"/>
                        </a:spcBef>
                        <a:spcAft>
                          <a:spcPts val="0"/>
                        </a:spcAft>
                        <a:buNone/>
                      </a:pPr>
                      <a:r>
                        <a:rPr lang="en-US" sz="650" b="0" i="0" u="none" strike="noStrike" noProof="0" dirty="0">
                          <a:solidFill>
                            <a:schemeClr val="bg1"/>
                          </a:solidFill>
                          <a:effectLst/>
                        </a:rPr>
                        <a:t>Use a trending sound to give your</a:t>
                      </a:r>
                      <a:br>
                        <a:rPr lang="en-US" sz="650" b="0" i="0" u="none" strike="noStrike" noProof="0" dirty="0">
                          <a:solidFill>
                            <a:schemeClr val="bg1"/>
                          </a:solidFill>
                          <a:effectLst/>
                        </a:rPr>
                      </a:br>
                      <a:r>
                        <a:rPr lang="en-US" sz="650" b="0" i="0" u="none" strike="noStrike" noProof="0" dirty="0">
                          <a:solidFill>
                            <a:schemeClr val="bg1"/>
                          </a:solidFill>
                          <a:effectLst/>
                        </a:rPr>
                        <a:t>algorithm a boost. Interacting and</a:t>
                      </a:r>
                      <a:br>
                        <a:rPr lang="en-US" sz="650" b="0" i="0" u="none" strike="noStrike" noProof="0" dirty="0">
                          <a:solidFill>
                            <a:schemeClr val="bg1"/>
                          </a:solidFill>
                          <a:effectLst/>
                        </a:rPr>
                      </a:br>
                      <a:r>
                        <a:rPr lang="en-US" sz="650" b="0" i="0" u="none" strike="noStrike" noProof="0" dirty="0">
                          <a:solidFill>
                            <a:schemeClr val="bg1"/>
                          </a:solidFill>
                          <a:effectLst/>
                        </a:rPr>
                        <a:t>creating content using Instagram’s</a:t>
                      </a:r>
                      <a:br>
                        <a:rPr lang="en-US" sz="650" b="0" i="0" u="none" strike="noStrike" noProof="0" dirty="0">
                          <a:solidFill>
                            <a:schemeClr val="bg1"/>
                          </a:solidFill>
                          <a:effectLst/>
                        </a:rPr>
                      </a:br>
                      <a:r>
                        <a:rPr lang="en-US" sz="650" b="0" i="0" u="none" strike="noStrike" noProof="0" dirty="0">
                          <a:solidFill>
                            <a:schemeClr val="bg1"/>
                          </a:solidFill>
                          <a:effectLst/>
                        </a:rPr>
                        <a:t>Reels is a great way to show the</a:t>
                      </a:r>
                      <a:br>
                        <a:rPr lang="en-US" sz="650" b="0" i="0" u="none" strike="noStrike" noProof="0" dirty="0">
                          <a:solidFill>
                            <a:schemeClr val="bg1"/>
                          </a:solidFill>
                          <a:effectLst/>
                        </a:rPr>
                      </a:br>
                      <a:r>
                        <a:rPr lang="en-US" sz="650" b="0" i="0" u="none" strike="noStrike" noProof="0" dirty="0">
                          <a:solidFill>
                            <a:schemeClr val="bg1"/>
                          </a:solidFill>
                          <a:effectLst/>
                        </a:rPr>
                        <a:t>algorithm you like to participate in</a:t>
                      </a:r>
                      <a:br>
                        <a:rPr lang="en-US" sz="650" b="0" i="0" u="none" strike="noStrike" noProof="0" dirty="0">
                          <a:solidFill>
                            <a:schemeClr val="bg1"/>
                          </a:solidFill>
                          <a:effectLst/>
                        </a:rPr>
                      </a:br>
                      <a:r>
                        <a:rPr lang="en-US" sz="650" b="0" i="0" u="none" strike="noStrike" noProof="0" dirty="0">
                          <a:solidFill>
                            <a:schemeClr val="bg1"/>
                          </a:solidFill>
                          <a:effectLst/>
                        </a:rPr>
                        <a:t>what's popular on the app. </a:t>
                      </a:r>
                      <a:endParaRPr lang="en-US" sz="65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rgbClr val="2D2926"/>
                          </a:solidFill>
                          <a:effectLst/>
                          <a:latin typeface="Century Gothic"/>
                        </a:rPr>
                        <a:t>31</a:t>
                      </a:r>
                    </a:p>
                    <a:p>
                      <a:pPr marL="63500" lvl="0" algn="ctr">
                        <a:spcBef>
                          <a:spcPts val="310"/>
                        </a:spcBef>
                        <a:spcAft>
                          <a:spcPts val="0"/>
                        </a:spcAft>
                        <a:buNone/>
                      </a:pPr>
                      <a:r>
                        <a:rPr lang="en-US" sz="600" b="0" i="0" u="none" strike="noStrike" spc="0" noProof="0" dirty="0">
                          <a:solidFill>
                            <a:srgbClr val="2D2926"/>
                          </a:solidFill>
                          <a:effectLst/>
                          <a:latin typeface="Century Gothic"/>
                        </a:rPr>
                        <a:t>REVIEWS</a:t>
                      </a:r>
                    </a:p>
                    <a:p>
                      <a:pPr marL="0" lvl="0" algn="ctr">
                        <a:lnSpc>
                          <a:spcPct val="100000"/>
                        </a:lnSpc>
                        <a:spcBef>
                          <a:spcPts val="0"/>
                        </a:spcBef>
                        <a:spcAft>
                          <a:spcPts val="0"/>
                        </a:spcAft>
                        <a:buNone/>
                      </a:pPr>
                      <a:r>
                        <a:rPr lang="en-US" sz="650" b="0" i="0" u="none" strike="noStrike" spc="0" noProof="0" dirty="0">
                          <a:solidFill>
                            <a:srgbClr val="2D2926"/>
                          </a:solidFill>
                          <a:effectLst/>
                          <a:latin typeface="Century Gothic"/>
                        </a:rPr>
                        <a:t>Share a review someone has </a:t>
                      </a:r>
                      <a:r>
                        <a:rPr lang="en-US" sz="650" b="0" i="0" u="none" strike="noStrike" spc="0" noProof="0">
                          <a:solidFill>
                            <a:srgbClr val="2D2926"/>
                          </a:solidFill>
                          <a:effectLst/>
                          <a:latin typeface="Century Gothic"/>
                        </a:rPr>
                        <a:t>left on</a:t>
                      </a:r>
                      <a:br>
                        <a:rPr lang="en-US" sz="650" b="0" i="0" u="none" strike="noStrike" spc="0" noProof="0">
                          <a:solidFill>
                            <a:srgbClr val="2D2926"/>
                          </a:solidFill>
                          <a:effectLst/>
                          <a:latin typeface="Century Gothic"/>
                        </a:rPr>
                      </a:br>
                      <a:r>
                        <a:rPr lang="en-US" sz="650" b="0" i="0" u="none" strike="noStrike" spc="0" noProof="0">
                          <a:solidFill>
                            <a:srgbClr val="2D2926"/>
                          </a:solidFill>
                          <a:effectLst/>
                          <a:latin typeface="Century Gothic"/>
                        </a:rPr>
                        <a:t>your</a:t>
                      </a:r>
                      <a:r>
                        <a:rPr lang="en-US" sz="650" b="0" i="0" u="none" strike="noStrike" spc="0" noProof="0" dirty="0">
                          <a:solidFill>
                            <a:srgbClr val="2D2926"/>
                          </a:solidFill>
                          <a:effectLst/>
                          <a:latin typeface="Century Gothic"/>
                        </a:rPr>
                        <a:t> </a:t>
                      </a:r>
                      <a:r>
                        <a:rPr lang="en-US" sz="650" b="0" i="0" u="none" strike="noStrike" spc="0" noProof="0">
                          <a:solidFill>
                            <a:srgbClr val="2D2926"/>
                          </a:solidFill>
                          <a:effectLst/>
                          <a:latin typeface="Century Gothic"/>
                        </a:rPr>
                        <a:t>Google </a:t>
                      </a:r>
                      <a:r>
                        <a:rPr lang="en-US" sz="650" b="0" i="0" u="none" strike="noStrike" spc="0" noProof="0" dirty="0">
                          <a:solidFill>
                            <a:srgbClr val="2D2926"/>
                          </a:solidFill>
                          <a:effectLst/>
                          <a:latin typeface="Century Gothic"/>
                        </a:rPr>
                        <a:t>profile, Facebook page, or</a:t>
                      </a:r>
                      <a:br>
                        <a:rPr lang="en-US" sz="650" b="0" i="0" u="none" strike="noStrike" spc="0" noProof="0" dirty="0">
                          <a:solidFill>
                            <a:srgbClr val="2D2926"/>
                          </a:solidFill>
                          <a:effectLst/>
                          <a:latin typeface="Century Gothic"/>
                        </a:rPr>
                      </a:br>
                      <a:r>
                        <a:rPr lang="en-US" sz="650" b="0" i="0" u="none" strike="noStrike" spc="0" noProof="0" dirty="0">
                          <a:solidFill>
                            <a:srgbClr val="2D2926"/>
                          </a:solidFill>
                          <a:effectLst/>
                          <a:latin typeface="Century Gothic"/>
                        </a:rPr>
                        <a:t>Yelp profile! This can help new prospects when gauging their options.</a:t>
                      </a:r>
                      <a:endParaRPr lang="en-US" sz="650" b="0" i="0" u="none" strike="noStrike" spc="0" noProof="0" dirty="0">
                        <a:solidFill>
                          <a:schemeClr val="bg1"/>
                        </a:solidFill>
                        <a:effectLst/>
                      </a:endParaRPr>
                    </a:p>
                  </a:txBody>
                  <a:tcPr marL="9524" marR="9524" marT="80772" marB="0"/>
                </a:tc>
                <a:extLst>
                  <a:ext uri="{0D108BD9-81ED-4DB2-BD59-A6C34878D82A}">
                    <a16:rowId xmlns:a16="http://schemas.microsoft.com/office/drawing/2014/main" val="3697406555"/>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UserInfo>
        <DisplayName>Sarah Mastrian</DisplayName>
        <AccountId>14028</AccountId>
        <AccountType/>
      </UserInfo>
      <UserInfo>
        <DisplayName>Tammy Nienaber</DisplayName>
        <AccountId>52</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4cd7bbde4b7569de7419761a2ff09ce0">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d4ddd257af2755d60d19e4481dbb76be"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90C4E6-4A59-487E-81FF-2AAB65958319}">
  <ds:schemaRefs>
    <ds:schemaRef ds:uri="http://schemas.microsoft.com/sharepoint/v3/contenttype/forms"/>
  </ds:schemaRefs>
</ds:datastoreItem>
</file>

<file path=customXml/itemProps2.xml><?xml version="1.0" encoding="utf-8"?>
<ds:datastoreItem xmlns:ds="http://schemas.openxmlformats.org/officeDocument/2006/customXml" ds:itemID="{9AA2B1DA-A2C5-489C-A46E-FC3EAF2F3ADB}">
  <ds:schemaRefs>
    <ds:schemaRef ds:uri="47019a7e-a60c-4a1f-b4fd-44452cf97621"/>
    <ds:schemaRef ds:uri="http://purl.org/dc/elements/1.1/"/>
    <ds:schemaRef ds:uri="http://www.w3.org/XML/1998/namespace"/>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schemas.microsoft.com/office/infopath/2007/PartnerControls"/>
    <ds:schemaRef ds:uri="9464be75-fc0f-4c74-b7a9-67e6b6b30f78"/>
    <ds:schemaRef ds:uri="http://purl.org/dc/dcmitype/"/>
  </ds:schemaRefs>
</ds:datastoreItem>
</file>

<file path=customXml/itemProps3.xml><?xml version="1.0" encoding="utf-8"?>
<ds:datastoreItem xmlns:ds="http://schemas.openxmlformats.org/officeDocument/2006/customXml" ds:itemID="{8CDE1E74-F75B-4E8D-8D2A-88E7FBBF1F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19a7e-a60c-4a1f-b4fd-44452cf97621"/>
    <ds:schemaRef ds:uri="9464be75-fc0f-4c74-b7a9-67e6b6b30f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Bar Method Template</Template>
  <TotalTime>52</TotalTime>
  <Words>1176</Words>
  <Application>Microsoft Macintosh PowerPoint</Application>
  <PresentationFormat>Widescreen</PresentationFormat>
  <Paragraphs>101</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 Pias</cp:lastModifiedBy>
  <cp:revision>1411</cp:revision>
  <dcterms:created xsi:type="dcterms:W3CDTF">2021-11-18T14:52:15Z</dcterms:created>
  <dcterms:modified xsi:type="dcterms:W3CDTF">2024-07-10T17:25:56Z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y fmtid="{D5CDD505-2E9C-101B-9397-08002B2CF9AE}" pid="4" name="MSIP_Label_c19e54f6-8de3-4dc1-8de2-3571ff8ef8ed_Enabled">
    <vt:lpwstr>true</vt:lpwstr>
  </property>
  <property fmtid="{D5CDD505-2E9C-101B-9397-08002B2CF9AE}" pid="5" name="MSIP_Label_c19e54f6-8de3-4dc1-8de2-3571ff8ef8ed_SetDate">
    <vt:lpwstr>2024-07-08T15:51:19Z</vt:lpwstr>
  </property>
  <property fmtid="{D5CDD505-2E9C-101B-9397-08002B2CF9AE}" pid="6" name="MSIP_Label_c19e54f6-8de3-4dc1-8de2-3571ff8ef8ed_Method">
    <vt:lpwstr>Standard</vt:lpwstr>
  </property>
  <property fmtid="{D5CDD505-2E9C-101B-9397-08002B2CF9AE}" pid="7" name="MSIP_Label_c19e54f6-8de3-4dc1-8de2-3571ff8ef8ed_Name">
    <vt:lpwstr>defa4170-0d19-0005-0004-bc88714345d2</vt:lpwstr>
  </property>
  <property fmtid="{D5CDD505-2E9C-101B-9397-08002B2CF9AE}" pid="8" name="MSIP_Label_c19e54f6-8de3-4dc1-8de2-3571ff8ef8ed_SiteId">
    <vt:lpwstr>e5f9f875-abc1-48a7-b869-6562628fb58c</vt:lpwstr>
  </property>
  <property fmtid="{D5CDD505-2E9C-101B-9397-08002B2CF9AE}" pid="9" name="MSIP_Label_c19e54f6-8de3-4dc1-8de2-3571ff8ef8ed_ActionId">
    <vt:lpwstr>9f1e5e16-4042-4ce1-ae53-a4d0d9646ca7</vt:lpwstr>
  </property>
  <property fmtid="{D5CDD505-2E9C-101B-9397-08002B2CF9AE}" pid="10" name="MSIP_Label_c19e54f6-8de3-4dc1-8de2-3571ff8ef8ed_ContentBits">
    <vt:lpwstr>0</vt:lpwstr>
  </property>
</Properties>
</file>