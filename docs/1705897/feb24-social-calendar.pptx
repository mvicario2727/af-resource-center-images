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89E8A9-7AE7-9CB2-D998-58789A1418B2}" v="9" dt="2024-01-17T01:05:15.365"/>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autoAdjust="0"/>
    <p:restoredTop sz="95757" autoAdjust="0"/>
  </p:normalViewPr>
  <p:slideViewPr>
    <p:cSldViewPr snapToGrid="0">
      <p:cViewPr>
        <p:scale>
          <a:sx n="181" d="100"/>
          <a:sy n="181" d="100"/>
        </p:scale>
        <p:origin x="200" y="304"/>
      </p:cViewPr>
      <p:guideLst>
        <p:guide pos="3816"/>
        <p:guide orient="horz" pos="2160"/>
      </p:guideLst>
    </p:cSldViewPr>
  </p:slideViewPr>
  <p:outlineViewPr>
    <p:cViewPr>
      <p:scale>
        <a:sx n="33" d="100"/>
        <a:sy n="33" d="100"/>
      </p:scale>
      <p:origin x="0" y="-46578"/>
    </p:cViewPr>
  </p:outlineViewPr>
  <p:notesTextViewPr>
    <p:cViewPr>
      <p:scale>
        <a:sx n="1" d="1"/>
        <a:sy n="1" d="1"/>
      </p:scale>
      <p:origin x="0" y="0"/>
    </p:cViewPr>
  </p:notesTextViewPr>
  <p:sorterViewPr>
    <p:cViewPr>
      <p:scale>
        <a:sx n="180" d="100"/>
        <a:sy n="180" d="100"/>
      </p:scale>
      <p:origin x="0" y="-5406"/>
    </p:cViewPr>
  </p:sorterViewPr>
  <p:notesViewPr>
    <p:cSldViewPr snapToGrid="0">
      <p:cViewPr varScale="1">
        <p:scale>
          <a:sx n="119" d="100"/>
          <a:sy n="119" d="100"/>
        </p:scale>
        <p:origin x="4290"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dirty="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1/17/24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1/17/24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dirty="0"/>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dirty="0"/>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dirty="0"/>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dirty="0"/>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dirty="0"/>
              <a:t>SECTION Slide </a:t>
            </a:r>
            <a:br>
              <a:rPr lang="en-US" dirty="0"/>
            </a:br>
            <a:r>
              <a:rPr lang="en-US" dirty="0"/>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dirty="0"/>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dirty="0"/>
              <a:t>SECTION Slide </a:t>
            </a:r>
            <a:br>
              <a:rPr lang="en-US" dirty="0"/>
            </a:br>
            <a:r>
              <a:rPr lang="en-US" dirty="0"/>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dirty="0"/>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dirty="0"/>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dirty="0"/>
              <a:t>Use brief story-prompting or high-impact statements </a:t>
            </a:r>
            <a:br>
              <a:rPr lang="en-US" dirty="0"/>
            </a:br>
            <a:r>
              <a:rPr lang="en-US" dirty="0"/>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1/17/24</a:t>
            </a:fld>
            <a:endParaRPr lang="en-US" dirty="0"/>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dirty="0"/>
              <a:t>Use brief story-prompting or high-impact statements/</a:t>
            </a:r>
            <a:br>
              <a:rPr lang="en-US" dirty="0"/>
            </a:br>
            <a:r>
              <a:rPr lang="en-US" dirty="0"/>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1/17/24</a:t>
            </a:fld>
            <a:endParaRPr lang="en-US" dirty="0"/>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dirty="0"/>
              <a:t>Use brief story-prompting or high-impact statements/</a:t>
            </a:r>
            <a:br>
              <a:rPr lang="en-US" dirty="0"/>
            </a:br>
            <a:r>
              <a:rPr lang="en-US" dirty="0"/>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1/17/24</a:t>
            </a:fld>
            <a:endParaRPr lang="en-US" dirty="0"/>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dirty="0"/>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1/17/24</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dirty="0"/>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1/17/24</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1/17/24</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dirty="0"/>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dirty="0"/>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dirty="0"/>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1/17/24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dirty="0"/>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dirty="0"/>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1/17/24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dirty="0"/>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dirty="0"/>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1/17/24</a:t>
            </a:fld>
            <a:endParaRPr lang="en-US" dirty="0"/>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dirty="0"/>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dirty="0"/>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1/17/24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dirty="0"/>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3-Column Comparison Layout</a:t>
            </a:r>
            <a:br>
              <a:rPr lang="en-US" dirty="0"/>
            </a:br>
            <a:r>
              <a:rPr lang="en-US" dirty="0"/>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1/17/24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3-Column Comparison Layout</a:t>
            </a:r>
            <a:br>
              <a:rPr lang="en-US" dirty="0"/>
            </a:br>
            <a:r>
              <a:rPr lang="en-US" dirty="0"/>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dirty="0"/>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dirty="0"/>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1/17/24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dirty="0"/>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dirty="0"/>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dirty="0"/>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for simple, impactful comparison statements.</a:t>
            </a:r>
          </a:p>
          <a:p>
            <a:pPr lvl="0"/>
            <a:r>
              <a:rPr lang="en-US" dirty="0"/>
              <a:t>Or, insert charts or tables to compare.</a:t>
            </a:r>
          </a:p>
          <a:p>
            <a:pPr lvl="0"/>
            <a:r>
              <a:rPr lang="en-US" dirty="0"/>
              <a:t>Lorem ipsum dolor sit amet, consectetuer adipiscing elit. </a:t>
            </a:r>
          </a:p>
          <a:p>
            <a:pPr lvl="0"/>
            <a:r>
              <a:rPr lang="en-US" dirty="0"/>
              <a:t>Nunc viverra imperdiet enim. Fusce est. Vivamus a </a:t>
            </a:r>
            <a:r>
              <a:rPr lang="en-US" dirty="0" err="1"/>
              <a:t>tellus</a:t>
            </a:r>
            <a:r>
              <a:rPr lang="en-US" dirty="0"/>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for simple, impactful comparison statements.</a:t>
            </a:r>
          </a:p>
          <a:p>
            <a:pPr lvl="0"/>
            <a:r>
              <a:rPr lang="en-US" dirty="0"/>
              <a:t>Or, insert charts or tables to compare.</a:t>
            </a:r>
          </a:p>
          <a:p>
            <a:pPr lvl="0"/>
            <a:r>
              <a:rPr lang="en-US" dirty="0"/>
              <a:t>Lorem ipsum dolor sit amet, consectetuer adipiscing elit. </a:t>
            </a:r>
          </a:p>
          <a:p>
            <a:pPr lvl="0"/>
            <a:r>
              <a:rPr lang="en-US" dirty="0"/>
              <a:t>Nunc viverra imperdiet enim. Fusce est. Vivamus a </a:t>
            </a:r>
            <a:r>
              <a:rPr lang="en-US" dirty="0" err="1"/>
              <a:t>tellus</a:t>
            </a:r>
            <a:r>
              <a:rPr lang="en-US" dirty="0"/>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1/17/24</a:t>
            </a:fld>
            <a:endParaRPr lang="en-US" dirty="0"/>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dirty="0"/>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dirty="0"/>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1/17/24</a:t>
            </a:fld>
            <a:endParaRPr lang="en-US" dirty="0"/>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dirty="0"/>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dirty="0"/>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 punchy callout</a:t>
            </a:r>
            <a:br>
              <a:rPr lang="en-US" dirty="0"/>
            </a:br>
            <a:r>
              <a:rPr lang="en-US" dirty="0"/>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1/17/24</a:t>
            </a:fld>
            <a:endParaRPr lang="en-US" dirty="0"/>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1/17/24</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1/17/24</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1/17/24</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dirty="0"/>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2"/>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1/17/24</a:t>
            </a:fld>
            <a:endParaRPr lang="en-US" dirty="0"/>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dirty="0"/>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dirty="0"/>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dirty="0"/>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dirty="0"/>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on </a:t>
            </a:r>
            <a:r>
              <a:rPr lang="en-US" sz="900" dirty="0">
                <a:solidFill>
                  <a:schemeClr val="tx1"/>
                </a:solidFill>
              </a:rPr>
              <a:t>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hlinkClick r:id="rId2"/>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1/17/24</a:t>
            </a:fld>
            <a:endParaRPr lang="en-US" dirty="0"/>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dirty="0"/>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dirty="0"/>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bg1"/>
                </a:solidFill>
                <a:hlinkClick r:id="rId2">
                  <a:extLst>
                    <a:ext uri="{A12FA001-AC4F-418D-AE19-62706E023703}">
                      <ahyp:hlinkClr xmlns:ahyp="http://schemas.microsoft.com/office/drawing/2018/hyperlinkcolor" val="tx"/>
                    </a:ext>
                  </a:extLst>
                </a:hlinkClick>
              </a:rPr>
              <a:t>bit.ly/AF-PPT</a:t>
            </a:r>
            <a:r>
              <a:rPr lang="en-US" sz="900" dirty="0">
                <a:solidFill>
                  <a:schemeClr val="bg1"/>
                </a:solidFill>
              </a:rPr>
              <a:t> </a:t>
            </a:r>
            <a:endParaRPr lang="en-US" sz="900" i="1" dirty="0">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dirty="0"/>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1/17/24</a:t>
            </a:fld>
            <a:endParaRPr lang="en-US" dirty="0"/>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dirty="0"/>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1/17/24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a:t>
            </a:r>
            <a:r>
              <a:rPr lang="en-US" sz="900" dirty="0"/>
              <a:t>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dirty="0"/>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1/17/24</a:t>
            </a:fld>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dirty="0"/>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1/17/24</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dirty="0"/>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dirty="0">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dirty="0"/>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7500"/>
                </a:solidFill>
                <a:effectLst/>
                <a:uLnTx/>
                <a:uFillTx/>
              </a:rPr>
              <a:t> </a:t>
            </a:r>
            <a:endParaRPr kumimoji="0" lang="en-US" sz="900" b="0" i="1" u="none" strike="noStrike" kern="0" cap="none" spc="0" normalizeH="0" baseline="0" noProof="0" dirty="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1/17/24</a:t>
            </a:fld>
            <a:endParaRPr lang="en-US" dirty="0"/>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dirty="0"/>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dirty="0"/>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on </a:t>
            </a:r>
            <a:r>
              <a:rPr lang="en-US" sz="900" dirty="0">
                <a:solidFill>
                  <a:schemeClr val="tx1"/>
                </a:solidFill>
              </a:rPr>
              <a:t>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dirty="0"/>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1/17/24</a:t>
            </a:fld>
            <a:endParaRPr lang="en-US" dirty="0"/>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dirty="0"/>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dirty="0"/>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1/17/24</a:t>
            </a:fld>
            <a:endParaRPr lang="en-US" dirty="0"/>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dirty="0"/>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a:t>
            </a:r>
            <a:r>
              <a:rPr lang="en-US" sz="900" dirty="0">
                <a:solidFill>
                  <a:schemeClr val="tx1"/>
                </a:solidFill>
              </a:rPr>
              <a:t>on 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dirty="0"/>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dirty="0"/>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accent6"/>
                </a:solidFill>
                <a:hlinkClick r:id="rId3">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1/17/24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1/17/24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1/17/24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1/17/24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dirty="0"/>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dirty="0"/>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dirty="0" err="1"/>
              <a:t>Labtop</a:t>
            </a:r>
            <a:r>
              <a:rPr lang="en-US" dirty="0"/>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dirty="0"/>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dirty="0" err="1"/>
              <a:t>qUESTIONS</a:t>
            </a:r>
            <a:r>
              <a:rPr lang="en-US" dirty="0"/>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dirty="0"/>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dirty="0"/>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dirty="0"/>
              <a:t>Headline goes here</a:t>
            </a:r>
            <a:br>
              <a:rPr lang="en-US" dirty="0"/>
            </a:br>
            <a:r>
              <a:rPr lang="en-US" dirty="0"/>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dirty="0"/>
              <a:t>Default body copy</a:t>
            </a:r>
            <a:br>
              <a:rPr lang="en-US" dirty="0"/>
            </a:br>
            <a:r>
              <a:rPr lang="en-US" dirty="0"/>
              <a:t>second line</a:t>
            </a:r>
          </a:p>
          <a:p>
            <a:pPr lvl="1"/>
            <a:r>
              <a:rPr lang="en-US" dirty="0"/>
              <a:t>Sub-level body copy (tab 2x)</a:t>
            </a:r>
            <a:br>
              <a:rPr lang="en-US" dirty="0"/>
            </a:br>
            <a:r>
              <a:rPr lang="en-US" dirty="0"/>
              <a:t>second line</a:t>
            </a:r>
          </a:p>
          <a:p>
            <a:pPr lvl="2"/>
            <a:r>
              <a:rPr lang="en-US" dirty="0"/>
              <a:t>Sub-level body copy (tab 3x)</a:t>
            </a:r>
            <a:br>
              <a:rPr lang="en-US" dirty="0"/>
            </a:br>
            <a:r>
              <a:rPr lang="en-US" dirty="0"/>
              <a:t>second line</a:t>
            </a:r>
          </a:p>
          <a:p>
            <a:pPr lvl="3"/>
            <a:r>
              <a:rPr lang="en-US" dirty="0"/>
              <a:t>Sub-level (tab 4x)</a:t>
            </a:r>
            <a:br>
              <a:rPr lang="en-US" dirty="0"/>
            </a:br>
            <a:r>
              <a:rPr lang="en-US" dirty="0"/>
              <a:t>second line</a:t>
            </a:r>
          </a:p>
          <a:p>
            <a:pPr lvl="4"/>
            <a:r>
              <a:rPr lang="en-US" dirty="0"/>
              <a:t>Sub-level (tab 5x)</a:t>
            </a:r>
            <a:br>
              <a:rPr lang="en-US" dirty="0"/>
            </a:br>
            <a:r>
              <a:rPr lang="en-US" dirty="0"/>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1/17/24</a:t>
            </a:fld>
            <a:endParaRPr lang="en-US" dirty="0"/>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anytimefitness.com/ccc/" TargetMode="External"/><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3397003503"/>
              </p:ext>
            </p:extLst>
          </p:nvPr>
        </p:nvGraphicFramePr>
        <p:xfrm>
          <a:off x="0" y="0"/>
          <a:ext cx="12191999" cy="6858000"/>
        </p:xfrm>
        <a:graphic>
          <a:graphicData uri="http://schemas.openxmlformats.org/drawingml/2006/table">
            <a:tbl>
              <a:tblPr firstRow="1" bandRow="1">
                <a:tableStyleId>{5202B0CA-FC54-4496-8BCA-5EF66A818D29}</a:tableStyleId>
              </a:tblPr>
              <a:tblGrid>
                <a:gridCol w="1908591">
                  <a:extLst>
                    <a:ext uri="{9D8B030D-6E8A-4147-A177-3AD203B41FA5}">
                      <a16:colId xmlns:a16="http://schemas.microsoft.com/office/drawing/2014/main" val="2484229546"/>
                    </a:ext>
                  </a:extLst>
                </a:gridCol>
                <a:gridCol w="1658939">
                  <a:extLst>
                    <a:ext uri="{9D8B030D-6E8A-4147-A177-3AD203B41FA5}">
                      <a16:colId xmlns:a16="http://schemas.microsoft.com/office/drawing/2014/main" val="439348342"/>
                    </a:ext>
                  </a:extLst>
                </a:gridCol>
                <a:gridCol w="1689300">
                  <a:extLst>
                    <a:ext uri="{9D8B030D-6E8A-4147-A177-3AD203B41FA5}">
                      <a16:colId xmlns:a16="http://schemas.microsoft.com/office/drawing/2014/main" val="1072895275"/>
                    </a:ext>
                  </a:extLst>
                </a:gridCol>
                <a:gridCol w="1815515">
                  <a:extLst>
                    <a:ext uri="{9D8B030D-6E8A-4147-A177-3AD203B41FA5}">
                      <a16:colId xmlns:a16="http://schemas.microsoft.com/office/drawing/2014/main" val="2787662688"/>
                    </a:ext>
                  </a:extLst>
                </a:gridCol>
                <a:gridCol w="1719250">
                  <a:extLst>
                    <a:ext uri="{9D8B030D-6E8A-4147-A177-3AD203B41FA5}">
                      <a16:colId xmlns:a16="http://schemas.microsoft.com/office/drawing/2014/main" val="1952576077"/>
                    </a:ext>
                  </a:extLst>
                </a:gridCol>
                <a:gridCol w="1843662">
                  <a:extLst>
                    <a:ext uri="{9D8B030D-6E8A-4147-A177-3AD203B41FA5}">
                      <a16:colId xmlns:a16="http://schemas.microsoft.com/office/drawing/2014/main" val="1911801536"/>
                    </a:ext>
                  </a:extLst>
                </a:gridCol>
                <a:gridCol w="1556742">
                  <a:extLst>
                    <a:ext uri="{9D8B030D-6E8A-4147-A177-3AD203B41FA5}">
                      <a16:colId xmlns:a16="http://schemas.microsoft.com/office/drawing/2014/main" val="1683208684"/>
                    </a:ext>
                  </a:extLst>
                </a:gridCol>
              </a:tblGrid>
              <a:tr h="622280">
                <a:tc gridSpan="7">
                  <a:txBody>
                    <a:bodyPr/>
                    <a:lstStyle/>
                    <a:p>
                      <a:pPr marL="530225" rtl="0" fontAlgn="t" latinLnBrk="0">
                        <a:lnSpc>
                          <a:spcPct val="100000"/>
                        </a:lnSpc>
                        <a:spcBef>
                          <a:spcPts val="2255"/>
                        </a:spcBef>
                        <a:spcAft>
                          <a:spcPts val="0"/>
                        </a:spcAft>
                      </a:pPr>
                      <a:r>
                        <a:rPr lang="en-US" sz="3800" spc="0" dirty="0">
                          <a:effectLst/>
                        </a:rPr>
                        <a:t>FEBRUARY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200297">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1065858">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a:t>
                      </a:r>
                      <a:endParaRPr lang="en-US" dirty="0"/>
                    </a:p>
                    <a:p>
                      <a:pPr marL="63500" lvl="0" algn="ctr">
                        <a:spcBef>
                          <a:spcPts val="310"/>
                        </a:spcBef>
                        <a:spcAft>
                          <a:spcPts val="0"/>
                        </a:spcAft>
                        <a:buNone/>
                      </a:pPr>
                      <a:r>
                        <a:rPr lang="en-US" sz="600" b="0" i="0" u="none" strike="noStrike" spc="0" noProof="0" dirty="0">
                          <a:solidFill>
                            <a:schemeClr val="bg1"/>
                          </a:solidFill>
                          <a:effectLst/>
                        </a:rPr>
                        <a:t>MINDFULNESS AND REST</a:t>
                      </a:r>
                    </a:p>
                    <a:p>
                      <a:pPr marL="63500" lvl="0" algn="ctr">
                        <a:spcBef>
                          <a:spcPts val="310"/>
                        </a:spcBef>
                        <a:spcAft>
                          <a:spcPts val="0"/>
                        </a:spcAft>
                        <a:buNone/>
                      </a:pPr>
                      <a:r>
                        <a:rPr lang="en-US" sz="700" b="0" i="0" u="none" strike="noStrike" spc="0" noProof="0" dirty="0">
                          <a:solidFill>
                            <a:schemeClr val="bg1"/>
                          </a:solidFill>
                          <a:effectLst/>
                        </a:rPr>
                        <a:t>January is over and some may</a:t>
                      </a:r>
                      <a:br>
                        <a:rPr lang="en-US" sz="700" b="0" i="0" u="none" strike="noStrike" spc="0" noProof="0" dirty="0">
                          <a:solidFill>
                            <a:schemeClr val="bg1"/>
                          </a:solidFill>
                          <a:effectLst/>
                        </a:rPr>
                      </a:br>
                      <a:r>
                        <a:rPr lang="en-US" sz="700" b="0" i="0" u="none" strike="noStrike" spc="0" noProof="0" dirty="0">
                          <a:solidFill>
                            <a:schemeClr val="bg1"/>
                          </a:solidFill>
                          <a:effectLst/>
                        </a:rPr>
                        <a:t>be inclined to start giving up</a:t>
                      </a:r>
                      <a:br>
                        <a:rPr lang="en-US" sz="700" b="0" i="0" u="none" strike="noStrike" spc="0" noProof="0" dirty="0">
                          <a:solidFill>
                            <a:schemeClr val="bg1"/>
                          </a:solidFill>
                          <a:effectLst/>
                        </a:rPr>
                      </a:br>
                      <a:r>
                        <a:rPr lang="en-US" sz="700" b="0" i="0" u="none" strike="noStrike" spc="0" noProof="0" dirty="0">
                          <a:solidFill>
                            <a:schemeClr val="bg1"/>
                          </a:solidFill>
                          <a:effectLst/>
                        </a:rPr>
                        <a:t>on goals, but we've still got to #MakeItToMarch. Share tips on</a:t>
                      </a:r>
                      <a:br>
                        <a:rPr lang="en-US" sz="700" b="0" i="0" u="none" strike="noStrike" spc="0" noProof="0" dirty="0">
                          <a:solidFill>
                            <a:schemeClr val="bg1"/>
                          </a:solidFill>
                          <a:effectLst/>
                        </a:rPr>
                      </a:br>
                      <a:r>
                        <a:rPr lang="en-US" sz="700" b="0" i="0" u="none" strike="noStrike" spc="0" noProof="0" dirty="0">
                          <a:solidFill>
                            <a:schemeClr val="bg1"/>
                          </a:solidFill>
                          <a:effectLst/>
                        </a:rPr>
                        <a:t>how to honor your body while accomplishing your goals.</a:t>
                      </a:r>
                    </a:p>
                  </a:txBody>
                  <a:tcPr marL="9525" marR="9525" marT="80772" marB="0"/>
                </a:tc>
                <a:tc>
                  <a:txBody>
                    <a:bodyPr/>
                    <a:lstStyle/>
                    <a:p>
                      <a:pPr marL="63500" lvl="0" algn="ctr">
                        <a:lnSpc>
                          <a:spcPct val="100000"/>
                        </a:lnSpc>
                        <a:spcBef>
                          <a:spcPts val="310"/>
                        </a:spcBef>
                        <a:spcAft>
                          <a:spcPts val="0"/>
                        </a:spcAft>
                        <a:buNone/>
                      </a:pPr>
                      <a:r>
                        <a:rPr lang="en-US" sz="600" b="0" i="0" u="none" strike="noStrike" spc="0" noProof="0" dirty="0">
                          <a:solidFill>
                            <a:schemeClr val="bg1"/>
                          </a:solidFill>
                          <a:effectLst/>
                        </a:rPr>
                        <a:t>2</a:t>
                      </a:r>
                      <a:endParaRPr lang="en-US" dirty="0">
                        <a:solidFill>
                          <a:schemeClr val="bg1"/>
                        </a:solidFill>
                      </a:endParaRPr>
                    </a:p>
                    <a:p>
                      <a:pPr lvl="0" algn="ctr">
                        <a:lnSpc>
                          <a:spcPct val="200000"/>
                        </a:lnSpc>
                        <a:spcBef>
                          <a:spcPts val="0"/>
                        </a:spcBef>
                        <a:spcAft>
                          <a:spcPts val="0"/>
                        </a:spcAft>
                        <a:buNone/>
                      </a:pPr>
                      <a:r>
                        <a:rPr lang="en-US" sz="600" b="0" i="0" u="none" strike="noStrike" noProof="0" dirty="0">
                          <a:solidFill>
                            <a:schemeClr val="bg1"/>
                          </a:solidFill>
                          <a:latin typeface="Century Gothic"/>
                        </a:rPr>
                        <a:t>TRAINING SPLIT</a:t>
                      </a:r>
                      <a:endParaRPr lang="en-US" sz="600" b="0" i="0" u="none" strike="noStrike" noProof="0" dirty="0">
                        <a:solidFill>
                          <a:srgbClr val="2D2926"/>
                        </a:solidFill>
                        <a:latin typeface="Century Gothic"/>
                      </a:endParaRPr>
                    </a:p>
                    <a:p>
                      <a:pPr lvl="0" algn="ctr">
                        <a:lnSpc>
                          <a:spcPct val="100000"/>
                        </a:lnSpc>
                        <a:spcBef>
                          <a:spcPts val="0"/>
                        </a:spcBef>
                        <a:spcAft>
                          <a:spcPts val="0"/>
                        </a:spcAft>
                        <a:buNone/>
                      </a:pPr>
                      <a:r>
                        <a:rPr lang="en-US" sz="700" b="0" i="0" u="none" strike="noStrike" noProof="0" dirty="0">
                          <a:solidFill>
                            <a:schemeClr val="bg1"/>
                          </a:solidFill>
                        </a:rPr>
                        <a:t>What is a split? How should you create your workout routine? Walk through how crafting your workout routine and your split can lead to your gains in the gym.</a:t>
                      </a:r>
                    </a:p>
                    <a:p>
                      <a:pPr marL="63500" lvl="0" algn="ctr">
                        <a:spcBef>
                          <a:spcPts val="310"/>
                        </a:spcBef>
                        <a:spcAft>
                          <a:spcPts val="0"/>
                        </a:spcAft>
                        <a:buNone/>
                      </a:pPr>
                      <a:endParaRPr lang="en-US" sz="600" b="0" i="0" u="none" strike="noStrike" noProof="0" dirty="0">
                        <a:solidFill>
                          <a:schemeClr val="bg1"/>
                        </a:solidFill>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a:t>
                      </a:r>
                    </a:p>
                    <a:p>
                      <a:pPr marL="63500" lvl="0" algn="ctr">
                        <a:spcBef>
                          <a:spcPts val="310"/>
                        </a:spcBef>
                        <a:spcAft>
                          <a:spcPts val="0"/>
                        </a:spcAft>
                        <a:buNone/>
                      </a:pPr>
                      <a:r>
                        <a:rPr lang="en-US" sz="600" b="0" i="0" u="none" strike="noStrike" spc="0" noProof="0" dirty="0">
                          <a:solidFill>
                            <a:schemeClr val="bg1"/>
                          </a:solidFill>
                          <a:effectLst/>
                          <a:latin typeface="Century Gothic"/>
                        </a:rPr>
                        <a:t>MACHINE SPOTLIGHT</a:t>
                      </a:r>
                    </a:p>
                    <a:p>
                      <a:pPr marL="63500" lvl="0" algn="ctr">
                        <a:spcBef>
                          <a:spcPts val="310"/>
                        </a:spcBef>
                        <a:spcAft>
                          <a:spcPts val="0"/>
                        </a:spcAft>
                        <a:buNone/>
                      </a:pPr>
                      <a:r>
                        <a:rPr lang="en-US" sz="700" b="0" i="0" u="none" strike="noStrike" spc="0" noProof="0" dirty="0">
                          <a:solidFill>
                            <a:schemeClr val="bg1"/>
                          </a:solidFill>
                          <a:effectLst/>
                          <a:latin typeface="Century Gothic"/>
                        </a:rPr>
                        <a:t>Take us through the basics using a machine in your gym! Schedule this Reel ahead of time to be published through </a:t>
                      </a:r>
                      <a:r>
                        <a:rPr lang="en-US" sz="700" b="0" i="0" u="none" strike="noStrike" spc="0" noProof="0" dirty="0" err="1">
                          <a:solidFill>
                            <a:schemeClr val="bg1"/>
                          </a:solidFill>
                          <a:effectLst/>
                          <a:latin typeface="Century Gothic"/>
                        </a:rPr>
                        <a:t>SOCi</a:t>
                      </a:r>
                      <a:r>
                        <a:rPr lang="en-US" sz="700" b="0" i="0" u="none" strike="noStrike" spc="0" noProof="0" dirty="0">
                          <a:solidFill>
                            <a:schemeClr val="bg1"/>
                          </a:solidFill>
                          <a:effectLst/>
                          <a:latin typeface="Century Gothic"/>
                        </a:rPr>
                        <a:t>.</a:t>
                      </a:r>
                    </a:p>
                  </a:txBody>
                  <a:tcPr marL="9525" marR="9525" marT="80772" marB="0"/>
                </a:tc>
                <a:extLst>
                  <a:ext uri="{0D108BD9-81ED-4DB2-BD59-A6C34878D82A}">
                    <a16:rowId xmlns:a16="http://schemas.microsoft.com/office/drawing/2014/main" val="4289451183"/>
                  </a:ext>
                </a:extLst>
              </a:tr>
              <a:tr h="1327584">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dirty="0"/>
                    </a:p>
                    <a:p>
                      <a:pPr marL="63500" lvl="0" algn="ctr">
                        <a:lnSpc>
                          <a:spcPct val="150000"/>
                        </a:lnSpc>
                        <a:spcBef>
                          <a:spcPts val="310"/>
                        </a:spcBef>
                        <a:spcAft>
                          <a:spcPts val="0"/>
                        </a:spcAft>
                        <a:buNone/>
                      </a:pPr>
                      <a:r>
                        <a:rPr lang="en-US" sz="600" b="0" i="0" u="none" strike="noStrike" spc="0" noProof="0" dirty="0">
                          <a:solidFill>
                            <a:schemeClr val="bg1"/>
                          </a:solidFill>
                          <a:effectLst/>
                        </a:rPr>
                        <a:t>MEAL PREP DOs &amp; DON’Ts</a:t>
                      </a:r>
                    </a:p>
                    <a:p>
                      <a:pPr marL="63500" lvl="0" algn="ctr">
                        <a:spcBef>
                          <a:spcPts val="310"/>
                        </a:spcBef>
                        <a:spcAft>
                          <a:spcPts val="0"/>
                        </a:spcAft>
                        <a:buNone/>
                      </a:pPr>
                      <a:r>
                        <a:rPr lang="en-US" sz="700" b="0" i="0" u="none" strike="noStrike" spc="0" noProof="0" dirty="0">
                          <a:solidFill>
                            <a:schemeClr val="bg1"/>
                          </a:solidFill>
                          <a:effectLst/>
                        </a:rPr>
                        <a:t>Share ways you set your nutrition up for the week, like stocking up on fresh fruits and veggies you wash up or prepping ingredients for your on-the-go breakfast!</a:t>
                      </a: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endParaRPr lang="en-US" dirty="0"/>
                    </a:p>
                    <a:p>
                      <a:pPr marL="63500" lvl="0" algn="ctr">
                        <a:spcBef>
                          <a:spcPts val="310"/>
                        </a:spcBef>
                        <a:spcAft>
                          <a:spcPts val="0"/>
                        </a:spcAft>
                        <a:buNone/>
                      </a:pPr>
                      <a:r>
                        <a:rPr lang="en-US" sz="600" b="0" spc="0" dirty="0">
                          <a:solidFill>
                            <a:schemeClr val="bg1"/>
                          </a:solidFill>
                          <a:effectLst/>
                        </a:rPr>
                        <a:t>#TRENDING</a:t>
                      </a:r>
                      <a:endParaRPr lang="en-US" dirty="0"/>
                    </a:p>
                    <a:p>
                      <a:pPr marL="63500" lvl="0" algn="ctr">
                        <a:spcBef>
                          <a:spcPts val="310"/>
                        </a:spcBef>
                        <a:spcAft>
                          <a:spcPts val="0"/>
                        </a:spcAft>
                        <a:buNone/>
                      </a:pPr>
                      <a:r>
                        <a:rPr lang="en-US" sz="700" b="0" spc="0" dirty="0">
                          <a:solidFill>
                            <a:schemeClr val="bg1"/>
                          </a:solidFill>
                          <a:effectLst/>
                        </a:rPr>
                        <a:t>Use a sound from Instagram’s Trending Sounds to give your algorithm a boost. Interacting and creating content using Reels shows you like to participate in what's popular on the app. </a:t>
                      </a:r>
                      <a:endParaRPr lang="en-US" sz="700" dirty="0"/>
                    </a:p>
                    <a:p>
                      <a:pPr marL="63500" lvl="0" algn="ctr" rtl="0">
                        <a:spcBef>
                          <a:spcPts val="310"/>
                        </a:spcBef>
                        <a:spcAft>
                          <a:spcPts val="0"/>
                        </a:spcAft>
                        <a:buNone/>
                      </a:pP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dirty="0"/>
                    </a:p>
                    <a:p>
                      <a:pPr lvl="0" algn="ctr">
                        <a:lnSpc>
                          <a:spcPct val="200000"/>
                        </a:lnSpc>
                        <a:spcBef>
                          <a:spcPts val="0"/>
                        </a:spcBef>
                        <a:spcAft>
                          <a:spcPts val="0"/>
                        </a:spcAft>
                        <a:buNone/>
                      </a:pPr>
                      <a:r>
                        <a:rPr lang="en-US" sz="600" b="0" i="0" u="none" strike="noStrike" spc="0" noProof="0" dirty="0">
                          <a:solidFill>
                            <a:schemeClr val="bg1"/>
                          </a:solidFill>
                          <a:effectLst/>
                        </a:rPr>
                        <a:t>WEIGHTLOSS STRIVERS</a:t>
                      </a:r>
                    </a:p>
                    <a:p>
                      <a:pPr lvl="0" algn="ctr">
                        <a:lnSpc>
                          <a:spcPct val="100000"/>
                        </a:lnSpc>
                        <a:spcBef>
                          <a:spcPts val="0"/>
                        </a:spcBef>
                        <a:spcAft>
                          <a:spcPts val="0"/>
                        </a:spcAft>
                        <a:buNone/>
                      </a:pPr>
                      <a:r>
                        <a:rPr lang="en-US" sz="700" b="0" i="0" u="none" strike="noStrike" spc="0" noProof="0" dirty="0">
                          <a:solidFill>
                            <a:schemeClr val="bg1"/>
                          </a:solidFill>
                          <a:effectLst/>
                        </a:rPr>
                        <a:t>A top question we receive in the AF App is, ”How can I lose fat in XYZ area?" Catchy headlines can grab weight loss strivers’ attention for a get-thin-fast solution. Educate members on nutrition and accountability as they go through their journeys. Remind your followers it’s a marathon, not a sprint.</a:t>
                      </a:r>
                    </a:p>
                  </a:txBody>
                  <a:tcPr marL="9525" marR="9525" marT="80772" marB="0"/>
                </a:tc>
                <a:tc>
                  <a:txBody>
                    <a:bodyPr/>
                    <a:lstStyle/>
                    <a:p>
                      <a:pPr marL="0" lvl="0" algn="ctr" rtl="0">
                        <a:lnSpc>
                          <a:spcPct val="100000"/>
                        </a:lnSpc>
                        <a:spcBef>
                          <a:spcPts val="0"/>
                        </a:spcBef>
                        <a:spcAft>
                          <a:spcPts val="0"/>
                        </a:spcAft>
                        <a:buNone/>
                      </a:pPr>
                      <a:r>
                        <a:rPr lang="en-US" sz="600" spc="0" dirty="0">
                          <a:solidFill>
                            <a:schemeClr val="bg1"/>
                          </a:solidFill>
                          <a:effectLst/>
                        </a:rPr>
                        <a:t>7</a:t>
                      </a:r>
                      <a:endParaRPr lang="en-US" dirty="0">
                        <a:solidFill>
                          <a:schemeClr val="bg1"/>
                        </a:solidFill>
                      </a:endParaRPr>
                    </a:p>
                    <a:p>
                      <a:pPr lvl="0" algn="ctr">
                        <a:buNone/>
                      </a:pPr>
                      <a:r>
                        <a:rPr lang="en-US" sz="600" b="0" i="0" u="none" strike="noStrike" noProof="0" dirty="0">
                          <a:solidFill>
                            <a:schemeClr val="bg1"/>
                          </a:solidFill>
                          <a:latin typeface="Century Gothic"/>
                        </a:rPr>
                        <a:t>EVOLT EDUCATION</a:t>
                      </a:r>
                      <a:endParaRPr lang="en-US" sz="600" b="0" i="0" u="none" strike="noStrike" noProof="0" dirty="0">
                        <a:solidFill>
                          <a:srgbClr val="2D2926"/>
                        </a:solidFill>
                        <a:latin typeface="Century Gothic"/>
                      </a:endParaRPr>
                    </a:p>
                    <a:p>
                      <a:pPr marL="63500" lvl="0" algn="ctr">
                        <a:spcBef>
                          <a:spcPts val="310"/>
                        </a:spcBef>
                        <a:spcAft>
                          <a:spcPts val="0"/>
                        </a:spcAft>
                        <a:buNone/>
                      </a:pPr>
                      <a:r>
                        <a:rPr lang="en-US" sz="700" b="0" i="0" u="none" strike="noStrike" noProof="0" dirty="0">
                          <a:solidFill>
                            <a:schemeClr val="bg1"/>
                          </a:solidFill>
                          <a:latin typeface="Century Gothic"/>
                        </a:rPr>
                        <a:t>The </a:t>
                      </a:r>
                      <a:r>
                        <a:rPr lang="en-US" sz="700" b="0" i="0" u="none" strike="noStrike" noProof="0" dirty="0" err="1">
                          <a:solidFill>
                            <a:schemeClr val="bg1"/>
                          </a:solidFill>
                          <a:latin typeface="Century Gothic"/>
                        </a:rPr>
                        <a:t>Evolt</a:t>
                      </a:r>
                      <a:r>
                        <a:rPr lang="en-US" sz="700" b="0" i="0" u="none" strike="noStrike" noProof="0" dirty="0">
                          <a:solidFill>
                            <a:schemeClr val="bg1"/>
                          </a:solidFill>
                          <a:latin typeface="Century Gothic"/>
                        </a:rPr>
                        <a:t> is a valuable tool to help members #MakeItToMarch. Share how using it is key in tracking success and staying accountable. Share a video demonstrating the </a:t>
                      </a:r>
                      <a:r>
                        <a:rPr lang="en-US" sz="700" b="0" i="0" u="none" strike="noStrike" noProof="0" dirty="0" err="1">
                          <a:solidFill>
                            <a:schemeClr val="bg1"/>
                          </a:solidFill>
                          <a:latin typeface="Century Gothic"/>
                        </a:rPr>
                        <a:t>Evolt</a:t>
                      </a:r>
                      <a:r>
                        <a:rPr lang="en-US" sz="700" b="0" i="0" u="none" strike="noStrike" noProof="0" dirty="0">
                          <a:solidFill>
                            <a:schemeClr val="bg1"/>
                          </a:solidFill>
                          <a:latin typeface="Century Gothic"/>
                        </a:rPr>
                        <a:t> or share tips on getting the best results (e.g. fasting, consistent time of day, etc.)</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MYTH BUSTERS</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Help dispel a popular fitness-industry myth. Need ideas? Check out the Community tab in the AF App to see what questions are being asked. </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dirty="0"/>
                    </a:p>
                    <a:p>
                      <a:pPr marL="63500" lvl="0" algn="ctr">
                        <a:spcBef>
                          <a:spcPts val="310"/>
                        </a:spcBef>
                        <a:spcAft>
                          <a:spcPts val="0"/>
                        </a:spcAft>
                        <a:buNone/>
                      </a:pPr>
                      <a:r>
                        <a:rPr lang="en-US" sz="600" spc="0" dirty="0">
                          <a:solidFill>
                            <a:schemeClr val="bg1"/>
                          </a:solidFill>
                          <a:effectLst/>
                        </a:rPr>
                        <a:t>ADD YOURS</a:t>
                      </a:r>
                    </a:p>
                    <a:p>
                      <a:pPr marL="63500" lvl="0" algn="ctr">
                        <a:spcBef>
                          <a:spcPts val="310"/>
                        </a:spcBef>
                        <a:spcAft>
                          <a:spcPts val="0"/>
                        </a:spcAft>
                        <a:buNone/>
                      </a:pPr>
                      <a:r>
                        <a:rPr lang="en-US" sz="700" spc="0" dirty="0">
                          <a:solidFill>
                            <a:schemeClr val="bg1"/>
                          </a:solidFill>
                          <a:effectLst/>
                        </a:rPr>
                        <a:t>Using the custom "Add Yours" templates on Instagram Stories, create a This or That style template to have followers use. Check out the article in our Social Media Updates for more!</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10</a:t>
                      </a:r>
                      <a:endParaRPr lang="en-US" dirty="0"/>
                    </a:p>
                    <a:p>
                      <a:pPr marL="63500" marR="0" lvl="0" indent="0" algn="ctr">
                        <a:spcBef>
                          <a:spcPts val="310"/>
                        </a:spcBef>
                        <a:spcAft>
                          <a:spcPts val="0"/>
                        </a:spcAft>
                        <a:buNone/>
                      </a:pPr>
                      <a:r>
                        <a:rPr lang="en-US" sz="600" b="0" i="0" u="none" strike="noStrike" spc="0" noProof="0" dirty="0">
                          <a:solidFill>
                            <a:srgbClr val="2D2926"/>
                          </a:solidFill>
                          <a:effectLst/>
                        </a:rPr>
                        <a:t>WEEKEND WARRIOR</a:t>
                      </a:r>
                    </a:p>
                    <a:p>
                      <a:pPr marL="63500" marR="0" lvl="0" indent="0" algn="ctr">
                        <a:spcBef>
                          <a:spcPts val="310"/>
                        </a:spcBef>
                        <a:spcAft>
                          <a:spcPts val="0"/>
                        </a:spcAft>
                        <a:buNone/>
                      </a:pPr>
                      <a:r>
                        <a:rPr lang="en-US" sz="700" b="0" i="0" u="none" strike="noStrike" spc="0" noProof="0" dirty="0">
                          <a:solidFill>
                            <a:srgbClr val="2D2926"/>
                          </a:solidFill>
                          <a:effectLst/>
                        </a:rPr>
                        <a:t>Winter events can quickly fill up our weekends. Share reasons why hitting the gym on the weekend can be a game-changer!</a:t>
                      </a:r>
                    </a:p>
                  </a:txBody>
                  <a:tcPr marL="9525" marR="9525" marT="80772" marB="0"/>
                </a:tc>
                <a:extLst>
                  <a:ext uri="{0D108BD9-81ED-4DB2-BD59-A6C34878D82A}">
                    <a16:rowId xmlns:a16="http://schemas.microsoft.com/office/drawing/2014/main" val="3005291295"/>
                  </a:ext>
                </a:extLst>
              </a:tr>
              <a:tr h="1277888">
                <a:tc>
                  <a:txBody>
                    <a:bodyPr/>
                    <a:lstStyle/>
                    <a:p>
                      <a:pPr marL="63500" lvl="0" algn="ctr" rtl="0">
                        <a:spcBef>
                          <a:spcPts val="310"/>
                        </a:spcBef>
                        <a:spcAft>
                          <a:spcPts val="0"/>
                        </a:spcAft>
                        <a:buNone/>
                      </a:pPr>
                      <a:r>
                        <a:rPr lang="en-US" sz="600" u="none" spc="0" dirty="0">
                          <a:solidFill>
                            <a:schemeClr val="bg1"/>
                          </a:solidFill>
                          <a:effectLst/>
                        </a:rPr>
                        <a:t>11</a:t>
                      </a:r>
                      <a:endParaRPr lang="en-US" u="none" dirty="0"/>
                    </a:p>
                    <a:p>
                      <a:pPr marL="63500" lvl="0" algn="ctr">
                        <a:spcBef>
                          <a:spcPts val="310"/>
                        </a:spcBef>
                        <a:spcAft>
                          <a:spcPts val="0"/>
                        </a:spcAft>
                        <a:buNone/>
                      </a:pPr>
                      <a:r>
                        <a:rPr lang="en-US" sz="600" b="0" i="0" u="none" strike="noStrike" spc="0" noProof="0" dirty="0">
                          <a:solidFill>
                            <a:schemeClr val="bg1"/>
                          </a:solidFill>
                          <a:effectLst/>
                          <a:latin typeface="Century Gothic"/>
                        </a:rPr>
                        <a:t>SUPERBOWL SUNDAY</a:t>
                      </a:r>
                    </a:p>
                    <a:p>
                      <a:pPr marL="63500" lvl="0" algn="ctr">
                        <a:spcBef>
                          <a:spcPts val="310"/>
                        </a:spcBef>
                        <a:spcAft>
                          <a:spcPts val="0"/>
                        </a:spcAft>
                        <a:buNone/>
                      </a:pPr>
                      <a:r>
                        <a:rPr lang="en-US" sz="700" b="0" i="0" u="none" strike="noStrike" spc="0" noProof="0" dirty="0">
                          <a:solidFill>
                            <a:schemeClr val="bg1"/>
                          </a:solidFill>
                          <a:effectLst/>
                          <a:latin typeface="Century Gothic"/>
                        </a:rPr>
                        <a:t>One of the most iconic days in American sports, the SUPERBOWL! We won't be hacking into this one, but we suggest</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you stir up some friendly competition among members by creating a</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challenge for the losing team!</a:t>
                      </a:r>
                    </a:p>
                  </a:txBody>
                  <a:tcPr marL="9525" marR="9525" marT="80772" marB="0"/>
                </a:tc>
                <a:tc>
                  <a:txBody>
                    <a:bodyPr/>
                    <a:lstStyle/>
                    <a:p>
                      <a:pPr marL="0" lvl="0" algn="ctr" rtl="0">
                        <a:spcBef>
                          <a:spcPts val="1200"/>
                        </a:spcBef>
                        <a:spcAft>
                          <a:spcPts val="0"/>
                        </a:spcAft>
                        <a:buNone/>
                      </a:pPr>
                      <a:r>
                        <a:rPr lang="en-US" sz="600" spc="0" dirty="0">
                          <a:solidFill>
                            <a:schemeClr val="bg1"/>
                          </a:solidFill>
                          <a:effectLst/>
                        </a:rPr>
                        <a:t>12</a:t>
                      </a:r>
                      <a:endParaRPr lang="en-US" sz="600" spc="0" dirty="0">
                        <a:solidFill>
                          <a:srgbClr val="2D2926"/>
                        </a:solidFill>
                        <a:effectLst/>
                      </a:endParaRPr>
                    </a:p>
                    <a:p>
                      <a:pPr marL="0" lvl="0" algn="ctr" rtl="0">
                        <a:lnSpc>
                          <a:spcPct val="150000"/>
                        </a:lnSpc>
                        <a:spcBef>
                          <a:spcPts val="0"/>
                        </a:spcBef>
                        <a:spcAft>
                          <a:spcPts val="0"/>
                        </a:spcAft>
                        <a:buNone/>
                      </a:pPr>
                      <a:r>
                        <a:rPr lang="en-US" sz="600" spc="0" dirty="0">
                          <a:solidFill>
                            <a:schemeClr val="bg1"/>
                          </a:solidFill>
                          <a:effectLst/>
                        </a:rPr>
                        <a:t>SUPERBOWL MONDAY</a:t>
                      </a:r>
                    </a:p>
                    <a:p>
                      <a:pPr marL="63500" lvl="0" algn="ctr">
                        <a:spcBef>
                          <a:spcPts val="310"/>
                        </a:spcBef>
                        <a:spcAft>
                          <a:spcPts val="0"/>
                        </a:spcAft>
                        <a:buNone/>
                      </a:pPr>
                      <a:r>
                        <a:rPr lang="en-US" sz="700" spc="0" dirty="0">
                          <a:solidFill>
                            <a:schemeClr val="bg1"/>
                          </a:solidFill>
                          <a:effectLst/>
                        </a:rPr>
                        <a:t> Feeling slow from the all the buffalo chicken dip and brewskis? Create</a:t>
                      </a:r>
                      <a:br>
                        <a:rPr lang="en-US" sz="700" spc="0" dirty="0">
                          <a:solidFill>
                            <a:schemeClr val="bg1"/>
                          </a:solidFill>
                          <a:effectLst/>
                        </a:rPr>
                      </a:br>
                      <a:r>
                        <a:rPr lang="en-US" sz="700" spc="0" dirty="0">
                          <a:solidFill>
                            <a:schemeClr val="bg1"/>
                          </a:solidFill>
                          <a:effectLst/>
                        </a:rPr>
                        <a:t>a movement routine (exercise or recovery) members can use to help shake off the SB blues! (Avoid comments around overeating</a:t>
                      </a:r>
                      <a:br>
                        <a:rPr lang="en-US" sz="700" spc="0" dirty="0">
                          <a:solidFill>
                            <a:schemeClr val="bg1"/>
                          </a:solidFill>
                          <a:effectLst/>
                        </a:rPr>
                      </a:br>
                      <a:r>
                        <a:rPr lang="en-US" sz="700" spc="0" dirty="0">
                          <a:solidFill>
                            <a:schemeClr val="bg1"/>
                          </a:solidFill>
                          <a:effectLst/>
                        </a:rPr>
                        <a:t>and shame: lead with empathy</a:t>
                      </a:r>
                      <a:br>
                        <a:rPr lang="en-US" sz="700" spc="0" dirty="0">
                          <a:solidFill>
                            <a:schemeClr val="bg1"/>
                          </a:solidFill>
                          <a:effectLst/>
                        </a:rPr>
                      </a:br>
                      <a:r>
                        <a:rPr lang="en-US" sz="700" spc="0" dirty="0">
                          <a:solidFill>
                            <a:schemeClr val="bg1"/>
                          </a:solidFill>
                          <a:effectLst/>
                        </a:rPr>
                        <a:t>and kindness!)</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dirty="0"/>
                    </a:p>
                    <a:p>
                      <a:pPr lvl="0" algn="ctr">
                        <a:lnSpc>
                          <a:spcPct val="200000"/>
                        </a:lnSpc>
                        <a:buNone/>
                      </a:pPr>
                      <a:r>
                        <a:rPr lang="en-US" sz="600" b="0" i="0" u="none" strike="noStrike" spc="0" noProof="0" dirty="0">
                          <a:solidFill>
                            <a:schemeClr val="bg1"/>
                          </a:solidFill>
                          <a:effectLst/>
                          <a:latin typeface="Century Gothic"/>
                        </a:rPr>
                        <a:t>GALENTINES DAY</a:t>
                      </a:r>
                    </a:p>
                    <a:p>
                      <a:pPr lvl="0" algn="ctr">
                        <a:buNone/>
                      </a:pPr>
                      <a:r>
                        <a:rPr lang="en-US" sz="700" b="0" i="0" u="none" strike="noStrike" spc="0" noProof="0" dirty="0">
                          <a:solidFill>
                            <a:schemeClr val="bg1"/>
                          </a:solidFill>
                          <a:effectLst/>
                          <a:latin typeface="Century Gothic"/>
                        </a:rPr>
                        <a:t>Gal pals unite! While this one seems to be for the girls, anyone can join! Share a buddy workout you can complete with your BFF on the purple turf!</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VALENTINES DAY</a:t>
                      </a:r>
                    </a:p>
                    <a:p>
                      <a:pPr marL="63500" lvl="0" algn="ctr">
                        <a:spcBef>
                          <a:spcPts val="310"/>
                        </a:spcBef>
                        <a:spcAft>
                          <a:spcPts val="0"/>
                        </a:spcAft>
                        <a:buNone/>
                      </a:pPr>
                      <a:r>
                        <a:rPr lang="en-US" sz="700" b="0" i="0" u="none" strike="noStrike" spc="0" noProof="0" dirty="0">
                          <a:solidFill>
                            <a:schemeClr val="bg1"/>
                          </a:solidFill>
                          <a:effectLst/>
                        </a:rPr>
                        <a:t>Date night just got a whole lot sweatier with this duo HIIT workout! Create a challenge for those looking to take their Valentine to the gym!</a:t>
                      </a:r>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15</a:t>
                      </a:r>
                      <a:endParaRPr lang="en-US" dirty="0"/>
                    </a:p>
                    <a:p>
                      <a:pPr lvl="0" algn="ctr">
                        <a:lnSpc>
                          <a:spcPct val="200000"/>
                        </a:lnSpc>
                        <a:spcBef>
                          <a:spcPts val="0"/>
                        </a:spcBef>
                        <a:spcAft>
                          <a:spcPts val="0"/>
                        </a:spcAft>
                        <a:buNone/>
                      </a:pPr>
                      <a:r>
                        <a:rPr lang="en-US" sz="600" b="0" i="0" u="none" strike="noStrike" spc="0" noProof="0" dirty="0">
                          <a:solidFill>
                            <a:schemeClr val="bg1"/>
                          </a:solidFill>
                          <a:effectLst/>
                          <a:latin typeface="Century Gothic"/>
                        </a:rPr>
                        <a:t>TIPS TO #MAKEITTOMARCH</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We’ll be using the hashtag #</a:t>
                      </a:r>
                      <a:r>
                        <a:rPr lang="en-US" sz="700" b="0" i="0" u="none" strike="noStrike" spc="0" noProof="0" dirty="0" err="1">
                          <a:solidFill>
                            <a:schemeClr val="bg1"/>
                          </a:solidFill>
                          <a:effectLst/>
                          <a:latin typeface="Century Gothic"/>
                        </a:rPr>
                        <a:t>MakeItToMarch</a:t>
                      </a:r>
                      <a:r>
                        <a:rPr lang="en-US" sz="700" b="0" i="0" u="none" strike="noStrike" spc="0" noProof="0" dirty="0">
                          <a:solidFill>
                            <a:schemeClr val="bg1"/>
                          </a:solidFill>
                          <a:effectLst/>
                          <a:latin typeface="Century Gothic"/>
                        </a:rPr>
                        <a:t> all of Q1 to help habits stick. Share ways members new and old can help stick to their goals this year and #MakeItToMarch. </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dirty="0">
                        <a:solidFill>
                          <a:schemeClr val="bg1"/>
                        </a:solidFill>
                      </a:endParaRPr>
                    </a:p>
                    <a:p>
                      <a:pPr lvl="0" algn="ctr">
                        <a:lnSpc>
                          <a:spcPct val="200000"/>
                        </a:lnSpc>
                        <a:buNone/>
                      </a:pPr>
                      <a:r>
                        <a:rPr lang="en-US" sz="600" b="0" i="0" u="none" strike="noStrike" spc="0" noProof="0" dirty="0">
                          <a:solidFill>
                            <a:schemeClr val="bg1"/>
                          </a:solidFill>
                          <a:effectLst/>
                        </a:rPr>
                        <a:t>AMERICAN HEART MONTH</a:t>
                      </a:r>
                    </a:p>
                    <a:p>
                      <a:pPr lvl="0" algn="ctr">
                        <a:buNone/>
                      </a:pPr>
                      <a:r>
                        <a:rPr lang="en-US" sz="700" b="0" i="0" u="none" strike="noStrike" spc="0" noProof="0" dirty="0">
                          <a:solidFill>
                            <a:schemeClr val="bg1"/>
                          </a:solidFill>
                          <a:effectLst/>
                        </a:rPr>
                        <a:t>It's Heart Month! Do an in-club cardio challenge and show your club's results on Instagram! Encourage others to take part in the challenge!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p>
                    <a:p>
                      <a:pPr marL="63500" lvl="0" algn="ctr">
                        <a:spcBef>
                          <a:spcPts val="310"/>
                        </a:spcBef>
                        <a:spcAft>
                          <a:spcPts val="0"/>
                        </a:spcAft>
                        <a:buNone/>
                      </a:pPr>
                      <a:r>
                        <a:rPr lang="en-US" sz="600" b="0" i="0" u="none" strike="noStrike" spc="0" noProof="0" dirty="0">
                          <a:solidFill>
                            <a:schemeClr val="bg1"/>
                          </a:solidFill>
                          <a:effectLst/>
                          <a:latin typeface="Century Gothic"/>
                        </a:rPr>
                        <a:t>KEEPING TRACK</a:t>
                      </a:r>
                    </a:p>
                    <a:p>
                      <a:pPr marL="63500" lvl="0" algn="ctr">
                        <a:spcBef>
                          <a:spcPts val="310"/>
                        </a:spcBef>
                        <a:spcAft>
                          <a:spcPts val="0"/>
                        </a:spcAft>
                        <a:buNone/>
                      </a:pPr>
                      <a:r>
                        <a:rPr lang="en-US" sz="700" b="0" i="0" u="none" strike="noStrike" spc="0" noProof="0" dirty="0">
                          <a:solidFill>
                            <a:schemeClr val="bg1"/>
                          </a:solidFill>
                          <a:effectLst/>
                          <a:latin typeface="Century Gothic"/>
                        </a:rPr>
                        <a:t>Are there any benefits to tracking workouts and nutrition? Once I do track them, what should I do with the information? Share on how to take your fitness journey to the next level with tracking.</a:t>
                      </a:r>
                    </a:p>
                  </a:txBody>
                  <a:tcPr marL="9525" marR="9525" marT="80772" marB="0"/>
                </a:tc>
                <a:extLst>
                  <a:ext uri="{0D108BD9-81ED-4DB2-BD59-A6C34878D82A}">
                    <a16:rowId xmlns:a16="http://schemas.microsoft.com/office/drawing/2014/main" val="2870796117"/>
                  </a:ext>
                </a:extLst>
              </a:tr>
              <a:tr h="1185597">
                <a:tc>
                  <a:txBody>
                    <a:bodyPr/>
                    <a:lstStyle/>
                    <a:p>
                      <a:pPr marL="63500" lvl="0" algn="ctr" rtl="0">
                        <a:spcBef>
                          <a:spcPts val="310"/>
                        </a:spcBef>
                        <a:spcAft>
                          <a:spcPts val="0"/>
                        </a:spcAft>
                        <a:buNone/>
                      </a:pPr>
                      <a:r>
                        <a:rPr lang="en-US" sz="600" spc="0" dirty="0">
                          <a:solidFill>
                            <a:schemeClr val="bg1"/>
                          </a:solidFill>
                          <a:effectLst/>
                        </a:rPr>
                        <a:t>18</a:t>
                      </a:r>
                      <a:endParaRPr lang="en-US" dirty="0"/>
                    </a:p>
                    <a:p>
                      <a:pPr marL="63500" lvl="0" algn="ctr">
                        <a:spcBef>
                          <a:spcPts val="310"/>
                        </a:spcBef>
                        <a:spcAft>
                          <a:spcPts val="0"/>
                        </a:spcAft>
                        <a:buNone/>
                      </a:pPr>
                      <a:r>
                        <a:rPr lang="en-US" sz="600" b="0" i="0" u="none" strike="noStrike" spc="0" noProof="0" dirty="0">
                          <a:solidFill>
                            <a:schemeClr val="bg1"/>
                          </a:solidFill>
                          <a:effectLst/>
                        </a:rPr>
                        <a:t>AF APP</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Share how using the AF App can help members have a plan when they aren't sure where to start, and connect with others seeking wellness info and advice. Don't forget to mention AF Access Pass is available to help make getting to the gym even easier!</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CARDIO AND CORE</a:t>
                      </a:r>
                    </a:p>
                    <a:p>
                      <a:pPr marL="63500" lvl="0" algn="ctr">
                        <a:spcBef>
                          <a:spcPts val="310"/>
                        </a:spcBef>
                        <a:spcAft>
                          <a:spcPts val="0"/>
                        </a:spcAft>
                        <a:buNone/>
                      </a:pPr>
                      <a:r>
                        <a:rPr lang="en-US" sz="700" b="0" i="0" u="none" strike="noStrike" spc="0" noProof="0" dirty="0">
                          <a:solidFill>
                            <a:schemeClr val="bg1"/>
                          </a:solidFill>
                          <a:effectLst/>
                          <a:latin typeface="Century Gothic"/>
                        </a:rPr>
                        <a:t>It's Monday: let's get to it! Share a 30-minute core and cardio workout or circuit members can complete showcasing your cardio equipment or purple turf setup.</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GROUP TRAINING: WHY</a:t>
                      </a:r>
                      <a:endParaRPr lang="en-US" dirty="0"/>
                    </a:p>
                    <a:p>
                      <a:pPr marL="63500" lvl="0" algn="ctr">
                        <a:spcBef>
                          <a:spcPts val="310"/>
                        </a:spcBef>
                        <a:spcAft>
                          <a:spcPts val="0"/>
                        </a:spcAft>
                        <a:buNone/>
                      </a:pPr>
                      <a:r>
                        <a:rPr lang="en-US" sz="700" b="0" i="0" u="none" strike="noStrike" spc="0" noProof="0" dirty="0">
                          <a:solidFill>
                            <a:schemeClr val="bg1"/>
                          </a:solidFill>
                          <a:effectLst/>
                          <a:latin typeface="Century Gothic"/>
                        </a:rPr>
                        <a:t>Why should someone join group training? What benefits come</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from group training? Use an SGT member's story or give the basic benefits of working in a group</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setting with a Coach!</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dirty="0"/>
                    </a:p>
                    <a:p>
                      <a:pPr marL="63500" lvl="0" algn="ctr">
                        <a:spcBef>
                          <a:spcPts val="310"/>
                        </a:spcBef>
                        <a:spcAft>
                          <a:spcPts val="0"/>
                        </a:spcAft>
                        <a:buNone/>
                      </a:pPr>
                      <a:r>
                        <a:rPr lang="en-US" sz="600" b="0" i="0" u="none" strike="noStrike" spc="0" noProof="0" dirty="0">
                          <a:solidFill>
                            <a:srgbClr val="2D2926"/>
                          </a:solidFill>
                          <a:effectLst/>
                        </a:rPr>
                        <a:t>MEAL PREP INSPO</a:t>
                      </a:r>
                    </a:p>
                    <a:p>
                      <a:pPr marL="63500" lvl="0" algn="ctr">
                        <a:spcBef>
                          <a:spcPts val="310"/>
                        </a:spcBef>
                        <a:spcAft>
                          <a:spcPts val="0"/>
                        </a:spcAft>
                        <a:buNone/>
                      </a:pPr>
                      <a:r>
                        <a:rPr lang="en-US" sz="700" b="0" i="0" u="none" strike="noStrike" spc="0" noProof="0" dirty="0">
                          <a:solidFill>
                            <a:srgbClr val="2D2926"/>
                          </a:solidFill>
                          <a:effectLst/>
                        </a:rPr>
                        <a:t>Share a recipe from CCC or your personal life you've been using by creating a Reel or snapping a photo of the finished product and adding the recipe in the caption.</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22</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TRAINING SPOTLIGHT</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Share a training client who's been killing it on the purple turf with your team! Have them share a few words while you record about their experience and their favorite parts of training with a Coach at AF!</a:t>
                      </a:r>
                      <a:endParaRPr lang="en-US" sz="700" b="0" i="0" u="none" strike="noStrike" spc="0" noProof="0" dirty="0">
                        <a:solidFill>
                          <a:srgbClr val="2D2926"/>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STRENGTH MOVEMENT</a:t>
                      </a:r>
                      <a:endParaRPr lang="en-US" dirty="0"/>
                    </a:p>
                    <a:p>
                      <a:pPr marL="63500" lvl="0" algn="ctr">
                        <a:spcBef>
                          <a:spcPts val="310"/>
                        </a:spcBef>
                        <a:spcAft>
                          <a:spcPts val="0"/>
                        </a:spcAft>
                        <a:buNone/>
                      </a:pPr>
                      <a:r>
                        <a:rPr lang="en-US" sz="700" b="0" i="0" u="none" strike="noStrike" spc="0" noProof="0" dirty="0">
                          <a:solidFill>
                            <a:schemeClr val="bg1"/>
                          </a:solidFill>
                          <a:effectLst/>
                        </a:rPr>
                        <a:t>Show off a strength movement and how to advance the movement for those who are looking to boost a certain aspect of their workout regimen. Tip: poll your followers on Instagram Stories to find out what they want to know.</a:t>
                      </a:r>
                      <a:endParaRPr lang="en-US" sz="700" dirty="0"/>
                    </a:p>
                  </a:txBody>
                  <a:tcPr marL="9525" marR="9525"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24</a:t>
                      </a:r>
                      <a:br>
                        <a:rPr lang="en-US" sz="600" b="0" i="0" u="none" strike="noStrike" noProof="0" dirty="0">
                          <a:solidFill>
                            <a:srgbClr val="2D2926"/>
                          </a:solidFill>
                          <a:effectLst/>
                          <a:latin typeface="Century Gothic"/>
                        </a:rPr>
                      </a:br>
                      <a:r>
                        <a:rPr lang="en-US" sz="600" b="0" i="0" u="none" strike="noStrike" noProof="0" dirty="0">
                          <a:solidFill>
                            <a:schemeClr val="bg1"/>
                          </a:solidFill>
                          <a:effectLst/>
                          <a:latin typeface="Century Gothic"/>
                        </a:rPr>
                        <a:t>NUTRITION NOTES</a:t>
                      </a:r>
                    </a:p>
                    <a:p>
                      <a:pPr marL="63500" lvl="0" algn="ctr">
                        <a:spcBef>
                          <a:spcPts val="310"/>
                        </a:spcBef>
                        <a:spcAft>
                          <a:spcPts val="0"/>
                        </a:spcAft>
                        <a:buNone/>
                      </a:pPr>
                      <a:r>
                        <a:rPr lang="en-US" sz="700" b="0" i="0" u="none" strike="noStrike" noProof="0" dirty="0">
                          <a:solidFill>
                            <a:schemeClr val="bg1"/>
                          </a:solidFill>
                          <a:effectLst/>
                          <a:latin typeface="Century Gothic"/>
                        </a:rPr>
                        <a:t>Greens powders, creatine, and</a:t>
                      </a:r>
                      <a:br>
                        <a:rPr lang="en-US" sz="700" b="0" i="0" u="none" strike="noStrike" noProof="0" dirty="0">
                          <a:solidFill>
                            <a:schemeClr val="bg1"/>
                          </a:solidFill>
                          <a:effectLst/>
                          <a:latin typeface="Century Gothic"/>
                        </a:rPr>
                      </a:br>
                      <a:r>
                        <a:rPr lang="en-US" sz="700" b="0" i="0" u="none" strike="noStrike" noProof="0" dirty="0">
                          <a:solidFill>
                            <a:schemeClr val="bg1"/>
                          </a:solidFill>
                          <a:effectLst/>
                          <a:latin typeface="Century Gothic"/>
                        </a:rPr>
                        <a:t>L-theanine are just a few of the buzzword supplements floating around the gym world. What should you focus on?</a:t>
                      </a:r>
                      <a:br>
                        <a:rPr lang="en-US" sz="700" b="0" i="0" u="none" strike="noStrike" noProof="0" dirty="0">
                          <a:solidFill>
                            <a:schemeClr val="bg1"/>
                          </a:solidFill>
                          <a:effectLst/>
                          <a:latin typeface="Century Gothic"/>
                        </a:rPr>
                      </a:br>
                      <a:r>
                        <a:rPr lang="en-US" sz="700" b="0" i="0" u="none" strike="noStrike" noProof="0" dirty="0">
                          <a:solidFill>
                            <a:schemeClr val="bg1"/>
                          </a:solidFill>
                          <a:effectLst/>
                          <a:latin typeface="Century Gothic"/>
                        </a:rPr>
                        <a:t>What's just a hoax?</a:t>
                      </a:r>
                      <a:endParaRPr lang="en-US" sz="1200" b="0" i="0" u="none" strike="noStrike" noProof="0" dirty="0">
                        <a:solidFill>
                          <a:srgbClr val="2D2926"/>
                        </a:solidFill>
                        <a:effectLst/>
                      </a:endParaRPr>
                    </a:p>
                    <a:p>
                      <a:pPr marL="63500" lvl="0" algn="ctr">
                        <a:spcBef>
                          <a:spcPts val="310"/>
                        </a:spcBef>
                        <a:spcAft>
                          <a:spcPts val="0"/>
                        </a:spcAft>
                        <a:buNone/>
                      </a:pPr>
                      <a:endParaRPr lang="en-US" sz="600" b="0" i="0" u="none" strike="noStrike" noProof="0" dirty="0">
                        <a:solidFill>
                          <a:srgbClr val="2D2926"/>
                        </a:solidFill>
                        <a:effectLst/>
                        <a:latin typeface="Century Gothic"/>
                      </a:endParaRPr>
                    </a:p>
                  </a:txBody>
                  <a:tcPr marL="9524" marR="9524" marT="80772" marB="0"/>
                </a:tc>
                <a:extLst>
                  <a:ext uri="{0D108BD9-81ED-4DB2-BD59-A6C34878D82A}">
                    <a16:rowId xmlns:a16="http://schemas.microsoft.com/office/drawing/2014/main" val="3697406555"/>
                  </a:ext>
                </a:extLst>
              </a:tr>
              <a:tr h="1178496">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1200" b="0" i="0" u="none" strike="noStrike" noProof="0" dirty="0">
                        <a:solidFill>
                          <a:schemeClr val="dk1"/>
                        </a:solidFill>
                        <a:effectLst/>
                        <a:latin typeface="+mn-lt"/>
                      </a:endParaRPr>
                    </a:p>
                    <a:p>
                      <a:pPr marL="63500" lvl="0" algn="ctr">
                        <a:spcBef>
                          <a:spcPts val="310"/>
                        </a:spcBef>
                        <a:spcAft>
                          <a:spcPts val="0"/>
                        </a:spcAft>
                        <a:buNone/>
                      </a:pPr>
                      <a:r>
                        <a:rPr lang="en-US" sz="600" b="0" i="0" u="none" strike="noStrike" noProof="0" dirty="0">
                          <a:solidFill>
                            <a:schemeClr val="bg1"/>
                          </a:solidFill>
                          <a:effectLst/>
                          <a:latin typeface="Century Gothic"/>
                        </a:rPr>
                        <a:t>MEMBER SPOTLIGHT </a:t>
                      </a:r>
                    </a:p>
                    <a:p>
                      <a:pPr marL="63500" lvl="0" algn="ctr">
                        <a:spcBef>
                          <a:spcPts val="310"/>
                        </a:spcBef>
                        <a:spcAft>
                          <a:spcPts val="0"/>
                        </a:spcAft>
                        <a:buNone/>
                      </a:pPr>
                      <a:r>
                        <a:rPr lang="en-US" sz="700" b="0" i="0" u="none" strike="noStrike" noProof="0" dirty="0">
                          <a:solidFill>
                            <a:schemeClr val="bg1"/>
                          </a:solidFill>
                          <a:effectLst/>
                          <a:latin typeface="Century Gothic"/>
                        </a:rPr>
                        <a:t>Use this </a:t>
                      </a:r>
                      <a:r>
                        <a:rPr lang="en-US" sz="700" b="0" i="0" u="none" strike="noStrike" noProof="0" dirty="0">
                          <a:solidFill>
                            <a:schemeClr val="bg1"/>
                          </a:solidFill>
                          <a:effectLst/>
                          <a:latin typeface="Century Gothic"/>
                          <a:hlinkClick r:id="rId2"/>
                        </a:rPr>
                        <a:t>Template</a:t>
                      </a:r>
                      <a:r>
                        <a:rPr lang="en-US" sz="700" b="0" i="0" u="none" strike="noStrike" noProof="0" dirty="0">
                          <a:solidFill>
                            <a:schemeClr val="bg1"/>
                          </a:solidFill>
                          <a:effectLst/>
                          <a:latin typeface="Century Gothic"/>
                        </a:rPr>
                        <a:t> from the Brand Marketing Center to create a brand-aligned Member Spotlight for your Instagram! You can use the pin feature to pin this member for the month / week they are being celebrated.</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SLEEP TIGHT</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Rest or work out? What's more important? Should you skip the gym after a late night out? What about too much sleep? Share insights on how your sleep cycle can affect your performance in the gym and your health overall. </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#MakeItToMarch</a:t>
                      </a:r>
                      <a:endParaRPr lang="en-US" dirty="0"/>
                    </a:p>
                    <a:p>
                      <a:pPr marL="63500" lvl="0" algn="ctr">
                        <a:spcBef>
                          <a:spcPts val="310"/>
                        </a:spcBef>
                        <a:spcAft>
                          <a:spcPts val="0"/>
                        </a:spcAft>
                        <a:buNone/>
                      </a:pPr>
                      <a:r>
                        <a:rPr lang="en-US" sz="700" b="0" i="0" u="none" strike="noStrike" spc="0" noProof="0" dirty="0">
                          <a:solidFill>
                            <a:schemeClr val="bg1"/>
                          </a:solidFill>
                          <a:effectLst/>
                          <a:latin typeface="Century Gothic"/>
                        </a:rPr>
                        <a:t>March is SO CLOSE! Let's encourage members to keep the momentum and #MakeItToMarch!</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sz="1200" b="0" i="0" u="none" strike="noStrike" spc="0" noProof="0" dirty="0">
                        <a:solidFill>
                          <a:schemeClr val="bg1"/>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PLUS-UP RECIPES</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T</a:t>
                      </a:r>
                      <a:r>
                        <a:rPr lang="en-US" sz="700" b="0" i="0" u="none" strike="noStrike" spc="0" noProof="0" dirty="0">
                          <a:solidFill>
                            <a:schemeClr val="bg1"/>
                          </a:solidFill>
                          <a:effectLst/>
                        </a:rPr>
                        <a:t>he short winter days call for comfort and health. But healthy food can’t</a:t>
                      </a:r>
                      <a:br>
                        <a:rPr lang="en-US" sz="700" b="0" i="0" u="none" strike="noStrike" spc="0" noProof="0" dirty="0">
                          <a:solidFill>
                            <a:schemeClr val="bg1"/>
                          </a:solidFill>
                          <a:effectLst/>
                        </a:rPr>
                      </a:br>
                      <a:r>
                        <a:rPr lang="en-US" sz="700" b="0" i="0" u="none" strike="noStrike" spc="0" noProof="0" dirty="0">
                          <a:solidFill>
                            <a:schemeClr val="bg1"/>
                          </a:solidFill>
                          <a:effectLst/>
                        </a:rPr>
                        <a:t>be tasty, right? WRONG! Share ways</a:t>
                      </a:r>
                      <a:br>
                        <a:rPr lang="en-US" sz="700" b="0" i="0" u="none" strike="noStrike" spc="0" noProof="0" dirty="0">
                          <a:solidFill>
                            <a:schemeClr val="bg1"/>
                          </a:solidFill>
                          <a:effectLst/>
                        </a:rPr>
                      </a:br>
                      <a:r>
                        <a:rPr lang="en-US" sz="700" b="0" i="0" u="none" strike="noStrike" spc="0" noProof="0" dirty="0">
                          <a:solidFill>
                            <a:schemeClr val="bg1"/>
                          </a:solidFill>
                          <a:effectLst/>
                        </a:rPr>
                        <a:t>to make some all-time favorites more nutrient-dense or easy swaps for</a:t>
                      </a:r>
                      <a:br>
                        <a:rPr lang="en-US" sz="700" b="0" i="0" u="none" strike="noStrike" spc="0" noProof="0" dirty="0">
                          <a:solidFill>
                            <a:schemeClr val="bg1"/>
                          </a:solidFill>
                          <a:effectLst/>
                        </a:rPr>
                      </a:br>
                      <a:r>
                        <a:rPr lang="en-US" sz="700" b="0" i="0" u="none" strike="noStrike" spc="0" noProof="0" dirty="0">
                          <a:solidFill>
                            <a:schemeClr val="bg1"/>
                          </a:solidFill>
                          <a:effectLst/>
                        </a:rPr>
                        <a:t>the classics! Check out </a:t>
                      </a:r>
                      <a:r>
                        <a:rPr lang="en-US" sz="700" b="0" i="0" u="none" strike="noStrike" spc="0" noProof="0" dirty="0">
                          <a:solidFill>
                            <a:srgbClr val="2D2926"/>
                          </a:solidFill>
                          <a:effectLst/>
                          <a:hlinkClick r:id="rId3"/>
                        </a:rPr>
                        <a:t>Coach.Care.Connect.</a:t>
                      </a:r>
                      <a:r>
                        <a:rPr lang="en-US" sz="700" b="0" i="0" u="none" strike="noStrike" spc="0" noProof="0" dirty="0">
                          <a:solidFill>
                            <a:schemeClr val="bg1"/>
                          </a:solidFill>
                          <a:effectLst/>
                        </a:rPr>
                        <a:t> for ideas.  </a:t>
                      </a:r>
                      <a:endParaRPr lang="en-US" sz="700"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endParaRPr lang="en-US" dirty="0"/>
                    </a:p>
                    <a:p>
                      <a:pPr lvl="0" algn="ctr">
                        <a:buNone/>
                      </a:pPr>
                      <a:r>
                        <a:rPr lang="en-US" sz="600" b="0" i="0" u="none" strike="noStrike" noProof="0" dirty="0">
                          <a:solidFill>
                            <a:schemeClr val="bg1"/>
                          </a:solidFill>
                          <a:latin typeface="Century Gothic"/>
                        </a:rPr>
                        <a:t>LEAP YEAR</a:t>
                      </a:r>
                    </a:p>
                    <a:p>
                      <a:pPr lvl="0" algn="ctr">
                        <a:buNone/>
                      </a:pPr>
                      <a:r>
                        <a:rPr lang="en-US" sz="700" b="0" i="0" u="none" strike="noStrike" noProof="0" dirty="0">
                          <a:solidFill>
                            <a:schemeClr val="bg1"/>
                          </a:solidFill>
                          <a:latin typeface="Century Gothic"/>
                        </a:rPr>
                        <a:t>An extra day gets you an extra workout! Create a challenge or HIIT workout members can complete using equipment in the gym and create a Reel to post on your Instagram. </a:t>
                      </a: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A2B1DA-A2C5-489C-A46E-FC3EAF2F3ADB}">
  <ds:schemaRefs>
    <ds:schemaRef ds:uri="http://schemas.microsoft.com/office/2006/metadata/properties"/>
    <ds:schemaRef ds:uri="http://www.w3.org/XML/1998/namespace"/>
    <ds:schemaRef ds:uri="http://purl.org/dc/terms/"/>
    <ds:schemaRef ds:uri="47019a7e-a60c-4a1f-b4fd-44452cf97621"/>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9464be75-fc0f-4c74-b7a9-67e6b6b30f78"/>
    <ds:schemaRef ds:uri="http://purl.org/dc/dcmitype/"/>
  </ds:schemaRefs>
</ds:datastoreItem>
</file>

<file path=customXml/itemProps2.xml><?xml version="1.0" encoding="utf-8"?>
<ds:datastoreItem xmlns:ds="http://schemas.openxmlformats.org/officeDocument/2006/customXml" ds:itemID="{528711C7-1C08-4355-9495-3EF5D8F085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19a7e-a60c-4a1f-b4fd-44452cf97621"/>
    <ds:schemaRef ds:uri="9464be75-fc0f-4c74-b7a9-67e6b6b30f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90C4E6-4A59-487E-81FF-2AAB659583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Bar Method Template</Template>
  <TotalTime>10417</TotalTime>
  <Words>1161</Words>
  <Application>Microsoft Macintosh PowerPoint</Application>
  <PresentationFormat>Widescreen</PresentationFormat>
  <Paragraphs>94</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Debbie Pias</cp:lastModifiedBy>
  <cp:revision>1342</cp:revision>
  <dcterms:created xsi:type="dcterms:W3CDTF">2021-11-18T14:52:15Z</dcterms:created>
  <dcterms:modified xsi:type="dcterms:W3CDTF">2024-01-17T17:35:33Z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