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B18EB8-E95B-BCB0-A6E6-83231A0E10E2}" v="310" dt="2023-12-08T21:51:32.890"/>
    <p1510:client id="{24A8A909-B772-DFE9-AD3D-A4D91205F437}" v="47" dt="2023-12-14T21:10:25.200"/>
    <p1510:client id="{D131C018-C19E-6211-4514-5D612AA03579}" v="194" dt="2023-12-05T15:54:48.883"/>
    <p1510:client id="{FFD9BACD-FE52-307B-5542-981C86C21C4F}" v="5256" dt="2023-12-07T20:53:25.487"/>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autoAdjust="0"/>
    <p:restoredTop sz="95757" autoAdjust="0"/>
  </p:normalViewPr>
  <p:slideViewPr>
    <p:cSldViewPr snapToGrid="0">
      <p:cViewPr>
        <p:scale>
          <a:sx n="179" d="100"/>
          <a:sy n="179" d="100"/>
        </p:scale>
        <p:origin x="80" y="-320"/>
      </p:cViewPr>
      <p:guideLst>
        <p:guide pos="3816"/>
        <p:guide orient="horz" pos="2160"/>
      </p:guideLst>
    </p:cSldViewPr>
  </p:slideViewPr>
  <p:outlineViewPr>
    <p:cViewPr>
      <p:scale>
        <a:sx n="33" d="100"/>
        <a:sy n="33" d="100"/>
      </p:scale>
      <p:origin x="0" y="-46578"/>
    </p:cViewPr>
  </p:outlineViewPr>
  <p:notesTextViewPr>
    <p:cViewPr>
      <p:scale>
        <a:sx n="1" d="1"/>
        <a:sy n="1" d="1"/>
      </p:scale>
      <p:origin x="0" y="0"/>
    </p:cViewPr>
  </p:notesTextViewPr>
  <p:sorterViewPr>
    <p:cViewPr>
      <p:scale>
        <a:sx n="180" d="100"/>
        <a:sy n="180" d="100"/>
      </p:scale>
      <p:origin x="0" y="-5406"/>
    </p:cViewPr>
  </p:sorterViewPr>
  <p:notesViewPr>
    <p:cSldViewPr snapToGrid="0">
      <p:cViewPr varScale="1">
        <p:scale>
          <a:sx n="119" d="100"/>
          <a:sy n="119" d="100"/>
        </p:scale>
        <p:origin x="4290"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dirty="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12/15/23</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12/15/23</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dirty="0"/>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9800"/>
                </a:solidFill>
                <a:effectLst/>
                <a:uLnTx/>
                <a:uFillTx/>
              </a:rPr>
              <a:t> </a:t>
            </a:r>
            <a:endParaRPr kumimoji="0" lang="en-US" sz="900" b="0" i="1" u="none" strike="noStrike" kern="0" cap="none" spc="0" normalizeH="0" baseline="0" noProof="0" dirty="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9800"/>
                </a:solidFill>
                <a:effectLst/>
                <a:uLnTx/>
                <a:uFillTx/>
              </a:rPr>
              <a:t> </a:t>
            </a:r>
            <a:endParaRPr kumimoji="0" lang="en-US" sz="900" b="0" i="1" u="none" strike="noStrike" kern="0" cap="none" spc="0" normalizeH="0" baseline="0" noProof="0" dirty="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dirty="0"/>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dirty="0"/>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 and/or </a:t>
            </a:r>
            <a:br>
              <a:rPr lang="en-US" dirty="0"/>
            </a:br>
            <a:r>
              <a:rPr lang="en-US" dirty="0"/>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9800"/>
                </a:solidFill>
                <a:effectLst/>
                <a:uLnTx/>
                <a:uFillTx/>
              </a:rPr>
              <a:t> </a:t>
            </a:r>
            <a:endParaRPr kumimoji="0" lang="en-US" sz="900" b="0" i="1" u="none" strike="noStrike" kern="0" cap="none" spc="0" normalizeH="0" baseline="0" noProof="0" dirty="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dirty="0"/>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dirty="0"/>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dirty="0"/>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dirty="0"/>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dirty="0"/>
              <a:t>SECTION Slide </a:t>
            </a:r>
            <a:br>
              <a:rPr lang="en-US" dirty="0"/>
            </a:br>
            <a:r>
              <a:rPr lang="en-US" dirty="0"/>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dirty="0"/>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dirty="0"/>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dirty="0"/>
              <a:t>SECTION Slide </a:t>
            </a:r>
            <a:br>
              <a:rPr lang="en-US" dirty="0"/>
            </a:br>
            <a:r>
              <a:rPr lang="en-US" dirty="0"/>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dirty="0"/>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dirty="0"/>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dirty="0"/>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dirty="0"/>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Marketing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Documents &gt;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Design Resources &gt;  PowerPoint Templates &gt; </a:t>
            </a:r>
            <a:r>
              <a:rPr lang="en-US" sz="900" dirty="0">
                <a:solidFill>
                  <a:schemeClr val="bg1"/>
                </a:solidFill>
              </a:rPr>
              <a:t>Anytime Fitness </a:t>
            </a:r>
            <a:r>
              <a:rPr kumimoji="0" lang="en-US" sz="900" b="0" i="0" u="none" strike="noStrike" kern="0" cap="none" spc="0" normalizeH="0" baseline="0" noProof="0" dirty="0">
                <a:ln>
                  <a:noFill/>
                </a:ln>
                <a:solidFill>
                  <a:srgbClr val="161614"/>
                </a:solidFill>
                <a:effectLst/>
                <a:uLnTx/>
                <a:uFillTx/>
              </a:rPr>
              <a:t>&gt;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PPT Image Library. </a:t>
            </a:r>
            <a:br>
              <a:rPr kumimoji="0" lang="en-US" sz="900" b="0" i="0" u="none" strike="noStrike" kern="0" cap="none" spc="0" normalizeH="0" baseline="0" noProof="0" dirty="0">
                <a:ln>
                  <a:noFill/>
                </a:ln>
                <a:solidFill>
                  <a:srgbClr val="161614"/>
                </a:solidFill>
                <a:effectLst/>
                <a:uLnTx/>
                <a:uFillTx/>
              </a:rPr>
            </a:br>
            <a:r>
              <a:rPr kumimoji="0" lang="en-US" sz="900" b="0" i="0" u="none" strike="noStrike" kern="0" cap="none" spc="0" normalizeH="0" baseline="0" noProof="0" dirty="0">
                <a:ln>
                  <a:noFill/>
                </a:ln>
                <a:solidFill>
                  <a:srgbClr val="161614"/>
                </a:solidFill>
                <a:effectLst/>
                <a:uLnTx/>
                <a:uFillTx/>
              </a:rPr>
              <a:t>Or, simply type in this URL: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dirty="0"/>
              <a:t>Use brief story-prompting or high-impact statements </a:t>
            </a:r>
            <a:br>
              <a:rPr lang="en-US" dirty="0"/>
            </a:br>
            <a:r>
              <a:rPr lang="en-US" dirty="0"/>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12/15/23</a:t>
            </a:fld>
            <a:endParaRPr lang="en-US" dirty="0"/>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dirty="0"/>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dirty="0"/>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dirty="0"/>
              <a:t>Use brief story-prompting or high-impact statements/</a:t>
            </a:r>
            <a:br>
              <a:rPr lang="en-US" dirty="0"/>
            </a:br>
            <a:r>
              <a:rPr lang="en-US" dirty="0"/>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12/15/23</a:t>
            </a:fld>
            <a:endParaRPr lang="en-US" dirty="0"/>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dirty="0"/>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dirty="0"/>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dirty="0"/>
              <a:t>Use brief story-prompting or high-impact statements/</a:t>
            </a:r>
            <a:br>
              <a:rPr lang="en-US" dirty="0"/>
            </a:br>
            <a:r>
              <a:rPr lang="en-US" dirty="0"/>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12/15/23</a:t>
            </a:fld>
            <a:endParaRPr lang="en-US" dirty="0"/>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dirty="0"/>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dirty="0"/>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12/15/23</a:t>
            </a:fld>
            <a:endParaRPr lang="en-US" dirty="0"/>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dirty="0"/>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12/15/23</a:t>
            </a:fld>
            <a:endParaRPr lang="en-US" dirty="0"/>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12/15/23</a:t>
            </a:fld>
            <a:endParaRPr lang="en-US" dirty="0"/>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dirty="0"/>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dirty="0"/>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dirty="0"/>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12/15/23</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dirty="0"/>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dirty="0"/>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12/15/23</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dirty="0"/>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dirty="0"/>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12/15/23</a:t>
            </a:fld>
            <a:endParaRPr lang="en-US" dirty="0"/>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dirty="0"/>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dirty="0"/>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dirty="0"/>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dirty="0"/>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12/15/23</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dirty="0"/>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dirty="0"/>
              <a:t>3-Column Comparison Layout</a:t>
            </a:r>
            <a:br>
              <a:rPr lang="en-US" dirty="0"/>
            </a:br>
            <a:r>
              <a:rPr lang="en-US" dirty="0"/>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12/15/23</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dirty="0"/>
              <a:t>3-Column Comparison Layout</a:t>
            </a:r>
            <a:br>
              <a:rPr lang="en-US" dirty="0"/>
            </a:br>
            <a:r>
              <a:rPr lang="en-US" dirty="0"/>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dirty="0"/>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dirty="0"/>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dirty="0"/>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12/15/23</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dirty="0"/>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dirty="0"/>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12/15/23</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a:t>
            </a:r>
            <a:br>
              <a:rPr lang="en-US" dirty="0"/>
            </a:br>
            <a:r>
              <a:rPr lang="en-US" dirty="0"/>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dirty="0"/>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dirty="0"/>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dirty="0"/>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for simple, impactful comparison statements.</a:t>
            </a:r>
          </a:p>
          <a:p>
            <a:pPr lvl="0"/>
            <a:r>
              <a:rPr lang="en-US" dirty="0"/>
              <a:t>Or, insert charts or tables to compare.</a:t>
            </a:r>
          </a:p>
          <a:p>
            <a:pPr lvl="0"/>
            <a:r>
              <a:rPr lang="en-US" dirty="0"/>
              <a:t>Lorem ipsum dolor sit amet, consectetuer adipiscing elit. </a:t>
            </a:r>
          </a:p>
          <a:p>
            <a:pPr lvl="0"/>
            <a:r>
              <a:rPr lang="en-US" dirty="0"/>
              <a:t>Nunc viverra imperdiet enim. Fusce est. Vivamus a </a:t>
            </a:r>
            <a:r>
              <a:rPr lang="en-US" dirty="0" err="1"/>
              <a:t>tellus</a:t>
            </a:r>
            <a:r>
              <a:rPr lang="en-US" dirty="0"/>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for simple, impactful comparison statements.</a:t>
            </a:r>
          </a:p>
          <a:p>
            <a:pPr lvl="0"/>
            <a:r>
              <a:rPr lang="en-US" dirty="0"/>
              <a:t>Or, insert charts or tables to compare.</a:t>
            </a:r>
          </a:p>
          <a:p>
            <a:pPr lvl="0"/>
            <a:r>
              <a:rPr lang="en-US" dirty="0"/>
              <a:t>Lorem ipsum dolor sit amet, consectetuer adipiscing elit. </a:t>
            </a:r>
          </a:p>
          <a:p>
            <a:pPr lvl="0"/>
            <a:r>
              <a:rPr lang="en-US" dirty="0"/>
              <a:t>Nunc viverra imperdiet enim. Fusce est. Vivamus a </a:t>
            </a:r>
            <a:r>
              <a:rPr lang="en-US" dirty="0" err="1"/>
              <a:t>tellus</a:t>
            </a:r>
            <a:r>
              <a:rPr lang="en-US" dirty="0"/>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12/15/23</a:t>
            </a:fld>
            <a:endParaRPr lang="en-US" dirty="0"/>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dirty="0"/>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dirty="0"/>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dirty="0"/>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dirty="0"/>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dirty="0"/>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dirty="0"/>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12/15/23</a:t>
            </a:fld>
            <a:endParaRPr lang="en-US" dirty="0"/>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dirty="0"/>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dirty="0"/>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 punchy callout</a:t>
            </a:r>
            <a:br>
              <a:rPr lang="en-US" dirty="0"/>
            </a:br>
            <a:r>
              <a:rPr lang="en-US" dirty="0"/>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12/15/23</a:t>
            </a:fld>
            <a:endParaRPr lang="en-US" dirty="0"/>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dirty="0"/>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12/15/23</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dirty="0"/>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12/15/23</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dirty="0"/>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12/15/23</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dirty="0"/>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on </a:t>
            </a:r>
            <a:r>
              <a:rPr lang="en-US" sz="900" dirty="0">
                <a:solidFill>
                  <a:schemeClr val="bg1"/>
                </a:solidFill>
              </a:rPr>
              <a:t>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hlinkClick r:id="rId2"/>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12/15/23</a:t>
            </a:fld>
            <a:endParaRPr lang="en-US" dirty="0"/>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dirty="0"/>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dirty="0"/>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dirty="0"/>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dirty="0"/>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rPr>
              <a:t>TEMPLATE NOTES </a:t>
            </a:r>
            <a:br>
              <a:rPr kumimoji="0" lang="en-US" sz="900" b="1" i="0" u="none" strike="noStrike" kern="0" cap="none" spc="0" normalizeH="0" baseline="0" noProof="0" dirty="0">
                <a:ln>
                  <a:noFill/>
                </a:ln>
                <a:solidFill>
                  <a:schemeClr val="tx1"/>
                </a:solidFill>
                <a:effectLst/>
                <a:uLnTx/>
                <a:uFillTx/>
              </a:rPr>
            </a:br>
            <a:r>
              <a:rPr kumimoji="0" lang="en-US" sz="900" b="0" i="1" u="none" strike="noStrike" kern="0" cap="none" spc="0" normalizeH="0" baseline="0" noProof="0" dirty="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For a library of presentation-ready images, visit the library on </a:t>
            </a:r>
            <a:r>
              <a:rPr lang="en-US" sz="900" dirty="0">
                <a:solidFill>
                  <a:schemeClr val="tx1"/>
                </a:solidFill>
              </a:rPr>
              <a:t>SharePoint &gt; </a:t>
            </a:r>
            <a:br>
              <a:rPr lang="en-US" sz="900" dirty="0">
                <a:solidFill>
                  <a:schemeClr val="tx1"/>
                </a:solidFill>
              </a:rPr>
            </a:br>
            <a:r>
              <a:rPr lang="en-US" sz="900" dirty="0">
                <a:solidFill>
                  <a:schemeClr val="tx1"/>
                </a:solidFill>
              </a:rPr>
              <a:t>Marketing &gt; </a:t>
            </a:r>
            <a:br>
              <a:rPr lang="en-US" sz="900" dirty="0">
                <a:solidFill>
                  <a:schemeClr val="tx1"/>
                </a:solidFill>
              </a:rPr>
            </a:br>
            <a:r>
              <a:rPr lang="en-US" sz="900" dirty="0">
                <a:solidFill>
                  <a:schemeClr val="tx1"/>
                </a:solidFill>
              </a:rPr>
              <a:t>Documents &gt; </a:t>
            </a:r>
            <a:br>
              <a:rPr lang="en-US" sz="900" dirty="0">
                <a:solidFill>
                  <a:schemeClr val="tx1"/>
                </a:solidFill>
              </a:rPr>
            </a:br>
            <a:r>
              <a:rPr lang="en-US" sz="900" dirty="0">
                <a:solidFill>
                  <a:schemeClr val="tx1"/>
                </a:solidFill>
              </a:rPr>
              <a:t>Design Resources &gt;  PowerPoint Templates &gt; Anytime Fitness &gt; </a:t>
            </a:r>
            <a:br>
              <a:rPr lang="en-US" sz="900" dirty="0">
                <a:solidFill>
                  <a:schemeClr val="tx1"/>
                </a:solidFill>
              </a:rPr>
            </a:br>
            <a:r>
              <a:rPr lang="en-US" sz="900" dirty="0">
                <a:solidFill>
                  <a:schemeClr val="tx1"/>
                </a:solidFill>
              </a:rPr>
              <a:t>PPT Image Library. </a:t>
            </a:r>
            <a:br>
              <a:rPr lang="en-US" sz="900" dirty="0">
                <a:solidFill>
                  <a:schemeClr val="tx1"/>
                </a:solidFill>
              </a:rPr>
            </a:br>
            <a:r>
              <a:rPr lang="en-US" sz="900" dirty="0">
                <a:solidFill>
                  <a:schemeClr val="tx1"/>
                </a:solidFill>
              </a:rPr>
              <a:t>Or, simply type in this URL: </a:t>
            </a:r>
            <a:r>
              <a:rPr lang="en-US" sz="900" dirty="0">
                <a:hlinkClick r:id="rId2"/>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12/15/23</a:t>
            </a:fld>
            <a:endParaRPr lang="en-US" dirty="0"/>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dirty="0"/>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dirty="0"/>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bg1"/>
                </a:solidFill>
                <a:effectLst/>
                <a:uLnTx/>
                <a:uFillTx/>
              </a:rPr>
              <a:t>TEMPLATE NOTES </a:t>
            </a:r>
            <a:br>
              <a:rPr kumimoji="0" lang="en-US" sz="900" b="1" i="0" u="none" strike="noStrike" kern="0" cap="none" spc="0" normalizeH="0" baseline="0" noProof="0" dirty="0">
                <a:ln>
                  <a:noFill/>
                </a:ln>
                <a:solidFill>
                  <a:schemeClr val="bg1"/>
                </a:solidFill>
                <a:effectLst/>
                <a:uLnTx/>
                <a:uFillTx/>
              </a:rPr>
            </a:br>
            <a:r>
              <a:rPr kumimoji="0" lang="en-US" sz="900" b="0" i="1" u="none" strike="noStrike" kern="0" cap="none" spc="0" normalizeH="0" baseline="0" noProof="0" dirty="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rPr>
              <a:t>For a library of presentation-ready images, visit the library on </a:t>
            </a:r>
            <a:r>
              <a:rPr lang="en-US" sz="900" dirty="0">
                <a:solidFill>
                  <a:schemeClr val="bg1"/>
                </a:solidFill>
              </a:rPr>
              <a:t>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solidFill>
                  <a:schemeClr val="bg1"/>
                </a:solidFill>
                <a:hlinkClick r:id="rId2">
                  <a:extLst>
                    <a:ext uri="{A12FA001-AC4F-418D-AE19-62706E023703}">
                      <ahyp:hlinkClr xmlns:ahyp="http://schemas.microsoft.com/office/drawing/2018/hyperlinkcolor" val="tx"/>
                    </a:ext>
                  </a:extLst>
                </a:hlinkClick>
              </a:rPr>
              <a:t>bit.ly/AF-PPT</a:t>
            </a:r>
            <a:r>
              <a:rPr lang="en-US" sz="900" dirty="0">
                <a:solidFill>
                  <a:schemeClr val="bg1"/>
                </a:solidFill>
              </a:rPr>
              <a:t> </a:t>
            </a:r>
            <a:endParaRPr lang="en-US" sz="900" i="1" dirty="0">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dirty="0"/>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12/15/23</a:t>
            </a:fld>
            <a:endParaRPr lang="en-US" dirty="0"/>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dirty="0"/>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12/15/23</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a:t>
            </a:r>
            <a:r>
              <a:rPr lang="en-US" sz="900" dirty="0"/>
              <a:t>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dirty="0"/>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12/15/23</a:t>
            </a:fld>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dirty="0"/>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dirty="0"/>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12/15/23</a:t>
            </a:fld>
            <a:endParaRPr lang="en-US" dirty="0"/>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dirty="0"/>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dirty="0"/>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161614"/>
                </a:solidFill>
                <a:effectLst/>
                <a:uLnTx/>
                <a:uFillTx/>
              </a:rPr>
              <a:t>TEMPLATE NOTES </a:t>
            </a:r>
            <a:br>
              <a:rPr kumimoji="0" lang="en-US" sz="900" b="1" i="0" u="none" strike="noStrike" kern="0" cap="none" spc="0" normalizeH="0" baseline="0" noProof="0" dirty="0">
                <a:ln>
                  <a:noFill/>
                </a:ln>
                <a:solidFill>
                  <a:srgbClr val="161614"/>
                </a:solidFill>
                <a:effectLst/>
                <a:uLnTx/>
                <a:uFillTx/>
              </a:rPr>
            </a:br>
            <a:r>
              <a:rPr kumimoji="0" lang="en-US" sz="900" b="0" i="1" u="none" strike="noStrike" kern="0" cap="none" spc="0" normalizeH="0" baseline="0" noProof="0" dirty="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61614"/>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hlinkClick r:id="rId3"/>
              </a:rPr>
              <a:t>bit.ly/AF-PPT</a:t>
            </a:r>
            <a:r>
              <a:rPr lang="en-US" sz="900" dirty="0"/>
              <a:t> </a:t>
            </a:r>
            <a:endParaRPr lang="en-US" sz="900" i="1" dirty="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dirty="0"/>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dirty="0">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dirty="0"/>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2D2926"/>
                </a:solidFill>
                <a:effectLst/>
                <a:uLnTx/>
                <a:uFillTx/>
              </a:rPr>
              <a:t>TEMPLATE NOTES </a:t>
            </a:r>
            <a:br>
              <a:rPr kumimoji="0" lang="en-US" sz="900" b="1" i="0" u="none" strike="noStrike" kern="0" cap="none" spc="0" normalizeH="0" baseline="0" noProof="0" dirty="0">
                <a:ln>
                  <a:noFill/>
                </a:ln>
                <a:solidFill>
                  <a:srgbClr val="2D2926"/>
                </a:solidFill>
                <a:effectLst/>
                <a:uLnTx/>
                <a:uFillTx/>
              </a:rPr>
            </a:br>
            <a:r>
              <a:rPr kumimoji="0" lang="en-US" sz="900" b="0" i="1" u="none" strike="noStrike" kern="0" cap="none" spc="0" normalizeH="0" baseline="0" noProof="0" dirty="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Marketing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Documents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Design Resources &gt;  PowerPoint Templates &gt; Anytime Fitness &gt;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PPT Image Library. </a:t>
            </a:r>
            <a:br>
              <a:rPr kumimoji="0" lang="en-US" sz="900" b="0" i="0" u="none" strike="noStrike" kern="0" cap="none" spc="0" normalizeH="0" baseline="0" noProof="0" dirty="0">
                <a:ln>
                  <a:noFill/>
                </a:ln>
                <a:solidFill>
                  <a:srgbClr val="2D2926"/>
                </a:solidFill>
                <a:effectLst/>
                <a:uLnTx/>
                <a:uFillTx/>
              </a:rPr>
            </a:br>
            <a:r>
              <a:rPr kumimoji="0" lang="en-US" sz="900" b="0" i="0" u="none" strike="noStrike" kern="0" cap="none" spc="0" normalizeH="0" baseline="0" noProof="0" dirty="0">
                <a:ln>
                  <a:noFill/>
                </a:ln>
                <a:solidFill>
                  <a:srgbClr val="2D2926"/>
                </a:solidFill>
                <a:effectLst/>
                <a:uLnTx/>
                <a:uFillTx/>
              </a:rPr>
              <a:t>Or, simply type in this URL: </a:t>
            </a:r>
            <a:r>
              <a:rPr kumimoji="0" lang="en-US" sz="900" b="0" i="0" u="none" strike="noStrike" kern="0" cap="none" spc="0" normalizeH="0" baseline="0" noProof="0" dirty="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dirty="0">
                <a:ln>
                  <a:noFill/>
                </a:ln>
                <a:solidFill>
                  <a:srgbClr val="FF7500"/>
                </a:solidFill>
                <a:effectLst/>
                <a:uLnTx/>
                <a:uFillTx/>
              </a:rPr>
              <a:t> </a:t>
            </a:r>
            <a:endParaRPr kumimoji="0" lang="en-US" sz="900" b="0" i="1" u="none" strike="noStrike" kern="0" cap="none" spc="0" normalizeH="0" baseline="0" noProof="0" dirty="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12/15/23</a:t>
            </a:fld>
            <a:endParaRPr lang="en-US" dirty="0"/>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dirty="0"/>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dirty="0"/>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rPr>
              <a:t>TEMPLATE NOTES </a:t>
            </a:r>
            <a:br>
              <a:rPr kumimoji="0" lang="en-US" sz="900" b="1" i="0" u="none" strike="noStrike" kern="0" cap="none" spc="0" normalizeH="0" baseline="0" noProof="0" dirty="0">
                <a:ln>
                  <a:noFill/>
                </a:ln>
                <a:solidFill>
                  <a:schemeClr val="tx1"/>
                </a:solidFill>
                <a:effectLst/>
                <a:uLnTx/>
                <a:uFillTx/>
              </a:rPr>
            </a:br>
            <a:r>
              <a:rPr kumimoji="0" lang="en-US" sz="900" b="0" i="1" u="none" strike="noStrike" kern="0" cap="none" spc="0" normalizeH="0" baseline="0" noProof="0" dirty="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For a library of presentation-ready images, visit the library on </a:t>
            </a:r>
            <a:r>
              <a:rPr lang="en-US" sz="900" dirty="0">
                <a:solidFill>
                  <a:schemeClr val="tx1"/>
                </a:solidFill>
              </a:rPr>
              <a:t>SharePoint &gt; </a:t>
            </a:r>
            <a:br>
              <a:rPr lang="en-US" sz="900" dirty="0">
                <a:solidFill>
                  <a:schemeClr val="tx1"/>
                </a:solidFill>
              </a:rPr>
            </a:br>
            <a:r>
              <a:rPr lang="en-US" sz="900" dirty="0">
                <a:solidFill>
                  <a:schemeClr val="tx1"/>
                </a:solidFill>
              </a:rPr>
              <a:t>Marketing &gt; </a:t>
            </a:r>
            <a:br>
              <a:rPr lang="en-US" sz="900" dirty="0">
                <a:solidFill>
                  <a:schemeClr val="tx1"/>
                </a:solidFill>
              </a:rPr>
            </a:br>
            <a:r>
              <a:rPr lang="en-US" sz="900" dirty="0">
                <a:solidFill>
                  <a:schemeClr val="tx1"/>
                </a:solidFill>
              </a:rPr>
              <a:t>Documents &gt; </a:t>
            </a:r>
            <a:br>
              <a:rPr lang="en-US" sz="900" dirty="0">
                <a:solidFill>
                  <a:schemeClr val="tx1"/>
                </a:solidFill>
              </a:rPr>
            </a:br>
            <a:r>
              <a:rPr lang="en-US" sz="900" dirty="0">
                <a:solidFill>
                  <a:schemeClr val="tx1"/>
                </a:solidFill>
              </a:rPr>
              <a:t>Design Resources &gt;  PowerPoint Templates &gt; Anytime Fitness &gt; </a:t>
            </a:r>
            <a:br>
              <a:rPr lang="en-US" sz="900" dirty="0">
                <a:solidFill>
                  <a:schemeClr val="tx1"/>
                </a:solidFill>
              </a:rPr>
            </a:br>
            <a:r>
              <a:rPr lang="en-US" sz="900" dirty="0">
                <a:solidFill>
                  <a:schemeClr val="tx1"/>
                </a:solidFill>
              </a:rPr>
              <a:t>PPT Image Library. </a:t>
            </a:r>
            <a:br>
              <a:rPr lang="en-US" sz="900" dirty="0">
                <a:solidFill>
                  <a:schemeClr val="tx1"/>
                </a:solidFill>
              </a:rPr>
            </a:br>
            <a:r>
              <a:rPr lang="en-US" sz="900" dirty="0">
                <a:solidFill>
                  <a:schemeClr val="tx1"/>
                </a:solidFill>
              </a:rPr>
              <a:t>Or, simply type in this URL: </a:t>
            </a:r>
            <a:r>
              <a:rPr lang="en-US" sz="900" dirty="0">
                <a:solidFill>
                  <a:schemeClr val="accent6"/>
                </a:solidFill>
                <a:hlinkClick r:id="rId2">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dirty="0"/>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12/15/23</a:t>
            </a:fld>
            <a:endParaRPr lang="en-US" dirty="0"/>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dirty="0"/>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bg1"/>
                </a:solidFill>
                <a:effectLst/>
                <a:uLnTx/>
                <a:uFillTx/>
              </a:rPr>
              <a:t>TEMPLATE NOTES </a:t>
            </a:r>
            <a:br>
              <a:rPr kumimoji="0" lang="en-US" sz="900" b="1" i="0" u="none" strike="noStrike" kern="0" cap="none" spc="0" normalizeH="0" baseline="0" noProof="0" dirty="0">
                <a:ln>
                  <a:noFill/>
                </a:ln>
                <a:solidFill>
                  <a:schemeClr val="bg1"/>
                </a:solidFill>
                <a:effectLst/>
                <a:uLnTx/>
                <a:uFillTx/>
              </a:rPr>
            </a:br>
            <a:r>
              <a:rPr kumimoji="0" lang="en-US" sz="900" b="0" i="1" u="none" strike="noStrike" kern="0" cap="none" spc="0" normalizeH="0" baseline="0" noProof="0" dirty="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rPr>
              <a:t>For a library of presentation-ready images, visit the library on </a:t>
            </a:r>
            <a:r>
              <a:rPr lang="en-US" sz="900" dirty="0">
                <a:solidFill>
                  <a:schemeClr val="bg1"/>
                </a:solidFill>
              </a:rPr>
              <a:t>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solidFill>
                  <a:schemeClr val="accent6"/>
                </a:solidFill>
                <a:hlinkClick r:id="rId2">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dirty="0"/>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12/15/23</a:t>
            </a:fld>
            <a:endParaRPr lang="en-US" dirty="0"/>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dirty="0"/>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dirty="0"/>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tx1"/>
                </a:solidFill>
                <a:effectLst/>
                <a:uLnTx/>
                <a:uFillTx/>
              </a:rPr>
              <a:t>TEMPLATE NOTES </a:t>
            </a:r>
            <a:br>
              <a:rPr kumimoji="0" lang="en-US" sz="900" b="1" i="0" u="none" strike="noStrike" kern="0" cap="none" spc="0" normalizeH="0" baseline="0" noProof="0" dirty="0">
                <a:ln>
                  <a:noFill/>
                </a:ln>
                <a:solidFill>
                  <a:schemeClr val="tx1"/>
                </a:solidFill>
                <a:effectLst/>
                <a:uLnTx/>
                <a:uFillTx/>
              </a:rPr>
            </a:br>
            <a:r>
              <a:rPr kumimoji="0" lang="en-US" sz="900" b="0" i="1" u="none" strike="noStrike" kern="0" cap="none" spc="0" normalizeH="0" baseline="0" noProof="0" dirty="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tx1"/>
                </a:solidFill>
                <a:effectLst/>
                <a:uLnTx/>
                <a:uFillTx/>
              </a:rPr>
              <a:t>For a library of presentation-ready images, visit the library </a:t>
            </a:r>
            <a:r>
              <a:rPr lang="en-US" sz="900" dirty="0">
                <a:solidFill>
                  <a:schemeClr val="tx1"/>
                </a:solidFill>
              </a:rPr>
              <a:t>on SharePoint &gt; </a:t>
            </a:r>
            <a:br>
              <a:rPr lang="en-US" sz="900" dirty="0">
                <a:solidFill>
                  <a:schemeClr val="tx1"/>
                </a:solidFill>
              </a:rPr>
            </a:br>
            <a:r>
              <a:rPr lang="en-US" sz="900" dirty="0">
                <a:solidFill>
                  <a:schemeClr val="tx1"/>
                </a:solidFill>
              </a:rPr>
              <a:t>Marketing &gt; </a:t>
            </a:r>
            <a:br>
              <a:rPr lang="en-US" sz="900" dirty="0">
                <a:solidFill>
                  <a:schemeClr val="tx1"/>
                </a:solidFill>
              </a:rPr>
            </a:br>
            <a:r>
              <a:rPr lang="en-US" sz="900" dirty="0">
                <a:solidFill>
                  <a:schemeClr val="tx1"/>
                </a:solidFill>
              </a:rPr>
              <a:t>Documents &gt; </a:t>
            </a:r>
            <a:br>
              <a:rPr lang="en-US" sz="900" dirty="0">
                <a:solidFill>
                  <a:schemeClr val="tx1"/>
                </a:solidFill>
              </a:rPr>
            </a:br>
            <a:r>
              <a:rPr lang="en-US" sz="900" dirty="0">
                <a:solidFill>
                  <a:schemeClr val="tx1"/>
                </a:solidFill>
              </a:rPr>
              <a:t>Design Resources &gt;  PowerPoint Templates &gt; Anytime Fitness &gt; </a:t>
            </a:r>
            <a:br>
              <a:rPr lang="en-US" sz="900" dirty="0">
                <a:solidFill>
                  <a:schemeClr val="tx1"/>
                </a:solidFill>
              </a:rPr>
            </a:br>
            <a:r>
              <a:rPr lang="en-US" sz="900" dirty="0">
                <a:solidFill>
                  <a:schemeClr val="tx1"/>
                </a:solidFill>
              </a:rPr>
              <a:t>PPT Image Library. </a:t>
            </a:r>
            <a:br>
              <a:rPr lang="en-US" sz="900" dirty="0">
                <a:solidFill>
                  <a:schemeClr val="tx1"/>
                </a:solidFill>
              </a:rPr>
            </a:br>
            <a:r>
              <a:rPr lang="en-US" sz="900" dirty="0">
                <a:solidFill>
                  <a:schemeClr val="tx1"/>
                </a:solidFill>
              </a:rPr>
              <a:t>Or, simply type in this URL: </a:t>
            </a:r>
            <a:r>
              <a:rPr lang="en-US" sz="900" dirty="0">
                <a:solidFill>
                  <a:schemeClr val="accent6"/>
                </a:solidFill>
                <a:hlinkClick r:id="rId2">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dirty="0"/>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dirty="0"/>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chemeClr val="bg1"/>
                </a:solidFill>
                <a:effectLst/>
                <a:uLnTx/>
                <a:uFillTx/>
              </a:rPr>
              <a:t>TEMPLATE NOTES </a:t>
            </a:r>
            <a:br>
              <a:rPr kumimoji="0" lang="en-US" sz="900" b="1" i="0" u="none" strike="noStrike" kern="0" cap="none" spc="0" normalizeH="0" baseline="0" noProof="0" dirty="0">
                <a:ln>
                  <a:noFill/>
                </a:ln>
                <a:solidFill>
                  <a:schemeClr val="bg1"/>
                </a:solidFill>
                <a:effectLst/>
                <a:uLnTx/>
                <a:uFillTx/>
              </a:rPr>
            </a:br>
            <a:r>
              <a:rPr kumimoji="0" lang="en-US" sz="900" b="0" i="1" u="none" strike="noStrike" kern="0" cap="none" spc="0" normalizeH="0" baseline="0" noProof="0" dirty="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rPr>
              <a:t>For a library of presentation-ready images, visit the library </a:t>
            </a:r>
            <a:r>
              <a:rPr lang="en-US" sz="900" dirty="0">
                <a:solidFill>
                  <a:schemeClr val="bg1"/>
                </a:solidFill>
              </a:rPr>
              <a:t>on SharePoint &gt; </a:t>
            </a:r>
            <a:br>
              <a:rPr lang="en-US" sz="900" dirty="0">
                <a:solidFill>
                  <a:schemeClr val="bg1"/>
                </a:solidFill>
              </a:rPr>
            </a:br>
            <a:r>
              <a:rPr lang="en-US" sz="900" dirty="0">
                <a:solidFill>
                  <a:schemeClr val="bg1"/>
                </a:solidFill>
              </a:rPr>
              <a:t>Marketing &gt; </a:t>
            </a:r>
            <a:br>
              <a:rPr lang="en-US" sz="900" dirty="0">
                <a:solidFill>
                  <a:schemeClr val="bg1"/>
                </a:solidFill>
              </a:rPr>
            </a:br>
            <a:r>
              <a:rPr lang="en-US" sz="900" dirty="0">
                <a:solidFill>
                  <a:schemeClr val="bg1"/>
                </a:solidFill>
              </a:rPr>
              <a:t>Documents &gt; </a:t>
            </a:r>
            <a:br>
              <a:rPr lang="en-US" sz="900" dirty="0">
                <a:solidFill>
                  <a:schemeClr val="bg1"/>
                </a:solidFill>
              </a:rPr>
            </a:br>
            <a:r>
              <a:rPr lang="en-US" sz="900" dirty="0">
                <a:solidFill>
                  <a:schemeClr val="bg1"/>
                </a:solidFill>
              </a:rPr>
              <a:t>Design Resources &gt;  PowerPoint Templates &gt; Anytime Fitness &gt; </a:t>
            </a:r>
            <a:br>
              <a:rPr lang="en-US" sz="900" dirty="0">
                <a:solidFill>
                  <a:schemeClr val="bg1"/>
                </a:solidFill>
              </a:rPr>
            </a:br>
            <a:r>
              <a:rPr lang="en-US" sz="900" dirty="0">
                <a:solidFill>
                  <a:schemeClr val="bg1"/>
                </a:solidFill>
              </a:rPr>
              <a:t>PPT Image Library. </a:t>
            </a:r>
            <a:br>
              <a:rPr lang="en-US" sz="900" dirty="0">
                <a:solidFill>
                  <a:schemeClr val="bg1"/>
                </a:solidFill>
              </a:rPr>
            </a:br>
            <a:r>
              <a:rPr lang="en-US" sz="900" dirty="0">
                <a:solidFill>
                  <a:schemeClr val="bg1"/>
                </a:solidFill>
              </a:rPr>
              <a:t>Or, simply type in this URL: </a:t>
            </a:r>
            <a:r>
              <a:rPr lang="en-US" sz="900" dirty="0">
                <a:solidFill>
                  <a:schemeClr val="accent6"/>
                </a:solidFill>
                <a:hlinkClick r:id="rId3">
                  <a:extLst>
                    <a:ext uri="{A12FA001-AC4F-418D-AE19-62706E023703}">
                      <ahyp:hlinkClr xmlns:ahyp="http://schemas.microsoft.com/office/drawing/2018/hyperlinkcolor" val="tx"/>
                    </a:ext>
                  </a:extLst>
                </a:hlinkClick>
              </a:rPr>
              <a:t>bit.ly/AF-PPT</a:t>
            </a:r>
            <a:r>
              <a:rPr lang="en-US" sz="900" dirty="0">
                <a:solidFill>
                  <a:schemeClr val="accent6"/>
                </a:solidFill>
              </a:rPr>
              <a:t> </a:t>
            </a:r>
            <a:endParaRPr lang="en-US" sz="900" i="1" dirty="0">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dirty="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dirty="0"/>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12/15/23</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12/15/23</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12/15/23</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12/15/23</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dirty="0"/>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dirty="0"/>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dirty="0" err="1"/>
              <a:t>Labtop</a:t>
            </a:r>
            <a:r>
              <a:rPr lang="en-US" dirty="0"/>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dirty="0"/>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dirty="0" err="1"/>
              <a:t>qUESTIONS</a:t>
            </a:r>
            <a:r>
              <a:rPr lang="en-US" dirty="0"/>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dirty="0"/>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dirty="0"/>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dirty="0"/>
              <a:t>Headline goes here</a:t>
            </a:r>
            <a:br>
              <a:rPr lang="en-US" dirty="0"/>
            </a:br>
            <a:r>
              <a:rPr lang="en-US" dirty="0"/>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dirty="0"/>
              <a:t>Default body copy</a:t>
            </a:r>
            <a:br>
              <a:rPr lang="en-US" dirty="0"/>
            </a:br>
            <a:r>
              <a:rPr lang="en-US" dirty="0"/>
              <a:t>second line</a:t>
            </a:r>
          </a:p>
          <a:p>
            <a:pPr lvl="1"/>
            <a:r>
              <a:rPr lang="en-US" dirty="0"/>
              <a:t>Sub-level body copy (tab 2x)</a:t>
            </a:r>
            <a:br>
              <a:rPr lang="en-US" dirty="0"/>
            </a:br>
            <a:r>
              <a:rPr lang="en-US" dirty="0"/>
              <a:t>second line</a:t>
            </a:r>
          </a:p>
          <a:p>
            <a:pPr lvl="2"/>
            <a:r>
              <a:rPr lang="en-US" dirty="0"/>
              <a:t>Sub-level body copy (tab 3x)</a:t>
            </a:r>
            <a:br>
              <a:rPr lang="en-US" dirty="0"/>
            </a:br>
            <a:r>
              <a:rPr lang="en-US" dirty="0"/>
              <a:t>second line</a:t>
            </a:r>
          </a:p>
          <a:p>
            <a:pPr lvl="3"/>
            <a:r>
              <a:rPr lang="en-US" dirty="0"/>
              <a:t>Sub-level (tab 4x)</a:t>
            </a:r>
            <a:br>
              <a:rPr lang="en-US" dirty="0"/>
            </a:br>
            <a:r>
              <a:rPr lang="en-US" dirty="0"/>
              <a:t>second line</a:t>
            </a:r>
          </a:p>
          <a:p>
            <a:pPr lvl="4"/>
            <a:r>
              <a:rPr lang="en-US" dirty="0"/>
              <a:t>Sub-level (tab 5x)</a:t>
            </a:r>
            <a:br>
              <a:rPr lang="en-US" dirty="0"/>
            </a:br>
            <a:r>
              <a:rPr lang="en-US" dirty="0"/>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12/15/23</a:t>
            </a:fld>
            <a:endParaRPr lang="en-US" dirty="0"/>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dirty="0"/>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www.anytimefitness.com/ccc/" TargetMode="Externa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3302867242"/>
              </p:ext>
            </p:extLst>
          </p:nvPr>
        </p:nvGraphicFramePr>
        <p:xfrm>
          <a:off x="0" y="-1"/>
          <a:ext cx="12192000" cy="6858001"/>
        </p:xfrm>
        <a:graphic>
          <a:graphicData uri="http://schemas.openxmlformats.org/drawingml/2006/table">
            <a:tbl>
              <a:tblPr firstRow="1" bandRow="1">
                <a:tableStyleId>{5202B0CA-FC54-4496-8BCA-5EF66A818D29}</a:tableStyleId>
              </a:tblPr>
              <a:tblGrid>
                <a:gridCol w="1908591">
                  <a:extLst>
                    <a:ext uri="{9D8B030D-6E8A-4147-A177-3AD203B41FA5}">
                      <a16:colId xmlns:a16="http://schemas.microsoft.com/office/drawing/2014/main" val="2484229546"/>
                    </a:ext>
                  </a:extLst>
                </a:gridCol>
                <a:gridCol w="1658939">
                  <a:extLst>
                    <a:ext uri="{9D8B030D-6E8A-4147-A177-3AD203B41FA5}">
                      <a16:colId xmlns:a16="http://schemas.microsoft.com/office/drawing/2014/main" val="439348342"/>
                    </a:ext>
                  </a:extLst>
                </a:gridCol>
                <a:gridCol w="1689300">
                  <a:extLst>
                    <a:ext uri="{9D8B030D-6E8A-4147-A177-3AD203B41FA5}">
                      <a16:colId xmlns:a16="http://schemas.microsoft.com/office/drawing/2014/main" val="1072895275"/>
                    </a:ext>
                  </a:extLst>
                </a:gridCol>
                <a:gridCol w="1815515">
                  <a:extLst>
                    <a:ext uri="{9D8B030D-6E8A-4147-A177-3AD203B41FA5}">
                      <a16:colId xmlns:a16="http://schemas.microsoft.com/office/drawing/2014/main" val="2787662688"/>
                    </a:ext>
                  </a:extLst>
                </a:gridCol>
                <a:gridCol w="1719251">
                  <a:extLst>
                    <a:ext uri="{9D8B030D-6E8A-4147-A177-3AD203B41FA5}">
                      <a16:colId xmlns:a16="http://schemas.microsoft.com/office/drawing/2014/main" val="1952576077"/>
                    </a:ext>
                  </a:extLst>
                </a:gridCol>
                <a:gridCol w="1843662">
                  <a:extLst>
                    <a:ext uri="{9D8B030D-6E8A-4147-A177-3AD203B41FA5}">
                      <a16:colId xmlns:a16="http://schemas.microsoft.com/office/drawing/2014/main" val="1911801536"/>
                    </a:ext>
                  </a:extLst>
                </a:gridCol>
                <a:gridCol w="1556742">
                  <a:extLst>
                    <a:ext uri="{9D8B030D-6E8A-4147-A177-3AD203B41FA5}">
                      <a16:colId xmlns:a16="http://schemas.microsoft.com/office/drawing/2014/main" val="1683208684"/>
                    </a:ext>
                  </a:extLst>
                </a:gridCol>
              </a:tblGrid>
              <a:tr h="567625">
                <a:tc gridSpan="7">
                  <a:txBody>
                    <a:bodyPr/>
                    <a:lstStyle/>
                    <a:p>
                      <a:pPr marL="530225" rtl="0" fontAlgn="t" latinLnBrk="0">
                        <a:lnSpc>
                          <a:spcPct val="100000"/>
                        </a:lnSpc>
                        <a:spcBef>
                          <a:spcPts val="2255"/>
                        </a:spcBef>
                        <a:spcAft>
                          <a:spcPts val="0"/>
                        </a:spcAft>
                      </a:pPr>
                      <a:r>
                        <a:rPr lang="en-US" sz="3600" spc="0" dirty="0">
                          <a:effectLst/>
                        </a:rPr>
                        <a:t>JANUARY 2024</a:t>
                      </a:r>
                      <a:endParaRPr lang="en-US" sz="3600"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84597">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1265573">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a:t>
                      </a:r>
                    </a:p>
                    <a:p>
                      <a:pPr marL="63500" lvl="0" algn="ctr">
                        <a:spcBef>
                          <a:spcPts val="310"/>
                        </a:spcBef>
                        <a:spcAft>
                          <a:spcPts val="0"/>
                        </a:spcAft>
                        <a:buNone/>
                      </a:pPr>
                      <a:r>
                        <a:rPr lang="en-US" sz="600" b="0" i="0" u="none" strike="noStrike" spc="0" noProof="0" dirty="0">
                          <a:solidFill>
                            <a:schemeClr val="bg1"/>
                          </a:solidFill>
                          <a:effectLst/>
                          <a:latin typeface="Century Gothic"/>
                        </a:rPr>
                        <a:t>HAPPY 2024!</a:t>
                      </a:r>
                    </a:p>
                    <a:p>
                      <a:pPr marL="63500" lvl="0" algn="ctr">
                        <a:spcBef>
                          <a:spcPts val="310"/>
                        </a:spcBef>
                        <a:spcAft>
                          <a:spcPts val="0"/>
                        </a:spcAft>
                        <a:buNone/>
                      </a:pPr>
                      <a:r>
                        <a:rPr lang="en-US" sz="700" b="0" i="0" u="none" strike="noStrike" spc="0" noProof="0" dirty="0">
                          <a:solidFill>
                            <a:schemeClr val="bg1"/>
                          </a:solidFill>
                          <a:effectLst/>
                          <a:latin typeface="Century Gothic"/>
                        </a:rPr>
                        <a:t>Encourage members to start the year off strong by getting into the gym! Share a workout they can complete using equipment found in the gym or poll members to see what they plan to work on.</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endParaRPr lang="en-US" dirty="0">
                        <a:solidFill>
                          <a:schemeClr val="bg1"/>
                        </a:solidFill>
                      </a:endParaRPr>
                    </a:p>
                    <a:p>
                      <a:pPr lvl="0" algn="ctr">
                        <a:lnSpc>
                          <a:spcPct val="200000"/>
                        </a:lnSpc>
                        <a:spcBef>
                          <a:spcPts val="0"/>
                        </a:spcBef>
                        <a:spcAft>
                          <a:spcPts val="0"/>
                        </a:spcAft>
                        <a:buNone/>
                      </a:pPr>
                      <a:r>
                        <a:rPr lang="en-US" sz="600" b="0" i="0" u="none" strike="noStrike" noProof="0" dirty="0">
                          <a:solidFill>
                            <a:schemeClr val="bg1"/>
                          </a:solidFill>
                        </a:rPr>
                        <a:t>TIPS TO #MAKEITTOMARCH</a:t>
                      </a:r>
                    </a:p>
                    <a:p>
                      <a:pPr lvl="0" algn="ctr">
                        <a:lnSpc>
                          <a:spcPct val="100000"/>
                        </a:lnSpc>
                        <a:spcBef>
                          <a:spcPts val="0"/>
                        </a:spcBef>
                        <a:spcAft>
                          <a:spcPts val="0"/>
                        </a:spcAft>
                        <a:buNone/>
                      </a:pPr>
                      <a:r>
                        <a:rPr lang="en-US" sz="700" b="0" i="0" u="none" strike="noStrike" noProof="0" dirty="0">
                          <a:solidFill>
                            <a:schemeClr val="bg1"/>
                          </a:solidFill>
                        </a:rPr>
                        <a:t>AF Corporate will be using the hashtag #</a:t>
                      </a:r>
                      <a:r>
                        <a:rPr lang="en-US" sz="700" b="0" i="0" u="none" strike="noStrike" noProof="0" dirty="0" err="1">
                          <a:solidFill>
                            <a:schemeClr val="bg1"/>
                          </a:solidFill>
                        </a:rPr>
                        <a:t>MakeItToMarch</a:t>
                      </a:r>
                      <a:r>
                        <a:rPr lang="en-US" sz="700" b="0" i="0" u="none" strike="noStrike" noProof="0" dirty="0">
                          <a:solidFill>
                            <a:schemeClr val="bg1"/>
                          </a:solidFill>
                        </a:rPr>
                        <a:t> during Q1 to help make those habits stick. Share ways members can help stick to their goals this year and #MakeItToMarch.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3</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MYTH BUSTERS</a:t>
                      </a:r>
                    </a:p>
                    <a:p>
                      <a:pPr marL="63500" lvl="0" algn="ctr">
                        <a:spcBef>
                          <a:spcPts val="310"/>
                        </a:spcBef>
                        <a:spcAft>
                          <a:spcPts val="0"/>
                        </a:spcAft>
                        <a:buNone/>
                      </a:pPr>
                      <a:r>
                        <a:rPr lang="en-US" sz="700" b="0" i="0" u="none" strike="noStrike" spc="0" noProof="0" dirty="0">
                          <a:solidFill>
                            <a:schemeClr val="bg1"/>
                          </a:solidFill>
                          <a:effectLst/>
                          <a:latin typeface="Century Gothic"/>
                        </a:rPr>
                        <a:t>The internet has a plethora of information, but not all of it is legit. Help dispel a popular fitness-industry myth. Need ideas? Check out the Community tab in the Anytime Fitness App to see what questions are being asked. </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endParaRPr lang="en-US" dirty="0"/>
                    </a:p>
                    <a:p>
                      <a:pPr marL="63500" lvl="0" algn="ctr">
                        <a:spcBef>
                          <a:spcPts val="310"/>
                        </a:spcBef>
                        <a:spcAft>
                          <a:spcPts val="0"/>
                        </a:spcAft>
                        <a:buNone/>
                      </a:pPr>
                      <a:r>
                        <a:rPr lang="en-US" sz="600" b="0" i="0" u="none" strike="noStrike" spc="0" noProof="0" dirty="0">
                          <a:solidFill>
                            <a:schemeClr val="bg1"/>
                          </a:solidFill>
                          <a:effectLst/>
                        </a:rPr>
                        <a:t>CREATING A ROUTINE</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Educate followers on the importance of consistency and getting to the gym each week. Share tips on how creating routine can defend against mental health issues during the colder months or other solutions for sticking to your plan.</a:t>
                      </a:r>
                      <a:endParaRPr lang="en-US" sz="700" dirty="0"/>
                    </a:p>
                  </a:txBody>
                  <a:tcPr marL="9525" marR="9525" marT="80772" marB="0"/>
                </a:tc>
                <a:tc>
                  <a:txBody>
                    <a:bodyPr/>
                    <a:lstStyle/>
                    <a:p>
                      <a:pPr marL="63500" lvl="0" algn="ctr" rtl="0">
                        <a:spcBef>
                          <a:spcPts val="310"/>
                        </a:spcBef>
                        <a:spcAft>
                          <a:spcPts val="0"/>
                        </a:spcAft>
                        <a:buNone/>
                      </a:pPr>
                      <a:r>
                        <a:rPr lang="en-US" sz="600" b="0" spc="0" dirty="0">
                          <a:solidFill>
                            <a:schemeClr val="bg1"/>
                          </a:solidFill>
                          <a:effectLst/>
                        </a:rPr>
                        <a:t>5</a:t>
                      </a:r>
                      <a:endParaRPr lang="en-US" dirty="0"/>
                    </a:p>
                    <a:p>
                      <a:pPr marL="63500" lvl="0" algn="ctr">
                        <a:spcBef>
                          <a:spcPts val="310"/>
                        </a:spcBef>
                        <a:spcAft>
                          <a:spcPts val="0"/>
                        </a:spcAft>
                        <a:buNone/>
                      </a:pPr>
                      <a:r>
                        <a:rPr lang="en-US" sz="600" b="0" spc="0" dirty="0">
                          <a:solidFill>
                            <a:schemeClr val="bg1"/>
                          </a:solidFill>
                          <a:effectLst/>
                        </a:rPr>
                        <a:t>#TRENDING</a:t>
                      </a:r>
                    </a:p>
                    <a:p>
                      <a:pPr marL="63500" lvl="0" algn="ctr">
                        <a:spcBef>
                          <a:spcPts val="310"/>
                        </a:spcBef>
                        <a:spcAft>
                          <a:spcPts val="0"/>
                        </a:spcAft>
                        <a:buNone/>
                      </a:pPr>
                      <a:r>
                        <a:rPr lang="en-US" sz="700" b="0" spc="0" dirty="0">
                          <a:solidFill>
                            <a:schemeClr val="bg1"/>
                          </a:solidFill>
                          <a:effectLst/>
                        </a:rPr>
                        <a:t>Use a sound from the January Social Calendar franchise notice to boost your algorithm. Creating content using Instagram's Reels is a great way to show the algorithm you like to participate in what's popular on the app.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dirty="0"/>
                    </a:p>
                    <a:p>
                      <a:pPr lvl="0" algn="ctr">
                        <a:lnSpc>
                          <a:spcPct val="200000"/>
                        </a:lnSpc>
                        <a:spcBef>
                          <a:spcPts val="0"/>
                        </a:spcBef>
                        <a:spcAft>
                          <a:spcPts val="0"/>
                        </a:spcAft>
                        <a:buNone/>
                      </a:pPr>
                      <a:r>
                        <a:rPr lang="en-US" sz="600" b="0" i="0" u="none" strike="noStrike" spc="0" noProof="0" dirty="0">
                          <a:solidFill>
                            <a:schemeClr val="bg1"/>
                          </a:solidFill>
                          <a:effectLst/>
                          <a:latin typeface="Century Gothic"/>
                        </a:rPr>
                        <a:t>SWEAT IT OUT</a:t>
                      </a:r>
                    </a:p>
                    <a:p>
                      <a:pPr lvl="0" algn="ctr">
                        <a:lnSpc>
                          <a:spcPct val="100000"/>
                        </a:lnSpc>
                        <a:spcBef>
                          <a:spcPts val="0"/>
                        </a:spcBef>
                        <a:spcAft>
                          <a:spcPts val="0"/>
                        </a:spcAft>
                        <a:buNone/>
                      </a:pPr>
                      <a:r>
                        <a:rPr lang="en-US" sz="700" b="0" i="0" u="none" strike="noStrike" spc="0" noProof="0" dirty="0">
                          <a:solidFill>
                            <a:schemeClr val="bg1"/>
                          </a:solidFill>
                          <a:effectLst/>
                          <a:latin typeface="Century Gothic"/>
                        </a:rPr>
                        <a:t>Ask members to share their sweaty selfies after their Saturday workout! Leverage the "add yours" sticker on Stories to collect these. Take the Stories submitted and put them together in a Reel to showcase how awesome your gym fam is doing this year!</a:t>
                      </a:r>
                    </a:p>
                  </a:txBody>
                  <a:tcPr marL="9525" marR="9525" marT="80772" marB="0"/>
                </a:tc>
                <a:extLst>
                  <a:ext uri="{0D108BD9-81ED-4DB2-BD59-A6C34878D82A}">
                    <a16:rowId xmlns:a16="http://schemas.microsoft.com/office/drawing/2014/main" val="4289451183"/>
                  </a:ext>
                </a:extLst>
              </a:tr>
              <a:tr h="1242662">
                <a:tc>
                  <a:txBody>
                    <a:bodyPr/>
                    <a:lstStyle/>
                    <a:p>
                      <a:pPr marL="0" lvl="0" algn="ctr" rtl="0">
                        <a:lnSpc>
                          <a:spcPct val="100000"/>
                        </a:lnSpc>
                        <a:spcBef>
                          <a:spcPts val="0"/>
                        </a:spcBef>
                        <a:spcAft>
                          <a:spcPts val="0"/>
                        </a:spcAft>
                        <a:buNone/>
                      </a:pPr>
                      <a:r>
                        <a:rPr lang="en-US" sz="600" spc="0" dirty="0">
                          <a:solidFill>
                            <a:schemeClr val="bg1"/>
                          </a:solidFill>
                          <a:effectLst/>
                        </a:rPr>
                        <a:t>7</a:t>
                      </a:r>
                      <a:endParaRPr lang="en-US" dirty="0">
                        <a:solidFill>
                          <a:schemeClr val="bg1"/>
                        </a:solidFill>
                      </a:endParaRPr>
                    </a:p>
                    <a:p>
                      <a:pPr lvl="0" algn="ctr">
                        <a:lnSpc>
                          <a:spcPct val="200000"/>
                        </a:lnSpc>
                        <a:buNone/>
                      </a:pPr>
                      <a:r>
                        <a:rPr lang="en-US" sz="600" b="0" i="0" u="none" strike="noStrike" spc="0" noProof="0" dirty="0">
                          <a:solidFill>
                            <a:schemeClr val="bg1"/>
                          </a:solidFill>
                          <a:effectLst/>
                          <a:latin typeface="Century Gothic"/>
                        </a:rPr>
                        <a:t>MINDFULNESS AND REST</a:t>
                      </a:r>
                    </a:p>
                    <a:p>
                      <a:pPr lvl="0" algn="ctr">
                        <a:buNone/>
                      </a:pPr>
                      <a:r>
                        <a:rPr lang="en-US" sz="700" b="0" i="0" u="none" strike="noStrike" spc="0" noProof="0" dirty="0">
                          <a:solidFill>
                            <a:schemeClr val="bg1"/>
                          </a:solidFill>
                          <a:effectLst/>
                          <a:latin typeface="Century Gothic"/>
                        </a:rPr>
                        <a:t>The first 7 days of the year bring hope and joy, (and also sore bodies) which can lead to burnout and gym fatigue. Help members understand finding balance in the gym using tools like mindfulness, meditation, stretching and low-impact movement.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8</a:t>
                      </a:r>
                      <a:endParaRPr lang="en-US" dirty="0"/>
                    </a:p>
                    <a:p>
                      <a:pPr marL="63500" lvl="0" algn="ctr">
                        <a:spcBef>
                          <a:spcPts val="310"/>
                        </a:spcBef>
                        <a:spcAft>
                          <a:spcPts val="0"/>
                        </a:spcAft>
                        <a:buNone/>
                      </a:pPr>
                      <a:r>
                        <a:rPr lang="en-US" sz="600" b="0" i="0" u="none" strike="noStrike" spc="0" noProof="0" dirty="0">
                          <a:solidFill>
                            <a:schemeClr val="bg1"/>
                          </a:solidFill>
                          <a:effectLst/>
                        </a:rPr>
                        <a:t>GIVEAWAY ALERT</a:t>
                      </a:r>
                    </a:p>
                    <a:p>
                      <a:pPr marL="63500" lvl="0" algn="ctr">
                        <a:spcBef>
                          <a:spcPts val="310"/>
                        </a:spcBef>
                        <a:spcAft>
                          <a:spcPts val="0"/>
                        </a:spcAft>
                        <a:buNone/>
                      </a:pPr>
                      <a:r>
                        <a:rPr lang="en-US" sz="700" b="0" i="0" u="none" strike="noStrike" spc="0" noProof="0" dirty="0">
                          <a:solidFill>
                            <a:schemeClr val="bg1"/>
                          </a:solidFill>
                          <a:effectLst/>
                        </a:rPr>
                        <a:t>Giveaways are a great way to expand your reach and gain new followers. Giveaways should speak to your offerings (e.g. training sessions, gear, or wearable tech). Create a giveaway post and ask members to tag a friend and follow you to be entered.</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9</a:t>
                      </a:r>
                      <a:endParaRPr lang="en-US" dirty="0"/>
                    </a:p>
                    <a:p>
                      <a:pPr marL="63500" lvl="0" algn="ctr">
                        <a:spcBef>
                          <a:spcPts val="310"/>
                        </a:spcBef>
                        <a:spcAft>
                          <a:spcPts val="0"/>
                        </a:spcAft>
                        <a:buNone/>
                      </a:pPr>
                      <a:r>
                        <a:rPr lang="en-US" sz="600" spc="0" dirty="0">
                          <a:solidFill>
                            <a:schemeClr val="bg1"/>
                          </a:solidFill>
                          <a:effectLst/>
                        </a:rPr>
                        <a:t>GROUP TRAINING FAQs</a:t>
                      </a:r>
                    </a:p>
                    <a:p>
                      <a:pPr marL="63500" lvl="0" algn="ctr">
                        <a:spcBef>
                          <a:spcPts val="310"/>
                        </a:spcBef>
                        <a:spcAft>
                          <a:spcPts val="0"/>
                        </a:spcAft>
                        <a:buNone/>
                      </a:pPr>
                      <a:r>
                        <a:rPr lang="en-US" sz="700" spc="0" dirty="0">
                          <a:solidFill>
                            <a:schemeClr val="bg1"/>
                          </a:solidFill>
                          <a:effectLst/>
                        </a:rPr>
                        <a:t>New members, new year, newcomers to group training! Share what group training is all about and how it can be incorporated into a holistic workout plan.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10</a:t>
                      </a:r>
                      <a:endParaRPr lang="en-US" dirty="0"/>
                    </a:p>
                    <a:p>
                      <a:pPr marL="63500" marR="0" lvl="0" indent="0" algn="ctr">
                        <a:spcBef>
                          <a:spcPts val="310"/>
                        </a:spcBef>
                        <a:spcAft>
                          <a:spcPts val="0"/>
                        </a:spcAft>
                        <a:buNone/>
                      </a:pPr>
                      <a:r>
                        <a:rPr lang="en-US" sz="600" b="0" i="0" u="none" strike="noStrike" spc="0" noProof="0" dirty="0">
                          <a:solidFill>
                            <a:srgbClr val="2D2926"/>
                          </a:solidFill>
                          <a:effectLst/>
                        </a:rPr>
                        <a:t>FAVORTIE PRODUCT</a:t>
                      </a:r>
                    </a:p>
                    <a:p>
                      <a:pPr marL="63500" marR="0" lvl="0" indent="0" algn="ctr">
                        <a:spcBef>
                          <a:spcPts val="310"/>
                        </a:spcBef>
                        <a:spcAft>
                          <a:spcPts val="0"/>
                        </a:spcAft>
                        <a:buNone/>
                      </a:pPr>
                      <a:r>
                        <a:rPr lang="en-US" sz="700" b="0" i="0" u="none" strike="noStrike" spc="0" noProof="0" dirty="0">
                          <a:solidFill>
                            <a:srgbClr val="2D2926"/>
                          </a:solidFill>
                          <a:effectLst/>
                        </a:rPr>
                        <a:t>Showcase a fitness-related item you or one of your coaches enjoys using. This can be a great place to show off your </a:t>
                      </a:r>
                      <a:r>
                        <a:rPr lang="en-US" sz="700" b="0" i="0" u="none" strike="noStrike" spc="0" noProof="0" dirty="0" err="1">
                          <a:solidFill>
                            <a:srgbClr val="2D2926"/>
                          </a:solidFill>
                          <a:effectLst/>
                        </a:rPr>
                        <a:t>Myzone</a:t>
                      </a:r>
                      <a:r>
                        <a:rPr lang="en-US" sz="700" b="0" i="0" u="none" strike="noStrike" spc="0" noProof="0" dirty="0">
                          <a:solidFill>
                            <a:srgbClr val="2D2926"/>
                          </a:solidFill>
                          <a:effectLst/>
                        </a:rPr>
                        <a:t>, any in-club retail or food and beverage options.</a:t>
                      </a:r>
                      <a:endParaRPr lang="en-US" sz="7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11</a:t>
                      </a:r>
                      <a:endParaRPr lang="en-US" dirty="0"/>
                    </a:p>
                    <a:p>
                      <a:pPr marL="63500" lvl="0" algn="ctr">
                        <a:spcBef>
                          <a:spcPts val="310"/>
                        </a:spcBef>
                        <a:spcAft>
                          <a:spcPts val="0"/>
                        </a:spcAft>
                        <a:buNone/>
                      </a:pPr>
                      <a:r>
                        <a:rPr lang="en-US" sz="600" b="0" i="0" u="none" strike="noStrike" spc="0" noProof="0" dirty="0">
                          <a:solidFill>
                            <a:schemeClr val="bg1"/>
                          </a:solidFill>
                          <a:effectLst/>
                          <a:latin typeface="Century Gothic"/>
                        </a:rPr>
                        <a:t>STAFF SPOTLIGHT</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Who are those happy faces members see when they enter the gym? Highlight your staff to help members connect with them!</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12</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SLEEP TIGHT</a:t>
                      </a:r>
                    </a:p>
                    <a:p>
                      <a:pPr marL="63500" lvl="0" algn="ctr">
                        <a:spcBef>
                          <a:spcPts val="310"/>
                        </a:spcBef>
                        <a:spcAft>
                          <a:spcPts val="0"/>
                        </a:spcAft>
                        <a:buNone/>
                      </a:pPr>
                      <a:r>
                        <a:rPr lang="en-US" sz="700" b="0" i="0" u="none" strike="noStrike" spc="0" noProof="0" dirty="0">
                          <a:solidFill>
                            <a:schemeClr val="bg1"/>
                          </a:solidFill>
                          <a:effectLst/>
                          <a:latin typeface="Century Gothic"/>
                        </a:rPr>
                        <a:t>Rest or workout: what's more important? Should you skip the gym after a late night out? What about too much sleep? Share insights on how your sleep cycle can affect your performance in the gym and your health overall.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dirty="0"/>
                    </a:p>
                    <a:p>
                      <a:pPr lvl="0" algn="ctr">
                        <a:lnSpc>
                          <a:spcPct val="200000"/>
                        </a:lnSpc>
                        <a:buNone/>
                      </a:pPr>
                      <a:r>
                        <a:rPr lang="en-US" sz="600" b="0" i="0" u="none" strike="noStrike" spc="0" noProof="0" dirty="0">
                          <a:solidFill>
                            <a:schemeClr val="bg1"/>
                          </a:solidFill>
                          <a:effectLst/>
                          <a:latin typeface="Century Gothic"/>
                        </a:rPr>
                        <a:t>PLUS-UP RECIPES</a:t>
                      </a:r>
                      <a:endParaRPr lang="en-US" dirty="0"/>
                    </a:p>
                    <a:p>
                      <a:pPr lvl="0" algn="ctr">
                        <a:buNone/>
                      </a:pPr>
                      <a:r>
                        <a:rPr lang="en-US" sz="700" b="0" i="0" u="none" strike="noStrike" spc="0" noProof="0" dirty="0">
                          <a:solidFill>
                            <a:schemeClr val="bg1"/>
                          </a:solidFill>
                          <a:effectLst/>
                          <a:latin typeface="Century Gothic"/>
                        </a:rPr>
                        <a:t>The short winter days call for comfort and health. But healthy food can't be tasty, right? WRONG! Share ways to make some all-time favorites more nutrient-dense or easy swaps for classics! Check out </a:t>
                      </a:r>
                      <a:r>
                        <a:rPr lang="en-US" sz="700" b="0" i="0" u="none" strike="noStrike" spc="0" noProof="0" dirty="0">
                          <a:solidFill>
                            <a:schemeClr val="bg1"/>
                          </a:solidFill>
                          <a:effectLst/>
                          <a:latin typeface="Century Gothic"/>
                          <a:hlinkClick r:id="rId2"/>
                        </a:rPr>
                        <a:t>Coach.Care.Connect.</a:t>
                      </a:r>
                      <a:r>
                        <a:rPr lang="en-US" sz="700" b="0" i="0" u="none" strike="noStrike" spc="0" noProof="0" dirty="0">
                          <a:solidFill>
                            <a:schemeClr val="bg1"/>
                          </a:solidFill>
                          <a:effectLst/>
                          <a:latin typeface="Century Gothic"/>
                        </a:rPr>
                        <a:t> for ideas.  </a:t>
                      </a:r>
                      <a:endParaRPr lang="en-US" sz="700" dirty="0">
                        <a:solidFill>
                          <a:schemeClr val="bg1"/>
                        </a:solidFill>
                      </a:endParaRPr>
                    </a:p>
                  </a:txBody>
                  <a:tcPr marL="9525" marR="9525" marT="80772" marB="0"/>
                </a:tc>
                <a:extLst>
                  <a:ext uri="{0D108BD9-81ED-4DB2-BD59-A6C34878D82A}">
                    <a16:rowId xmlns:a16="http://schemas.microsoft.com/office/drawing/2014/main" val="3005291295"/>
                  </a:ext>
                </a:extLst>
              </a:tr>
              <a:tr h="1242662">
                <a:tc>
                  <a:txBody>
                    <a:bodyPr/>
                    <a:lstStyle/>
                    <a:p>
                      <a:pPr marL="63500" lvl="0" algn="ctr" rtl="0">
                        <a:spcBef>
                          <a:spcPts val="310"/>
                        </a:spcBef>
                        <a:spcAft>
                          <a:spcPts val="0"/>
                        </a:spcAft>
                        <a:buNone/>
                      </a:pPr>
                      <a:r>
                        <a:rPr lang="en-US" sz="600" spc="0" dirty="0">
                          <a:solidFill>
                            <a:schemeClr val="bg1"/>
                          </a:solidFill>
                          <a:effectLst/>
                        </a:rPr>
                        <a:t>14</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ACTIVE RECOVERY IDEAS</a:t>
                      </a:r>
                      <a:endParaRPr lang="en-US" dirty="0">
                        <a:solidFill>
                          <a:schemeClr val="bg1"/>
                        </a:solidFill>
                      </a:endParaRPr>
                    </a:p>
                    <a:p>
                      <a:pPr marL="63500" lvl="0" algn="ctr">
                        <a:spcBef>
                          <a:spcPts val="310"/>
                        </a:spcBef>
                        <a:spcAft>
                          <a:spcPts val="0"/>
                        </a:spcAft>
                        <a:buNone/>
                      </a:pPr>
                      <a:r>
                        <a:rPr lang="en-US" sz="700" b="0" i="0" u="none" strike="noStrike" spc="0" noProof="0" dirty="0">
                          <a:solidFill>
                            <a:schemeClr val="bg1"/>
                          </a:solidFill>
                          <a:effectLst/>
                        </a:rPr>
                        <a:t>Weekends can be busy for many people. Take a moment to highlight quick and rejuvenating opportunities for rest days.</a:t>
                      </a:r>
                      <a:endParaRPr lang="en-US" sz="700" dirty="0">
                        <a:solidFill>
                          <a:schemeClr val="bg1"/>
                        </a:solidFill>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15</a:t>
                      </a:r>
                      <a:endParaRPr lang="en-US" dirty="0"/>
                    </a:p>
                    <a:p>
                      <a:pPr marL="63500" lvl="0" algn="ctr">
                        <a:spcBef>
                          <a:spcPts val="310"/>
                        </a:spcBef>
                        <a:spcAft>
                          <a:spcPts val="0"/>
                        </a:spcAft>
                        <a:buNone/>
                      </a:pPr>
                      <a:r>
                        <a:rPr lang="en-US" sz="600" b="0" i="0" u="none" strike="noStrike" spc="0" noProof="0" dirty="0">
                          <a:solidFill>
                            <a:srgbClr val="2D2926"/>
                          </a:solidFill>
                          <a:effectLst/>
                        </a:rPr>
                        <a:t>WE'VE GOT YOUR BACK</a:t>
                      </a:r>
                    </a:p>
                    <a:p>
                      <a:pPr marL="63500" lvl="0" algn="ctr">
                        <a:spcBef>
                          <a:spcPts val="310"/>
                        </a:spcBef>
                        <a:spcAft>
                          <a:spcPts val="0"/>
                        </a:spcAft>
                        <a:buNone/>
                      </a:pPr>
                      <a:r>
                        <a:rPr lang="en-US" sz="700" b="0" i="0" u="none" strike="noStrike" spc="0" noProof="0" dirty="0">
                          <a:solidFill>
                            <a:srgbClr val="2D2926"/>
                          </a:solidFill>
                          <a:effectLst/>
                        </a:rPr>
                        <a:t>How does your club support its members? From training options to being able to connect with friendly faces in the gym, what is your community all about? </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dirty="0">
                        <a:solidFill>
                          <a:schemeClr val="bg1"/>
                        </a:solidFill>
                      </a:endParaRPr>
                    </a:p>
                    <a:p>
                      <a:pPr lvl="0" algn="ctr">
                        <a:lnSpc>
                          <a:spcPct val="200000"/>
                        </a:lnSpc>
                        <a:buNone/>
                      </a:pPr>
                      <a:r>
                        <a:rPr lang="en-US" sz="600" b="0" i="0" u="none" strike="noStrike" spc="0" noProof="0" dirty="0">
                          <a:solidFill>
                            <a:schemeClr val="bg1"/>
                          </a:solidFill>
                          <a:effectLst/>
                        </a:rPr>
                        <a:t>TRAINING SPOTLIGHT</a:t>
                      </a:r>
                    </a:p>
                    <a:p>
                      <a:pPr lvl="0" algn="ctr">
                        <a:buNone/>
                      </a:pPr>
                      <a:r>
                        <a:rPr lang="en-US" sz="700" b="0" i="0" u="none" strike="noStrike" spc="0" noProof="0" dirty="0">
                          <a:solidFill>
                            <a:schemeClr val="bg1"/>
                          </a:solidFill>
                          <a:effectLst/>
                        </a:rPr>
                        <a:t>Share a training client who's been killing it on the purple turf with your team! Have them share a few words while you record about their experience and their favorite parts of training with a Coach at AF.</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17</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MINDFUL MOMENTS</a:t>
                      </a:r>
                    </a:p>
                    <a:p>
                      <a:pPr marL="63500" lvl="0" algn="ctr">
                        <a:spcBef>
                          <a:spcPts val="310"/>
                        </a:spcBef>
                        <a:spcAft>
                          <a:spcPts val="0"/>
                        </a:spcAft>
                        <a:buNone/>
                      </a:pPr>
                      <a:r>
                        <a:rPr lang="en-US" sz="700" b="0" i="0" u="none" strike="noStrike" spc="0" noProof="0" dirty="0">
                          <a:solidFill>
                            <a:schemeClr val="bg1"/>
                          </a:solidFill>
                          <a:effectLst/>
                        </a:rPr>
                        <a:t>Keeping phones in a separate room while you sleep is one of the top tips CEO Chuck swears by when it comes</a:t>
                      </a:r>
                      <a:br>
                        <a:rPr lang="en-US" sz="700" b="0" i="0" u="none" strike="noStrike" spc="0" noProof="0" dirty="0">
                          <a:solidFill>
                            <a:schemeClr val="bg1"/>
                          </a:solidFill>
                          <a:effectLst/>
                        </a:rPr>
                      </a:br>
                      <a:r>
                        <a:rPr lang="en-US" sz="700" b="0" i="0" u="none" strike="noStrike" spc="0" noProof="0" dirty="0">
                          <a:solidFill>
                            <a:schemeClr val="bg1"/>
                          </a:solidFill>
                          <a:effectLst/>
                        </a:rPr>
                        <a:t>to life balance. Share how your team handles mindfulness and stress management.</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18</a:t>
                      </a:r>
                    </a:p>
                    <a:p>
                      <a:pPr marL="63500" lvl="0" algn="ctr" rtl="0">
                        <a:spcBef>
                          <a:spcPts val="310"/>
                        </a:spcBef>
                        <a:spcAft>
                          <a:spcPts val="0"/>
                        </a:spcAft>
                        <a:buNone/>
                      </a:pPr>
                      <a:r>
                        <a:rPr lang="en-US" sz="600" b="0" i="0" u="none" strike="noStrike" spc="0" noProof="0" dirty="0">
                          <a:solidFill>
                            <a:schemeClr val="bg1"/>
                          </a:solidFill>
                          <a:effectLst/>
                          <a:latin typeface="Century Gothic"/>
                        </a:rPr>
                        <a:t>FAQ</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Create a quick video answering frequently asked questions by new members and pin it to the top of your IG feed to help potential members understand what it's like to be a part of the #</a:t>
                      </a:r>
                      <a:r>
                        <a:rPr lang="en-US" sz="700" b="0" i="0" u="none" strike="noStrike" spc="0" noProof="0" dirty="0" err="1">
                          <a:solidFill>
                            <a:schemeClr val="bg1"/>
                          </a:solidFill>
                          <a:effectLst/>
                          <a:latin typeface="Century Gothic"/>
                        </a:rPr>
                        <a:t>AFfam</a:t>
                      </a:r>
                      <a:r>
                        <a:rPr lang="en-US" sz="700" b="0" i="0" u="none" strike="noStrike" spc="0" noProof="0" dirty="0">
                          <a:solidFill>
                            <a:schemeClr val="bg1"/>
                          </a:solidFill>
                          <a:effectLst/>
                          <a:latin typeface="Century Gothic"/>
                        </a:rPr>
                        <a:t>!</a:t>
                      </a:r>
                      <a:endParaRPr lang="en-US" sz="700" b="0" i="0" u="none" strike="noStrike" spc="0" noProof="0" dirty="0">
                        <a:solidFill>
                          <a:srgbClr val="2D2926"/>
                        </a:solidFill>
                        <a:effectLst/>
                        <a:latin typeface="Century Gothic"/>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19</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EVOLT EDUCATION</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T</a:t>
                      </a:r>
                      <a:r>
                        <a:rPr lang="en-US" sz="700" b="0" i="0" u="none" strike="noStrike" spc="0" noProof="0" dirty="0">
                          <a:solidFill>
                            <a:schemeClr val="bg1"/>
                          </a:solidFill>
                          <a:effectLst/>
                          <a:latin typeface="Century Gothic"/>
                        </a:rPr>
                        <a:t>he </a:t>
                      </a:r>
                      <a:r>
                        <a:rPr lang="en-US" sz="700" b="0" i="0" u="none" strike="noStrike" spc="0" noProof="0" dirty="0" err="1">
                          <a:solidFill>
                            <a:schemeClr val="bg1"/>
                          </a:solidFill>
                          <a:effectLst/>
                          <a:latin typeface="Century Gothic"/>
                        </a:rPr>
                        <a:t>Evolt</a:t>
                      </a:r>
                      <a:r>
                        <a:rPr lang="en-US" sz="700" b="0" i="0" u="none" strike="noStrike" spc="0" noProof="0" dirty="0">
                          <a:solidFill>
                            <a:schemeClr val="bg1"/>
                          </a:solidFill>
                          <a:effectLst/>
                          <a:latin typeface="Century Gothic"/>
                        </a:rPr>
                        <a:t> is just one tool in your playbook to help members #</a:t>
                      </a:r>
                      <a:r>
                        <a:rPr lang="en-US" sz="700" b="0" i="0" u="none" strike="noStrike" spc="0" noProof="0" dirty="0" err="1">
                          <a:solidFill>
                            <a:schemeClr val="bg1"/>
                          </a:solidFill>
                          <a:effectLst/>
                          <a:latin typeface="Century Gothic"/>
                        </a:rPr>
                        <a:t>MakeItToMarch</a:t>
                      </a:r>
                      <a:r>
                        <a:rPr lang="en-US" sz="700" b="0" i="0" u="none" strike="noStrike" spc="0" noProof="0" dirty="0">
                          <a:solidFill>
                            <a:schemeClr val="bg1"/>
                          </a:solidFill>
                          <a:effectLst/>
                          <a:latin typeface="Century Gothic"/>
                        </a:rPr>
                        <a:t>. Share how using the </a:t>
                      </a:r>
                      <a:r>
                        <a:rPr lang="en-US" sz="700" b="0" i="0" u="none" strike="noStrike" spc="0" noProof="0" dirty="0" err="1">
                          <a:solidFill>
                            <a:schemeClr val="bg1"/>
                          </a:solidFill>
                          <a:effectLst/>
                          <a:latin typeface="Century Gothic"/>
                        </a:rPr>
                        <a:t>Evolt</a:t>
                      </a:r>
                      <a:r>
                        <a:rPr lang="en-US" sz="700" b="0" i="0" u="none" strike="noStrike" spc="0" noProof="0" dirty="0">
                          <a:solidFill>
                            <a:schemeClr val="bg1"/>
                          </a:solidFill>
                          <a:effectLst/>
                          <a:latin typeface="Century Gothic"/>
                        </a:rPr>
                        <a:t> is key in tracking success and staying accountable. Share a video with tips and tricks on getting the best results (e.g. fasting, being mindful about the time of day, etc.) </a:t>
                      </a:r>
                      <a:endParaRPr lang="en-US" sz="7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p>
                    <a:p>
                      <a:pPr marL="63500" lvl="0" algn="ctr">
                        <a:spcBef>
                          <a:spcPts val="310"/>
                        </a:spcBef>
                        <a:spcAft>
                          <a:spcPts val="0"/>
                        </a:spcAft>
                        <a:buNone/>
                      </a:pPr>
                      <a:r>
                        <a:rPr lang="en-US" sz="600" spc="0" dirty="0">
                          <a:solidFill>
                            <a:schemeClr val="bg1"/>
                          </a:solidFill>
                          <a:effectLst/>
                        </a:rPr>
                        <a:t>ANYTIME FITNESS APP</a:t>
                      </a:r>
                    </a:p>
                    <a:p>
                      <a:pPr marL="63500" lvl="0" algn="ctr">
                        <a:spcBef>
                          <a:spcPts val="310"/>
                        </a:spcBef>
                        <a:spcAft>
                          <a:spcPts val="0"/>
                        </a:spcAft>
                        <a:buNone/>
                      </a:pPr>
                      <a:r>
                        <a:rPr lang="en-US" sz="700" spc="0" dirty="0">
                          <a:solidFill>
                            <a:schemeClr val="bg1"/>
                          </a:solidFill>
                          <a:effectLst/>
                        </a:rPr>
                        <a:t>Share how integrating the Anytime </a:t>
                      </a:r>
                      <a:r>
                        <a:rPr lang="en-US" sz="700" spc="0" dirty="0" err="1">
                          <a:solidFill>
                            <a:schemeClr val="bg1"/>
                          </a:solidFill>
                          <a:effectLst/>
                        </a:rPr>
                        <a:t>Fitnes</a:t>
                      </a:r>
                      <a:r>
                        <a:rPr lang="en-US" sz="700" spc="0" dirty="0">
                          <a:solidFill>
                            <a:schemeClr val="bg1"/>
                          </a:solidFill>
                          <a:effectLst/>
                        </a:rPr>
                        <a:t> App can help members have a plan when they aren't sure where to start, or how it helps you connect with others seeking advice and information on wellness and nutrition.</a:t>
                      </a:r>
                    </a:p>
                  </a:txBody>
                  <a:tcPr marL="9525" marR="9525" marT="80772" marB="0"/>
                </a:tc>
                <a:extLst>
                  <a:ext uri="{0D108BD9-81ED-4DB2-BD59-A6C34878D82A}">
                    <a16:rowId xmlns:a16="http://schemas.microsoft.com/office/drawing/2014/main" val="2870796117"/>
                  </a:ext>
                </a:extLst>
              </a:tr>
              <a:tr h="1213517">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dirty="0"/>
                    </a:p>
                    <a:p>
                      <a:pPr marL="63500" lvl="0" algn="ctr">
                        <a:spcBef>
                          <a:spcPts val="310"/>
                        </a:spcBef>
                        <a:spcAft>
                          <a:spcPts val="0"/>
                        </a:spcAft>
                        <a:buNone/>
                      </a:pPr>
                      <a:r>
                        <a:rPr lang="en-US" sz="600" b="0" i="0" u="none" strike="noStrike" spc="0" noProof="0" dirty="0">
                          <a:solidFill>
                            <a:srgbClr val="2D2926"/>
                          </a:solidFill>
                          <a:effectLst/>
                        </a:rPr>
                        <a:t>MEAL PREP INSPO</a:t>
                      </a:r>
                    </a:p>
                    <a:p>
                      <a:pPr marL="63500" lvl="0" algn="ctr">
                        <a:spcBef>
                          <a:spcPts val="310"/>
                        </a:spcBef>
                        <a:spcAft>
                          <a:spcPts val="0"/>
                        </a:spcAft>
                        <a:buNone/>
                      </a:pPr>
                      <a:r>
                        <a:rPr lang="en-US" sz="700" b="0" i="0" u="none" strike="noStrike" spc="0" noProof="0" dirty="0">
                          <a:solidFill>
                            <a:srgbClr val="2D2926"/>
                          </a:solidFill>
                          <a:effectLst/>
                        </a:rPr>
                        <a:t>What's </a:t>
                      </a:r>
                      <a:r>
                        <a:rPr lang="en-US" sz="700" b="0" i="0" u="none" strike="noStrike" spc="0" noProof="0" dirty="0" err="1">
                          <a:solidFill>
                            <a:srgbClr val="2D2926"/>
                          </a:solidFill>
                          <a:effectLst/>
                        </a:rPr>
                        <a:t>cookin</a:t>
                      </a:r>
                      <a:r>
                        <a:rPr lang="en-US" sz="700" b="0" i="0" u="none" strike="noStrike" spc="0" noProof="0" dirty="0">
                          <a:solidFill>
                            <a:srgbClr val="2D2926"/>
                          </a:solidFill>
                          <a:effectLst/>
                        </a:rPr>
                        <a:t>' in your kitchen this week? Snap a pic of your cart at the grocery store or give members a forum to share their meal plans for the week. Emphasize how creating a plan for meals at the beginning of the week can set members up for success and make mealtime a breeze.</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22</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#MakeItToMarch</a:t>
                      </a:r>
                    </a:p>
                    <a:p>
                      <a:pPr marL="63500" lvl="0" algn="ctr">
                        <a:spcBef>
                          <a:spcPts val="310"/>
                        </a:spcBef>
                        <a:spcAft>
                          <a:spcPts val="0"/>
                        </a:spcAft>
                        <a:buNone/>
                      </a:pPr>
                      <a:r>
                        <a:rPr lang="en-US" sz="700" b="0" i="0" u="none" strike="noStrike" spc="0" noProof="0" dirty="0">
                          <a:solidFill>
                            <a:schemeClr val="bg1"/>
                          </a:solidFill>
                          <a:effectLst/>
                          <a:latin typeface="Century Gothic"/>
                        </a:rPr>
                        <a:t>We've made it past the infamous "21-days" to help build a habit—don't quit! Grab a mindfulness tip from the Mass Publishing calendar and share ways members can incorporate mindfulness into their overall wellness routine.</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STRENGTH MOVEMENT</a:t>
                      </a:r>
                      <a:endParaRPr lang="en-US" dirty="0"/>
                    </a:p>
                    <a:p>
                      <a:pPr marL="63500" lvl="0" algn="ctr">
                        <a:spcBef>
                          <a:spcPts val="310"/>
                        </a:spcBef>
                        <a:spcAft>
                          <a:spcPts val="0"/>
                        </a:spcAft>
                        <a:buNone/>
                      </a:pPr>
                      <a:r>
                        <a:rPr lang="en-US" sz="700" b="0" i="0" u="none" strike="noStrike" spc="0" noProof="0" dirty="0">
                          <a:solidFill>
                            <a:schemeClr val="bg1"/>
                          </a:solidFill>
                          <a:effectLst/>
                        </a:rPr>
                        <a:t>Show off a strength movement with progressions for those who are looking to amp up a certain aspect of their workout regimen. Pro Tip: poll your followers on Instagram Stories to find out what they want to know.</a:t>
                      </a:r>
                      <a:endParaRPr lang="en-US" sz="700" dirty="0"/>
                    </a:p>
                  </a:txBody>
                  <a:tcPr marL="9525" marR="9525" marT="80772" marB="0"/>
                </a:tc>
                <a:tc>
                  <a:txBody>
                    <a:bodyPr/>
                    <a:lstStyle/>
                    <a:p>
                      <a:pPr marL="63500" lvl="0" algn="ctr">
                        <a:lnSpc>
                          <a:spcPct val="100000"/>
                        </a:lnSpc>
                        <a:spcBef>
                          <a:spcPts val="310"/>
                        </a:spcBef>
                        <a:spcAft>
                          <a:spcPts val="0"/>
                        </a:spcAft>
                        <a:buNone/>
                      </a:pPr>
                      <a:r>
                        <a:rPr lang="en-US" sz="600" b="0" i="0" u="none" strike="noStrike" noProof="0" dirty="0">
                          <a:solidFill>
                            <a:schemeClr val="bg1"/>
                          </a:solidFill>
                          <a:effectLst/>
                          <a:latin typeface="Century Gothic"/>
                        </a:rPr>
                        <a:t>24</a:t>
                      </a:r>
                      <a:br>
                        <a:rPr lang="en-US" sz="600" b="0" i="0" u="none" strike="noStrike" noProof="0" dirty="0">
                          <a:solidFill>
                            <a:srgbClr val="2D2926"/>
                          </a:solidFill>
                          <a:effectLst/>
                          <a:latin typeface="Century Gothic"/>
                        </a:rPr>
                      </a:br>
                      <a:r>
                        <a:rPr lang="en-US" sz="600" b="0" i="0" u="none" strike="noStrike" noProof="0" dirty="0">
                          <a:solidFill>
                            <a:schemeClr val="bg1"/>
                          </a:solidFill>
                          <a:effectLst/>
                          <a:latin typeface="Century Gothic"/>
                        </a:rPr>
                        <a:t>NATIONAL COMPLIMENT DAY</a:t>
                      </a:r>
                    </a:p>
                    <a:p>
                      <a:pPr marL="63500" lvl="0" algn="ctr">
                        <a:spcBef>
                          <a:spcPts val="310"/>
                        </a:spcBef>
                        <a:spcAft>
                          <a:spcPts val="0"/>
                        </a:spcAft>
                        <a:buNone/>
                      </a:pPr>
                      <a:r>
                        <a:rPr lang="en-US" sz="700" b="0" i="0" u="none" strike="noStrike" noProof="0" dirty="0">
                          <a:solidFill>
                            <a:schemeClr val="bg1"/>
                          </a:solidFill>
                          <a:effectLst/>
                          <a:latin typeface="Century Gothic"/>
                        </a:rPr>
                        <a:t>Show some love to your members by participating in National Compliment Day. Create a post where followers can comment and leave kind words of encouragement for each other. Take this in-club by leaving out sticky notes for members to write sweet compliments on for each other!</a:t>
                      </a:r>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rPr>
                        <a:t>25</a:t>
                      </a:r>
                    </a:p>
                    <a:p>
                      <a:pPr marL="63500" lvl="0" algn="ctr">
                        <a:lnSpc>
                          <a:spcPct val="100000"/>
                        </a:lnSpc>
                        <a:spcBef>
                          <a:spcPts val="310"/>
                        </a:spcBef>
                        <a:spcAft>
                          <a:spcPts val="0"/>
                        </a:spcAft>
                        <a:buNone/>
                      </a:pPr>
                      <a:r>
                        <a:rPr lang="en-US" sz="600" b="0" i="0" u="none" strike="noStrike" noProof="0" dirty="0">
                          <a:solidFill>
                            <a:schemeClr val="bg1"/>
                          </a:solidFill>
                          <a:effectLst/>
                          <a:latin typeface="Century Gothic"/>
                        </a:rPr>
                        <a:t>#TBT</a:t>
                      </a:r>
                      <a:endParaRPr lang="en-US" sz="600" b="0" i="0" u="none" strike="noStrike" noProof="0" dirty="0">
                        <a:solidFill>
                          <a:srgbClr val="2D2926"/>
                        </a:solidFill>
                        <a:effectLst/>
                        <a:latin typeface="Century Gothic"/>
                      </a:endParaRPr>
                    </a:p>
                    <a:p>
                      <a:pPr marL="63500" lvl="0" algn="ctr">
                        <a:lnSpc>
                          <a:spcPct val="100000"/>
                        </a:lnSpc>
                        <a:spcBef>
                          <a:spcPts val="310"/>
                        </a:spcBef>
                        <a:spcAft>
                          <a:spcPts val="0"/>
                        </a:spcAft>
                        <a:buNone/>
                      </a:pPr>
                      <a:r>
                        <a:rPr lang="en-US" sz="700" b="0" i="0" u="none" strike="noStrike" noProof="0" dirty="0">
                          <a:solidFill>
                            <a:schemeClr val="bg1"/>
                          </a:solidFill>
                          <a:effectLst/>
                          <a:latin typeface="Century Gothic"/>
                        </a:rPr>
                        <a:t>Share a picture from the beginning of the year or share a member win in the first month of 2024. What else are members looking to accomplish? Use a Story Sticker to capture goals from followers.</a:t>
                      </a:r>
                      <a:endParaRPr lang="en-US" sz="70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dirty="0"/>
                    </a:p>
                    <a:p>
                      <a:pPr marL="63500" lvl="0" algn="ctr">
                        <a:spcBef>
                          <a:spcPts val="310"/>
                        </a:spcBef>
                        <a:spcAft>
                          <a:spcPts val="0"/>
                        </a:spcAft>
                        <a:buNone/>
                      </a:pPr>
                      <a:r>
                        <a:rPr lang="en-US" sz="600" b="0" i="0" u="none" strike="noStrike" spc="0" noProof="0" dirty="0">
                          <a:solidFill>
                            <a:srgbClr val="2D2926"/>
                          </a:solidFill>
                          <a:effectLst/>
                          <a:latin typeface="Century Gothic"/>
                        </a:rPr>
                        <a:t>REASONS TO HIT THE GYM</a:t>
                      </a:r>
                    </a:p>
                    <a:p>
                      <a:pPr marL="63500" lvl="0" algn="ctr">
                        <a:spcBef>
                          <a:spcPts val="310"/>
                        </a:spcBef>
                        <a:spcAft>
                          <a:spcPts val="0"/>
                        </a:spcAft>
                        <a:buNone/>
                      </a:pPr>
                      <a:r>
                        <a:rPr lang="en-US" sz="700" b="0" i="0" u="none" strike="noStrike" spc="0" noProof="0" dirty="0">
                          <a:solidFill>
                            <a:srgbClr val="2D2926"/>
                          </a:solidFill>
                          <a:effectLst/>
                          <a:latin typeface="Century Gothic"/>
                        </a:rPr>
                        <a:t>Many people struggle to find the energy and time to hit the gym. Give three</a:t>
                      </a:r>
                      <a:br>
                        <a:rPr lang="en-US" sz="700" b="0" i="0" u="none" strike="noStrike" spc="0" noProof="0" dirty="0">
                          <a:solidFill>
                            <a:srgbClr val="2D2926"/>
                          </a:solidFill>
                          <a:effectLst/>
                          <a:latin typeface="Century Gothic"/>
                        </a:rPr>
                      </a:br>
                      <a:r>
                        <a:rPr lang="en-US" sz="700" b="0" i="0" u="none" strike="noStrike" spc="0" noProof="0" dirty="0">
                          <a:solidFill>
                            <a:srgbClr val="2D2926"/>
                          </a:solidFill>
                          <a:effectLst/>
                          <a:latin typeface="Century Gothic"/>
                        </a:rPr>
                        <a:t>guilt-free examples as to why your followers should hit the purple turf today!</a:t>
                      </a:r>
                      <a:endParaRPr lang="en-US" sz="70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endParaRPr lang="en-US"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WE'VE GOT YOUR BACK</a:t>
                      </a:r>
                      <a:endParaRPr lang="en-US" dirty="0"/>
                    </a:p>
                    <a:p>
                      <a:pPr marL="63500" lvl="0" algn="ctr">
                        <a:spcBef>
                          <a:spcPts val="310"/>
                        </a:spcBef>
                        <a:spcAft>
                          <a:spcPts val="0"/>
                        </a:spcAft>
                        <a:buNone/>
                      </a:pPr>
                      <a:r>
                        <a:rPr lang="en-US" sz="700" b="0" i="0" u="none" strike="noStrike" spc="0" noProof="0" dirty="0">
                          <a:solidFill>
                            <a:srgbClr val="2D2926"/>
                          </a:solidFill>
                          <a:effectLst/>
                        </a:rPr>
                        <a:t>How does your club support its members? From training options to just being able to connect with friendly faces in the gym, what is your community all about?</a:t>
                      </a:r>
                      <a:endParaRPr lang="en-US" sz="700" dirty="0"/>
                    </a:p>
                  </a:txBody>
                  <a:tcPr marL="9524" marR="9524" marT="80772" marB="0"/>
                </a:tc>
                <a:extLst>
                  <a:ext uri="{0D108BD9-81ED-4DB2-BD59-A6C34878D82A}">
                    <a16:rowId xmlns:a16="http://schemas.microsoft.com/office/drawing/2014/main" val="3697406555"/>
                  </a:ext>
                </a:extLst>
              </a:tr>
              <a:tr h="1141365">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endParaRPr lang="en-US"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FUN AT WORK DAY</a:t>
                      </a:r>
                    </a:p>
                    <a:p>
                      <a:pPr marL="63500" lvl="0" algn="ctr">
                        <a:spcBef>
                          <a:spcPts val="310"/>
                        </a:spcBef>
                        <a:spcAft>
                          <a:spcPts val="0"/>
                        </a:spcAft>
                        <a:buNone/>
                      </a:pPr>
                      <a:r>
                        <a:rPr lang="en-US" sz="700" b="0" i="0" u="none" strike="noStrike" spc="0" noProof="0" dirty="0">
                          <a:solidFill>
                            <a:schemeClr val="bg1"/>
                          </a:solidFill>
                          <a:effectLst/>
                        </a:rPr>
                        <a:t>While you may not be staffed on Sundays, that doesn't mean you can't show your social a little love (</a:t>
                      </a:r>
                      <a:r>
                        <a:rPr lang="en-US" sz="700" b="0" i="0" u="none" strike="noStrike" spc="0" noProof="0" dirty="0" err="1">
                          <a:solidFill>
                            <a:schemeClr val="bg1"/>
                          </a:solidFill>
                          <a:effectLst/>
                        </a:rPr>
                        <a:t>SOCi</a:t>
                      </a:r>
                      <a:r>
                        <a:rPr lang="en-US" sz="700" b="0" i="0" u="none" strike="noStrike" spc="0" noProof="0" dirty="0">
                          <a:solidFill>
                            <a:schemeClr val="bg1"/>
                          </a:solidFill>
                          <a:effectLst/>
                        </a:rPr>
                        <a:t> scheduler)! Create a Reel or carousel of photos showing all the fun your team has while working at Anytime Fitness!</a:t>
                      </a:r>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29</a:t>
                      </a:r>
                      <a:endParaRPr lang="en-US" sz="1200" b="0" i="0" u="none" strike="noStrike" noProof="0" dirty="0">
                        <a:solidFill>
                          <a:schemeClr val="bg1"/>
                        </a:solidFill>
                        <a:effectLst/>
                        <a:latin typeface="+mn-lt"/>
                      </a:endParaRPr>
                    </a:p>
                    <a:p>
                      <a:pPr marL="63500" lvl="0" algn="ctr">
                        <a:spcBef>
                          <a:spcPts val="310"/>
                        </a:spcBef>
                        <a:spcAft>
                          <a:spcPts val="0"/>
                        </a:spcAft>
                        <a:buNone/>
                      </a:pPr>
                      <a:r>
                        <a:rPr lang="en-US" sz="600" b="0" i="0" u="none" strike="noStrike" noProof="0" dirty="0">
                          <a:solidFill>
                            <a:schemeClr val="bg1"/>
                          </a:solidFill>
                          <a:latin typeface="Century Gothic"/>
                        </a:rPr>
                        <a:t>GYM INTERIOR/AMENTITIES </a:t>
                      </a:r>
                      <a:endParaRPr lang="en-US" sz="600" b="0" i="0" u="none" strike="noStrike" noProof="0" dirty="0">
                        <a:solidFill>
                          <a:srgbClr val="2D2926"/>
                        </a:solidFill>
                        <a:latin typeface="Century Gothic"/>
                      </a:endParaRPr>
                    </a:p>
                    <a:p>
                      <a:pPr marL="63500" lvl="0" algn="ctr">
                        <a:spcBef>
                          <a:spcPts val="310"/>
                        </a:spcBef>
                        <a:spcAft>
                          <a:spcPts val="0"/>
                        </a:spcAft>
                        <a:buNone/>
                      </a:pPr>
                      <a:r>
                        <a:rPr lang="en-US" sz="700" b="0" i="0" u="none" strike="noStrike" noProof="0" dirty="0">
                          <a:solidFill>
                            <a:schemeClr val="bg1"/>
                          </a:solidFill>
                          <a:latin typeface="Century Gothic"/>
                        </a:rPr>
                        <a:t>Many followers may be curious as to what amenities your gym offers and what sort of equipment is available. Snap a pic of your gym’s interior for followers. </a:t>
                      </a:r>
                      <a:endParaRPr lang="en-US" sz="700" dirty="0"/>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30</a:t>
                      </a:r>
                      <a:endParaRPr lang="en-US" dirty="0">
                        <a:solidFill>
                          <a:schemeClr val="bg1"/>
                        </a:solidFill>
                      </a:endParaRPr>
                    </a:p>
                    <a:p>
                      <a:pPr marL="63500" lvl="0" algn="ctr">
                        <a:spcBef>
                          <a:spcPts val="310"/>
                        </a:spcBef>
                        <a:spcAft>
                          <a:spcPts val="0"/>
                        </a:spcAft>
                        <a:buNone/>
                      </a:pPr>
                      <a:r>
                        <a:rPr lang="en-US" sz="600" b="0" i="0" u="none" strike="noStrike" noProof="0" dirty="0">
                          <a:solidFill>
                            <a:srgbClr val="2D2926"/>
                          </a:solidFill>
                          <a:effectLst/>
                          <a:latin typeface="Century Gothic"/>
                        </a:rPr>
                        <a:t>WHAT AF MEANS TO YOU</a:t>
                      </a:r>
                      <a:endParaRPr lang="en-US" dirty="0"/>
                    </a:p>
                    <a:p>
                      <a:pPr marL="63500" lvl="0" algn="ctr">
                        <a:spcBef>
                          <a:spcPts val="310"/>
                        </a:spcBef>
                        <a:spcAft>
                          <a:spcPts val="0"/>
                        </a:spcAft>
                        <a:buNone/>
                      </a:pPr>
                      <a:r>
                        <a:rPr lang="en-US" sz="700" b="0" i="0" u="none" strike="noStrike" noProof="0" dirty="0">
                          <a:solidFill>
                            <a:srgbClr val="2D2926"/>
                          </a:solidFill>
                          <a:effectLst/>
                          <a:latin typeface="Century Gothic"/>
                        </a:rPr>
                        <a:t>Ask members or staff to share what AF means to them! Why should a new member join? What makes AF different from other gyms? Film this during hours you are in the gym and schedule it ahead of time on </a:t>
                      </a:r>
                      <a:r>
                        <a:rPr lang="en-US" sz="700" b="0" i="0" u="none" strike="noStrike" noProof="0" dirty="0" err="1">
                          <a:solidFill>
                            <a:srgbClr val="2D2926"/>
                          </a:solidFill>
                          <a:effectLst/>
                          <a:latin typeface="Century Gothic"/>
                        </a:rPr>
                        <a:t>SOCi</a:t>
                      </a:r>
                      <a:r>
                        <a:rPr lang="en-US" sz="700" b="0" i="0" u="none" strike="noStrike" noProof="0" dirty="0">
                          <a:solidFill>
                            <a:srgbClr val="2D2926"/>
                          </a:solidFill>
                          <a:effectLst/>
                          <a:latin typeface="Century Gothic"/>
                        </a:rPr>
                        <a:t>.</a:t>
                      </a:r>
                      <a:endParaRPr lang="en-US" sz="70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31 </a:t>
                      </a:r>
                      <a:br>
                        <a:rPr lang="en-US" sz="600" b="0" i="0" u="none" strike="noStrike" spc="0" noProof="0" dirty="0">
                          <a:solidFill>
                            <a:srgbClr val="2D2926"/>
                          </a:solidFill>
                          <a:effectLst/>
                          <a:latin typeface="Century Gothic"/>
                        </a:rPr>
                      </a:br>
                      <a:r>
                        <a:rPr lang="en-US" sz="600" b="0" i="0" u="none" strike="noStrike" spc="0" noProof="0" dirty="0">
                          <a:solidFill>
                            <a:srgbClr val="2D2926"/>
                          </a:solidFill>
                          <a:effectLst/>
                        </a:rPr>
                        <a:t>STRETCH IT OUT</a:t>
                      </a:r>
                    </a:p>
                    <a:p>
                      <a:pPr marL="63500" lvl="0" algn="ctr">
                        <a:spcBef>
                          <a:spcPts val="310"/>
                        </a:spcBef>
                        <a:spcAft>
                          <a:spcPts val="0"/>
                        </a:spcAft>
                        <a:buNone/>
                      </a:pPr>
                      <a:r>
                        <a:rPr lang="en-US" sz="700" b="0" i="0" u="none" strike="noStrike" spc="0" noProof="0" dirty="0">
                          <a:solidFill>
                            <a:srgbClr val="2D2926"/>
                          </a:solidFill>
                          <a:effectLst/>
                        </a:rPr>
                        <a:t>Do you stretch before or after your workout? What are the benefits of stretching? What stretches should I be doing? Share the answers to these questions in a FB/IG LIVE or Reel.</a:t>
                      </a: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extLst>
                  <a:ext uri="{0D108BD9-81ED-4DB2-BD59-A6C34878D82A}">
                    <a16:rowId xmlns:a16="http://schemas.microsoft.com/office/drawing/2014/main" val="4071831031"/>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4" ma:contentTypeDescription="Create a new document." ma:contentTypeScope="" ma:versionID="a8e705c6c9031e1baca0d31f8f36d22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5abefe54e5205c5bf847d84bb4e88f0a"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SharedWithUsers>
  </documentManagement>
</p:properties>
</file>

<file path=customXml/itemProps1.xml><?xml version="1.0" encoding="utf-8"?>
<ds:datastoreItem xmlns:ds="http://schemas.openxmlformats.org/officeDocument/2006/customXml" ds:itemID="{62EB0555-0561-4776-B575-9238C0125C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19a7e-a60c-4a1f-b4fd-44452cf97621"/>
    <ds:schemaRef ds:uri="9464be75-fc0f-4c74-b7a9-67e6b6b30f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3.xml><?xml version="1.0" encoding="utf-8"?>
<ds:datastoreItem xmlns:ds="http://schemas.openxmlformats.org/officeDocument/2006/customXml" ds:itemID="{9AA2B1DA-A2C5-489C-A46E-FC3EAF2F3ADB}">
  <ds:schemaRef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purl.org/dc/terms/"/>
    <ds:schemaRef ds:uri="47019a7e-a60c-4a1f-b4fd-44452cf97621"/>
    <ds:schemaRef ds:uri="http://purl.org/dc/dcmitype/"/>
    <ds:schemaRef ds:uri="http://schemas.openxmlformats.org/package/2006/metadata/core-properties"/>
    <ds:schemaRef ds:uri="9464be75-fc0f-4c74-b7a9-67e6b6b30f78"/>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Bar Method Template</Template>
  <TotalTime>10389</TotalTime>
  <Words>1356</Words>
  <Application>Microsoft Macintosh PowerPoint</Application>
  <PresentationFormat>Widescreen</PresentationFormat>
  <Paragraphs>99</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840</cp:revision>
  <dcterms:created xsi:type="dcterms:W3CDTF">2021-11-18T14:52:15Z</dcterms:created>
  <dcterms:modified xsi:type="dcterms:W3CDTF">2023-12-15T17:17:02Z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