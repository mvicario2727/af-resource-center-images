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4126"/>
    <p:restoredTop sz="97735"/>
  </p:normalViewPr>
  <p:slideViewPr>
    <p:cSldViewPr snapToGrid="0">
      <p:cViewPr>
        <p:scale>
          <a:sx n="215" d="100"/>
          <a:sy n="215" d="100"/>
        </p:scale>
        <p:origin x="1616" y="152"/>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2/12/24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2/12/24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72548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70BA31-47BF-48E8-B9A3-29FECAA7F110}" type="slidenum">
              <a:rPr lang="en-US" smtClean="0"/>
              <a:pPr/>
              <a:t>1</a:t>
            </a:fld>
            <a:endParaRPr lang="en-US"/>
          </a:p>
        </p:txBody>
      </p:sp>
    </p:spTree>
    <p:extLst>
      <p:ext uri="{BB962C8B-B14F-4D97-AF65-F5344CB8AC3E}">
        <p14:creationId xmlns:p14="http://schemas.microsoft.com/office/powerpoint/2010/main" val="31265387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2/12/24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2/12/24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2/12/24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2/12/24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2/12/24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2/12/24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2/12/24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2/12/24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2/12/24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2/12/24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2/12/24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2/12/24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2/12/24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2/12/24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2/12/24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2/12/24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2/12/24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2/12/24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2/12/24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2/12/24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2/12/24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2/12/24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2/12/24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2/12/24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2/12/24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2/12/24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2/12/24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2/12/24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2/12/24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2/12/24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2/12/24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2/12/24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2/12/24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2" Type="http://schemas.openxmlformats.org/officeDocument/2006/relationships/notesSlide" Target="../notesSlides/notesSlide1.xml"/><Relationship Id="rId1" Type="http://schemas.openxmlformats.org/officeDocument/2006/relationships/slideLayout" Target="../slideLayouts/slideLayout54.xml"/><Relationship Id="rId5"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gDTEV3MJ7DiJf_FdC%2FUXdFclR5VWlPcEFzRGZHaEprTHpYY1ZiTm1Rd0VyVHlV2LA9uTVrH740o2WmdAfS%3Ffrom%3D7pHm5ftGWpVu3vKOC7HKX6orEJ_pyj2qKDz7PncHl_hHAy-cqnZUGqnr-Hhfo46d3AxiZZv37U0jKZn25QyPwGaIy3hnIv7omdaBsqc6R25wTwUKn3T0v0oSVKVfcZOgrMzWyAYW2HQqzhgqikK5yoQv_4L_REgAUWYQ4C_Xh69CjIvG545Hrw%253D%253D" TargetMode="External"/><Relationship Id="rId4" Type="http://schemas.openxmlformats.org/officeDocument/2006/relationships/hyperlink" Target="https://www.anytimefitness.com/cc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1212429884"/>
              </p:ext>
            </p:extLst>
          </p:nvPr>
        </p:nvGraphicFramePr>
        <p:xfrm>
          <a:off x="0" y="0"/>
          <a:ext cx="12191999" cy="6858001"/>
        </p:xfrm>
        <a:graphic>
          <a:graphicData uri="http://schemas.openxmlformats.org/drawingml/2006/table">
            <a:tbl>
              <a:tblPr firstRow="1" bandRow="1">
                <a:tableStyleId>{5202B0CA-FC54-4496-8BCA-5EF66A818D29}</a:tableStyleId>
              </a:tblPr>
              <a:tblGrid>
                <a:gridCol w="1908591">
                  <a:extLst>
                    <a:ext uri="{9D8B030D-6E8A-4147-A177-3AD203B41FA5}">
                      <a16:colId xmlns:a16="http://schemas.microsoft.com/office/drawing/2014/main" val="2484229546"/>
                    </a:ext>
                  </a:extLst>
                </a:gridCol>
                <a:gridCol w="1658939">
                  <a:extLst>
                    <a:ext uri="{9D8B030D-6E8A-4147-A177-3AD203B41FA5}">
                      <a16:colId xmlns:a16="http://schemas.microsoft.com/office/drawing/2014/main" val="439348342"/>
                    </a:ext>
                  </a:extLst>
                </a:gridCol>
                <a:gridCol w="1689300">
                  <a:extLst>
                    <a:ext uri="{9D8B030D-6E8A-4147-A177-3AD203B41FA5}">
                      <a16:colId xmlns:a16="http://schemas.microsoft.com/office/drawing/2014/main" val="1072895275"/>
                    </a:ext>
                  </a:extLst>
                </a:gridCol>
                <a:gridCol w="1815515">
                  <a:extLst>
                    <a:ext uri="{9D8B030D-6E8A-4147-A177-3AD203B41FA5}">
                      <a16:colId xmlns:a16="http://schemas.microsoft.com/office/drawing/2014/main" val="2787662688"/>
                    </a:ext>
                  </a:extLst>
                </a:gridCol>
                <a:gridCol w="1719250">
                  <a:extLst>
                    <a:ext uri="{9D8B030D-6E8A-4147-A177-3AD203B41FA5}">
                      <a16:colId xmlns:a16="http://schemas.microsoft.com/office/drawing/2014/main" val="1952576077"/>
                    </a:ext>
                  </a:extLst>
                </a:gridCol>
                <a:gridCol w="1843662">
                  <a:extLst>
                    <a:ext uri="{9D8B030D-6E8A-4147-A177-3AD203B41FA5}">
                      <a16:colId xmlns:a16="http://schemas.microsoft.com/office/drawing/2014/main" val="1911801536"/>
                    </a:ext>
                  </a:extLst>
                </a:gridCol>
                <a:gridCol w="1556742">
                  <a:extLst>
                    <a:ext uri="{9D8B030D-6E8A-4147-A177-3AD203B41FA5}">
                      <a16:colId xmlns:a16="http://schemas.microsoft.com/office/drawing/2014/main" val="1683208684"/>
                    </a:ext>
                  </a:extLst>
                </a:gridCol>
              </a:tblGrid>
              <a:tr h="601706">
                <a:tc gridSpan="7">
                  <a:txBody>
                    <a:bodyPr/>
                    <a:lstStyle/>
                    <a:p>
                      <a:pPr marL="0" rtl="0" fontAlgn="t" latinLnBrk="0">
                        <a:lnSpc>
                          <a:spcPct val="100000"/>
                        </a:lnSpc>
                        <a:spcBef>
                          <a:spcPts val="0"/>
                        </a:spcBef>
                        <a:spcAft>
                          <a:spcPts val="0"/>
                        </a:spcAft>
                      </a:pPr>
                      <a:r>
                        <a:rPr lang="en-US" sz="3800" spc="0" dirty="0">
                          <a:effectLst/>
                        </a:rPr>
                        <a:t>MARCH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204581">
                <a:tc>
                  <a:txBody>
                    <a:bodyPr/>
                    <a:lstStyle/>
                    <a:p>
                      <a:pPr marL="0" marR="8890" algn="ctr" rtl="0" fontAlgn="t" latinLnBrk="0">
                        <a:spcBef>
                          <a:spcPts val="0"/>
                        </a:spcBef>
                        <a:spcAft>
                          <a:spcPts val="0"/>
                        </a:spcAft>
                      </a:pPr>
                      <a:r>
                        <a:rPr lang="en-US" sz="800" spc="0" dirty="0">
                          <a:effectLst/>
                        </a:rPr>
                        <a:t>SUNDAY</a:t>
                      </a:r>
                      <a:endParaRPr lang="en-US" sz="800" dirty="0">
                        <a:effectLst/>
                      </a:endParaRPr>
                    </a:p>
                  </a:txBody>
                  <a:tcPr marL="9525" marR="9525" marT="33147" marB="0"/>
                </a:tc>
                <a:tc>
                  <a:txBody>
                    <a:bodyPr/>
                    <a:lstStyle/>
                    <a:p>
                      <a:pPr marL="54610" algn="ctr" rtl="0" fontAlgn="t" latinLnBrk="0">
                        <a:spcBef>
                          <a:spcPts val="0"/>
                        </a:spcBef>
                        <a:spcAft>
                          <a:spcPts val="0"/>
                        </a:spcAft>
                      </a:pPr>
                      <a:r>
                        <a:rPr lang="en-US" sz="800" spc="0" dirty="0">
                          <a:effectLst/>
                        </a:rPr>
                        <a:t>MONDAY</a:t>
                      </a:r>
                      <a:endParaRPr lang="en-US" sz="800" dirty="0">
                        <a:effectLst/>
                      </a:endParaRPr>
                    </a:p>
                  </a:txBody>
                  <a:tcPr marL="9525" marR="9525" marT="33147" marB="0"/>
                </a:tc>
                <a:tc>
                  <a:txBody>
                    <a:bodyPr/>
                    <a:lstStyle/>
                    <a:p>
                      <a:pPr marL="27305" algn="ctr" rtl="0" fontAlgn="t" latinLnBrk="0">
                        <a:spcBef>
                          <a:spcPts val="0"/>
                        </a:spcBef>
                        <a:spcAft>
                          <a:spcPts val="0"/>
                        </a:spcAft>
                      </a:pPr>
                      <a:r>
                        <a:rPr lang="en-US" sz="800" spc="0" dirty="0">
                          <a:effectLst/>
                        </a:rPr>
                        <a:t>TUESDAY</a:t>
                      </a:r>
                      <a:endParaRPr lang="en-US" sz="800" dirty="0">
                        <a:effectLst/>
                      </a:endParaRPr>
                    </a:p>
                  </a:txBody>
                  <a:tcPr marL="9525" marR="9525" marT="33147" marB="0"/>
                </a:tc>
                <a:tc>
                  <a:txBody>
                    <a:bodyPr/>
                    <a:lstStyle/>
                    <a:p>
                      <a:pPr marL="8890" algn="ctr" rtl="0" fontAlgn="t" latinLnBrk="0">
                        <a:spcBef>
                          <a:spcPts val="0"/>
                        </a:spcBef>
                        <a:spcAft>
                          <a:spcPts val="0"/>
                        </a:spcAft>
                      </a:pPr>
                      <a:r>
                        <a:rPr lang="en-US" sz="800" spc="0">
                          <a:effectLst/>
                        </a:rPr>
                        <a:t>WEDNESDAY</a:t>
                      </a:r>
                      <a:endParaRPr lang="en-US" sz="800">
                        <a:effectLst/>
                      </a:endParaRPr>
                    </a:p>
                  </a:txBody>
                  <a:tcPr marL="9525" marR="9525" marT="33147" marB="0"/>
                </a:tc>
                <a:tc>
                  <a:txBody>
                    <a:bodyPr/>
                    <a:lstStyle/>
                    <a:p>
                      <a:pPr marL="0" algn="ctr" rtl="0" fontAlgn="t" latinLnBrk="0">
                        <a:spcBef>
                          <a:spcPts val="0"/>
                        </a:spcBef>
                        <a:spcAft>
                          <a:spcPts val="0"/>
                        </a:spcAft>
                      </a:pPr>
                      <a:r>
                        <a:rPr lang="en-US" sz="800" spc="0" dirty="0">
                          <a:effectLst/>
                        </a:rPr>
                        <a:t>THURSDAY</a:t>
                      </a:r>
                      <a:endParaRPr lang="en-US" sz="800" dirty="0">
                        <a:effectLst/>
                      </a:endParaRPr>
                    </a:p>
                  </a:txBody>
                  <a:tcPr marL="9525" marR="9525" marT="33147" marB="0"/>
                </a:tc>
                <a:tc>
                  <a:txBody>
                    <a:bodyPr/>
                    <a:lstStyle/>
                    <a:p>
                      <a:pPr marL="17780" algn="ctr" rtl="0" fontAlgn="t" latinLnBrk="0">
                        <a:spcBef>
                          <a:spcPts val="0"/>
                        </a:spcBef>
                        <a:spcAft>
                          <a:spcPts val="0"/>
                        </a:spcAft>
                      </a:pPr>
                      <a:r>
                        <a:rPr lang="en-US" sz="800" spc="0" dirty="0">
                          <a:effectLst/>
                        </a:rPr>
                        <a:t>FRIDAY</a:t>
                      </a:r>
                      <a:endParaRPr lang="en-US" sz="800" dirty="0">
                        <a:effectLst/>
                      </a:endParaRPr>
                    </a:p>
                  </a:txBody>
                  <a:tcPr marL="9525" marR="9525" marT="33147" marB="0"/>
                </a:tc>
                <a:tc>
                  <a:txBody>
                    <a:bodyPr/>
                    <a:lstStyle/>
                    <a:p>
                      <a:pPr marL="36195" algn="ctr" rtl="0" fontAlgn="t" latinLnBrk="0">
                        <a:spcBef>
                          <a:spcPts val="0"/>
                        </a:spcBef>
                        <a:spcAft>
                          <a:spcPts val="0"/>
                        </a:spcAft>
                      </a:pPr>
                      <a:r>
                        <a:rPr lang="en-US" sz="800" spc="0" dirty="0">
                          <a:effectLst/>
                        </a:rPr>
                        <a:t>SATURDAY</a:t>
                      </a:r>
                      <a:endParaRPr lang="en-US" sz="800" dirty="0">
                        <a:effectLst/>
                      </a:endParaRPr>
                    </a:p>
                  </a:txBody>
                  <a:tcPr marL="9525" marR="9525" marT="33147" marB="0"/>
                </a:tc>
                <a:extLst>
                  <a:ext uri="{0D108BD9-81ED-4DB2-BD59-A6C34878D82A}">
                    <a16:rowId xmlns:a16="http://schemas.microsoft.com/office/drawing/2014/main" val="3509082617"/>
                  </a:ext>
                </a:extLst>
              </a:tr>
              <a:tr h="847677">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a:t>
                      </a:r>
                      <a:endParaRPr lang="en-US" dirty="0"/>
                    </a:p>
                    <a:p>
                      <a:pPr marL="63500" lvl="0" algn="ctr">
                        <a:spcBef>
                          <a:spcPts val="310"/>
                        </a:spcBef>
                        <a:spcAft>
                          <a:spcPts val="0"/>
                        </a:spcAft>
                        <a:buNone/>
                      </a:pPr>
                      <a:r>
                        <a:rPr lang="en-US" sz="600" b="0" i="0" u="none" strike="noStrike" spc="0" noProof="0" dirty="0">
                          <a:solidFill>
                            <a:schemeClr val="bg1"/>
                          </a:solidFill>
                          <a:effectLst/>
                        </a:rPr>
                        <a:t>NATIONAL EMPLOYEE APPRECIATION DAY</a:t>
                      </a:r>
                    </a:p>
                    <a:p>
                      <a:pPr marL="63500" lvl="0" algn="ctr">
                        <a:spcBef>
                          <a:spcPts val="310"/>
                        </a:spcBef>
                        <a:spcAft>
                          <a:spcPts val="0"/>
                        </a:spcAft>
                        <a:buNone/>
                      </a:pPr>
                      <a:r>
                        <a:rPr lang="en-US" sz="600" b="0" i="0" u="none" strike="noStrike" spc="0" noProof="0" dirty="0">
                          <a:solidFill>
                            <a:schemeClr val="bg1"/>
                          </a:solidFill>
                          <a:effectLst/>
                        </a:rPr>
                        <a:t>To our fabulous managers, coaches, staff, and all those who help make the gym run smoothly for our #</a:t>
                      </a:r>
                      <a:r>
                        <a:rPr lang="en-US" sz="600" b="0" i="0" u="none" strike="noStrike" spc="0" noProof="0" dirty="0" err="1">
                          <a:solidFill>
                            <a:schemeClr val="bg1"/>
                          </a:solidFill>
                          <a:effectLst/>
                        </a:rPr>
                        <a:t>AFfam</a:t>
                      </a:r>
                      <a:r>
                        <a:rPr lang="en-US" sz="600" b="0" i="0" u="none" strike="noStrike" spc="0" noProof="0" dirty="0">
                          <a:solidFill>
                            <a:schemeClr val="bg1"/>
                          </a:solidFill>
                          <a:effectLst/>
                        </a:rPr>
                        <a:t> – we THANK YOU! Share a little love for your team with a post.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endParaRPr lang="en-US" dirty="0">
                        <a:solidFill>
                          <a:schemeClr val="bg1"/>
                        </a:solidFill>
                      </a:endParaRPr>
                    </a:p>
                    <a:p>
                      <a:pPr lvl="0" algn="ctr">
                        <a:lnSpc>
                          <a:spcPct val="150000"/>
                        </a:lnSpc>
                        <a:spcBef>
                          <a:spcPts val="0"/>
                        </a:spcBef>
                        <a:spcAft>
                          <a:spcPts val="0"/>
                        </a:spcAft>
                        <a:buNone/>
                      </a:pPr>
                      <a:r>
                        <a:rPr lang="en-US" sz="600" b="0" i="0" u="none" strike="noStrike" noProof="0" dirty="0">
                          <a:solidFill>
                            <a:schemeClr val="bg1"/>
                          </a:solidFill>
                          <a:latin typeface="Century Gothic"/>
                        </a:rPr>
                        <a:t>NATIONAL NUTRITION MONTH</a:t>
                      </a:r>
                    </a:p>
                    <a:p>
                      <a:pPr lvl="0" algn="ctr">
                        <a:lnSpc>
                          <a:spcPct val="100000"/>
                        </a:lnSpc>
                        <a:spcBef>
                          <a:spcPts val="0"/>
                        </a:spcBef>
                        <a:spcAft>
                          <a:spcPts val="0"/>
                        </a:spcAft>
                        <a:buNone/>
                      </a:pPr>
                      <a:r>
                        <a:rPr lang="en-US" sz="600" b="0" i="0" u="none" strike="noStrike" noProof="0" dirty="0">
                          <a:solidFill>
                            <a:schemeClr val="bg1"/>
                          </a:solidFill>
                          <a:latin typeface="Century Gothic"/>
                        </a:rPr>
                        <a:t>It's National Nutrition Month! Looking for tips to share? Check out @</a:t>
                      </a:r>
                      <a:r>
                        <a:rPr lang="en-US" sz="600" b="0" i="0" u="none" strike="noStrike" noProof="0" dirty="0" err="1">
                          <a:solidFill>
                            <a:schemeClr val="bg1"/>
                          </a:solidFill>
                          <a:latin typeface="Century Gothic"/>
                        </a:rPr>
                        <a:t>StrongerU</a:t>
                      </a:r>
                      <a:br>
                        <a:rPr lang="en-US" sz="600" b="0" i="0" u="none" strike="noStrike" noProof="0" dirty="0">
                          <a:solidFill>
                            <a:schemeClr val="bg1"/>
                          </a:solidFill>
                          <a:latin typeface="Century Gothic"/>
                        </a:rPr>
                      </a:br>
                      <a:r>
                        <a:rPr lang="en-US" sz="600" b="0" i="0" u="none" strike="noStrike" noProof="0" dirty="0">
                          <a:solidFill>
                            <a:schemeClr val="bg1"/>
                          </a:solidFill>
                          <a:latin typeface="Century Gothic"/>
                        </a:rPr>
                        <a:t>on Instagram or use a </a:t>
                      </a:r>
                      <a:r>
                        <a:rPr lang="en-US" sz="600" b="0" i="0" u="none" strike="noStrike" noProof="0" dirty="0" err="1">
                          <a:solidFill>
                            <a:schemeClr val="bg1"/>
                          </a:solidFill>
                          <a:latin typeface="Century Gothic"/>
                        </a:rPr>
                        <a:t>Coach.Care.Connect</a:t>
                      </a:r>
                      <a:r>
                        <a:rPr lang="en-US" sz="600" b="0" i="0" u="none" strike="noStrike" noProof="0" dirty="0">
                          <a:solidFill>
                            <a:schemeClr val="bg1"/>
                          </a:solidFill>
                          <a:latin typeface="Century Gothic"/>
                        </a:rPr>
                        <a:t> recipe!</a:t>
                      </a:r>
                    </a:p>
                  </a:txBody>
                  <a:tcPr marL="9525" marR="9525" marT="80772" marB="0"/>
                </a:tc>
                <a:extLst>
                  <a:ext uri="{0D108BD9-81ED-4DB2-BD59-A6C34878D82A}">
                    <a16:rowId xmlns:a16="http://schemas.microsoft.com/office/drawing/2014/main" val="4289451183"/>
                  </a:ext>
                </a:extLst>
              </a:tr>
              <a:tr h="1114947">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MACHINE SPOTLIGHT</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Take us through the basics using a machine in your gym! Schedule this Reel ahead of time to be published through </a:t>
                      </a:r>
                      <a:r>
                        <a:rPr lang="en-US" sz="600" b="0" i="0" u="none" strike="noStrike" spc="0" noProof="0" dirty="0" err="1">
                          <a:solidFill>
                            <a:schemeClr val="bg1"/>
                          </a:solidFill>
                          <a:effectLst/>
                        </a:rPr>
                        <a:t>SOCi</a:t>
                      </a:r>
                      <a:r>
                        <a:rPr lang="en-US" sz="600" b="0" i="0" u="none" strike="noStrike" spc="0" noProof="0" dirty="0">
                          <a:solidFill>
                            <a:schemeClr val="bg1"/>
                          </a:solidFill>
                          <a:effectLst/>
                        </a:rPr>
                        <a:t>.</a:t>
                      </a:r>
                      <a:endParaRPr lang="en-US" dirty="0"/>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dirty="0"/>
                    </a:p>
                    <a:p>
                      <a:pPr marL="63500" lvl="0" algn="ctr">
                        <a:spcBef>
                          <a:spcPts val="310"/>
                        </a:spcBef>
                        <a:spcAft>
                          <a:spcPts val="0"/>
                        </a:spcAft>
                        <a:buNone/>
                      </a:pPr>
                      <a:r>
                        <a:rPr lang="en-US" sz="600" b="0" i="0" u="none" strike="noStrike" spc="0" noProof="0" dirty="0">
                          <a:solidFill>
                            <a:schemeClr val="bg1"/>
                          </a:solidFill>
                          <a:effectLst/>
                        </a:rPr>
                        <a:t>WORLD OBESITY DAY</a:t>
                      </a:r>
                    </a:p>
                    <a:p>
                      <a:pPr marL="63500" lvl="0" algn="ctr">
                        <a:spcBef>
                          <a:spcPts val="310"/>
                        </a:spcBef>
                        <a:spcAft>
                          <a:spcPts val="0"/>
                        </a:spcAft>
                        <a:buNone/>
                      </a:pPr>
                      <a:r>
                        <a:rPr lang="en-US" sz="600" b="0" i="0" u="none" strike="noStrike" spc="0" noProof="0" dirty="0">
                          <a:solidFill>
                            <a:schemeClr val="bg1"/>
                          </a:solidFill>
                          <a:effectLst/>
                        </a:rPr>
                        <a:t>It’s expected that by 2035, 25% of us will be living with obesity. Get your body moving, whether its in or outside the gym to battle against obesity. Share a tip for how to stay motivated on your journey or share health tips (e.g. nutrition habits, ways to increase movement in your day.</a:t>
                      </a: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endParaRPr lang="en-US" dirty="0"/>
                    </a:p>
                    <a:p>
                      <a:pPr marL="63500" lvl="0" algn="ctr">
                        <a:spcBef>
                          <a:spcPts val="310"/>
                        </a:spcBef>
                        <a:spcAft>
                          <a:spcPts val="0"/>
                        </a:spcAft>
                        <a:buNone/>
                      </a:pPr>
                      <a:r>
                        <a:rPr lang="en-US" sz="600" b="0" spc="0" dirty="0">
                          <a:solidFill>
                            <a:schemeClr val="bg1"/>
                          </a:solidFill>
                          <a:effectLst/>
                        </a:rPr>
                        <a:t>#TRENDING</a:t>
                      </a:r>
                      <a:endParaRPr lang="en-US" dirty="0"/>
                    </a:p>
                    <a:p>
                      <a:pPr marL="63500" lvl="0" algn="ctr">
                        <a:spcBef>
                          <a:spcPts val="310"/>
                        </a:spcBef>
                        <a:spcAft>
                          <a:spcPts val="0"/>
                        </a:spcAft>
                        <a:buNone/>
                      </a:pPr>
                      <a:r>
                        <a:rPr lang="en-US" sz="600" b="0" spc="0" dirty="0">
                          <a:solidFill>
                            <a:schemeClr val="bg1"/>
                          </a:solidFill>
                          <a:effectLst/>
                        </a:rPr>
                        <a:t>Use a trending sound from the March Calendar franchise notice to give your algorithm a boost. Interacting and creating content using Instagram's Reels is a great way to show the algorithm you like to participate in what's popular on the app. </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dirty="0"/>
                    </a:p>
                    <a:p>
                      <a:pPr lvl="0" algn="ctr">
                        <a:lnSpc>
                          <a:spcPct val="150000"/>
                        </a:lnSpc>
                        <a:spcBef>
                          <a:spcPts val="0"/>
                        </a:spcBef>
                        <a:spcAft>
                          <a:spcPts val="0"/>
                        </a:spcAft>
                        <a:buNone/>
                      </a:pPr>
                      <a:r>
                        <a:rPr lang="en-US" sz="600" b="0" i="0" u="none" strike="noStrike" spc="0" noProof="0" dirty="0">
                          <a:solidFill>
                            <a:schemeClr val="bg1"/>
                          </a:solidFill>
                          <a:effectLst/>
                        </a:rPr>
                        <a:t>WEIGHTLOSS STRIVERS</a:t>
                      </a:r>
                      <a:endParaRPr lang="en-US" dirty="0"/>
                    </a:p>
                    <a:p>
                      <a:pPr lvl="0" algn="ctr">
                        <a:lnSpc>
                          <a:spcPct val="100000"/>
                        </a:lnSpc>
                        <a:spcBef>
                          <a:spcPts val="0"/>
                        </a:spcBef>
                        <a:spcAft>
                          <a:spcPts val="0"/>
                        </a:spcAft>
                        <a:buNone/>
                      </a:pPr>
                      <a:r>
                        <a:rPr lang="en-US" sz="600" b="0" i="0" u="none" strike="noStrike" spc="0" noProof="0" dirty="0">
                          <a:solidFill>
                            <a:schemeClr val="bg1"/>
                          </a:solidFill>
                          <a:effectLst/>
                        </a:rPr>
                        <a:t>A top question we receive in the AF App is, ”How can I lose fat in XYZ area." Catchy headlines can grab weight loss strivers’ attention for a "get thin fast" solution. Educate members on things like nutrition and accountability as they go through their journey. (Remind your followers that it’s a marathon, not a sprint!)</a:t>
                      </a:r>
                      <a:endParaRPr lang="en-US" dirty="0"/>
                    </a:p>
                  </a:txBody>
                  <a:tcPr marL="9525" marR="9525" marT="80772" marB="0"/>
                </a:tc>
                <a:tc>
                  <a:txBody>
                    <a:bodyPr/>
                    <a:lstStyle/>
                    <a:p>
                      <a:pPr marL="0" lvl="0" algn="ctr" rtl="0">
                        <a:lnSpc>
                          <a:spcPct val="100000"/>
                        </a:lnSpc>
                        <a:spcBef>
                          <a:spcPts val="0"/>
                        </a:spcBef>
                        <a:spcAft>
                          <a:spcPts val="0"/>
                        </a:spcAft>
                        <a:buNone/>
                      </a:pPr>
                      <a:r>
                        <a:rPr lang="en-US" sz="600" spc="0" dirty="0">
                          <a:solidFill>
                            <a:schemeClr val="bg1"/>
                          </a:solidFill>
                          <a:effectLst/>
                        </a:rPr>
                        <a:t>7</a:t>
                      </a:r>
                      <a:endParaRPr lang="en-US" dirty="0">
                        <a:solidFill>
                          <a:schemeClr val="bg1"/>
                        </a:solidFill>
                      </a:endParaRPr>
                    </a:p>
                    <a:p>
                      <a:pPr marL="63500" lvl="0" algn="ctr">
                        <a:spcBef>
                          <a:spcPts val="310"/>
                        </a:spcBef>
                        <a:spcAft>
                          <a:spcPts val="0"/>
                        </a:spcAft>
                        <a:buNone/>
                      </a:pPr>
                      <a:r>
                        <a:rPr lang="en-US" sz="600" b="0" i="0" u="none" strike="noStrike" noProof="0" dirty="0">
                          <a:solidFill>
                            <a:schemeClr val="bg1"/>
                          </a:solidFill>
                        </a:rPr>
                        <a:t>AF APP</a:t>
                      </a:r>
                      <a:endParaRPr lang="en-US" sz="600" b="0" i="0" u="none" strike="noStrike" noProof="0" dirty="0">
                        <a:solidFill>
                          <a:srgbClr val="000000"/>
                        </a:solidFill>
                      </a:endParaRPr>
                    </a:p>
                    <a:p>
                      <a:pPr marL="63500" lvl="0" algn="ctr">
                        <a:spcBef>
                          <a:spcPts val="310"/>
                        </a:spcBef>
                        <a:spcAft>
                          <a:spcPts val="0"/>
                        </a:spcAft>
                        <a:buNone/>
                      </a:pPr>
                      <a:r>
                        <a:rPr lang="en-US" sz="600" b="0" i="0" u="none" strike="noStrike" noProof="0" dirty="0">
                          <a:solidFill>
                            <a:schemeClr val="bg1"/>
                          </a:solidFill>
                        </a:rPr>
                        <a:t>Share how integrating the AF App can help members have a plan when they aren't sure where to start, or how it helps you connect with others seeking advice and information on wellness and nutrition. Don't forget to mention that AF Access Pass is available to help make getting to the gym even easier!</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INTERNATIONAL WOMEN'S DAY</a:t>
                      </a:r>
                      <a:endParaRPr lang="en-US" dirty="0"/>
                    </a:p>
                    <a:p>
                      <a:pPr marL="63500" lvl="0" algn="ctr">
                        <a:spcBef>
                          <a:spcPts val="310"/>
                        </a:spcBef>
                        <a:spcAft>
                          <a:spcPts val="0"/>
                        </a:spcAft>
                        <a:buNone/>
                      </a:pPr>
                      <a:r>
                        <a:rPr lang="en-US" sz="600" b="0" i="0" u="none" strike="noStrike" spc="0" noProof="0" dirty="0">
                          <a:solidFill>
                            <a:schemeClr val="bg1"/>
                          </a:solidFill>
                          <a:effectLst/>
                        </a:rPr>
                        <a:t>Let's hear it for the tough AF women who help make the gym the wonderful place it is! From your staff to your members, showcase women crushing it in the gym and their goals!</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p>
                    <a:p>
                      <a:pPr marL="63500" lvl="0" algn="ctr">
                        <a:spcBef>
                          <a:spcPts val="310"/>
                        </a:spcBef>
                        <a:spcAft>
                          <a:spcPts val="0"/>
                        </a:spcAft>
                        <a:buNone/>
                      </a:pPr>
                      <a:r>
                        <a:rPr lang="en-US" sz="600" b="0" i="0" u="none" strike="noStrike" spc="0" noProof="0" dirty="0">
                          <a:solidFill>
                            <a:srgbClr val="2D2926"/>
                          </a:solidFill>
                          <a:effectLst/>
                          <a:latin typeface="Century Gothic"/>
                        </a:rPr>
                        <a:t>ACTIVE RECOVERY IDEAS</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Weekends can be busy for many people, including you!</a:t>
                      </a:r>
                    </a:p>
                    <a:p>
                      <a:pPr marL="63500" lvl="0" algn="ctr">
                        <a:spcBef>
                          <a:spcPts val="310"/>
                        </a:spcBef>
                        <a:spcAft>
                          <a:spcPts val="0"/>
                        </a:spcAft>
                        <a:buNone/>
                      </a:pPr>
                      <a:r>
                        <a:rPr lang="en-US" sz="600" b="0" i="0" u="none" strike="noStrike" spc="0" noProof="0" dirty="0">
                          <a:solidFill>
                            <a:srgbClr val="2D2926"/>
                          </a:solidFill>
                          <a:effectLst/>
                          <a:latin typeface="Century Gothic"/>
                        </a:rPr>
                        <a:t>Take a moment to highlight opportunities for rest day!</a:t>
                      </a:r>
                    </a:p>
                  </a:txBody>
                  <a:tcPr marL="9525" marR="9525" marT="80772" marB="0"/>
                </a:tc>
                <a:extLst>
                  <a:ext uri="{0D108BD9-81ED-4DB2-BD59-A6C34878D82A}">
                    <a16:rowId xmlns:a16="http://schemas.microsoft.com/office/drawing/2014/main" val="3005291295"/>
                  </a:ext>
                </a:extLst>
              </a:tr>
              <a:tr h="1138420">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dirty="0">
                        <a:solidFill>
                          <a:srgbClr val="000000"/>
                        </a:solidFill>
                        <a:effectLst/>
                        <a:latin typeface="Century Gothic"/>
                      </a:endParaRPr>
                    </a:p>
                    <a:p>
                      <a:pPr marL="63500" marR="0" lvl="0" indent="0" algn="ctr">
                        <a:spcBef>
                          <a:spcPts val="310"/>
                        </a:spcBef>
                        <a:spcAft>
                          <a:spcPts val="0"/>
                        </a:spcAft>
                        <a:buNone/>
                      </a:pPr>
                      <a:r>
                        <a:rPr lang="en-US" sz="600" b="0" i="0" u="none" strike="noStrike" spc="0" noProof="0" dirty="0">
                          <a:solidFill>
                            <a:srgbClr val="2D2926"/>
                          </a:solidFill>
                          <a:effectLst/>
                          <a:latin typeface="Century Gothic"/>
                        </a:rPr>
                        <a:t>DAYLIGHT SAVINGS</a:t>
                      </a:r>
                    </a:p>
                    <a:p>
                      <a:pPr marL="63500" marR="0" lvl="0" indent="0" algn="ctr">
                        <a:spcBef>
                          <a:spcPts val="310"/>
                        </a:spcBef>
                        <a:spcAft>
                          <a:spcPts val="0"/>
                        </a:spcAft>
                        <a:buNone/>
                      </a:pPr>
                      <a:r>
                        <a:rPr lang="en-US" sz="600" b="0" i="0" u="none" strike="noStrike" spc="0" noProof="0" dirty="0">
                          <a:solidFill>
                            <a:srgbClr val="2D2926"/>
                          </a:solidFill>
                          <a:effectLst/>
                          <a:latin typeface="Century Gothic"/>
                        </a:rPr>
                        <a:t>Spring forward!</a:t>
                      </a:r>
                    </a:p>
                    <a:p>
                      <a:pPr marL="63500" marR="0" lvl="0" indent="0" algn="ctr">
                        <a:spcBef>
                          <a:spcPts val="310"/>
                        </a:spcBef>
                        <a:spcAft>
                          <a:spcPts val="0"/>
                        </a:spcAft>
                        <a:buNone/>
                      </a:pPr>
                      <a:r>
                        <a:rPr lang="en-US" sz="600" b="0" i="0" u="none" strike="noStrike" spc="0" noProof="0" dirty="0">
                          <a:solidFill>
                            <a:srgbClr val="2D2926"/>
                          </a:solidFill>
                          <a:effectLst/>
                          <a:latin typeface="Century Gothic"/>
                        </a:rPr>
                        <a:t>Post a reminder about the time change</a:t>
                      </a:r>
                      <a:br>
                        <a:rPr lang="en-US" sz="600" b="0" i="0" u="none" strike="noStrike" spc="0" noProof="0" dirty="0">
                          <a:solidFill>
                            <a:srgbClr val="2D2926"/>
                          </a:solidFill>
                          <a:effectLst/>
                          <a:latin typeface="Century Gothic"/>
                        </a:rPr>
                      </a:br>
                      <a:r>
                        <a:rPr lang="en-US" sz="600" b="0" i="0" u="none" strike="noStrike" spc="0" noProof="0" dirty="0">
                          <a:solidFill>
                            <a:srgbClr val="2D2926"/>
                          </a:solidFill>
                          <a:effectLst/>
                          <a:latin typeface="Century Gothic"/>
                        </a:rPr>
                        <a:t>or share tips on how to adjust.</a:t>
                      </a:r>
                    </a:p>
                  </a:txBody>
                  <a:tcPr marL="9525" marR="9525" marT="80772" marB="0"/>
                </a:tc>
                <a:tc>
                  <a:txBody>
                    <a:bodyPr/>
                    <a:lstStyle/>
                    <a:p>
                      <a:pPr marL="63500" lvl="0" algn="ctr" rtl="0">
                        <a:spcBef>
                          <a:spcPts val="310"/>
                        </a:spcBef>
                        <a:spcAft>
                          <a:spcPts val="0"/>
                        </a:spcAft>
                        <a:buNone/>
                      </a:pPr>
                      <a:r>
                        <a:rPr lang="en-US" sz="600" u="none" spc="0" dirty="0">
                          <a:solidFill>
                            <a:schemeClr val="bg1"/>
                          </a:solidFill>
                          <a:effectLst/>
                        </a:rPr>
                        <a:t>11</a:t>
                      </a:r>
                      <a:endParaRPr lang="en-US" u="none" dirty="0"/>
                    </a:p>
                    <a:p>
                      <a:pPr marL="63500" lvl="0" algn="ctr">
                        <a:spcBef>
                          <a:spcPts val="310"/>
                        </a:spcBef>
                        <a:spcAft>
                          <a:spcPts val="0"/>
                        </a:spcAft>
                        <a:buNone/>
                      </a:pPr>
                      <a:r>
                        <a:rPr lang="en-US" sz="600" b="0" i="0" u="none" strike="noStrike" spc="0" noProof="0" dirty="0">
                          <a:solidFill>
                            <a:schemeClr val="bg1"/>
                          </a:solidFill>
                          <a:effectLst/>
                        </a:rPr>
                        <a:t>SLEEP TIGHT</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Rest or work out: what's more important? Should you skip the gym after a late night out? What about too much sleep? Share insights on how your sleep cycle can affect your performance in the gym and your health overall.</a:t>
                      </a:r>
                      <a:br>
                        <a:rPr lang="en-US" sz="600" b="0" i="0" u="none" strike="noStrike" spc="0" noProof="0" dirty="0">
                          <a:solidFill>
                            <a:schemeClr val="bg1"/>
                          </a:solidFill>
                          <a:effectLst/>
                        </a:rPr>
                      </a:br>
                      <a:r>
                        <a:rPr lang="en-US" sz="600" b="0" i="0" u="none" strike="noStrike" spc="0" noProof="0" dirty="0">
                          <a:solidFill>
                            <a:schemeClr val="bg1"/>
                          </a:solidFill>
                          <a:effectLst/>
                        </a:rPr>
                        <a:t>P.S. It's National Nap Day!</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12</a:t>
                      </a:r>
                      <a:endParaRPr lang="en-US" sz="600" spc="0" dirty="0">
                        <a:solidFill>
                          <a:srgbClr val="2D2926"/>
                        </a:solidFill>
                        <a:effectLst/>
                      </a:endParaRPr>
                    </a:p>
                    <a:p>
                      <a:pPr marL="63500" lvl="0" algn="ctr" rtl="0">
                        <a:spcBef>
                          <a:spcPts val="310"/>
                        </a:spcBef>
                        <a:spcAft>
                          <a:spcPts val="0"/>
                        </a:spcAft>
                        <a:buNone/>
                      </a:pPr>
                      <a:r>
                        <a:rPr lang="en-US" sz="600" b="0" i="0" u="none" strike="noStrike" spc="0" noProof="0" dirty="0">
                          <a:solidFill>
                            <a:srgbClr val="2D2926"/>
                          </a:solidFill>
                          <a:effectLst/>
                        </a:rPr>
                        <a:t>MEAL PREP INSPO</a:t>
                      </a:r>
                    </a:p>
                    <a:p>
                      <a:pPr marL="63500" lvl="0" algn="ctr" rtl="0">
                        <a:spcBef>
                          <a:spcPts val="310"/>
                        </a:spcBef>
                        <a:spcAft>
                          <a:spcPts val="0"/>
                        </a:spcAft>
                        <a:buNone/>
                      </a:pPr>
                      <a:r>
                        <a:rPr lang="en-US" sz="600" b="0" i="0" u="none" strike="noStrike" spc="0" noProof="0" dirty="0">
                          <a:solidFill>
                            <a:srgbClr val="2D2926"/>
                          </a:solidFill>
                          <a:effectLst/>
                        </a:rPr>
                        <a:t>What's something you've been cooking lately? Share a recipe from </a:t>
                      </a:r>
                      <a:r>
                        <a:rPr lang="en-US" sz="600" b="0" i="0" u="none" strike="noStrike" spc="0" noProof="0" dirty="0" err="1">
                          <a:solidFill>
                            <a:srgbClr val="2D2926"/>
                          </a:solidFill>
                          <a:effectLst/>
                        </a:rPr>
                        <a:t>Coach.Care.Connect</a:t>
                      </a:r>
                      <a:r>
                        <a:rPr lang="en-US" sz="600" b="0" i="0" u="none" strike="noStrike" spc="0" noProof="0" dirty="0">
                          <a:solidFill>
                            <a:srgbClr val="2D2926"/>
                          </a:solidFill>
                          <a:effectLst/>
                        </a:rPr>
                        <a:t> or from your personal life you've been using by creating a Reel or snapping a pic of the finished product. Add the recipe in the caption!</a:t>
                      </a:r>
                      <a:endParaRPr lang="en-US" sz="600" spc="0" dirty="0">
                        <a:solidFill>
                          <a:schemeClr val="bg1"/>
                        </a:solidFill>
                        <a:effectLst/>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dirty="0"/>
                    </a:p>
                    <a:p>
                      <a:pPr marL="63500" lvl="0" algn="ctr">
                        <a:spcBef>
                          <a:spcPts val="310"/>
                        </a:spcBef>
                        <a:spcAft>
                          <a:spcPts val="0"/>
                        </a:spcAft>
                        <a:buNone/>
                      </a:pPr>
                      <a:r>
                        <a:rPr lang="en-US" sz="600" b="0" i="0" u="none" strike="noStrike" spc="0" noProof="0" dirty="0">
                          <a:solidFill>
                            <a:schemeClr val="bg1"/>
                          </a:solidFill>
                          <a:effectLst/>
                        </a:rPr>
                        <a:t>MYTH BUSTERS</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Help dispel a popular fitness-industry myth. Need ideas? Check out the</a:t>
                      </a:r>
                      <a:br>
                        <a:rPr lang="en-US" sz="600" b="0" i="0" u="none" strike="noStrike" spc="0" noProof="0" dirty="0">
                          <a:solidFill>
                            <a:schemeClr val="bg1"/>
                          </a:solidFill>
                          <a:effectLst/>
                        </a:rPr>
                      </a:br>
                      <a:r>
                        <a:rPr lang="en-US" sz="600" b="0" i="0" u="none" strike="noStrike" spc="0" noProof="0" dirty="0">
                          <a:solidFill>
                            <a:schemeClr val="bg1"/>
                          </a:solidFill>
                          <a:effectLst/>
                        </a:rPr>
                        <a:t>Community tab in the AF App to see what questions are being asked. </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dirty="0">
                        <a:solidFill>
                          <a:schemeClr val="bg1"/>
                        </a:solidFill>
                      </a:endParaRPr>
                    </a:p>
                    <a:p>
                      <a:pPr marL="63500" lvl="0" algn="ctr">
                        <a:spcBef>
                          <a:spcPts val="310"/>
                        </a:spcBef>
                        <a:spcAft>
                          <a:spcPts val="0"/>
                        </a:spcAft>
                        <a:buNone/>
                      </a:pPr>
                      <a:r>
                        <a:rPr lang="en-US" sz="600" b="0" i="0" u="none" strike="noStrike" noProof="0" dirty="0">
                          <a:solidFill>
                            <a:schemeClr val="bg1"/>
                          </a:solidFill>
                          <a:latin typeface="Century Gothic"/>
                        </a:rPr>
                        <a:t>STRENGTH MOVEMENT</a:t>
                      </a:r>
                      <a:endParaRPr lang="en-US" sz="600" b="0" i="0" u="none" strike="noStrike" noProof="0" dirty="0">
                        <a:solidFill>
                          <a:srgbClr val="000000"/>
                        </a:solidFill>
                        <a:latin typeface="Century Gothic"/>
                      </a:endParaRPr>
                    </a:p>
                    <a:p>
                      <a:pPr marL="63500" lvl="0" algn="ctr">
                        <a:spcBef>
                          <a:spcPts val="310"/>
                        </a:spcBef>
                        <a:spcAft>
                          <a:spcPts val="0"/>
                        </a:spcAft>
                        <a:buNone/>
                      </a:pPr>
                      <a:r>
                        <a:rPr lang="en-US" sz="600" b="0" i="0" u="none" strike="noStrike" noProof="0" dirty="0">
                          <a:solidFill>
                            <a:schemeClr val="bg1"/>
                          </a:solidFill>
                          <a:latin typeface="Century Gothic"/>
                        </a:rPr>
                        <a:t>Show off a strength movement and its progression for those who are looking to up a certain aspect of their workout regimen. Tip: poll your followers on Instagram Stories to find out what they want to know.</a:t>
                      </a:r>
                      <a:endParaRPr lang="en-US" sz="600" b="0" i="0" u="none" strike="noStrike" noProof="0" dirty="0">
                        <a:solidFill>
                          <a:srgbClr val="000000"/>
                        </a:solidFill>
                        <a:latin typeface="Century Gothic"/>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15</a:t>
                      </a:r>
                      <a:endParaRPr lang="en-US" dirty="0"/>
                    </a:p>
                    <a:p>
                      <a:pPr marL="63500" lvl="0" algn="ctr">
                        <a:spcBef>
                          <a:spcPts val="310"/>
                        </a:spcBef>
                        <a:spcAft>
                          <a:spcPts val="0"/>
                        </a:spcAft>
                        <a:buNone/>
                      </a:pPr>
                      <a:r>
                        <a:rPr lang="en-US" sz="600" b="0" i="0" u="none" strike="noStrike" spc="0" noProof="0" dirty="0">
                          <a:solidFill>
                            <a:srgbClr val="2D2926"/>
                          </a:solidFill>
                          <a:effectLst/>
                        </a:rPr>
                        <a:t>WE'VE GOT YOUR BACK</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rgbClr val="2D2926"/>
                          </a:solidFill>
                          <a:effectLst/>
                        </a:rPr>
                        <a:t>How does your club support its members? From training options to even just being able to connect with friendly faces in the gym, what is your community all about? </a:t>
                      </a:r>
                      <a:endParaRPr lang="en-US"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1200" b="0" i="0" u="none" strike="noStrike" spc="0" noProof="0" dirty="0">
                        <a:solidFill>
                          <a:schemeClr val="bg1"/>
                        </a:solidFill>
                        <a:effectLst/>
                      </a:endParaRPr>
                    </a:p>
                    <a:p>
                      <a:pPr marL="63500" lvl="0" algn="ctr">
                        <a:spcBef>
                          <a:spcPts val="310"/>
                        </a:spcBef>
                        <a:spcAft>
                          <a:spcPts val="0"/>
                        </a:spcAft>
                        <a:buNone/>
                      </a:pPr>
                      <a:r>
                        <a:rPr lang="en-US" sz="600" b="0" i="0" u="none" strike="noStrike" spc="0" noProof="0" dirty="0">
                          <a:solidFill>
                            <a:schemeClr val="bg1"/>
                          </a:solidFill>
                          <a:effectLst/>
                        </a:rPr>
                        <a:t>TRACKING YOUR WORKOUTS</a:t>
                      </a:r>
                    </a:p>
                    <a:p>
                      <a:pPr marL="63500" lvl="0" algn="ctr">
                        <a:spcBef>
                          <a:spcPts val="310"/>
                        </a:spcBef>
                        <a:spcAft>
                          <a:spcPts val="0"/>
                        </a:spcAft>
                        <a:buNone/>
                      </a:pPr>
                      <a:r>
                        <a:rPr lang="en-US" sz="600" b="0" i="0" u="none" strike="noStrike" spc="0" noProof="0" dirty="0">
                          <a:solidFill>
                            <a:schemeClr val="bg1"/>
                          </a:solidFill>
                          <a:effectLst/>
                          <a:latin typeface="Century Gothic"/>
                        </a:rPr>
                        <a:t>Why keep track? Are there benefits to tracking workouts and nutrition? Once I do track them, what should I do with the info? Share how to take your fitness journey to the next level with tracking.</a:t>
                      </a:r>
                      <a:endParaRPr lang="en-US" dirty="0"/>
                    </a:p>
                  </a:txBody>
                  <a:tcPr marL="9525" marR="9525" marT="80772" marB="0"/>
                </a:tc>
                <a:extLst>
                  <a:ext uri="{0D108BD9-81ED-4DB2-BD59-A6C34878D82A}">
                    <a16:rowId xmlns:a16="http://schemas.microsoft.com/office/drawing/2014/main" val="2870796117"/>
                  </a:ext>
                </a:extLst>
              </a:tr>
              <a:tr h="1120815">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ST. PATRICK'S DAY</a:t>
                      </a:r>
                    </a:p>
                    <a:p>
                      <a:pPr marL="63500" lvl="0" algn="ctr">
                        <a:spcBef>
                          <a:spcPts val="310"/>
                        </a:spcBef>
                        <a:spcAft>
                          <a:spcPts val="0"/>
                        </a:spcAft>
                        <a:buNone/>
                      </a:pPr>
                      <a:r>
                        <a:rPr lang="en-US" sz="600" b="0" i="0" u="none" strike="noStrike" spc="0" noProof="0" dirty="0">
                          <a:solidFill>
                            <a:schemeClr val="bg1"/>
                          </a:solidFill>
                          <a:effectLst/>
                          <a:latin typeface="Century Gothic"/>
                        </a:rPr>
                        <a:t>Happy St. Patrick's Day! Share a lucky workout or a picture from a local event in the area! Looking for ideas? Have members wear green and tag you in their Stories to repost.</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endParaRPr lang="en-US" sz="12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dirty="0">
                        <a:solidFill>
                          <a:srgbClr val="000000"/>
                        </a:solidFill>
                        <a:effectLst/>
                        <a:latin typeface="Century Gothic"/>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Use this </a:t>
                      </a:r>
                      <a:r>
                        <a:rPr lang="en-US" sz="600" b="0" i="0" u="none" strike="noStrike" spc="0" noProof="0" dirty="0">
                          <a:solidFill>
                            <a:srgbClr val="2D2926"/>
                          </a:solidFill>
                          <a:effectLst/>
                          <a:latin typeface="Century Gothic"/>
                          <a:hlinkClick r:id="rId3"/>
                        </a:rPr>
                        <a:t>template</a:t>
                      </a:r>
                      <a:r>
                        <a:rPr lang="en-US" sz="600" b="0" i="0" u="none" strike="noStrike" spc="0" noProof="0" dirty="0">
                          <a:solidFill>
                            <a:schemeClr val="bg1"/>
                          </a:solidFill>
                          <a:effectLst/>
                          <a:latin typeface="Century Gothic"/>
                        </a:rPr>
                        <a:t> from the BMC to create a brand-aligned Member Spotlight for Instagram! Use the pin feature to pin this member for the month / week they’re being celebrated.</a:t>
                      </a:r>
                      <a:endParaRPr lang="en-US" sz="600" b="0" i="0" u="none" strike="noStrike" spc="0" noProof="0" dirty="0">
                        <a:solidFill>
                          <a:srgbClr val="000000"/>
                        </a:solidFill>
                        <a:effectLst/>
                        <a:latin typeface="Century Gothic"/>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MARCH MADNESS BEGINS</a:t>
                      </a:r>
                    </a:p>
                    <a:p>
                      <a:pPr marL="63500" lvl="0" algn="ctr">
                        <a:spcBef>
                          <a:spcPts val="310"/>
                        </a:spcBef>
                        <a:spcAft>
                          <a:spcPts val="0"/>
                        </a:spcAft>
                        <a:buNone/>
                      </a:pPr>
                      <a:r>
                        <a:rPr lang="en-US" sz="600" b="0" i="0" u="none" strike="noStrike" spc="0" noProof="0" dirty="0">
                          <a:solidFill>
                            <a:schemeClr val="bg1"/>
                          </a:solidFill>
                          <a:effectLst/>
                          <a:latin typeface="Century Gothic"/>
                        </a:rPr>
                        <a:t>It's bracket season, baby! March Madness takes over to shine a light on Men's and Women's NCAA Basketball. Create a bracket or run a challenge among your #</a:t>
                      </a:r>
                      <a:r>
                        <a:rPr lang="en-US" sz="600" b="0" i="0" u="none" strike="noStrike" spc="0" noProof="0" dirty="0" err="1">
                          <a:solidFill>
                            <a:schemeClr val="bg1"/>
                          </a:solidFill>
                          <a:effectLst/>
                          <a:latin typeface="Century Gothic"/>
                        </a:rPr>
                        <a:t>AFfam</a:t>
                      </a:r>
                      <a:r>
                        <a:rPr lang="en-US" sz="600" b="0" i="0" u="none" strike="noStrike" spc="0" noProof="0" dirty="0">
                          <a:solidFill>
                            <a:schemeClr val="bg1"/>
                          </a:solidFill>
                          <a:effectLst/>
                          <a:latin typeface="Century Gothic"/>
                        </a:rPr>
                        <a:t>! Bracket ideas: favorite equipment, favorite lifts, muscle groups to work. Get creative! Think local.</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SPRING EQUINOX</a:t>
                      </a:r>
                    </a:p>
                    <a:p>
                      <a:pPr marL="63500" lvl="0" algn="ctr">
                        <a:spcBef>
                          <a:spcPts val="310"/>
                        </a:spcBef>
                        <a:spcAft>
                          <a:spcPts val="0"/>
                        </a:spcAft>
                        <a:buNone/>
                      </a:pPr>
                      <a:r>
                        <a:rPr lang="en-US" sz="600" b="0" i="0" u="none" strike="noStrike" spc="0" noProof="0" dirty="0">
                          <a:solidFill>
                            <a:schemeClr val="bg1"/>
                          </a:solidFill>
                          <a:effectLst/>
                          <a:latin typeface="Century Gothic"/>
                        </a:rPr>
                        <a:t>Spring is here and we’re ready for the rain, the shine. and the newness that blooms all around! Poll members on what their goals are for this spring by sharing a Story and using a  Questions sticker.</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1200" b="0" i="0" u="none" strike="noStrike" spc="0" noProof="0" dirty="0">
                        <a:solidFill>
                          <a:schemeClr val="dk1"/>
                        </a:solidFill>
                        <a:effectLst/>
                        <a:latin typeface="+mn-lt"/>
                      </a:endParaRPr>
                    </a:p>
                    <a:p>
                      <a:pPr marL="63500" lvl="0" algn="ctr">
                        <a:spcBef>
                          <a:spcPts val="310"/>
                        </a:spcBef>
                        <a:spcAft>
                          <a:spcPts val="0"/>
                        </a:spcAft>
                        <a:buNone/>
                      </a:pPr>
                      <a:r>
                        <a:rPr lang="en-US" sz="600" b="0" i="0" u="none" strike="noStrike" spc="0" noProof="0" dirty="0">
                          <a:solidFill>
                            <a:schemeClr val="bg1"/>
                          </a:solidFill>
                          <a:effectLst/>
                          <a:latin typeface="Century Gothic"/>
                        </a:rPr>
                        <a:t>FAQ!</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Create a quick video answering frequently asked questions by new members and pin it to the top of your IG feed to help potential members understand what it's like to be a part of the #</a:t>
                      </a:r>
                      <a:r>
                        <a:rPr lang="en-US" sz="600" b="0" i="0" u="none" strike="noStrike" spc="0" noProof="0" dirty="0" err="1">
                          <a:solidFill>
                            <a:schemeClr val="bg1"/>
                          </a:solidFill>
                          <a:effectLst/>
                          <a:latin typeface="Century Gothic"/>
                        </a:rPr>
                        <a:t>AFfam</a:t>
                      </a:r>
                      <a:r>
                        <a:rPr lang="en-US" sz="600" b="0" i="0" u="none" strike="noStrike" spc="0" noProof="0" dirty="0">
                          <a:solidFill>
                            <a:schemeClr val="bg1"/>
                          </a:solidFill>
                          <a:effectLst/>
                          <a:latin typeface="Century Gothic"/>
                        </a:rPr>
                        <a:t>!</a:t>
                      </a:r>
                      <a:endParaRPr lang="en-US"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22</a:t>
                      </a:r>
                      <a:endParaRPr lang="en-US" sz="1200" b="0" i="0" u="none" strike="noStrike" spc="0" noProof="0" dirty="0">
                        <a:solidFill>
                          <a:schemeClr val="bg1"/>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TRAINING SPOTLIGHT</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Share a training client who's been killing it on the purple turf with your team! Have them share a few words while you record about their experience and their favorite parts of training with a coach at AF!</a:t>
                      </a:r>
                      <a:endParaRPr lang="en-US" sz="600" b="0" i="0" u="none" strike="noStrike" spc="0" noProof="0" dirty="0">
                        <a:solidFill>
                          <a:srgbClr val="2D2926"/>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SNACKABLE COACHING</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rgbClr val="2D2926"/>
                          </a:solidFill>
                          <a:effectLst/>
                        </a:rPr>
                        <a:t>Create a Reel that provides a quick tip to help members and prospects learn how to safely and effectively work out! Use the caption sticker to make your Reel more accessible before posting.</a:t>
                      </a:r>
                      <a:endParaRPr lang="en-US" dirty="0"/>
                    </a:p>
                  </a:txBody>
                  <a:tcPr marL="9525" marR="9525" marT="80772" marB="0"/>
                </a:tc>
                <a:extLst>
                  <a:ext uri="{0D108BD9-81ED-4DB2-BD59-A6C34878D82A}">
                    <a16:rowId xmlns:a16="http://schemas.microsoft.com/office/drawing/2014/main" val="3697406555"/>
                  </a:ext>
                </a:extLst>
              </a:tr>
              <a:tr h="983535">
                <a:tc>
                  <a:txBody>
                    <a:bodyPr/>
                    <a:lstStyle/>
                    <a:p>
                      <a:pPr marL="63500" lvl="0" algn="ctr">
                        <a:spcBef>
                          <a:spcPts val="310"/>
                        </a:spcBef>
                        <a:spcAft>
                          <a:spcPts val="0"/>
                        </a:spcAft>
                        <a:buNone/>
                      </a:pPr>
                      <a:r>
                        <a:rPr lang="en-US" sz="600" b="0" i="0" u="none" strike="noStrike" noProof="0" dirty="0">
                          <a:solidFill>
                            <a:schemeClr val="bg1"/>
                          </a:solidFill>
                          <a:effectLst/>
                        </a:rPr>
                        <a:t>24</a:t>
                      </a:r>
                    </a:p>
                    <a:p>
                      <a:pPr marL="63500" lvl="0" algn="ctr">
                        <a:spcBef>
                          <a:spcPts val="310"/>
                        </a:spcBef>
                        <a:spcAft>
                          <a:spcPts val="0"/>
                        </a:spcAft>
                        <a:buNone/>
                      </a:pPr>
                      <a:r>
                        <a:rPr lang="en-US" sz="600" b="0" i="0" u="none" strike="noStrike" noProof="0" dirty="0">
                          <a:solidFill>
                            <a:schemeClr val="bg1"/>
                          </a:solidFill>
                          <a:effectLst/>
                        </a:rPr>
                        <a:t>MEAL PREP</a:t>
                      </a:r>
                    </a:p>
                    <a:p>
                      <a:pPr marL="63500" lvl="0" algn="ctr">
                        <a:spcBef>
                          <a:spcPts val="310"/>
                        </a:spcBef>
                        <a:spcAft>
                          <a:spcPts val="0"/>
                        </a:spcAft>
                        <a:buNone/>
                      </a:pPr>
                      <a:r>
                        <a:rPr lang="en-US" sz="600" b="0" i="0" u="none" strike="noStrike" noProof="0" dirty="0">
                          <a:solidFill>
                            <a:schemeClr val="bg1"/>
                          </a:solidFill>
                          <a:effectLst/>
                        </a:rPr>
                        <a:t>How can you make your week easier? Meal prep! Not a fan of the same thing over and over again? Share a versatile recipe, such as BYO grain bowls to help members understand</a:t>
                      </a:r>
                      <a:br>
                        <a:rPr lang="en-US" sz="600" b="0" i="0" u="none" strike="noStrike" noProof="0" dirty="0">
                          <a:solidFill>
                            <a:schemeClr val="bg1"/>
                          </a:solidFill>
                          <a:effectLst/>
                        </a:rPr>
                      </a:br>
                      <a:r>
                        <a:rPr lang="en-US" sz="600" b="0" i="0" u="none" strike="noStrike" noProof="0" dirty="0">
                          <a:solidFill>
                            <a:schemeClr val="bg1"/>
                          </a:solidFill>
                          <a:effectLst/>
                        </a:rPr>
                        <a:t>how to plus up their nutrition plan!</a:t>
                      </a: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dirty="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chemeClr val="bg1"/>
                          </a:solidFill>
                          <a:latin typeface="+mn-lt"/>
                        </a:rPr>
                        <a:t>STRENGTH MOVEMENT</a:t>
                      </a:r>
                      <a:endParaRPr lang="en-US" sz="600" b="0" i="0" u="none" strike="noStrike" noProof="0" dirty="0">
                        <a:solidFill>
                          <a:srgbClr val="000000"/>
                        </a:solidFill>
                        <a:latin typeface="+mn-lt"/>
                      </a:endParaRPr>
                    </a:p>
                    <a:p>
                      <a:pPr marL="63500" lvl="0" algn="ctr">
                        <a:spcBef>
                          <a:spcPts val="310"/>
                        </a:spcBef>
                        <a:spcAft>
                          <a:spcPts val="0"/>
                        </a:spcAft>
                        <a:buNone/>
                      </a:pPr>
                      <a:r>
                        <a:rPr lang="en-US" sz="600" b="0" i="0" u="none" strike="noStrike" noProof="0" dirty="0">
                          <a:solidFill>
                            <a:schemeClr val="bg1"/>
                          </a:solidFill>
                          <a:latin typeface="+mn-lt"/>
                        </a:rPr>
                        <a:t>Show off a strength movement and</a:t>
                      </a:r>
                      <a:br>
                        <a:rPr lang="en-US" sz="600" b="0" i="0" u="none" strike="noStrike" noProof="0" dirty="0">
                          <a:solidFill>
                            <a:schemeClr val="bg1"/>
                          </a:solidFill>
                          <a:latin typeface="+mn-lt"/>
                        </a:rPr>
                      </a:br>
                      <a:r>
                        <a:rPr lang="en-US" sz="600" b="0" i="0" u="none" strike="noStrike" noProof="0" dirty="0">
                          <a:solidFill>
                            <a:schemeClr val="bg1"/>
                          </a:solidFill>
                          <a:latin typeface="+mn-lt"/>
                        </a:rPr>
                        <a:t>its progression for those who are</a:t>
                      </a:r>
                      <a:br>
                        <a:rPr lang="en-US" sz="600" b="0" i="0" u="none" strike="noStrike" noProof="0" dirty="0">
                          <a:solidFill>
                            <a:schemeClr val="bg1"/>
                          </a:solidFill>
                          <a:latin typeface="+mn-lt"/>
                        </a:rPr>
                      </a:br>
                      <a:r>
                        <a:rPr lang="en-US" sz="600" b="0" i="0" u="none" strike="noStrike" noProof="0" dirty="0">
                          <a:solidFill>
                            <a:schemeClr val="bg1"/>
                          </a:solidFill>
                          <a:latin typeface="+mn-lt"/>
                        </a:rPr>
                        <a:t>looking to up a certain aspect of their workout regimen. Tip: poll your followers</a:t>
                      </a:r>
                      <a:br>
                        <a:rPr lang="en-US" sz="600" b="0" i="0" u="none" strike="noStrike" noProof="0" dirty="0">
                          <a:solidFill>
                            <a:schemeClr val="bg1"/>
                          </a:solidFill>
                          <a:latin typeface="+mn-lt"/>
                        </a:rPr>
                      </a:br>
                      <a:r>
                        <a:rPr lang="en-US" sz="600" b="0" i="0" u="none" strike="noStrike" noProof="0" dirty="0">
                          <a:solidFill>
                            <a:schemeClr val="bg1"/>
                          </a:solidFill>
                          <a:latin typeface="+mn-lt"/>
                        </a:rPr>
                        <a:t>on Instagram Stories to find out what</a:t>
                      </a:r>
                      <a:br>
                        <a:rPr lang="en-US" sz="600" b="0" i="0" u="none" strike="noStrike" noProof="0" dirty="0">
                          <a:solidFill>
                            <a:schemeClr val="bg1"/>
                          </a:solidFill>
                          <a:latin typeface="+mn-lt"/>
                        </a:rPr>
                      </a:br>
                      <a:r>
                        <a:rPr lang="en-US" sz="600" b="0" i="0" u="none" strike="noStrike" noProof="0" dirty="0">
                          <a:solidFill>
                            <a:schemeClr val="bg1"/>
                          </a:solidFill>
                          <a:latin typeface="+mn-lt"/>
                        </a:rPr>
                        <a:t>they want to know.</a:t>
                      </a:r>
                      <a:endParaRPr lang="en-US" sz="600" b="0" i="0" u="none" strike="noStrike" noProof="0" dirty="0">
                        <a:solidFill>
                          <a:srgbClr val="000000"/>
                        </a:solidFill>
                        <a:latin typeface="+mn-lt"/>
                      </a:endParaRP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dirty="0"/>
                    </a:p>
                    <a:p>
                      <a:pPr marL="63500" marR="0" lvl="0" indent="0" algn="ctr">
                        <a:spcBef>
                          <a:spcPts val="310"/>
                        </a:spcBef>
                        <a:spcAft>
                          <a:spcPts val="0"/>
                        </a:spcAft>
                        <a:buNone/>
                      </a:pPr>
                      <a:r>
                        <a:rPr lang="en-US" sz="600" b="0" i="0" u="none" strike="noStrike" spc="0" noProof="0" dirty="0">
                          <a:solidFill>
                            <a:srgbClr val="2D2926"/>
                          </a:solidFill>
                          <a:effectLst/>
                        </a:rPr>
                        <a:t>FAVORITE PRODUCT</a:t>
                      </a:r>
                      <a:endParaRPr lang="en-US" sz="600" b="0" i="0" u="none" strike="noStrike" spc="0" noProof="0" dirty="0">
                        <a:solidFill>
                          <a:srgbClr val="000000"/>
                        </a:solidFill>
                        <a:effectLst/>
                      </a:endParaRPr>
                    </a:p>
                    <a:p>
                      <a:pPr marL="63500" marR="0" lvl="0" indent="0" algn="ctr">
                        <a:spcBef>
                          <a:spcPts val="310"/>
                        </a:spcBef>
                        <a:spcAft>
                          <a:spcPts val="0"/>
                        </a:spcAft>
                        <a:buNone/>
                      </a:pPr>
                      <a:r>
                        <a:rPr lang="en-US" sz="600" b="0" i="0" u="none" strike="noStrike" spc="0" noProof="0" dirty="0">
                          <a:solidFill>
                            <a:srgbClr val="2D2926"/>
                          </a:solidFill>
                          <a:effectLst/>
                        </a:rPr>
                        <a:t>Showcase a fitness-related item you or one of your coaches enjoys using (e.g. show off your </a:t>
                      </a:r>
                      <a:r>
                        <a:rPr lang="en-US" sz="600" b="0" i="0" u="none" strike="noStrike" spc="0" noProof="0" dirty="0" err="1">
                          <a:solidFill>
                            <a:srgbClr val="2D2926"/>
                          </a:solidFill>
                          <a:effectLst/>
                        </a:rPr>
                        <a:t>Myzone</a:t>
                      </a:r>
                      <a:r>
                        <a:rPr lang="en-US" sz="600" b="0" i="0" u="none" strike="noStrike" spc="0" noProof="0" dirty="0">
                          <a:solidFill>
                            <a:srgbClr val="2D2926"/>
                          </a:solidFill>
                          <a:effectLst/>
                        </a:rPr>
                        <a:t>, any in-club retail or food and beverage options).</a:t>
                      </a:r>
                      <a:endParaRPr lang="en-US"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sz="1200" b="0" i="0" u="none" strike="noStrike" spc="0" noProof="0" dirty="0">
                        <a:solidFill>
                          <a:schemeClr val="bg1"/>
                        </a:solidFill>
                        <a:effectLst/>
                      </a:endParaRPr>
                    </a:p>
                    <a:p>
                      <a:pPr marL="63500" lvl="0" algn="ctr">
                        <a:spcBef>
                          <a:spcPts val="310"/>
                        </a:spcBef>
                        <a:spcAft>
                          <a:spcPts val="0"/>
                        </a:spcAft>
                        <a:buNone/>
                      </a:pPr>
                      <a:r>
                        <a:rPr lang="en-US" sz="600" b="0" i="0" u="none" strike="noStrike" spc="0" noProof="0" dirty="0">
                          <a:solidFill>
                            <a:schemeClr val="bg1"/>
                          </a:solidFill>
                          <a:effectLst/>
                        </a:rPr>
                        <a:t>PLUS-UP RECIPES</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The short winter days call for comfort food, but healthy food can't be tasty, right? WRONG! Share ways to make some all-time favorites more nutrient-dense or easy swaps for classics. See </a:t>
                      </a:r>
                      <a:r>
                        <a:rPr lang="en-US" sz="600" b="0" i="0" u="none" strike="noStrike" spc="0" noProof="0" dirty="0">
                          <a:solidFill>
                            <a:srgbClr val="2D2926"/>
                          </a:solidFill>
                          <a:effectLst/>
                          <a:hlinkClick r:id="rId4"/>
                        </a:rPr>
                        <a:t>Coach.Care.Connect.</a:t>
                      </a:r>
                      <a:r>
                        <a:rPr lang="en-US" sz="600" b="0" i="0" u="none" strike="noStrike" spc="0" noProof="0" dirty="0">
                          <a:solidFill>
                            <a:schemeClr val="bg1"/>
                          </a:solidFill>
                          <a:effectLst/>
                        </a:rPr>
                        <a:t> for ideas.  </a:t>
                      </a:r>
                      <a:endParaRPr lang="en-US"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sz="1200" b="0" i="0" u="none" strike="noStrike" spc="0" noProof="0" dirty="0">
                        <a:solidFill>
                          <a:schemeClr val="bg1"/>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OPENING DAY MAJOR LEAGUE BASEBALL</a:t>
                      </a:r>
                    </a:p>
                    <a:p>
                      <a:pPr marL="63500" lvl="0" algn="ctr">
                        <a:spcBef>
                          <a:spcPts val="310"/>
                        </a:spcBef>
                        <a:spcAft>
                          <a:spcPts val="0"/>
                        </a:spcAft>
                        <a:buNone/>
                      </a:pPr>
                      <a:r>
                        <a:rPr lang="en-US" sz="600" b="0" i="0" u="none" strike="noStrike" spc="0" noProof="0" dirty="0">
                          <a:solidFill>
                            <a:schemeClr val="bg1"/>
                          </a:solidFill>
                          <a:effectLst/>
                        </a:rPr>
                        <a:t>Hey batta, batta SWING! America's sport is back! Poll your audience by asking what their walk-up song would be or what team they want to win.</a:t>
                      </a: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endParaRPr lang="en-US" sz="1200" b="0" i="0" u="none" strike="noStrike" noProof="0" dirty="0">
                        <a:solidFill>
                          <a:schemeClr val="dk1"/>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rPr>
                        <a:t>FUTURE THINKING</a:t>
                      </a:r>
                    </a:p>
                    <a:p>
                      <a:pPr marL="63500" lvl="0" algn="ctr">
                        <a:spcBef>
                          <a:spcPts val="310"/>
                        </a:spcBef>
                        <a:spcAft>
                          <a:spcPts val="0"/>
                        </a:spcAft>
                        <a:buNone/>
                      </a:pPr>
                      <a:r>
                        <a:rPr lang="en-US" sz="600" b="0" i="0" u="none" strike="noStrike" noProof="0" dirty="0">
                          <a:solidFill>
                            <a:srgbClr val="2D2926"/>
                          </a:solidFill>
                        </a:rPr>
                        <a:t>If a member started their journey today, when would they see results? 3 days? One training session? More like 8 weeks down the line! Share the process, the commitment, and empower members to take that step to commit to themselves, and their future selves</a:t>
                      </a:r>
                      <a:r>
                        <a:rPr lang="en-US" sz="600" b="0" i="0" u="none" strike="noStrike" noProof="0" dirty="0">
                          <a:solidFill>
                            <a:schemeClr val="bg1"/>
                          </a:solidFill>
                          <a:latin typeface="Century Gothic"/>
                        </a:rPr>
                        <a:t>.</a:t>
                      </a:r>
                      <a:endParaRPr lang="en-US"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30</a:t>
                      </a:r>
                    </a:p>
                    <a:p>
                      <a:pPr marL="63500" lvl="0" algn="ctr">
                        <a:spcBef>
                          <a:spcPts val="310"/>
                        </a:spcBef>
                        <a:spcAft>
                          <a:spcPts val="0"/>
                        </a:spcAft>
                        <a:buNone/>
                      </a:pPr>
                      <a:r>
                        <a:rPr lang="en-US" sz="600" b="0" i="0" u="none" strike="noStrike" noProof="0" dirty="0">
                          <a:solidFill>
                            <a:srgbClr val="2D2926"/>
                          </a:solidFill>
                          <a:effectLst/>
                        </a:rPr>
                        <a:t>WEEKLY RESET</a:t>
                      </a:r>
                      <a:endParaRPr lang="en-US" sz="600" b="0" i="0" u="none" strike="noStrike" noProof="0" dirty="0">
                        <a:solidFill>
                          <a:srgbClr val="000000"/>
                        </a:solidFill>
                        <a:effectLst/>
                      </a:endParaRPr>
                    </a:p>
                    <a:p>
                      <a:pPr marL="63500" lvl="0" algn="ctr">
                        <a:spcBef>
                          <a:spcPts val="310"/>
                        </a:spcBef>
                        <a:spcAft>
                          <a:spcPts val="0"/>
                        </a:spcAft>
                        <a:buNone/>
                      </a:pPr>
                      <a:r>
                        <a:rPr lang="en-US" sz="600" b="0" i="0" u="none" strike="noStrike" noProof="0" dirty="0">
                          <a:solidFill>
                            <a:srgbClr val="2D2926"/>
                          </a:solidFill>
                          <a:effectLst/>
                        </a:rPr>
                        <a:t>Encourage followers to share how they prepare for the week. Tip: Create a Story to collect followers’ responses and use the </a:t>
                      </a:r>
                      <a:r>
                        <a:rPr lang="en-US" sz="600" b="0" i="0" u="none" strike="noStrike" noProof="0" dirty="0">
                          <a:solidFill>
                            <a:srgbClr val="2D2926"/>
                          </a:solidFill>
                          <a:effectLst/>
                          <a:hlinkClick r:id="rId5"/>
                        </a:rPr>
                        <a:t>customizable templates </a:t>
                      </a:r>
                      <a:r>
                        <a:rPr lang="en-US" sz="600" b="0" i="0" u="none" strike="noStrike" noProof="0" dirty="0">
                          <a:solidFill>
                            <a:srgbClr val="2D2926"/>
                          </a:solidFill>
                          <a:effectLst/>
                        </a:rPr>
                        <a:t>in the BMC to showcase these tips.</a:t>
                      </a:r>
                      <a:endParaRPr lang="en-US" sz="600" b="0" i="0" u="none" strike="noStrike" noProof="0" dirty="0">
                        <a:solidFill>
                          <a:srgbClr val="000000"/>
                        </a:solidFill>
                        <a:effectLst/>
                      </a:endParaRPr>
                    </a:p>
                  </a:txBody>
                  <a:tcPr marL="9524" marR="9524" marT="80772" marB="0"/>
                </a:tc>
                <a:extLst>
                  <a:ext uri="{0D108BD9-81ED-4DB2-BD59-A6C34878D82A}">
                    <a16:rowId xmlns:a16="http://schemas.microsoft.com/office/drawing/2014/main" val="4071831031"/>
                  </a:ext>
                </a:extLst>
              </a:tr>
              <a:tr h="846320">
                <a:tc>
                  <a:txBody>
                    <a:bodyPr/>
                    <a:lstStyle/>
                    <a:p>
                      <a:pPr marL="63500" lvl="0" algn="ctr">
                        <a:spcBef>
                          <a:spcPts val="310"/>
                        </a:spcBef>
                        <a:spcAft>
                          <a:spcPts val="0"/>
                        </a:spcAft>
                        <a:buNone/>
                      </a:pPr>
                      <a:r>
                        <a:rPr lang="en-US" sz="600" b="0" i="0" u="none" strike="noStrike" noProof="0" dirty="0">
                          <a:solidFill>
                            <a:schemeClr val="bg1"/>
                          </a:solidFill>
                          <a:effectLst/>
                        </a:rPr>
                        <a:t>30</a:t>
                      </a:r>
                      <a:endParaRPr lang="en-US" sz="600" b="0" i="0" u="none" strike="noStrike" noProof="0" dirty="0">
                        <a:solidFill>
                          <a:srgbClr val="000000"/>
                        </a:solidFill>
                        <a:effectLst/>
                        <a:latin typeface="+mn-lt"/>
                      </a:endParaRPr>
                    </a:p>
                    <a:p>
                      <a:pPr marL="63500" lvl="0" algn="ctr">
                        <a:spcBef>
                          <a:spcPts val="310"/>
                        </a:spcBef>
                        <a:spcAft>
                          <a:spcPts val="0"/>
                        </a:spcAft>
                        <a:buNone/>
                      </a:pPr>
                      <a:r>
                        <a:rPr lang="en-US" sz="600" b="0" i="0" u="none" strike="noStrike" noProof="0" dirty="0">
                          <a:solidFill>
                            <a:srgbClr val="2D2926"/>
                          </a:solidFill>
                          <a:effectLst/>
                          <a:latin typeface="+mn-lt"/>
                        </a:rPr>
                        <a:t>STRETCH IT OUT</a:t>
                      </a:r>
                      <a:endParaRPr lang="en-US" sz="600" b="0" i="0" u="none" strike="noStrike" noProof="0" dirty="0">
                        <a:solidFill>
                          <a:srgbClr val="000000"/>
                        </a:solidFill>
                        <a:effectLst/>
                        <a:latin typeface="+mn-lt"/>
                      </a:endParaRPr>
                    </a:p>
                    <a:p>
                      <a:pPr marL="63500" lvl="0" algn="ctr">
                        <a:spcBef>
                          <a:spcPts val="310"/>
                        </a:spcBef>
                        <a:spcAft>
                          <a:spcPts val="0"/>
                        </a:spcAft>
                        <a:buNone/>
                      </a:pPr>
                      <a:r>
                        <a:rPr lang="en-US" sz="600" b="0" i="0" u="none" strike="noStrike" noProof="0" dirty="0">
                          <a:solidFill>
                            <a:srgbClr val="2D2926"/>
                          </a:solidFill>
                          <a:effectLst/>
                          <a:latin typeface="+mn-lt"/>
                        </a:rPr>
                        <a:t>Do you stretch before or after your workout? Is there any benefit to stretching? What stretches should I be doing? Share the answers to these questions in a FB/IG LIVE or Reel.</a:t>
                      </a:r>
                    </a:p>
                    <a:p>
                      <a:pPr marL="63500" lvl="0" algn="ctr">
                        <a:spcBef>
                          <a:spcPts val="310"/>
                        </a:spcBef>
                        <a:spcAft>
                          <a:spcPts val="0"/>
                        </a:spcAft>
                        <a:buNone/>
                      </a:pPr>
                      <a:endParaRPr lang="en-US" sz="600" dirty="0"/>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endParaRPr>
                    </a:p>
                  </a:txBody>
                  <a:tcPr marL="9524" marR="9524" marT="80772" marB="0"/>
                </a:tc>
                <a:tc>
                  <a:txBody>
                    <a:bodyPr/>
                    <a:lstStyle/>
                    <a:p>
                      <a:pPr marL="63500" marR="0" lvl="0" indent="0" algn="ctr">
                        <a:spcBef>
                          <a:spcPts val="310"/>
                        </a:spcBef>
                        <a:spcAft>
                          <a:spcPts val="0"/>
                        </a:spcAft>
                        <a:buNone/>
                      </a:pPr>
                      <a:endParaRPr lang="en-US" sz="600" dirty="0"/>
                    </a:p>
                  </a:txBody>
                  <a:tcPr marL="9524" marR="9524" marT="80772" marB="0"/>
                </a:tc>
                <a:tc>
                  <a:txBody>
                    <a:bodyPr/>
                    <a:lstStyle/>
                    <a:p>
                      <a:pPr lvl="0" algn="ctr">
                        <a:buNone/>
                      </a:pPr>
                      <a:endParaRPr lang="en-US" sz="600" dirty="0"/>
                    </a:p>
                  </a:txBody>
                  <a:tcPr marL="9524" marR="9524" marT="80772" marB="0"/>
                </a:tc>
                <a:tc>
                  <a:txBody>
                    <a:bodyPr/>
                    <a:lstStyle/>
                    <a:p>
                      <a:pPr lvl="0" algn="ctr">
                        <a:buNone/>
                      </a:pPr>
                      <a:endParaRPr lang="en-US" sz="600" b="0" i="0" u="none" strike="noStrike" spc="0" noProof="0">
                        <a:solidFill>
                          <a:schemeClr val="bg1"/>
                        </a:solidFill>
                        <a:effectLst/>
                      </a:endParaRPr>
                    </a:p>
                  </a:txBody>
                  <a:tcPr marL="9524" marR="9524" marT="80772" marB="0"/>
                </a:tc>
                <a:tc>
                  <a:txBody>
                    <a:bodyPr/>
                    <a:lstStyle/>
                    <a:p>
                      <a:pPr lvl="0" algn="ctr">
                        <a:buNone/>
                      </a:pPr>
                      <a:endParaRPr lang="en-US" sz="600" dirty="0"/>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336580333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A2B1DA-A2C5-489C-A46E-FC3EAF2F3ADB}">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purl.org/dc/dcmitype/"/>
    <ds:schemaRef ds:uri="http://schemas.microsoft.com/office/2006/metadata/properties"/>
    <ds:schemaRef ds:uri="9464be75-fc0f-4c74-b7a9-67e6b6b30f78"/>
    <ds:schemaRef ds:uri="47019a7e-a60c-4a1f-b4fd-44452cf97621"/>
    <ds:schemaRef ds:uri="http://www.w3.org/XML/1998/namespace"/>
  </ds:schemaRefs>
</ds:datastoreItem>
</file>

<file path=customXml/itemProps2.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3.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Bar Method Template</Template>
  <TotalTime>2</TotalTime>
  <Words>1357</Words>
  <Application>Microsoft Macintosh PowerPoint</Application>
  <PresentationFormat>Widescreen</PresentationFormat>
  <Paragraphs>104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Debbie Pias</cp:lastModifiedBy>
  <cp:revision>3</cp:revision>
  <dcterms:created xsi:type="dcterms:W3CDTF">2021-11-18T14:52:15Z</dcterms:created>
  <dcterms:modified xsi:type="dcterms:W3CDTF">2024-02-12T22:26:19Z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