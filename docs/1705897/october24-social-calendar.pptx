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C97052-CCA6-49B0-AA09-A65277281CBA}">
          <p14:sldIdLst/>
        </p14:section>
        <p14:section name="Content" id="{10C81FA4-AB20-4F8C-AA98-C00990760090}">
          <p14:sldIdLst>
            <p14:sldId id="339"/>
          </p14:sldIdLst>
        </p14:section>
        <p14:section name="Closing" id="{B254CC29-6644-48FB-B435-9D56547BC196}">
          <p14:sldIdLst/>
        </p14:section>
      </p14:sectionLst>
    </p:ex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8086-3F0E-FF1D-E9D1-078C4F90C6D8}" name="Kenzi Boivin" initials="KB" userId="S::mackenzie.boivin@sebrands.com::8534dba6-d4b5-4e68-ba01-c4976388d9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DED1"/>
    <a:srgbClr val="FFFFFF"/>
    <a:srgbClr val="6E38D5"/>
    <a:srgbClr val="440099"/>
    <a:srgbClr val="FF7500"/>
    <a:srgbClr val="DAF4F0"/>
    <a:srgbClr val="B5E9E1"/>
    <a:srgbClr val="46C8B3"/>
    <a:srgbClr val="00C7B1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107E0-783F-8C0D-60FB-826F2E26ECD5}" v="154" dt="2024-09-12T22:08:48.232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675"/>
  </p:normalViewPr>
  <p:slideViewPr>
    <p:cSldViewPr snapToGrid="0">
      <p:cViewPr>
        <p:scale>
          <a:sx n="170" d="100"/>
          <a:sy n="170" d="100"/>
        </p:scale>
        <p:origin x="592" y="272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9/18/24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9/18/24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725488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70BA31-47BF-48E8-B9A3-29FECAA7F110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771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it.ly/BM-PPT" TargetMode="Externa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9/18/24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9/18/24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9/18/24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9/18/24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9/18/24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9/18/24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9/18/24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9/18/24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9/18/24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bg1"/>
                </a:solidFill>
              </a:rPr>
              <a:t> </a:t>
            </a:r>
            <a:endParaRPr lang="en-US" sz="900" i="1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9/18/24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9/18/24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</a:t>
            </a:r>
            <a:r>
              <a:rPr lang="en-US" sz="900"/>
              <a:t>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9/18/24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tx1"/>
                </a:solidFill>
              </a:rPr>
              <a:t>on 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9/18/24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9/18/24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9/18/24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9/18/24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7AC15C-8F66-B1FD-9A0C-8C6A6E8D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810548"/>
              </p:ext>
            </p:extLst>
          </p:nvPr>
        </p:nvGraphicFramePr>
        <p:xfrm>
          <a:off x="1" y="16982"/>
          <a:ext cx="12191999" cy="6808789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619999">
                  <a:extLst>
                    <a:ext uri="{9D8B030D-6E8A-4147-A177-3AD203B41FA5}">
                      <a16:colId xmlns:a16="http://schemas.microsoft.com/office/drawing/2014/main" val="2484229546"/>
                    </a:ext>
                  </a:extLst>
                </a:gridCol>
                <a:gridCol w="1584000">
                  <a:extLst>
                    <a:ext uri="{9D8B030D-6E8A-4147-A177-3AD203B41FA5}">
                      <a16:colId xmlns:a16="http://schemas.microsoft.com/office/drawing/2014/main" val="439348342"/>
                    </a:ext>
                  </a:extLst>
                </a:gridCol>
                <a:gridCol w="1807200">
                  <a:extLst>
                    <a:ext uri="{9D8B030D-6E8A-4147-A177-3AD203B41FA5}">
                      <a16:colId xmlns:a16="http://schemas.microsoft.com/office/drawing/2014/main" val="1072895275"/>
                    </a:ext>
                  </a:extLst>
                </a:gridCol>
                <a:gridCol w="1713210">
                  <a:extLst>
                    <a:ext uri="{9D8B030D-6E8A-4147-A177-3AD203B41FA5}">
                      <a16:colId xmlns:a16="http://schemas.microsoft.com/office/drawing/2014/main" val="2787662688"/>
                    </a:ext>
                  </a:extLst>
                </a:gridCol>
                <a:gridCol w="1829190">
                  <a:extLst>
                    <a:ext uri="{9D8B030D-6E8A-4147-A177-3AD203B41FA5}">
                      <a16:colId xmlns:a16="http://schemas.microsoft.com/office/drawing/2014/main" val="1952576077"/>
                    </a:ext>
                  </a:extLst>
                </a:gridCol>
                <a:gridCol w="1821601">
                  <a:extLst>
                    <a:ext uri="{9D8B030D-6E8A-4147-A177-3AD203B41FA5}">
                      <a16:colId xmlns:a16="http://schemas.microsoft.com/office/drawing/2014/main" val="1911801536"/>
                    </a:ext>
                  </a:extLst>
                </a:gridCol>
                <a:gridCol w="1816799">
                  <a:extLst>
                    <a:ext uri="{9D8B030D-6E8A-4147-A177-3AD203B41FA5}">
                      <a16:colId xmlns:a16="http://schemas.microsoft.com/office/drawing/2014/main" val="1683208684"/>
                    </a:ext>
                  </a:extLst>
                </a:gridCol>
              </a:tblGrid>
              <a:tr h="648623">
                <a:tc gridSpan="7">
                  <a:txBody>
                    <a:bodyPr/>
                    <a:lstStyle/>
                    <a:p>
                      <a:pPr marL="530225" lvl="0">
                        <a:lnSpc>
                          <a:spcPct val="100000"/>
                        </a:lnSpc>
                        <a:spcBef>
                          <a:spcPts val="22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spc="0" dirty="0">
                          <a:effectLst/>
                        </a:rPr>
                        <a:t>OCTOBER 2024</a:t>
                      </a:r>
                      <a:endParaRPr lang="en-US" dirty="0"/>
                    </a:p>
                  </a:txBody>
                  <a:tcPr marL="9525" marR="9525" marT="9525" marB="0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31081062"/>
                  </a:ext>
                </a:extLst>
              </a:tr>
              <a:tr h="203825">
                <a:tc>
                  <a:txBody>
                    <a:bodyPr/>
                    <a:lstStyle/>
                    <a:p>
                      <a:pPr marL="0" marR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800" spc="0" dirty="0">
                          <a:effectLst/>
                        </a:rPr>
                        <a:t>SUNDAY</a:t>
                      </a:r>
                      <a:endParaRPr lang="en-US" sz="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5461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800" spc="0" dirty="0">
                          <a:effectLst/>
                        </a:rPr>
                        <a:t>MONDAY</a:t>
                      </a:r>
                      <a:endParaRPr lang="en-US" sz="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2730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800" spc="0" dirty="0">
                          <a:effectLst/>
                        </a:rPr>
                        <a:t>TUESDAY</a:t>
                      </a:r>
                      <a:endParaRPr lang="en-US" sz="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800" spc="0" dirty="0">
                          <a:effectLst/>
                        </a:rPr>
                        <a:t>WEDNESDAY</a:t>
                      </a:r>
                      <a:endParaRPr lang="en-US" sz="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800" spc="0" dirty="0">
                          <a:effectLst/>
                        </a:rPr>
                        <a:t>THURSDAY</a:t>
                      </a:r>
                      <a:endParaRPr lang="en-US" sz="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1778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800" spc="0" dirty="0">
                          <a:effectLst/>
                        </a:rPr>
                        <a:t>FRIDAY</a:t>
                      </a:r>
                      <a:endParaRPr lang="en-US" sz="800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3619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800" spc="0" dirty="0">
                          <a:effectLst/>
                        </a:rPr>
                        <a:t>SATURDAY</a:t>
                      </a:r>
                      <a:endParaRPr lang="en-US" sz="800" dirty="0">
                        <a:effectLst/>
                      </a:endParaRPr>
                    </a:p>
                  </a:txBody>
                  <a:tcPr marL="9525" marR="9525" marT="33147" marB="0"/>
                </a:tc>
                <a:extLst>
                  <a:ext uri="{0D108BD9-81ED-4DB2-BD59-A6C34878D82A}">
                    <a16:rowId xmlns:a16="http://schemas.microsoft.com/office/drawing/2014/main" val="3509082617"/>
                  </a:ext>
                </a:extLst>
              </a:tr>
              <a:tr h="107881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1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AF360 CHALLENGE KICKOFF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that the challenge has begun! Create a Reel with your coaches talking about how they can't wait to watch each member crush their goals.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IN THE GYM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what's new in the gym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this month. Merch? Snacks?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Even in-club displays can be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great to share.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DAY IN THE LIFE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What does a day in the life of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a coach look like? Film 3 to 5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story slides showing what they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are up to in the gym. 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CORTISOL AND STRESS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Cortisol is a hot topic right now: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what it is, how to control it, and how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to avoid flare ups. </a:t>
                      </a:r>
                      <a:r>
                        <a:rPr lang="en-US" sz="700" b="0" i="0" u="none" strike="noStrike" spc="0" noProof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Discuss ways</a:t>
                      </a:r>
                      <a:br>
                        <a:rPr lang="en-US" sz="700" b="0" i="0" u="none" strike="noStrike" spc="0" noProof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exercise </a:t>
                      </a: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can relieve stress or explain more about cortisol and its effects.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COMMUNITY HAPPENINGS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What's going on in your backyard? Whether in the community, in the club, or online – share ways members can connect within your local community. </a:t>
                      </a: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4038034110"/>
                  </a:ext>
                </a:extLst>
              </a:tr>
              <a:tr h="1169707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6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NATIONAL COACHES DAY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Give your coaches some love by celebrating National Coach’s Day! Share fun facts, have coaches create the ultimate workout,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or encourage members to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their appreciation.</a:t>
                      </a:r>
                      <a:endParaRPr lang="en-US" sz="7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spc="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INCREASE FLEXIBILITY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three stretches that help improve flexibility. Choose lower body, upper body, or a full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body stretch routine.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spc="0" dirty="0">
                          <a:solidFill>
                            <a:schemeClr val="bg1"/>
                          </a:solidFill>
                          <a:effectLst/>
                        </a:rPr>
                        <a:t>AF360 CHALLENGE CONTENT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Share an update on how the</a:t>
                      </a:r>
                      <a:b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challenge is going! Share a video or images in a carousel from in the gym</a:t>
                      </a:r>
                      <a:b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of some clients getting after it</a:t>
                      </a: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MIDWEEK PICK UP  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Share some words of advice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on your story to help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</a:rPr>
                        <a:t>motivate members!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WORLD MENTAL HEALTH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Mental health and physical health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go hand-in-hand. Share ways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working out can help positively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affect your mental wellbeing.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LOCAL BUSINESS PARTNERSHIP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Are you partnering with anyone</a:t>
                      </a:r>
                      <a:b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local? Give a local business a shoutout or share where members can get a deal thanks to their AF membership!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ACTIVE RECOVERY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 is active recovery? Why should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 do active recovery? Share tips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or routines members can use for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active recovery options. </a:t>
                      </a: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4289451183"/>
                  </a:ext>
                </a:extLst>
              </a:tr>
              <a:tr h="1177550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u="none" spc="0" dirty="0">
                          <a:solidFill>
                            <a:schemeClr val="bg1"/>
                          </a:solidFill>
                          <a:effectLst/>
                        </a:rPr>
                        <a:t>13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AROUND THE GYM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It's as simple as that – snap a few photos around the gym and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share them out. You can use your caption to talk about benefits of being a part of the AF Fam!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marR="0" lvl="0" indent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UPPER BODY WORKOUT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Share a carousel of 5 movements users can use for an upper arm workout. Or poll members in the gym on what their favorite upper body movement is and then showcase how to perform them!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NUTRITION RECIPE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Nutrition is a key part of the fitness journey! Share healthy swaps or a plus-up recipe for members to use!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MEMBER SHOWCASE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Whether it's someone in the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AF360 Challenge or a longtime member who trains by themselves, share someone who has been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killing it in the gym!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17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HALLOWEEN EVENTS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Holding a special workout or a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themed party at the gym for Halloween? Post about it now to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get members excited!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APP COMMUNITY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Are your members looking for a place to connect with other AF members around the U.S.? Plug the AF Community tab and explain how members can use it to share inspiration, tips, and connect with others.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SPORTS SHOWDOWN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Use your story to poll members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on where their loyalties lie when it comes to a sports game. Whether it’s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 local team or a team on the other side of the country, find out who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we're cheering for.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3005291295"/>
                  </a:ext>
                </a:extLst>
              </a:tr>
              <a:tr h="1167932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POP CULTURE MOMENT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a meme or create a Reel using one of the recommended trending sounds to post. Tip: don't schedule this one more than a few days ahead.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  <a:endParaRPr lang="en-US" sz="1200" b="0" i="0" u="none" strike="noStrike" spc="0" dirty="0">
                        <a:solidFill>
                          <a:schemeClr val="dk1"/>
                        </a:solidFill>
                        <a:effectLst/>
                        <a:latin typeface="+mn-lt"/>
                      </a:endParaRP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MUSCLE ENDURANCE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+mn-lt"/>
                        </a:rPr>
                        <a:t>Why would someone want to increase their muscular endurance and how can they improve it? Explain the basics on what muscle endurance is all about.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22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spc="0" dirty="0">
                          <a:solidFill>
                            <a:schemeClr val="bg1"/>
                          </a:solidFill>
                          <a:effectLst/>
                        </a:rPr>
                        <a:t>RECOVERY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Share a way to recover in the gym. Whether you have a percussion tools</a:t>
                      </a:r>
                      <a:b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or a simple foam roller, how can members recover in the gym?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SESSIONS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your session schedule! When and how can someone join in on the group fitness fun? Or share a Reel of a sneak peek for an upcoming session. 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HYDRATION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Hydration time! Share facts on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how staying properly hydrated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can help positively impact your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body and mind! 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AF360 CONTENT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Post a picture from the challenge on your story with a sticker asking members to share in one word what they've felt during the challenge!</a:t>
                      </a:r>
                    </a:p>
                  </a:txBody>
                  <a:tcPr marL="9525" marR="9525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MEMBER SUCCESS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This post is perfect to schedule ahead of time! Share a success story of a member. Reminder: results for "success" do not need to be life changing;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even being able to get better sleep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at night is a success to share!</a:t>
                      </a:r>
                      <a:endParaRPr lang="en-US" sz="700" dirty="0"/>
                    </a:p>
                  </a:txBody>
                  <a:tcPr marL="9525" marR="9525" marT="80772" marB="0"/>
                </a:tc>
                <a:extLst>
                  <a:ext uri="{0D108BD9-81ED-4DB2-BD59-A6C34878D82A}">
                    <a16:rowId xmlns:a16="http://schemas.microsoft.com/office/drawing/2014/main" val="2870796117"/>
                  </a:ext>
                </a:extLst>
              </a:tr>
              <a:tr h="1362335"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27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SUNDAY RESET</a:t>
                      </a:r>
                      <a:endParaRPr lang="en-US" sz="600" b="0" i="0" u="none" strike="noStrike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 are some ways you set yourself up for success during the week? Share tips and tricks for followers to use.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P.S. This is a great Story post!</a:t>
                      </a:r>
                      <a:endParaRPr lang="en-US" sz="700" dirty="0"/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28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SLEEP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Should I hit the gym or hit the snooze button? Well, that depends on a lot of different factors! Share ways to improve sleep hygiene or tips for getting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 good night's rest. 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STRENGTH MOVEMENT</a:t>
                      </a: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 off a strength movement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and its progression for those who are looking to up a certain aspect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of their workout. Challenge followers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to implement the movement in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their workouts this week!</a:t>
                      </a:r>
                      <a:endParaRPr lang="en-US" sz="700" dirty="0"/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30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#TRENDING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It's Halloween season and lots of things are trending! Get in on the action: open your Instagram app, head to your account's professional dashboard, and scroll down to "Tips and Resources" where you can see trending audios and what people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are using the songs for!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31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6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HALLOWEEN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Boo! Having fun in the gym for Halloween this year? Snap some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photos of your members costumes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and share out on your feed!</a:t>
                      </a: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/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6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/>
                </a:tc>
                <a:extLst>
                  <a:ext uri="{0D108BD9-81ED-4DB2-BD59-A6C34878D82A}">
                    <a16:rowId xmlns:a16="http://schemas.microsoft.com/office/drawing/2014/main" val="369740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966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r-Method_PPT-Template_V2 edit code final.potx" id="{EF5957C3-A1C1-4345-85B9-8F272847F476}" vid="{D92DD28F-51C3-4CBB-8DEE-BB33764BC1D9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F4D4AED8BDC44AAAD872D46454869" ma:contentTypeVersion="25" ma:contentTypeDescription="Create a new document." ma:contentTypeScope="" ma:versionID="4cd7bbde4b7569de7419761a2ff09ce0">
  <xsd:schema xmlns:xsd="http://www.w3.org/2001/XMLSchema" xmlns:xs="http://www.w3.org/2001/XMLSchema" xmlns:p="http://schemas.microsoft.com/office/2006/metadata/properties" xmlns:ns2="47019a7e-a60c-4a1f-b4fd-44452cf97621" xmlns:ns3="9464be75-fc0f-4c74-b7a9-67e6b6b30f78" targetNamespace="http://schemas.microsoft.com/office/2006/metadata/properties" ma:root="true" ma:fieldsID="d4ddd257af2755d60d19e4481dbb76be" ns2:_="" ns3:_="">
    <xsd:import namespace="47019a7e-a60c-4a1f-b4fd-44452cf97621"/>
    <xsd:import namespace="9464be75-fc0f-4c74-b7a9-67e6b6b30f7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Dateandtime" minOccurs="0"/>
                <xsd:element ref="ns3:MediaLengthInSeconds" minOccurs="0"/>
                <xsd:element ref="ns3:Person" minOccurs="0"/>
                <xsd:element ref="ns3:Date_x0020__x0026__x0020_Time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19a7e-a60c-4a1f-b4fd-44452cf976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c40076c-e6fb-4d57-baf1-f991dbe98c27}" ma:internalName="TaxCatchAll" ma:showField="CatchAllData" ma:web="47019a7e-a60c-4a1f-b4fd-44452cf97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4be75-fc0f-4c74-b7a9-67e6b6b30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Dateandtime" ma:index="21" nillable="true" ma:displayName="Date and time" ma:format="DateTime" ma:internalName="Dateandtime">
      <xsd:simpleType>
        <xsd:restriction base="dms:DateTime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Person" ma:index="23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e_x0020__x0026__x0020_Time" ma:index="24" nillable="true" ma:displayName="Date &amp; Time" ma:format="DateTime" ma:internalName="Date_x0020__x0026__x0020_Time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8a19ee54-46e1-4f28-9254-181b3d6e14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_x0026__x0020_Time xmlns="9464be75-fc0f-4c74-b7a9-67e6b6b30f78">2023-02-02T21:00:00+00:00</Date_x0020__x0026__x0020_Time>
    <_Flow_SignoffStatus xmlns="9464be75-fc0f-4c74-b7a9-67e6b6b30f78" xsi:nil="true"/>
    <TaxCatchAll xmlns="47019a7e-a60c-4a1f-b4fd-44452cf97621" xsi:nil="true"/>
    <lcf76f155ced4ddcb4097134ff3c332f xmlns="9464be75-fc0f-4c74-b7a9-67e6b6b30f78">
      <Terms xmlns="http://schemas.microsoft.com/office/infopath/2007/PartnerControls"/>
    </lcf76f155ced4ddcb4097134ff3c332f>
    <Dateandtime xmlns="9464be75-fc0f-4c74-b7a9-67e6b6b30f78">2023-02-02T21:00:00+00:00</Dateandtime>
    <Person xmlns="9464be75-fc0f-4c74-b7a9-67e6b6b30f78">
      <UserInfo>
        <DisplayName/>
        <AccountId xsi:nil="true"/>
        <AccountType/>
      </UserInfo>
    </Person>
    <SharedWithUsers xmlns="47019a7e-a60c-4a1f-b4fd-44452cf97621">
      <UserInfo>
        <DisplayName>Marcie DeLuca</DisplayName>
        <AccountId>9585</AccountId>
        <AccountType/>
      </UserInfo>
      <UserInfo>
        <DisplayName>Garrett Ebling</DisplayName>
        <AccountId>1938</AccountId>
        <AccountType/>
      </UserInfo>
      <UserInfo>
        <DisplayName>Deb Pias</DisplayName>
        <AccountId>51</AccountId>
        <AccountType/>
      </UserInfo>
      <UserInfo>
        <DisplayName>Morgan Edwards</DisplayName>
        <AccountId>25969</AccountId>
        <AccountType/>
      </UserInfo>
      <UserInfo>
        <DisplayName>Kenzi Boivin</DisplayName>
        <AccountId>10537</AccountId>
        <AccountType/>
      </UserInfo>
      <UserInfo>
        <DisplayName>Sarah Mastrian</DisplayName>
        <AccountId>14028</AccountId>
        <AccountType/>
      </UserInfo>
      <UserInfo>
        <DisplayName>Tammy Nienaber</DisplayName>
        <AccountId>52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CDE1E74-F75B-4E8D-8D2A-88E7FBBF1F8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7019a7e-a60c-4a1f-b4fd-44452cf97621"/>
    <ds:schemaRef ds:uri="9464be75-fc0f-4c74-b7a9-67e6b6b30f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AA2B1DA-A2C5-489C-A46E-FC3EAF2F3ADB}">
  <ds:schemaRefs>
    <ds:schemaRef ds:uri="47019a7e-a60c-4a1f-b4fd-44452cf97621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microsoft.com/office/infopath/2007/PartnerControls"/>
    <ds:schemaRef ds:uri="9464be75-fc0f-4c74-b7a9-67e6b6b30f78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Bar Method Template</Template>
  <TotalTime>66</TotalTime>
  <Words>1090</Words>
  <Application>Microsoft Macintosh PowerPoint</Application>
  <PresentationFormat>Widescreen</PresentationFormat>
  <Paragraphs>104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Anytime Fitness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METHOD PRESENTATION TEMPLATE</dc:title>
  <dc:creator>Meredith Berg</dc:creator>
  <cp:lastModifiedBy>Deb Pias</cp:lastModifiedBy>
  <cp:revision>2017</cp:revision>
  <dcterms:created xsi:type="dcterms:W3CDTF">2021-11-18T14:52:15Z</dcterms:created>
  <dcterms:modified xsi:type="dcterms:W3CDTF">2024-09-19T00:43:02Z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0x010100BC9F4D4AED8BDC44AAAD872D46454869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2024-07-08T15:51:19Z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9f1e5e16-4042-4ce1-ae53-a4d0d9646ca7</vt:lpwstr>
  </property>
  <property fmtid="{D5CDD505-2E9C-101B-9397-08002B2CF9AE}" pid="10" name="MSIP_Label_c19e54f6-8de3-4dc1-8de2-3571ff8ef8ed_ContentBits">
    <vt:lpwstr>0</vt:lpwstr>
  </property>
</Properties>
</file>