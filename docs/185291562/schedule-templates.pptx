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77" r:id="rId5"/>
    <p:sldId id="479" r:id="rId6"/>
    <p:sldId id="478" r:id="rId7"/>
    <p:sldId id="4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>
            <p14:sldId id="477"/>
            <p14:sldId id="479"/>
            <p14:sldId id="478"/>
            <p14:sldId id="480"/>
          </p14:sldIdLst>
        </p14:section>
        <p14:section name="Structure" id="{10C81FA4-AB20-4F8C-AA98-C00990760090}">
          <p14:sldIdLst/>
        </p14:section>
        <p14:section name="Content" id="{46E3452E-F3BC-4E25-8859-4B5581757031}">
          <p14:sldIdLst/>
        </p14:section>
        <p14:section name="Media Layouts" id="{0373413B-1246-4DBD-8B8A-27ABC81C69D7}">
          <p14:sldIdLst/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38D5"/>
    <a:srgbClr val="440099"/>
    <a:srgbClr val="FFFFFF"/>
    <a:srgbClr val="FF7500"/>
    <a:srgbClr val="DAF4F0"/>
    <a:srgbClr val="B5E9E1"/>
    <a:srgbClr val="90DED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2/23/26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2/23/26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2/23/26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2/23/26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2/23/26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2/23/26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2/23/26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E435-0089-8A72-C1FD-96D0F26D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6AB9D7E-6F39-0198-FD76-977892E1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1" y="320130"/>
            <a:ext cx="10414747" cy="594270"/>
          </a:xfrm>
        </p:spPr>
        <p:txBody>
          <a:bodyPr anchor="ctr">
            <a:normAutofit/>
          </a:bodyPr>
          <a:lstStyle/>
          <a:p>
            <a:r>
              <a:rPr lang="en-US" sz="3600"/>
              <a:t>Full AF Strong + AF HIIT Calendar</a:t>
            </a:r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DD45EDF6-AE38-4C55-A0D9-DC66117C89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0213" y="957431"/>
          <a:ext cx="11851573" cy="578761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78804">
                  <a:extLst>
                    <a:ext uri="{9D8B030D-6E8A-4147-A177-3AD203B41FA5}">
                      <a16:colId xmlns:a16="http://schemas.microsoft.com/office/drawing/2014/main" val="880610826"/>
                    </a:ext>
                  </a:extLst>
                </a:gridCol>
                <a:gridCol w="1630851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1349940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963416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2033195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866567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30531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WEEK OF: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MON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TUES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WEDS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THURS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FRI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SAT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6324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W1 6/1-6/7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(40/20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(AMRAP STRENGTH </a:t>
                      </a: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692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W2 6/8-6/14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6341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W3 6/15-6/21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(90/15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STABILITY)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W4 6/22-6/28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(50/10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(110/10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lnT>
                      <a:noFill/>
                    </a:lnT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W5 6/29-7/5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(45/15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257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</a:rPr>
                        <a:t>W6- DELOAD 6/15-6/21</a:t>
                      </a: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(90/15 HIIT)</a:t>
                      </a: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55275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W7 6/22-6/28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(50/10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(110/10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888784"/>
                  </a:ext>
                </a:extLst>
              </a:tr>
              <a:tr h="70457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W8 6/29-7/5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(45/15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71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49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65B13-2843-D8A4-8A8C-F8B7C794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F49470C-0C43-F6CA-0BB8-7F72EFD3D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56799"/>
            <a:ext cx="10414747" cy="830937"/>
          </a:xfrm>
        </p:spPr>
        <p:txBody>
          <a:bodyPr anchor="ctr">
            <a:normAutofit/>
          </a:bodyPr>
          <a:lstStyle/>
          <a:p>
            <a:r>
              <a:rPr lang="en-US"/>
              <a:t>Simplified AF Strong + AF HIIT Calendar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18FB7-E0B8-DF8D-992A-71951C32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5951DD-1C6A-495F-8185-4C73F8F8B75A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56F79B3B-65FA-46D9-A0A7-39BE9A9962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74551" y="1718150"/>
          <a:ext cx="10798904" cy="388425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18795">
                  <a:extLst>
                    <a:ext uri="{9D8B030D-6E8A-4147-A177-3AD203B41FA5}">
                      <a16:colId xmlns:a16="http://schemas.microsoft.com/office/drawing/2014/main" val="880610826"/>
                    </a:ext>
                  </a:extLst>
                </a:gridCol>
                <a:gridCol w="2157943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1176927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799080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363669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2076226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106264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286766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WEEK OF: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MON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TUES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WEDS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THURS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FRI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SAT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562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W1 6/1-6/7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(40/20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(AMRAP STRENGTH </a:t>
                      </a: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650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W2 6/8-6/14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59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W3 6/15-6/21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(90/15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STRENGTH ENDURANCE)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(30/15 STABILITY)</a:t>
                      </a:r>
                    </a:p>
                  </a:txBody>
                  <a:tcPr marL="91100" marR="91100" marT="45550" marB="45550" anchor="ctr">
                    <a:lnB w="0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66176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W4 6/22-6/28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(50/10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(110/10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(EMOM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lnT>
                      <a:noFill/>
                    </a:lnT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661768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W5 6/29-7/5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STRONG-A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(PUSH/PULL)</a:t>
                      </a:r>
                      <a:endParaRPr 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(45/15 HIIT)</a:t>
                      </a:r>
                    </a:p>
                  </a:txBody>
                  <a:tcPr marL="91100" marR="91100" marT="45550" marB="455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(POWER/SQUATS/ROTATION)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 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(30/30 STRENGTH ENDURANCE)</a:t>
                      </a: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STRONG-C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(LUNGE/HINGE)</a:t>
                      </a: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AF HIIT-C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/>
                          <a:ea typeface="+mn-ea"/>
                          <a:cs typeface="+mn-cs"/>
                        </a:rPr>
                        <a:t>(AYOP STABILITY)</a:t>
                      </a:r>
                    </a:p>
                  </a:txBody>
                  <a:tcPr marL="91100" marR="91100" marT="45550" marB="45550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892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96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80AF1-788A-1615-6887-87F30802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3F4820A-ED83-C254-A320-4CF138FD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56799"/>
            <a:ext cx="10414747" cy="1147152"/>
          </a:xfrm>
        </p:spPr>
        <p:txBody>
          <a:bodyPr anchor="ctr">
            <a:normAutofit/>
          </a:bodyPr>
          <a:lstStyle/>
          <a:p>
            <a:r>
              <a:rPr lang="en-US"/>
              <a:t>Clubs running Strong/HIIT @ Same Time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BA816118-DF44-CF30-BB6E-D8376836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r>
              <a:rPr lang="en-US"/>
              <a:t>Session location</a:t>
            </a:r>
          </a:p>
          <a:p>
            <a:r>
              <a:rPr lang="en-US"/>
              <a:t>AF Energize = Turf </a:t>
            </a:r>
          </a:p>
          <a:p>
            <a:r>
              <a:rPr lang="en-US"/>
              <a:t>AF Strong = Free Weights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646B1-EB4C-96AD-23C7-BF7CC524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45951DD-1C6A-495F-8185-4C73F8F8B75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B0FB4A3F-5920-5B43-4167-58DFFEB57D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1567541"/>
          <a:ext cx="10963855" cy="39375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96344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1745912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762356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876791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1922862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559590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286766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MON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TUES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WEDS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THURS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FRI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SAT</a:t>
                      </a:r>
                    </a:p>
                  </a:txBody>
                  <a:tcPr marL="91100" marR="91100" marT="45550" marB="455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562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11:30AM</a:t>
                      </a:r>
                      <a:endParaRPr kumimoji="0" lang="en-US" sz="11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5:30AM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6507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12:30PM</a:t>
                      </a:r>
                      <a:endParaRPr kumimoji="0" lang="en-US" sz="11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7AM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5955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3PM</a:t>
                      </a:r>
                      <a:endParaRPr kumimoji="0" lang="en-US" sz="11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endParaRPr kumimoji="0" lang="en-US" sz="11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91100" marR="91100" marT="45550" marB="4555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10AM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RECOVERY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lnB w="0"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661768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 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/AF 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11AM 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/STRONG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/>
                        <a:ea typeface="+mn-ea"/>
                        <a:cs typeface="+mn-cs"/>
                      </a:endParaRPr>
                    </a:p>
                  </a:txBody>
                  <a:tcPr marL="91100" marR="91100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57353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 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endParaRPr kumimoji="0" lang="en-US"/>
                    </a:p>
                  </a:txBody>
                  <a:tcPr marL="91099" marR="91099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STRONG</a:t>
                      </a:r>
                    </a:p>
                  </a:txBody>
                  <a:tcPr marL="91099" marR="91099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 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endParaRPr kumimoji="0" lang="en-US"/>
                    </a:p>
                  </a:txBody>
                  <a:tcPr marL="91099" marR="91099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3:30PM 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/STRONG</a:t>
                      </a:r>
                      <a:endParaRPr kumimoji="0" lang="en-US"/>
                    </a:p>
                  </a:txBody>
                  <a:tcPr marL="91099" marR="91099" marT="45550" marB="45550" anchor="ctr">
                    <a:lnR w="0">
                      <a:noFill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 marL="91099" marR="91099" marT="45550" marB="455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19105"/>
                  </a:ext>
                </a:extLst>
              </a:tr>
              <a:tr h="606621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 PM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FIT</a:t>
                      </a:r>
                      <a:endParaRPr kumimoji="0" lang="en-US"/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</a:txBody>
                  <a:tcPr marL="91100" marR="91100" marT="45550" marB="4555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6PM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STRONG</a:t>
                      </a:r>
                      <a:endParaRPr kumimoji="0" lang="en-US"/>
                    </a:p>
                  </a:txBody>
                  <a:tcPr marL="91100" marR="91100" marT="45550" marB="4555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5PM </a:t>
                      </a:r>
                      <a:endParaRPr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926"/>
                        </a:solidFill>
                        <a:effectLst/>
                        <a:uLnTx/>
                        <a:uFillTx/>
                        <a:latin typeface="Century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/>
                        </a:rPr>
                        <a:t>AF RECOVERY</a:t>
                      </a:r>
                      <a:endParaRPr kumimoji="0" lang="en-US"/>
                    </a:p>
                  </a:txBody>
                  <a:tcPr marL="91100" marR="91100" marT="45550" marB="45550" anchor="ctr">
                    <a:lnR w="0">
                      <a:noFill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2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3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92D3-2130-9680-E465-7EC5EEB8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4FDFAFC-825F-B154-F78C-0928447D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152938"/>
            <a:ext cx="3255065" cy="716311"/>
          </a:xfrm>
        </p:spPr>
        <p:txBody>
          <a:bodyPr/>
          <a:lstStyle/>
          <a:p>
            <a:r>
              <a:rPr lang="en-US"/>
              <a:t>Simple Schedule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A3504-A643-C75C-245D-C7740342410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768BB-B031-C2DC-3705-C50F0180B8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F77D9FFF-60A1-1621-6D67-E6ABB09FF4F2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314567034"/>
              </p:ext>
            </p:extLst>
          </p:nvPr>
        </p:nvGraphicFramePr>
        <p:xfrm>
          <a:off x="4770783" y="685800"/>
          <a:ext cx="6903442" cy="519127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955859610"/>
                    </a:ext>
                  </a:extLst>
                </a:gridCol>
                <a:gridCol w="929547">
                  <a:extLst>
                    <a:ext uri="{9D8B030D-6E8A-4147-A177-3AD203B41FA5}">
                      <a16:colId xmlns:a16="http://schemas.microsoft.com/office/drawing/2014/main" val="3815646922"/>
                    </a:ext>
                  </a:extLst>
                </a:gridCol>
                <a:gridCol w="1267000">
                  <a:extLst>
                    <a:ext uri="{9D8B030D-6E8A-4147-A177-3AD203B41FA5}">
                      <a16:colId xmlns:a16="http://schemas.microsoft.com/office/drawing/2014/main" val="554755085"/>
                    </a:ext>
                  </a:extLst>
                </a:gridCol>
                <a:gridCol w="1192696">
                  <a:extLst>
                    <a:ext uri="{9D8B030D-6E8A-4147-A177-3AD203B41FA5}">
                      <a16:colId xmlns:a16="http://schemas.microsoft.com/office/drawing/2014/main" val="681731050"/>
                    </a:ext>
                  </a:extLst>
                </a:gridCol>
                <a:gridCol w="992025">
                  <a:extLst>
                    <a:ext uri="{9D8B030D-6E8A-4147-A177-3AD203B41FA5}">
                      <a16:colId xmlns:a16="http://schemas.microsoft.com/office/drawing/2014/main" val="3014859349"/>
                    </a:ext>
                  </a:extLst>
                </a:gridCol>
                <a:gridCol w="1150574">
                  <a:extLst>
                    <a:ext uri="{9D8B030D-6E8A-4147-A177-3AD203B41FA5}">
                      <a16:colId xmlns:a16="http://schemas.microsoft.com/office/drawing/2014/main" val="1733256067"/>
                    </a:ext>
                  </a:extLst>
                </a:gridCol>
              </a:tblGrid>
              <a:tr h="699427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MON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TUES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WEDS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THURS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FRI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</a:rPr>
                        <a:t>SAT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027863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6:30AM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773900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7AM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7AM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8AM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84945"/>
                  </a:ext>
                </a:extLst>
              </a:tr>
              <a:tr h="79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9AM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12/NOON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10AM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RECOVERY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114916"/>
                  </a:ext>
                </a:extLst>
              </a:tr>
              <a:tr h="699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11AM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4PM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11AM 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529896"/>
                  </a:ext>
                </a:extLst>
              </a:tr>
              <a:tr h="699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5PM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5PM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FIT 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RECOVERY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52277"/>
                  </a:ext>
                </a:extLst>
              </a:tr>
              <a:tr h="699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6PM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AF STRONG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064747"/>
                  </a:ext>
                </a:extLst>
              </a:tr>
            </a:tbl>
          </a:graphicData>
        </a:graphic>
      </p:graphicFrame>
      <p:pic>
        <p:nvPicPr>
          <p:cNvPr id="4" name="Picture 3" descr="A person lifting a bar&#10;&#10;Description automatically generated">
            <a:extLst>
              <a:ext uri="{FF2B5EF4-FFF2-40B4-BE49-F238E27FC236}">
                <a16:creationId xmlns:a16="http://schemas.microsoft.com/office/drawing/2014/main" id="{EB1C3DF0-7A8B-FF40-EAAB-5B2436DEB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2702308"/>
            <a:ext cx="4295408" cy="286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44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 Lib Update" id="{7251D905-7BD7-0047-B37A-625310FBE731}" vid="{91B78AD1-8307-834B-B208-61ED342B028B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3e74f9-e755-491e-81ce-75485ea4b35b" xsi:nil="true"/>
    <lcf76f155ced4ddcb4097134ff3c332f xmlns="c6e53ef5-aa40-4ab3-8b24-2fd4d1062466">
      <Terms xmlns="http://schemas.microsoft.com/office/infopath/2007/PartnerControls"/>
    </lcf76f155ced4ddcb4097134ff3c332f>
    <SharedWithUsers xmlns="bd3e74f9-e755-491e-81ce-75485ea4b35b">
      <UserInfo>
        <DisplayName>Marcie DeLuca</DisplayName>
        <AccountId>9585</AccountId>
        <AccountType/>
      </UserInfo>
    </SharedWithUsers>
    <Image xmlns="c6e53ef5-aa40-4ab3-8b24-2fd4d1062466" xsi:nil="true"/>
    <PrimeMoverTags xmlns="c6e53ef5-aa40-4ab3-8b24-2fd4d1062466" xsi:nil="true"/>
    <BodyPositionTags xmlns="c6e53ef5-aa40-4ab3-8b24-2fd4d1062466" xsi:nil="true"/>
    <AFTUsed xmlns="c6e53ef5-aa40-4ab3-8b24-2fd4d1062466" xsi:nil="true"/>
    <MovementPatternsTags xmlns="c6e53ef5-aa40-4ab3-8b24-2fd4d1062466" xsi:nil="true"/>
    <EquipmentTags xmlns="c6e53ef5-aa40-4ab3-8b24-2fd4d1062466" xsi:nil="true"/>
    <ExerciseName xmlns="c6e53ef5-aa40-4ab3-8b24-2fd4d1062466" xsi:nil="true"/>
    <ExerciseDescription xmlns="c6e53ef5-aa40-4ab3-8b24-2fd4d1062466" xsi:nil="true"/>
    <Documented xmlns="c6e53ef5-aa40-4ab3-8b24-2fd4d1062466">false</Documented>
    <TypeTags xmlns="c6e53ef5-aa40-4ab3-8b24-2fd4d1062466" xsi:nil="true"/>
    <AFID_x0023_ xmlns="c6e53ef5-aa40-4ab3-8b24-2fd4d106246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321E7D9300C647B2CB9550E639835F" ma:contentTypeVersion="34" ma:contentTypeDescription="Create a new document." ma:contentTypeScope="" ma:versionID="61aa58010be9e2315c2b77a06669e6fb">
  <xsd:schema xmlns:xsd="http://www.w3.org/2001/XMLSchema" xmlns:xs="http://www.w3.org/2001/XMLSchema" xmlns:p="http://schemas.microsoft.com/office/2006/metadata/properties" xmlns:ns2="c6e53ef5-aa40-4ab3-8b24-2fd4d1062466" xmlns:ns3="bd3e74f9-e755-491e-81ce-75485ea4b35b" targetNamespace="http://schemas.microsoft.com/office/2006/metadata/properties" ma:root="true" ma:fieldsID="096a9007f1b7c3365d5d45e590537f57" ns2:_="" ns3:_="">
    <xsd:import namespace="c6e53ef5-aa40-4ab3-8b24-2fd4d1062466"/>
    <xsd:import namespace="bd3e74f9-e755-491e-81ce-75485ea4b35b"/>
    <xsd:element name="properties">
      <xsd:complexType>
        <xsd:sequence>
          <xsd:element name="documentManagement">
            <xsd:complexType>
              <xsd:all>
                <xsd:element ref="ns2:Image" minOccurs="0"/>
                <xsd:element ref="ns2:AFTUsed" minOccurs="0"/>
                <xsd:element ref="ns2:ExerciseDescription" minOccurs="0"/>
                <xsd:element ref="ns2:AFID_x0023_" minOccurs="0"/>
                <xsd:element ref="ns2:EquipmentTags" minOccurs="0"/>
                <xsd:element ref="ns2:ExerciseName" minOccurs="0"/>
                <xsd:element ref="ns2:PrimeMoverTags" minOccurs="0"/>
                <xsd:element ref="ns2:MovementPatternsTags" minOccurs="0"/>
                <xsd:element ref="ns2:TypeTags" minOccurs="0"/>
                <xsd:element ref="ns2:BodyPositionTags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BillingMetadata" minOccurs="0"/>
                <xsd:element ref="ns2:Document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53ef5-aa40-4ab3-8b24-2fd4d1062466" elementFormDefault="qualified">
    <xsd:import namespace="http://schemas.microsoft.com/office/2006/documentManagement/types"/>
    <xsd:import namespace="http://schemas.microsoft.com/office/infopath/2007/PartnerControls"/>
    <xsd:element name="Image" ma:index="3" nillable="true" ma:displayName="Image" ma:format="Thumbnail" ma:internalName="Image" ma:readOnly="false">
      <xsd:simpleType>
        <xsd:restriction base="dms:Unknown"/>
      </xsd:simpleType>
    </xsd:element>
    <xsd:element name="AFTUsed" ma:index="4" nillable="true" ma:displayName="AFT Used" ma:format="RadioButtons" ma:internalName="AFTUsed" ma:readOnly="false">
      <xsd:simpleType>
        <xsd:restriction base="dms:Choice">
          <xsd:enumeration value="Used"/>
          <xsd:enumeration value="NEW"/>
          <xsd:enumeration value="Duplicate"/>
          <xsd:enumeration value="DO NOT USE/TATTOO"/>
          <xsd:enumeration value="Boxing"/>
        </xsd:restriction>
      </xsd:simpleType>
    </xsd:element>
    <xsd:element name="ExerciseDescription" ma:index="5" nillable="true" ma:displayName="Exercise Description" ma:format="Dropdown" ma:internalName="ExerciseDescription" ma:readOnly="false">
      <xsd:simpleType>
        <xsd:restriction base="dms:Note">
          <xsd:maxLength value="255"/>
        </xsd:restriction>
      </xsd:simpleType>
    </xsd:element>
    <xsd:element name="AFID_x0023_" ma:index="6" nillable="true" ma:displayName="AF ID #" ma:format="Dropdown" ma:internalName="AFID_x0023_" ma:readOnly="false" ma:percentage="FALSE">
      <xsd:simpleType>
        <xsd:restriction base="dms:Number"/>
      </xsd:simpleType>
    </xsd:element>
    <xsd:element name="EquipmentTags" ma:index="7" nillable="true" ma:displayName="Equipment Tags" ma:format="Dropdown" ma:internalName="Equipment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alance/Tool"/>
                    <xsd:enumeration value="Barbell"/>
                    <xsd:enumeration value="Battle Rope"/>
                    <xsd:enumeration value="Bench"/>
                    <xsd:enumeration value="Bodyweight"/>
                    <xsd:enumeration value="Box"/>
                    <xsd:enumeration value="Cables"/>
                    <xsd:enumeration value="Core Wheel"/>
                    <xsd:enumeration value="Dumbells"/>
                    <xsd:enumeration value="Kettlebells"/>
                    <xsd:enumeration value="Ladder"/>
                    <xsd:enumeration value="Landmine"/>
                    <xsd:enumeration value="Mini Band"/>
                    <xsd:enumeration value="Mobility Ball"/>
                    <xsd:enumeration value="Plate"/>
                    <xsd:enumeration value="Sandbag"/>
                    <xsd:enumeration value="Choice 21"/>
                    <xsd:enumeration value="Sliders"/>
                    <xsd:enumeration value="Suspension"/>
                    <xsd:enumeration value="Tubing/Bands"/>
                    <xsd:enumeration value="Cardio"/>
                    <xsd:enumeration value="Foam Roller"/>
                    <xsd:enumeration value="Machine"/>
                    <xsd:enumeration value="Med Ball"/>
                    <xsd:enumeration value="Stability Ball"/>
                  </xsd:restriction>
                </xsd:simpleType>
              </xsd:element>
            </xsd:sequence>
          </xsd:extension>
        </xsd:complexContent>
      </xsd:complexType>
    </xsd:element>
    <xsd:element name="ExerciseName" ma:index="8" nillable="true" ma:displayName="Exercise Name" ma:format="Dropdown" ma:internalName="ExerciseName" ma:readOnly="false">
      <xsd:simpleType>
        <xsd:restriction base="dms:Text">
          <xsd:maxLength value="255"/>
        </xsd:restriction>
      </xsd:simpleType>
    </xsd:element>
    <xsd:element name="PrimeMoverTags" ma:index="9" nillable="true" ma:displayName="Prime Mover Tags" ma:format="Dropdown" ma:internalName="PrimeMover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ductors"/>
                    <xsd:enumeration value="Abs"/>
                    <xsd:enumeration value="Adductors"/>
                    <xsd:enumeration value="Biceps"/>
                    <xsd:enumeration value="Deltoid Anterior"/>
                    <xsd:enumeration value="Deltoid Medial"/>
                    <xsd:enumeration value="Deltoid Posterior "/>
                    <xsd:enumeration value="Gastrocnemius/Soleus"/>
                    <xsd:enumeration value="Gluteus Maxiumus"/>
                    <xsd:enumeration value="Hamstrings"/>
                    <xsd:enumeration value="Hip Flexor"/>
                    <xsd:enumeration value="Hip Stabilizers"/>
                    <xsd:enumeration value="Latissimus Dorsi"/>
                    <xsd:enumeration value="Obliques"/>
                    <xsd:enumeration value="Pecs"/>
                    <xsd:enumeration value="Quadriceps"/>
                    <xsd:enumeration value="Shoulder Stabilizers"/>
                    <xsd:enumeration value="Spinal Erectors"/>
                    <xsd:enumeration value="Trapezius"/>
                    <xsd:enumeration value="Triceps"/>
                    <xsd:enumeration value="Choice 21"/>
                  </xsd:restriction>
                </xsd:simpleType>
              </xsd:element>
            </xsd:sequence>
          </xsd:extension>
        </xsd:complexContent>
      </xsd:complexType>
    </xsd:element>
    <xsd:element name="MovementPatternsTags" ma:index="10" nillable="true" ma:displayName="Movement Patterns Tags" ma:format="Dropdown" ma:internalName="MovementPatterns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ti Extension"/>
                    <xsd:enumeration value="Anti Rotation"/>
                    <xsd:enumeration value="Hinge"/>
                    <xsd:enumeration value="Horizontal Pull"/>
                    <xsd:enumeration value="Horizontal Push"/>
                    <xsd:enumeration value="Lunge"/>
                    <xsd:enumeration value="Rotation "/>
                    <xsd:enumeration value="Squat"/>
                    <xsd:enumeration value="Vertical Pull"/>
                    <xsd:enumeration value="Vertical Push"/>
                  </xsd:restriction>
                </xsd:simpleType>
              </xsd:element>
            </xsd:sequence>
          </xsd:extension>
        </xsd:complexContent>
      </xsd:complexType>
    </xsd:element>
    <xsd:element name="TypeTags" ma:index="11" nillable="true" ma:displayName="Type Tags" ma:format="Dropdown" ma:internalName="Type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lternating"/>
                    <xsd:enumeration value="Balance"/>
                    <xsd:enumeration value="Combo"/>
                    <xsd:enumeration value="Compound"/>
                    <xsd:enumeration value="Conditioning"/>
                    <xsd:enumeration value="Contralateral"/>
                    <xsd:enumeration value="Finishers"/>
                    <xsd:enumeration value="Frontal"/>
                    <xsd:enumeration value="Ipsilateral"/>
                    <xsd:enumeration value="Isometric"/>
                    <xsd:enumeration value="Lateral"/>
                    <xsd:enumeration value="Mobility"/>
                    <xsd:enumeration value="Power"/>
                    <xsd:enumeration value="Recovery"/>
                    <xsd:enumeration value="Sagittal"/>
                    <xsd:enumeration value="Single Arm"/>
                    <xsd:enumeration value="Single Leg"/>
                    <xsd:enumeration value="SMR"/>
                    <xsd:enumeration value="Speed, Agility, Quickness"/>
                    <xsd:enumeration value="Static Stretch"/>
                    <xsd:enumeration value="Tranverse"/>
                  </xsd:restriction>
                </xsd:simpleType>
              </xsd:element>
            </xsd:sequence>
          </xsd:extension>
        </xsd:complexContent>
      </xsd:complexType>
    </xsd:element>
    <xsd:element name="BodyPositionTags" ma:index="12" nillable="true" ma:displayName="Body Position Tags" ma:format="Dropdown" ma:internalName="BodyPositionTags" ma:readOnly="fals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1.5 Stance"/>
                    <xsd:enumeration value="Half Kneel"/>
                    <xsd:enumeration value="Prone"/>
                    <xsd:enumeration value="Quadruped"/>
                    <xsd:enumeration value="Sidelying"/>
                    <xsd:enumeration value="Supine"/>
                    <xsd:enumeration value="Tall Kneel"/>
                  </xsd:restriction>
                </xsd:simpleType>
              </xsd:element>
            </xsd:sequence>
          </xsd:extension>
        </xsd:complexContent>
      </xsd:complex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Location" ma:index="17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Metadata" ma:index="3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4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BillingMetadata" ma:index="36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ed" ma:index="37" nillable="true" ma:displayName="Remove" ma:description="New Exercises Sheet" ma:format="Dropdown" ma:hidden="true" ma:internalName="Documented" ma:readOnly="false">
      <xsd:simpleType>
        <xsd:restriction base="dms:Choice">
          <xsd:enumeration value="REMOV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3e74f9-e755-491e-81ce-75485ea4b35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3" nillable="true" ma:displayName="Taxonomy Catch All Column" ma:hidden="true" ma:list="{8bab50f4-0f11-41c3-83b8-a583064acb53}" ma:internalName="TaxCatchAll" ma:readOnly="false" ma:showField="CatchAllData" ma:web="bd3e74f9-e755-491e-81ce-75485ea4b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A2B1DA-A2C5-489C-A46E-FC3EAF2F3ADB}">
  <ds:schemaRefs>
    <ds:schemaRef ds:uri="bd3e74f9-e755-491e-81ce-75485ea4b35b"/>
    <ds:schemaRef ds:uri="c6e53ef5-aa40-4ab3-8b24-2fd4d10624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A04AA8-B347-4AB3-BC22-E9CA35656805}">
  <ds:schemaRefs>
    <ds:schemaRef ds:uri="bd3e74f9-e755-491e-81ce-75485ea4b35b"/>
    <ds:schemaRef ds:uri="c6e53ef5-aa40-4ab3-8b24-2fd4d10624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Anytime Fitness Template</Template>
  <TotalTime>0</TotalTime>
  <Words>869</Words>
  <Application>Microsoft Macintosh PowerPoint</Application>
  <PresentationFormat>Widescreen</PresentationFormat>
  <Paragraphs>315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Anytime Fitness Template</vt:lpstr>
      <vt:lpstr>Full AF Strong + AF HIIT Calendar</vt:lpstr>
      <vt:lpstr>Simplified AF Strong + AF HIIT Calendar</vt:lpstr>
      <vt:lpstr>Clubs running Strong/HIIT @ Same Time</vt:lpstr>
      <vt:lpstr>Simple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Trotter</dc:creator>
  <cp:lastModifiedBy>Deb Pias</cp:lastModifiedBy>
  <cp:revision>4</cp:revision>
  <dcterms:created xsi:type="dcterms:W3CDTF">2026-02-05T17:13:37Z</dcterms:created>
  <dcterms:modified xsi:type="dcterms:W3CDTF">2026-02-23T21:42:11Z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0x0101008F321E7D9300C647B2CB9550E639835F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2025-07-29T19:36:40Z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09e0d7be-50be-422b-a127-e0fc39351419</vt:lpwstr>
  </property>
  <property fmtid="{D5CDD505-2E9C-101B-9397-08002B2CF9AE}" pid="10" name="MSIP_Label_c19e54f6-8de3-4dc1-8de2-3571ff8ef8ed_ContentBits">
    <vt:lpwstr>0</vt:lpwstr>
  </property>
  <property fmtid="{D5CDD505-2E9C-101B-9397-08002B2CF9AE}" pid="11" name="MSIP_Label_c19e54f6-8de3-4dc1-8de2-3571ff8ef8ed_Tag">
    <vt:lpwstr>10, 3, 0, 2</vt:lpwstr>
  </property>
</Properties>
</file>